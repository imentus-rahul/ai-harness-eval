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talk around a question every agent platform team faces: we changed the harness — did we actually improve outcomes? This repository runs the same tasks under the same model and tools, changing only guidance files. You will see two real outcomes from one shared baseline: a skill that graduates into phase 2, and a skill that fails a regression gate before phase 2 runs.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and ask who has shipped a harness tweak without a before/after suite. The pain is not missing metrics in general — it is missing metrics tied to the same task and the same model so the delta is attributable.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up the two stories. Point at the repo folders good-harness-example and bad-harness-example under output/. Same baseline AGENTS.md both times; only the candidate SKILL.md differs. One candidate beats baseline on capability without breaking regression; the other regresses keep-suite in phase 1 and never reaches phase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table quickly. Emphasize evaluation harness vs agent harness — reviewers confuse them. Capability tasks can graduate into regression after pass^k on the candidate arm.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jobs to Wallet.sol. withdraw uses tx.origin for authorization; logTransfer only logs it. keep-suite is intentionally easy for both arms unless the agent breaks constants. caller-check generalizes the triage skill to withdrawAll.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one variable. If someone compared Haiku to Opus in the same slide, you could not claim the skill helped. Our dry-run uses mocks/ for deterministic findings; live runs use the same graders.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prompt.txt paths if asked. Held-out expected.json lives under tasks/*/heldout/ and is applied only at grade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code FAILs and model PASSes, we record disagreement and keep FAIL. This avoids rubric optimism on vague prose.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artifact chain: comparison row → trial directory → findings.json vs held-out. Numbers on later slides come from summary.json under each example folder.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change a security-minded team would propose after too many logTransfer noise tickets. The eval asks: does it actually pass held-out labels and keep tests green?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line by line. Baseline marks logTransfer vulnerable — code grader FAIL. Candidate marks withdraw vulnerable and logTransfer not — PASS both reps. keep-suite stays PASS/UNCHANGED. Phase 1 POSITIVE; auth-vs-log graduates to regression.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grew: auth-vs-log is now a regression gate; caller-check probes generalization. Candidate improves on graduated auth-vs-log and new caller-check while keep-suite stays stable. This is the product loop: capability → stable pass → regression CI gate.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good skill. Both could be described as more thorough in Slack. Only paired graders show keep-suite regression.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Capability still FAIL — missing withdraw label. Regression REGRESSED: baseline PASS, candidate FAIL on keep-suite. Phase 2 never runs; phase_2_blocked_reason is in bad-harness-example/summary.json. This is the failure mode teams miss without pytest gates.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arm is identical in both experiments. The only fork is which SKILL.md the candidate arm loads. Use this slide to answer why we do not trust a single demo run.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discussion: what would your team have shipped? The evaluation harness does not replace human review — it forces contrasting artifacts early.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Acknowledge scope. Custom mini-agent, sequential trials, single spot-check template.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reviewers to output/good-harness-example and output/bad-harness-example. Configure scenario in eval.config.yaml. Deck numbers must match summary.json on disk.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Harness evaluation loop</a:t>
            </a:r>
          </a:p>
        </p:txBody>
      </p:sp>
      <p:sp>
        <p:nvSpPr>
          <p:cNvPr id="3" name="Subtitle 2"/>
          <p:cNvSpPr>
            <a:spLocks noGrp="1"/>
          </p:cNvSpPr>
          <p:nvPr>
            <p:ph type="subTitle" idx="1"/>
          </p:nvPr>
        </p:nvSpPr>
        <p:spPr/>
        <p:txBody>
          <a:bodyPr/>
          <a:lstStyle/>
          <a:p>
            <a:r>
              <a:t>Paired trials, code graders, and capability graduation — good vs bad harness changes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harness changes ship on anecdotes</a:t>
            </a:r>
          </a:p>
        </p:txBody>
      </p:sp>
      <p:sp>
        <p:nvSpPr>
          <p:cNvPr id="3" name="Content Placeholder 2"/>
          <p:cNvSpPr>
            <a:spLocks noGrp="1"/>
          </p:cNvSpPr>
          <p:nvPr>
            <p:ph idx="1"/>
          </p:nvPr>
        </p:nvSpPr>
        <p:spPr/>
        <p:txBody>
          <a:bodyPr/>
          <a:lstStyle/>
          <a:p>
            <a:pPr>
              <a:defRPr sz="1800"/>
            </a:pPr>
            <a:r>
              <a:t>Teams edit AGENTS.md, skills, hooks, and tool defaults every week.</a:t>
            </a:r>
          </a:p>
          <a:p>
            <a:pPr>
              <a:defRPr sz="1800"/>
            </a:pPr>
            <a:r>
              <a:t>Review is often a few transcripts in Slack and maintainer gut feel.</a:t>
            </a:r>
          </a:p>
          <a:p>
            <a:pPr>
              <a:defRPr sz="1800"/>
            </a:pPr>
            <a:r>
              <a:t>Quality is multidimensional: correctness, fidelity, regression risk, cost, latency.</a:t>
            </a:r>
          </a:p>
          <a:p>
            <a:pPr>
              <a:defRPr sz="1800"/>
            </a:pPr>
            <a:r>
              <a:t>Without paired evidence, a louder narrative wins — not necessarily a better harness.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false belief: any harness change is progress</a:t>
            </a:r>
          </a:p>
        </p:txBody>
      </p:sp>
      <p:sp>
        <p:nvSpPr>
          <p:cNvPr id="3" name="Content Placeholder 2"/>
          <p:cNvSpPr>
            <a:spLocks noGrp="1"/>
          </p:cNvSpPr>
          <p:nvPr>
            <p:ph idx="1"/>
          </p:nvPr>
        </p:nvSpPr>
        <p:spPr/>
        <p:txBody>
          <a:bodyPr/>
          <a:lstStyle/>
          <a:p>
            <a:pPr>
              <a:defRPr sz="1800"/>
            </a:pPr>
            <a:r>
              <a:t>A new skill file sounds stricter, so reviewers assume safety improved.</a:t>
            </a:r>
          </a:p>
          <a:p>
            <a:pPr>
              <a:defRPr sz="1800"/>
            </a:pPr>
            <a:r>
              <a:t>Sometimes guidance helps triage (fewer false positives).</a:t>
            </a:r>
          </a:p>
          <a:p>
            <a:pPr>
              <a:defRPr sz="1800"/>
            </a:pPr>
            <a:r>
              <a:t>Sometimes guidance encourages destructive edits (tests fail).</a:t>
            </a:r>
          </a:p>
          <a:p>
            <a:pPr>
              <a:defRPr sz="1800"/>
            </a:pPr>
            <a:r>
              <a:t>Our tool makes both outcomes visible before rollout — same baseline, different candidates.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Terminology (use consistently)</a:t>
            </a:r>
          </a:p>
        </p:txBody>
      </p:sp>
      <p:sp>
        <p:nvSpPr>
          <p:cNvPr id="3" name="Content Placeholder 2"/>
          <p:cNvSpPr>
            <a:spLocks noGrp="1"/>
          </p:cNvSpPr>
          <p:nvPr>
            <p:ph idx="1"/>
          </p:nvPr>
        </p:nvSpPr>
        <p:spPr/>
        <p:txBody>
          <a:bodyPr/>
          <a:lstStyle/>
          <a:p>
            <a:pPr>
              <a:defRPr sz="1800"/>
            </a:pPr>
            <a:r>
              <a:t>Task: repo + prompt + held-out acceptance criteria</a:t>
            </a:r>
          </a:p>
          <a:p>
            <a:pPr>
              <a:defRPr sz="1800"/>
            </a:pPr>
            <a:r>
              <a:t>Trial: one harness run in a clean workspace (reps=2 for stability signal)</a:t>
            </a:r>
          </a:p>
          <a:p>
            <a:pPr>
              <a:defRPr sz="1800"/>
            </a:pPr>
            <a:r>
              <a:t>Transcript: tools, tokens, latency, findings, errors — on disk per trial</a:t>
            </a:r>
          </a:p>
          <a:p>
            <a:pPr>
              <a:defRPr sz="1800"/>
            </a:pPr>
            <a:r>
              <a:t>Agent harness: model + tools + guidance | Evaluation harness: this orchestrator</a:t>
            </a:r>
          </a:p>
          <a:p>
            <a:pPr>
              <a:defRPr sz="1800"/>
            </a:pPr>
            <a:r>
              <a:t>Capability eval: learn what works | Regression eval: must keep passing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jobs every eval must do (our tasks)</a:t>
            </a:r>
          </a:p>
        </p:txBody>
      </p:sp>
      <p:sp>
        <p:nvSpPr>
          <p:cNvPr id="3" name="Content Placeholder 2"/>
          <p:cNvSpPr>
            <a:spLocks noGrp="1"/>
          </p:cNvSpPr>
          <p:nvPr>
            <p:ph idx="1"/>
          </p:nvPr>
        </p:nvSpPr>
        <p:spPr/>
        <p:txBody>
          <a:bodyPr/>
          <a:lstStyle/>
          <a:p>
            <a:pPr>
              <a:defRPr sz="1800"/>
            </a:pPr>
            <a:r>
              <a:t>Unambiguous spec — auth-vs-log: withdraw vulnerable, logTransfer not (tx.origin triage)</a:t>
            </a:r>
          </a:p>
          <a:p>
            <a:pPr>
              <a:defRPr sz="1800"/>
            </a:pPr>
            <a:r>
              <a:t>Regression protection — keep-suite: pytest on app/config.py must still pass</a:t>
            </a:r>
          </a:p>
          <a:p>
            <a:pPr>
              <a:defRPr sz="1800"/>
            </a:pPr>
            <a:r>
              <a:t>Development feedback — caller-check (phase 2): new capability after graduation</a:t>
            </a:r>
          </a:p>
          <a:p>
            <a:pPr>
              <a:defRPr sz="1800"/>
            </a:pPr>
            <a:r>
              <a:t>Each job maps to a grader family; code graders gate promotion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Controlled experiment: one intentional variable</a:t>
            </a:r>
          </a:p>
        </p:txBody>
      </p:sp>
      <p:sp>
        <p:nvSpPr>
          <p:cNvPr id="3" name="Content Placeholder 2"/>
          <p:cNvSpPr>
            <a:spLocks noGrp="1"/>
          </p:cNvSpPr>
          <p:nvPr>
            <p:ph idx="1"/>
          </p:nvPr>
        </p:nvSpPr>
        <p:spPr/>
        <p:txBody>
          <a:bodyPr/>
          <a:lstStyle/>
          <a:p>
            <a:pPr>
              <a:defRPr sz="1800"/>
            </a:pPr>
            <a:r>
              <a:t>Same OpenRouter Haiku model, endpoint, tool loop (read/list/write)</a:t>
            </a:r>
          </a:p>
          <a:p>
            <a:pPr>
              <a:defRPr sz="1800"/>
            </a:pPr>
            <a:r>
              <a:t>Same task repos and prompts; held-out labels never enter the workspace</a:t>
            </a:r>
          </a:p>
          <a:p>
            <a:pPr>
              <a:defRPr sz="1800"/>
            </a:pPr>
            <a:r>
              <a:t>Baseline: harnesses/baseline/AGENTS.md (noisy tx.origin rule)</a:t>
            </a:r>
          </a:p>
          <a:p>
            <a:pPr>
              <a:defRPr sz="1800"/>
            </a:pPr>
            <a:r>
              <a:t>Candidate: good-candidate or bad-candidate SKILL.md — only guidance changes</a:t>
            </a:r>
          </a:p>
          <a:p>
            <a:pPr>
              <a:defRPr sz="1800"/>
            </a:pPr>
            <a:r>
              <a:t>Attribution breaks if you also swap model, tools, or task prompts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Shared task suite (phase 1)</a:t>
            </a:r>
          </a:p>
        </p:txBody>
      </p:sp>
      <p:sp>
        <p:nvSpPr>
          <p:cNvPr id="3" name="Content Placeholder 2"/>
          <p:cNvSpPr>
            <a:spLocks noGrp="1"/>
          </p:cNvSpPr>
          <p:nvPr>
            <p:ph idx="1"/>
          </p:nvPr>
        </p:nvSpPr>
        <p:spPr/>
        <p:txBody>
          <a:bodyPr/>
          <a:lstStyle/>
          <a:p>
            <a:pPr>
              <a:defRPr sz="1800"/>
            </a:pPr>
            <a:r>
              <a:t>auth-vs-log (capability): audit Wallet.sol → write findings.json</a:t>
            </a:r>
          </a:p>
          <a:p>
            <a:pPr>
              <a:defRPr sz="1800"/>
            </a:pPr>
            <a:r>
              <a:t>keep-suite (regression): scan repo; do not break config or tests</a:t>
            </a:r>
          </a:p>
          <a:p>
            <a:pPr>
              <a:defRPr sz="1800"/>
            </a:pPr>
            <a:r>
              <a:t>Phase 2 adds caller-check (capability) + graduated auth-vs-log as regression gate</a:t>
            </a:r>
          </a:p>
          <a:p>
            <a:pPr>
              <a:defRPr sz="1800"/>
            </a:pPr>
            <a:r>
              <a:t>Registry: tasks/registry.yaml — bootstrap resets suite tags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Graders: what checks what</a:t>
            </a:r>
          </a:p>
        </p:txBody>
      </p:sp>
      <p:sp>
        <p:nvSpPr>
          <p:cNvPr id="3" name="Content Placeholder 2"/>
          <p:cNvSpPr>
            <a:spLocks noGrp="1"/>
          </p:cNvSpPr>
          <p:nvPr>
            <p:ph idx="1"/>
          </p:nvPr>
        </p:nvSpPr>
        <p:spPr/>
        <p:txBody>
          <a:bodyPr/>
          <a:lstStyle/>
          <a:p>
            <a:pPr>
              <a:defRPr sz="1600"/>
            </a:pPr>
            <a:r>
              <a:t>Code (auth tasks): match findings to held-out per-function vulnerable flags; caller-check requires tx.origin in issue text</a:t>
            </a:r>
          </a:p>
          <a:p>
            <a:pPr>
              <a:defRPr sz="1800"/>
            </a:pPr>
            <a:r>
              <a:t>Code (keep-suite): subprocess pytest -q tests in workspace after agent stops</a:t>
            </a:r>
          </a:p>
          <a:p>
            <a:pPr>
              <a:defRPr sz="1800"/>
            </a:pPr>
            <a:r>
              <a:t>Model rubric (capability, live only): Haiku PASS/FAIL on explanation quality — evidence only</a:t>
            </a:r>
          </a:p>
          <a:p>
            <a:pPr>
              <a:defRPr sz="1800"/>
            </a:pPr>
            <a:r>
              <a:t>Human: human_spot_check.md checklist per example run — does not override code</a:t>
            </a:r>
          </a:p>
          <a:p>
            <a:pPr>
              <a:defRPr sz="1800"/>
            </a:pPr>
            <a:r>
              <a:t>Promotion and phase verdicts use code pass/fail only; model_disagreement is surfaced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to read a result (reviewer path)</a:t>
            </a:r>
          </a:p>
        </p:txBody>
      </p:sp>
      <p:sp>
        <p:nvSpPr>
          <p:cNvPr id="3" name="Content Placeholder 2"/>
          <p:cNvSpPr>
            <a:spLocks noGrp="1"/>
          </p:cNvSpPr>
          <p:nvPr>
            <p:ph idx="1"/>
          </p:nvPr>
        </p:nvSpPr>
        <p:spPr/>
        <p:txBody>
          <a:bodyPr/>
          <a:lstStyle/>
          <a:p>
            <a:pPr>
              <a:defRPr sz="1800"/>
            </a:pPr>
            <a:r>
              <a:t>Per task: baseline_outcome, candidate_outcome, transition (IMPROVED/REGRESSED/UNCHANGED/UNSTABLE)</a:t>
            </a:r>
          </a:p>
          <a:p>
            <a:pPr>
              <a:defRPr sz="1800"/>
            </a:pPr>
            <a:r>
              <a:t>Phase verdict: NEGATIVE if any regression; POSITIVE if improved with no regressions; else INCONCLUSIVE</a:t>
            </a:r>
          </a:p>
          <a:p>
            <a:pPr>
              <a:defRPr sz="1800"/>
            </a:pPr>
            <a:r>
              <a:t>Open output/&lt;example&gt;/phase-1/comparison/result.json then trials/*/grade.json</a:t>
            </a:r>
          </a:p>
          <a:p>
            <a:pPr>
              <a:defRPr sz="1800"/>
            </a:pPr>
            <a:r>
              <a:t>phase_2_blocked_reason explains why graduation did not run (bad example)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Good harness change: triage skill (good-candidate)</a:t>
            </a:r>
          </a:p>
        </p:txBody>
      </p:sp>
      <p:sp>
        <p:nvSpPr>
          <p:cNvPr id="3" name="Content Placeholder 2"/>
          <p:cNvSpPr>
            <a:spLocks noGrp="1"/>
          </p:cNvSpPr>
          <p:nvPr>
            <p:ph idx="1"/>
          </p:nvPr>
        </p:nvSpPr>
        <p:spPr/>
        <p:txBody>
          <a:bodyPr/>
          <a:lstStyle/>
          <a:p>
            <a:pPr>
              <a:defRPr sz="1800"/>
            </a:pPr>
            <a:r>
              <a:t>Candidate SKILL: tx.origin vulnerable only when it gates privileged actions</a:t>
            </a:r>
          </a:p>
          <a:p>
            <a:pPr>
              <a:defRPr sz="1800"/>
            </a:pPr>
            <a:r>
              <a:t>Logging/events using tx.origin are explicitly not findings</a:t>
            </a:r>
          </a:p>
          <a:p>
            <a:pPr>
              <a:defRPr sz="1800"/>
            </a:pPr>
            <a:r>
              <a:t>Intent: reduce false positives while keeping withdraw flagged</a:t>
            </a:r>
          </a:p>
          <a:p>
            <a:pPr>
              <a:defRPr sz="1800"/>
            </a:pPr>
            <a:r>
              <a:t>Harness diff: harnesses/good-candidate/SKILL.md vs baseline AGENTS.md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Good example — phase 1 findings (baseline vs candidate)</a:t>
            </a:r>
          </a:p>
        </p:txBody>
      </p:sp>
      <p:sp>
        <p:nvSpPr>
          <p:cNvPr id="3" name="Content Placeholder 2"/>
          <p:cNvSpPr>
            <a:spLocks noGrp="1"/>
          </p:cNvSpPr>
          <p:nvPr>
            <p:ph idx="1"/>
          </p:nvPr>
        </p:nvSpPr>
        <p:spPr/>
        <p:txBody>
          <a:bodyPr/>
          <a:lstStyle/>
          <a:p>
            <a:pPr>
              <a:defRPr sz="1800"/>
            </a:pPr>
            <a:r>
              <a:t>Baseline (over-flags logging):</a:t>
            </a:r>
          </a:p>
          <a:p>
            <a:pPr>
              <a:defRPr sz="1600"/>
            </a:pPr>
            <a:r>
              <a:t>{</a:t>
            </a:r>
            <a:br/>
            <a:r>
              <a:t>  "findings": [</a:t>
            </a:r>
            <a:br/>
            <a:r>
              <a:t>    {</a:t>
            </a:r>
            <a:br/>
            <a:r>
              <a:t>      "function": "withdraw",</a:t>
            </a:r>
            <a:br/>
            <a:r>
              <a:t>      "vulnerable": true,</a:t>
            </a:r>
            <a:br/>
            <a:r>
              <a:t>      "issue": "tx.origin",</a:t>
            </a:r>
            <a:br/>
            <a:r>
              <a:t>      "detail": "Uses tx.origin for auth."</a:t>
            </a:r>
            <a:br/>
            <a:r>
              <a:t>    },</a:t>
            </a:r>
            <a:br/>
            <a:r>
              <a:t>    {</a:t>
            </a:r>
            <a:br/>
            <a:r>
              <a:t>      "function": "logTransfer",</a:t>
            </a:r>
            <a:br/>
            <a:r>
              <a:t>      "vulnerable": true,</a:t>
            </a:r>
            <a:br/>
            <a:r>
              <a:t>      "issue": "tx.origin",</a:t>
            </a:r>
            <a:br/>
            <a:r>
              <a:t>      "detail": "tx.origin in log path."</a:t>
            </a:r>
            <a:br/>
            <a:r>
              <a:t>    }</a:t>
            </a:r>
            <a:br/>
            <a:r>
              <a:t>  ]</a:t>
            </a:r>
            <a:br/>
            <a:r>
              <a:t>}</a:t>
            </a:r>
            <a:br/>
          </a:p>
          <a:p>
            <a:pPr>
              <a:defRPr sz="1800"/>
            </a:pPr>
            <a:r>
              <a:t>Candidate (correct triage):</a:t>
            </a:r>
          </a:p>
          <a:p>
            <a:pPr>
              <a:defRPr sz="1600"/>
            </a:pPr>
            <a:r>
              <a:t>{</a:t>
            </a:r>
            <a:br/>
            <a:r>
              <a:t>  "findings": [</a:t>
            </a:r>
            <a:br/>
            <a:r>
              <a:t>    {</a:t>
            </a:r>
            <a:br/>
            <a:r>
              <a:t>      "function": "withdraw",</a:t>
            </a:r>
            <a:br/>
            <a:r>
              <a:t>      "vulnerable": true,</a:t>
            </a:r>
            <a:br/>
            <a:r>
              <a:t>      "issue": "tx.origin auth",</a:t>
            </a:r>
            <a:br/>
            <a:r>
              <a:t>      "detail": "tx.origin gates withdraw."</a:t>
            </a:r>
            <a:br/>
            <a:r>
              <a:t>    },</a:t>
            </a:r>
            <a:br/>
            <a:r>
              <a:t>    {</a:t>
            </a:r>
            <a:br/>
            <a:r>
              <a:t>      "function": "logTransfer",</a:t>
            </a:r>
            <a:br/>
            <a:r>
              <a:t>      "vulnerable": false,</a:t>
            </a:r>
            <a:br/>
            <a:r>
              <a:t>      "issue": "logging only",</a:t>
            </a:r>
            <a:br/>
            <a:r>
              <a:t>      "detail": "Event logging, not authorization."</a:t>
            </a:r>
            <a:br/>
            <a:r>
              <a:t>    }</a:t>
            </a:r>
            <a:br/>
            <a:r>
              <a:t>  ]</a:t>
            </a:r>
            <a:br/>
            <a:r>
              <a:t>}</a:t>
            </a:r>
            <a:br/>
          </a:p>
          <a:p>
            <a:pPr>
              <a:defRPr sz="1800"/>
            </a:pPr>
            <a:r>
              <a:t>Verdict: POSITIVE | Promoted: ['auth-vs-log']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Good example — phase 2 after graduation</a:t>
            </a:r>
          </a:p>
        </p:txBody>
      </p:sp>
      <p:sp>
        <p:nvSpPr>
          <p:cNvPr id="3" name="Content Placeholder 2"/>
          <p:cNvSpPr>
            <a:spLocks noGrp="1"/>
          </p:cNvSpPr>
          <p:nvPr>
            <p:ph idx="1"/>
          </p:nvPr>
        </p:nvSpPr>
        <p:spPr/>
        <p:txBody>
          <a:bodyPr/>
          <a:lstStyle/>
          <a:p>
            <a:pPr>
              <a:defRPr sz="1800"/>
            </a:pPr>
            <a:r>
              <a:t>Phase 2 ran: True</a:t>
            </a:r>
          </a:p>
          <a:p>
            <a:pPr>
              <a:defRPr sz="1800"/>
            </a:pPr>
            <a:r>
              <a:t>Phase 2 verdict: POSITIVE</a:t>
            </a:r>
          </a:p>
          <a:p>
            <a:pPr>
              <a:defRPr sz="1800"/>
            </a:pPr>
            <a:r>
              <a:t>Phase 1 transitions:</a:t>
            </a:r>
          </a:p>
          <a:p>
            <a:pPr>
              <a:defRPr sz="1800"/>
            </a:pPr>
            <a:r>
              <a:t>auth-vs-log: FAIL → PASS (IMPROVED)</a:t>
            </a:r>
          </a:p>
          <a:p>
            <a:pPr>
              <a:defRPr sz="1800"/>
            </a:pPr>
            <a:r>
              <a:t>keep-suite: PASS → PASS (UNCHANGED)</a:t>
            </a:r>
          </a:p>
          <a:p>
            <a:pPr>
              <a:defRPr sz="1800"/>
            </a:pPr>
            <a:r>
              <a:t>Phase 2 transitions:</a:t>
            </a:r>
          </a:p>
          <a:p>
            <a:pPr>
              <a:defRPr sz="1800"/>
            </a:pPr>
            <a:r>
              <a:t>auth-vs-log: FAIL → PASS (IMPROVED)</a:t>
            </a:r>
          </a:p>
          <a:p>
            <a:pPr>
              <a:defRPr sz="1800"/>
            </a:pPr>
            <a:r>
              <a:t>caller-check: FAIL → PASS (IMPROVED)</a:t>
            </a:r>
          </a:p>
          <a:p>
            <a:pPr>
              <a:defRPr sz="1800"/>
            </a:pPr>
            <a:r>
              <a:t>keep-suite: PASS → PASS (UNCHANGED)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Bad harness change: strict remediation (bad-candidate)</a:t>
            </a:r>
          </a:p>
        </p:txBody>
      </p:sp>
      <p:sp>
        <p:nvSpPr>
          <p:cNvPr id="3" name="Content Placeholder 2"/>
          <p:cNvSpPr>
            <a:spLocks noGrp="1"/>
          </p:cNvSpPr>
          <p:nvPr>
            <p:ph idx="1"/>
          </p:nvPr>
        </p:nvSpPr>
        <p:spPr/>
        <p:txBody>
          <a:bodyPr/>
          <a:lstStyle/>
          <a:p>
            <a:pPr>
              <a:defRPr sz="1800"/>
            </a:pPr>
            <a:r>
              <a:t>Candidate SKILL: remove tx.origin and harden config values aggressively</a:t>
            </a:r>
          </a:p>
          <a:p>
            <a:pPr>
              <a:defRPr sz="1800"/>
            </a:pPr>
            <a:r>
              <a:t>Sounds safer in a design review — patch code, bump versions, tighten retries</a:t>
            </a:r>
          </a:p>
          <a:p>
            <a:pPr>
              <a:defRPr sz="1800"/>
            </a:pPr>
            <a:r>
              <a:t>Mock outcome: incomplete findings on auth-vs-log (missing withdraw)</a:t>
            </a:r>
          </a:p>
          <a:p>
            <a:pPr>
              <a:defRPr sz="1800"/>
            </a:pPr>
            <a:r>
              <a:t>keep-suite: overlay changes API_VERSION and MAX_RETRIES → pytest FAIL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Bad example — phase 1 (worse than baseline on regression)</a:t>
            </a:r>
          </a:p>
        </p:txBody>
      </p:sp>
      <p:sp>
        <p:nvSpPr>
          <p:cNvPr id="3" name="Content Placeholder 2"/>
          <p:cNvSpPr>
            <a:spLocks noGrp="1"/>
          </p:cNvSpPr>
          <p:nvPr>
            <p:ph idx="1"/>
          </p:nvPr>
        </p:nvSpPr>
        <p:spPr/>
        <p:txBody>
          <a:bodyPr/>
          <a:lstStyle/>
          <a:p>
            <a:pPr>
              <a:defRPr sz="1800"/>
            </a:pPr>
            <a:r>
              <a:t>Baseline findings (auth-vs-log):</a:t>
            </a:r>
          </a:p>
          <a:p>
            <a:pPr>
              <a:defRPr sz="1600"/>
            </a:pPr>
            <a:r>
              <a:t>{</a:t>
            </a:r>
            <a:br/>
            <a:r>
              <a:t>  "findings": [</a:t>
            </a:r>
            <a:br/>
            <a:r>
              <a:t>    {</a:t>
            </a:r>
            <a:br/>
            <a:r>
              <a:t>      "function": "withdraw",</a:t>
            </a:r>
            <a:br/>
            <a:r>
              <a:t>      "vulnerable": true,</a:t>
            </a:r>
            <a:br/>
            <a:r>
              <a:t>      "issue": "tx.origin",</a:t>
            </a:r>
            <a:br/>
            <a:r>
              <a:t>      "detail": "Uses tx.origin for auth."</a:t>
            </a:r>
            <a:br/>
            <a:r>
              <a:t>    },</a:t>
            </a:r>
            <a:br/>
            <a:r>
              <a:t>    {</a:t>
            </a:r>
            <a:br/>
            <a:r>
              <a:t>      "function": "logTransfer",</a:t>
            </a:r>
            <a:br/>
            <a:r>
              <a:t>      "vulnerable": true,</a:t>
            </a:r>
            <a:br/>
            <a:r>
              <a:t>      "issue": "tx.origin",</a:t>
            </a:r>
            <a:br/>
            <a:r>
              <a:t>      "detail": "tx.origin in log path."</a:t>
            </a:r>
            <a:br/>
            <a:r>
              <a:t>    }</a:t>
            </a:r>
            <a:br/>
            <a:r>
              <a:t>  ]</a:t>
            </a:r>
            <a:br/>
            <a:r>
              <a:t>}</a:t>
            </a:r>
            <a:br/>
          </a:p>
          <a:p>
            <a:pPr>
              <a:defRPr sz="1800"/>
            </a:pPr>
            <a:r>
              <a:t>Bad candidate findings:</a:t>
            </a:r>
          </a:p>
          <a:p>
            <a:pPr>
              <a:defRPr sz="1600"/>
            </a:pPr>
            <a:r>
              <a:t>{</a:t>
            </a:r>
            <a:br/>
            <a:r>
              <a:t>  "findings": [</a:t>
            </a:r>
            <a:br/>
            <a:r>
              <a:t>    {</a:t>
            </a:r>
            <a:br/>
            <a:r>
              <a:t>      "function": "logTransfer",</a:t>
            </a:r>
            <a:br/>
            <a:r>
              <a:t>      "vulnerable": false,</a:t>
            </a:r>
            <a:br/>
            <a:r>
              <a:t>      "issue": "patched logging",</a:t>
            </a:r>
            <a:br/>
            <a:r>
              <a:t>      "detail": "Removed tx.origin concern from logging path only."</a:t>
            </a:r>
            <a:br/>
            <a:r>
              <a:t>    }</a:t>
            </a:r>
            <a:br/>
            <a:r>
              <a:t>  ]</a:t>
            </a:r>
            <a:br/>
            <a:r>
              <a:t>}</a:t>
            </a:r>
            <a:br/>
          </a:p>
          <a:p>
            <a:pPr>
              <a:defRPr sz="1800"/>
            </a:pPr>
            <a:r>
              <a:t>auth-vs-log: FAIL → FAIL (UNCHANGED)</a:t>
            </a:r>
          </a:p>
          <a:p>
            <a:pPr>
              <a:defRPr sz="1800"/>
            </a:pPr>
            <a:r>
              <a:t>keep-suite: PASS → FAIL (REGRESSED)</a:t>
            </a:r>
          </a:p>
          <a:p>
            <a:pPr>
              <a:defRPr sz="1800"/>
            </a:pPr>
            <a:r>
              <a:t>Verdict: NEGATIVE | Phase 2 blocked: regression task keep-suite regressed (PASS→FAIL)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Same baseline, two candidates — side by side</a:t>
            </a:r>
          </a:p>
        </p:txBody>
      </p:sp>
      <p:sp>
        <p:nvSpPr>
          <p:cNvPr id="3" name="Content Placeholder 2"/>
          <p:cNvSpPr>
            <a:spLocks noGrp="1"/>
          </p:cNvSpPr>
          <p:nvPr>
            <p:ph idx="1"/>
          </p:nvPr>
        </p:nvSpPr>
        <p:spPr/>
        <p:txBody>
          <a:bodyPr/>
          <a:lstStyle/>
          <a:p>
            <a:pPr>
              <a:defRPr sz="1800"/>
            </a:pPr>
            <a:r>
              <a:t>Good phase 1: POSITIVE | improved 1 regressed 0</a:t>
            </a:r>
          </a:p>
          <a:p>
            <a:pPr>
              <a:defRPr sz="1800"/>
            </a:pPr>
            <a:r>
              <a:t>Bad phase 1: NEGATIVE | improved 0 regressed 1</a:t>
            </a:r>
          </a:p>
          <a:p>
            <a:pPr>
              <a:defRPr sz="1800"/>
            </a:pPr>
            <a:r>
              <a:t>Good: phase 2 runs, suite graduates auth-vs-log</a:t>
            </a:r>
          </a:p>
          <a:p>
            <a:pPr>
              <a:defRPr sz="1800"/>
            </a:pPr>
            <a:r>
              <a:t>Bad: no promotion, no phase 2 — regression gate failed first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Without this tool</a:t>
            </a:r>
          </a:p>
        </p:txBody>
      </p:sp>
      <p:sp>
        <p:nvSpPr>
          <p:cNvPr id="3" name="Content Placeholder 2"/>
          <p:cNvSpPr>
            <a:spLocks noGrp="1"/>
          </p:cNvSpPr>
          <p:nvPr>
            <p:ph idx="1"/>
          </p:nvPr>
        </p:nvSpPr>
        <p:spPr/>
        <p:txBody>
          <a:bodyPr/>
          <a:lstStyle/>
          <a:p>
            <a:pPr>
              <a:defRPr sz="1800"/>
            </a:pPr>
            <a:r>
              <a:t>Both skills read as security improvements in a design doc</a:t>
            </a:r>
          </a:p>
          <a:p>
            <a:pPr>
              <a:defRPr sz="1800"/>
            </a:pPr>
            <a:r>
              <a:t>Baseline noise on logging might be dismissed as model randomness</a:t>
            </a:r>
          </a:p>
          <a:p>
            <a:pPr>
              <a:defRPr sz="1800"/>
            </a:pPr>
            <a:r>
              <a:t>Destructive config edits might be caught only in production CI days later</a:t>
            </a:r>
          </a:p>
          <a:p>
            <a:pPr>
              <a:defRPr sz="1800"/>
            </a:pPr>
            <a:r>
              <a:t>Paired trials + code graders produce a verdict before rollout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Limits and policy</a:t>
            </a:r>
          </a:p>
        </p:txBody>
      </p:sp>
      <p:sp>
        <p:nvSpPr>
          <p:cNvPr id="3" name="Content Placeholder 2"/>
          <p:cNvSpPr>
            <a:spLocks noGrp="1"/>
          </p:cNvSpPr>
          <p:nvPr>
            <p:ph idx="1"/>
          </p:nvPr>
        </p:nvSpPr>
        <p:spPr/>
        <p:txBody>
          <a:bodyPr/>
          <a:lstStyle/>
          <a:p>
            <a:pPr>
              <a:defRPr sz="1800"/>
            </a:pPr>
            <a:r>
              <a:t>n=2 reps: UNSTABLE transitions are not rounded into wins</a:t>
            </a:r>
          </a:p>
          <a:p>
            <a:pPr>
              <a:defRPr sz="1800"/>
            </a:pPr>
            <a:r>
              <a:t>No p-values at this scale — INCONCLUSIVE is honest</a:t>
            </a:r>
          </a:p>
          <a:p>
            <a:pPr>
              <a:defRPr sz="1800"/>
            </a:pPr>
            <a:r>
              <a:t>Model rubric non-deterministic; code gates promotion</a:t>
            </a:r>
          </a:p>
          <a:p>
            <a:pPr>
              <a:defRPr sz="1800"/>
            </a:pPr>
            <a:r>
              <a:t>Dry-run: mocks/ + overlay files; cost_usd=0, cost_source=mock</a:t>
            </a:r>
          </a:p>
          <a:p>
            <a:pPr>
              <a:defRPr sz="1800"/>
            </a:pPr>
            <a:r>
              <a:t>Live runs need OPENROUTER_API_KEY; reset registry from bootstrap between fresh phase-1 runs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Run it (commands)</a:t>
            </a:r>
          </a:p>
        </p:txBody>
      </p:sp>
      <p:sp>
        <p:nvSpPr>
          <p:cNvPr id="3" name="Content Placeholder 2"/>
          <p:cNvSpPr>
            <a:spLocks noGrp="1"/>
          </p:cNvSpPr>
          <p:nvPr>
            <p:ph idx="1"/>
          </p:nvPr>
        </p:nvSpPr>
        <p:spPr/>
        <p:txBody>
          <a:bodyPr/>
          <a:lstStyle/>
          <a:p>
            <a:pPr>
              <a:defRPr sz="1800"/>
            </a:pPr>
            <a:r>
              <a:t>pip install -e '.[dev]'</a:t>
            </a:r>
          </a:p>
          <a:p>
            <a:pPr>
              <a:defRPr sz="1800"/>
            </a:pPr>
            <a:r>
              <a:t>python3 -m eval --dry-run  # both scenarios per eval.config.yaml</a:t>
            </a:r>
          </a:p>
          <a:p>
            <a:pPr>
              <a:defRPr sz="1800"/>
            </a:pPr>
            <a:r>
              <a:t>python3 -m eval --dry-run --scenario good</a:t>
            </a:r>
          </a:p>
          <a:p>
            <a:pPr>
              <a:defRPr sz="1800"/>
            </a:pPr>
            <a:r>
              <a:t>python3 -m eval --dry-run --scenario bad</a:t>
            </a:r>
          </a:p>
          <a:p>
            <a:pPr>
              <a:defRPr sz="1800"/>
            </a:pPr>
            <a:r>
              <a:t>python3 presentation/src/build_deck.py</a:t>
            </a:r>
          </a:p>
          <a:p>
            <a:pPr>
              <a:defRPr sz="1800"/>
            </a:pPr>
            <a:r>
              <a:t>pytest -q</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
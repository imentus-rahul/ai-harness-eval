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0" r:id="rId5"/>
    <p:sldMasterId id="214748367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y="6858000" cx="121917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384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D768582-A166-4AF2-A2B6-FE9F80A8B072}">
  <a:tblStyle styleId="{6D768582-A166-4AF2-A2B6-FE9F80A8B072}"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384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42" Type="http://schemas.openxmlformats.org/officeDocument/2006/relationships/slide" Target="slides/slide35.xml"/><Relationship Id="rId41" Type="http://schemas.openxmlformats.org/officeDocument/2006/relationships/slide" Target="slides/slide34.xml"/><Relationship Id="rId44" Type="http://schemas.openxmlformats.org/officeDocument/2006/relationships/slide" Target="slides/slide37.xml"/><Relationship Id="rId43" Type="http://schemas.openxmlformats.org/officeDocument/2006/relationships/slide" Target="slides/slide36.xml"/><Relationship Id="rId46" Type="http://schemas.openxmlformats.org/officeDocument/2006/relationships/slide" Target="slides/slide39.xml"/><Relationship Id="rId45" Type="http://schemas.openxmlformats.org/officeDocument/2006/relationships/slide" Target="slides/slide3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48" Type="http://schemas.openxmlformats.org/officeDocument/2006/relationships/slide" Target="slides/slide41.xml"/><Relationship Id="rId47" Type="http://schemas.openxmlformats.org/officeDocument/2006/relationships/slide" Target="slides/slide40.xml"/><Relationship Id="rId49" Type="http://schemas.openxmlformats.org/officeDocument/2006/relationships/slide" Target="slides/slide42.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33" Type="http://schemas.openxmlformats.org/officeDocument/2006/relationships/slide" Target="slides/slide26.xml"/><Relationship Id="rId32" Type="http://schemas.openxmlformats.org/officeDocument/2006/relationships/slide" Target="slides/slide25.xml"/><Relationship Id="rId35" Type="http://schemas.openxmlformats.org/officeDocument/2006/relationships/slide" Target="slides/slide28.xml"/><Relationship Id="rId34" Type="http://schemas.openxmlformats.org/officeDocument/2006/relationships/slide" Target="slides/slide27.xml"/><Relationship Id="rId37" Type="http://schemas.openxmlformats.org/officeDocument/2006/relationships/slide" Target="slides/slide30.xml"/><Relationship Id="rId36" Type="http://schemas.openxmlformats.org/officeDocument/2006/relationships/slide" Target="slides/slide29.xml"/><Relationship Id="rId39" Type="http://schemas.openxmlformats.org/officeDocument/2006/relationships/slide" Target="slides/slide32.xml"/><Relationship Id="rId38" Type="http://schemas.openxmlformats.org/officeDocument/2006/relationships/slide" Target="slides/slide31.xml"/><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29" Type="http://schemas.openxmlformats.org/officeDocument/2006/relationships/slide" Target="slides/slide22.xml"/><Relationship Id="rId51" Type="http://schemas.openxmlformats.org/officeDocument/2006/relationships/slide" Target="slides/slide44.xml"/><Relationship Id="rId50" Type="http://schemas.openxmlformats.org/officeDocument/2006/relationships/slide" Target="slides/slide43.xml"/><Relationship Id="rId53" Type="http://schemas.openxmlformats.org/officeDocument/2006/relationships/slide" Target="slides/slide46.xml"/><Relationship Id="rId52" Type="http://schemas.openxmlformats.org/officeDocument/2006/relationships/slide" Target="slides/slide45.xml"/><Relationship Id="rId11" Type="http://schemas.openxmlformats.org/officeDocument/2006/relationships/slide" Target="slides/slide4.xml"/><Relationship Id="rId55" Type="http://schemas.openxmlformats.org/officeDocument/2006/relationships/slide" Target="slides/slide48.xml"/><Relationship Id="rId10" Type="http://schemas.openxmlformats.org/officeDocument/2006/relationships/slide" Target="slides/slide3.xml"/><Relationship Id="rId54" Type="http://schemas.openxmlformats.org/officeDocument/2006/relationships/slide" Target="slides/slide47.xml"/><Relationship Id="rId13" Type="http://schemas.openxmlformats.org/officeDocument/2006/relationships/slide" Target="slides/slide6.xml"/><Relationship Id="rId57" Type="http://schemas.openxmlformats.org/officeDocument/2006/relationships/slide" Target="slides/slide50.xml"/><Relationship Id="rId12" Type="http://schemas.openxmlformats.org/officeDocument/2006/relationships/slide" Target="slides/slide5.xml"/><Relationship Id="rId56" Type="http://schemas.openxmlformats.org/officeDocument/2006/relationships/slide" Target="slides/slide49.xml"/><Relationship Id="rId15" Type="http://schemas.openxmlformats.org/officeDocument/2006/relationships/slide" Target="slides/slide8.xml"/><Relationship Id="rId14" Type="http://schemas.openxmlformats.org/officeDocument/2006/relationships/slide" Target="slides/slide7.xml"/><Relationship Id="rId58" Type="http://schemas.openxmlformats.org/officeDocument/2006/relationships/slide" Target="slides/slide51.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263"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h6ff2b1ef7cff2dd_7_75: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7" name="Google Shape;157;h6ff2b1ef7cff2dd_7_7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Open with the question every agent platform team faces: we changed the harness, did we actually improve outcomes? This PoC answers it with evidence: same tasks, same model, same tools, only the guidance file differs between a baseline and a candidate. The two committed stories have opposite endings: the good candidate graduates into Phase 2, and the bad candidate is blocked before Phase 2 runs.</a:t>
            </a:r>
            <a:endParaRPr/>
          </a:p>
        </p:txBody>
      </p:sp>
      <p:sp>
        <p:nvSpPr>
          <p:cNvPr id="158" name="Google Shape;158;h6ff2b1ef7cff2dd_7_7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h6ff2b1ef7cff2dd_7_102: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4" name="Google Shape;184;h6ff2b1ef7cff2dd_7_10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Set expectations. We start from the problem and vocabulary, then the concrete PoC, how the tool runs, the decision machinery, results, and finally the gaps we cut and how to run it.</a:t>
            </a:r>
            <a:endParaRPr/>
          </a:p>
        </p:txBody>
      </p:sp>
      <p:sp>
        <p:nvSpPr>
          <p:cNvPr id="185" name="Google Shape;185;h6ff2b1ef7cff2dd_7_10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h6ff2b1ef7cff2dd_7_134: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7" name="Google Shape;217;h6ff2b1ef7cff2dd_7_1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Chapter 1: set up the problem and the vocabulary before we look at any code.</a:t>
            </a:r>
            <a:endParaRPr/>
          </a:p>
        </p:txBody>
      </p:sp>
      <p:sp>
        <p:nvSpPr>
          <p:cNvPr id="218" name="Google Shape;218;h6ff2b1ef7cff2dd_7_1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h6ff2b1ef7cff2dd_7_143: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7" name="Google Shape;227;h6ff2b1ef7cff2dd_7_1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Teams edit AGENTS.md, skills, hooks, MCP servers and model routing every week. Each change is made because someone believes it helps. Today the review is a few transcripts and gut feel. Quality is multidimensional, so a louder narrative wins rather than a better harness.</a:t>
            </a:r>
            <a:endParaRPr/>
          </a:p>
        </p:txBody>
      </p:sp>
      <p:sp>
        <p:nvSpPr>
          <p:cNvPr id="228" name="Google Shape;228;h6ff2b1ef7cff2dd_7_1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h6ff2b1ef7cff2dd_7_170: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5" name="Google Shape;255;h6ff2b1ef7cff2dd_7_17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Walk the top row: a change, it seems better, intuition, ship it, and you find out in production. Then the bottom row, which is exactly what this repo implements. Stress that the evaluation targets the harness, not the model's raw intelligence.</a:t>
            </a:r>
            <a:endParaRPr/>
          </a:p>
        </p:txBody>
      </p:sp>
      <p:sp>
        <p:nvSpPr>
          <p:cNvPr id="256" name="Google Shape;256;h6ff2b1ef7cff2dd_7_17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h6ff2b1ef7cff2dd_7_211: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7" name="Google Shape;297;h6ff2b1ef7cff2dd_7_2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Use the nested boxes. The model is the LLM. The agent is the model plus a loop plus tools acting on a workspace. The agent harness is everything around the model that shapes behaviour. The evaluation harness is this repo: it runs trials, grades, compares and gates.</a:t>
            </a:r>
            <a:endParaRPr/>
          </a:p>
        </p:txBody>
      </p:sp>
      <p:sp>
        <p:nvSpPr>
          <p:cNvPr id="298" name="Google Shape;298;h6ff2b1ef7cff2dd_7_2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h6ff2b1ef7cff2dd_7_243: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0" name="Google Shape;330;h6ff2b1ef7cff2dd_7_2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Go quickly. The important pairs: task vs trial, baseline vs candidate, capability vs regression, and graduation.</a:t>
            </a:r>
            <a:endParaRPr/>
          </a:p>
        </p:txBody>
      </p:sp>
      <p:sp>
        <p:nvSpPr>
          <p:cNvPr id="331" name="Google Shape;331;h6ff2b1ef7cff2dd_7_2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h6ff2b1ef7cff2dd_7_287: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6" name="Google Shape;376;h6ff2b1ef7cff2dd_7_28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Read the formula left to right, then map each part to the repo. Two rows change: instructions in the baseline arm and skills in the candidate arm. Everything else is held constant.</a:t>
            </a:r>
            <a:endParaRPr/>
          </a:p>
        </p:txBody>
      </p:sp>
      <p:sp>
        <p:nvSpPr>
          <p:cNvPr id="377" name="Google Shape;377;h6ff2b1ef7cff2dd_7_28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h6ff2b1ef7cff2dd_7_311: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1" name="Google Shape;401;h6ff2b1ef7cff2dd_7_3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Be explicit about what is real and what is not. Human spot checks are generated as a checklist but not enforced. Statistics and grader validation are gaps we cover in chapter 6.</a:t>
            </a:r>
            <a:endParaRPr/>
          </a:p>
        </p:txBody>
      </p:sp>
      <p:sp>
        <p:nvSpPr>
          <p:cNvPr id="402" name="Google Shape;402;h6ff2b1ef7cff2dd_7_3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h6ff2b1ef7cff2dd_7_361: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2" name="Google Shape;452;h6ff2b1ef7cff2dd_7_36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Chapter 2: the concrete experiment.</a:t>
            </a:r>
            <a:endParaRPr/>
          </a:p>
        </p:txBody>
      </p:sp>
      <p:sp>
        <p:nvSpPr>
          <p:cNvPr id="453" name="Google Shape;453;h6ff2b1ef7cff2dd_7_36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h6ff2b1ef7cff2dd_7_370: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2" name="Google Shape;462;h6ff2b1ef7cff2dd_7_37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This slide sets the frame for everything that follows. Same baseline in both stories. The good candidate should improve capability without breaking anything. The bad candidate is a deliberate regression that tests whether the evaluation catches it.</a:t>
            </a:r>
            <a:endParaRPr/>
          </a:p>
        </p:txBody>
      </p:sp>
      <p:sp>
        <p:nvSpPr>
          <p:cNvPr id="463" name="Google Shape;463;h6ff2b1ef7cff2dd_7_37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h6ff2b1ef7cff2dd_7_404: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7" name="Google Shape;497;h6ff2b1ef7cff2dd_7_40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Read the two highlighted lines. withdraw uses tx.origin to decide who may withdraw: that is an authorization decision. logTransfer only puts tx.origin into an event. An agent that flags both is following a keyword, not understanding the role.</a:t>
            </a:r>
            <a:endParaRPr/>
          </a:p>
        </p:txBody>
      </p:sp>
      <p:sp>
        <p:nvSpPr>
          <p:cNvPr id="498" name="Google Shape;498;h6ff2b1ef7cff2dd_7_40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h6ff2b1ef7cff2dd_7_426: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0" name="Google Shape;520;h6ff2b1ef7cff2dd_7_4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The answer key is held out: the agent never sees it. Show the correct finding on the left and the false positive on the right, which is what the baseline produces.</a:t>
            </a:r>
            <a:endParaRPr/>
          </a:p>
        </p:txBody>
      </p:sp>
      <p:sp>
        <p:nvSpPr>
          <p:cNvPr id="521" name="Google Shape;521;h6ff2b1ef7cff2dd_7_4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h6ff2b1ef7cff2dd_7_453: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9" name="Google Shape;549;h6ff2b1ef7cff2dd_7_45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This is the exact AGENTS.md copied into every baseline workspace. The highlighted lines are the problem: they reward keyword matching. The baseline has no skill file, no MCP, no shell, no test runner, and no access to the answer key.</a:t>
            </a:r>
            <a:endParaRPr/>
          </a:p>
        </p:txBody>
      </p:sp>
      <p:sp>
        <p:nvSpPr>
          <p:cNvPr id="550" name="Google Shape;550;h6ff2b1ef7cff2dd_7_45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 name="Shape 569"/>
        <p:cNvGrpSpPr/>
        <p:nvPr/>
      </p:nvGrpSpPr>
      <p:grpSpPr>
        <a:xfrm>
          <a:off x="0" y="0"/>
          <a:ext cx="0" cy="0"/>
          <a:chOff x="0" y="0"/>
          <a:chExt cx="0" cy="0"/>
        </a:xfrm>
      </p:grpSpPr>
      <p:sp>
        <p:nvSpPr>
          <p:cNvPr id="570" name="Google Shape;570;h6ff2b1ef7cff2dd_7_474: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1" name="Google Shape;571;h6ff2b1ef7cff2dd_7_47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The point of the bad candidate is to test the evaluation itself: if this skill had slipped through, the evaluation would be broken. The three highlighted lines cause the damage: patch code, harden config, change constants.</a:t>
            </a:r>
            <a:endParaRPr/>
          </a:p>
        </p:txBody>
      </p:sp>
      <p:sp>
        <p:nvSpPr>
          <p:cNvPr id="572" name="Google Shape;572;h6ff2b1ef7cff2dd_7_47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3" name="Shape 593"/>
        <p:cNvGrpSpPr/>
        <p:nvPr/>
      </p:nvGrpSpPr>
      <p:grpSpPr>
        <a:xfrm>
          <a:off x="0" y="0"/>
          <a:ext cx="0" cy="0"/>
          <a:chOff x="0" y="0"/>
          <a:chExt cx="0" cy="0"/>
        </a:xfrm>
      </p:grpSpPr>
      <p:sp>
        <p:nvSpPr>
          <p:cNvPr id="594" name="Google Shape;594;h6ff2b1ef7cff2dd_7_497: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5" name="Google Shape;595;h6ff2b1ef7cff2dd_7_49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Tell this as a story and say clearly that it is hypothetical. A team upgrades to a frontier model such as Fable 5.1, or installs an impressive skill pack, or connects an MCP server. Any of these can flood the context with 'fix it, harden it' pressure. A stronger model follows that pressure more convincingly: it rewrites config and reports what it changed, and the real authorization bug drops out. Our bad SKILL.md is the minimal, reproducible version of that failure, and the gate catches it.</a:t>
            </a:r>
            <a:endParaRPr/>
          </a:p>
        </p:txBody>
      </p:sp>
      <p:sp>
        <p:nvSpPr>
          <p:cNvPr id="596" name="Google Shape;596;h6ff2b1ef7cff2dd_7_49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h6ff2b1ef7cff2dd_7_521: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0" name="Google Shape;620;h6ff2b1ef7cff2dd_7_5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The good skill keeps the true positive and removes the false positive. It also generalises to caller-check, where tx.origin is used in place of msg.sender.</a:t>
            </a:r>
            <a:endParaRPr/>
          </a:p>
        </p:txBody>
      </p:sp>
      <p:sp>
        <p:nvSpPr>
          <p:cNvPr id="621" name="Google Shape;621;h6ff2b1ef7cff2dd_7_5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h6ff2b1ef7cff2dd_7_547: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h6ff2b1ef7cff2dd_7_54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Chapter 3: what actually happens when you type python -m eval.</a:t>
            </a:r>
            <a:endParaRPr/>
          </a:p>
        </p:txBody>
      </p:sp>
      <p:sp>
        <p:nvSpPr>
          <p:cNvPr id="648" name="Google Shape;648;h6ff2b1ef7cff2dd_7_54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5" name="Shape 655"/>
        <p:cNvGrpSpPr/>
        <p:nvPr/>
      </p:nvGrpSpPr>
      <p:grpSpPr>
        <a:xfrm>
          <a:off x="0" y="0"/>
          <a:ext cx="0" cy="0"/>
          <a:chOff x="0" y="0"/>
          <a:chExt cx="0" cy="0"/>
        </a:xfrm>
      </p:grpSpPr>
      <p:sp>
        <p:nvSpPr>
          <p:cNvPr id="656" name="Google Shape;656;h6ff2b1ef7cff2dd_7_556: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7" name="Google Shape;657;h6ff2b1ef7cff2dd_7_55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Walk the snake. Top row is setup and Phase 1. Bottom row is decision and reporting. Baseline and candidate diverge only inside run_one_trial at copy_guidance.</a:t>
            </a:r>
            <a:endParaRPr/>
          </a:p>
        </p:txBody>
      </p:sp>
      <p:sp>
        <p:nvSpPr>
          <p:cNvPr id="658" name="Google Shape;658;h6ff2b1ef7cff2dd_7_55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1" name="Shape 711"/>
        <p:cNvGrpSpPr/>
        <p:nvPr/>
      </p:nvGrpSpPr>
      <p:grpSpPr>
        <a:xfrm>
          <a:off x="0" y="0"/>
          <a:ext cx="0" cy="0"/>
          <a:chOff x="0" y="0"/>
          <a:chExt cx="0" cy="0"/>
        </a:xfrm>
      </p:grpSpPr>
      <p:sp>
        <p:nvSpPr>
          <p:cNvPr id="712" name="Google Shape;712;h6ff2b1ef7cff2dd_7_611: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3" name="Google Shape;713;h6ff2b1ef7cff2dd_7_6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Count trials: Phase 1 has 2 tasks times 2 reps times 2 arms, which is 8 trials. Phase 2 has 3 tasks, which is 12 trials. The good scenario therefore runs 20 trials and the bad scenario 8. Two reps detect flakiness. They are not statistical significance.</a:t>
            </a:r>
            <a:endParaRPr/>
          </a:p>
        </p:txBody>
      </p:sp>
      <p:sp>
        <p:nvSpPr>
          <p:cNvPr id="714" name="Google Shape;714;h6ff2b1ef7cff2dd_7_6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7" name="Shape 747"/>
        <p:cNvGrpSpPr/>
        <p:nvPr/>
      </p:nvGrpSpPr>
      <p:grpSpPr>
        <a:xfrm>
          <a:off x="0" y="0"/>
          <a:ext cx="0" cy="0"/>
          <a:chOff x="0" y="0"/>
          <a:chExt cx="0" cy="0"/>
        </a:xfrm>
      </p:grpSpPr>
      <p:sp>
        <p:nvSpPr>
          <p:cNvPr id="748" name="Google Shape;748;h6ff2b1ef7cff2dd_7_646: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49" name="Google Shape;749;h6ff2b1ef7cff2dd_7_6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OpenRouter lets us switch models with one flag while keeping the same tool loop. But the experiment holds the model constant on purpose, so the only variable is the guidance file. Cost comes from the API's usage.cost when reported. Otherwise it is estimated from token counts with Haiku rates, and cost_source records which.</a:t>
            </a:r>
            <a:endParaRPr/>
          </a:p>
        </p:txBody>
      </p:sp>
      <p:sp>
        <p:nvSpPr>
          <p:cNvPr id="750" name="Google Shape;750;h6ff2b1ef7cff2dd_7_6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5" name="Shape 775"/>
        <p:cNvGrpSpPr/>
        <p:nvPr/>
      </p:nvGrpSpPr>
      <p:grpSpPr>
        <a:xfrm>
          <a:off x="0" y="0"/>
          <a:ext cx="0" cy="0"/>
          <a:chOff x="0" y="0"/>
          <a:chExt cx="0" cy="0"/>
        </a:xfrm>
      </p:grpSpPr>
      <p:sp>
        <p:nvSpPr>
          <p:cNvPr id="776" name="Google Shape;776;h6ff2b1ef7cff2dd_7_673: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77" name="Google Shape;777;h6ff2b1ef7cff2dd_7_67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Mocks exist so reviewers see the same pass/fail story without an API key or spend. They make the agent output deterministic. The code graders still really compare JSON and really run pytest. Every committed output folder is a dry run with zero cost.</a:t>
            </a:r>
            <a:endParaRPr/>
          </a:p>
        </p:txBody>
      </p:sp>
      <p:sp>
        <p:nvSpPr>
          <p:cNvPr id="778" name="Google Shape;778;h6ff2b1ef7cff2dd_7_67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2" name="Shape 802"/>
        <p:cNvGrpSpPr/>
        <p:nvPr/>
      </p:nvGrpSpPr>
      <p:grpSpPr>
        <a:xfrm>
          <a:off x="0" y="0"/>
          <a:ext cx="0" cy="0"/>
          <a:chOff x="0" y="0"/>
          <a:chExt cx="0" cy="0"/>
        </a:xfrm>
      </p:grpSpPr>
      <p:sp>
        <p:nvSpPr>
          <p:cNvPr id="803" name="Google Shape;803;h6ff2b1ef7cff2dd_7_699: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04" name="Google Shape;804;h6ff2b1ef7cff2dd_7_69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The model rubric runs on auth-vs-log and caller-check. Its PASS or FAIL is stored and compared with the code grader. When they disagree we record it but keep the code verdict. We saw both directions in the committed runs: the rubric was fooled by the bad candidate, and the mock rule misfired on caller-check.</a:t>
            </a:r>
            <a:endParaRPr/>
          </a:p>
        </p:txBody>
      </p:sp>
      <p:sp>
        <p:nvSpPr>
          <p:cNvPr id="805" name="Google Shape;805;h6ff2b1ef7cff2dd_7_69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1" name="Shape 821"/>
        <p:cNvGrpSpPr/>
        <p:nvPr/>
      </p:nvGrpSpPr>
      <p:grpSpPr>
        <a:xfrm>
          <a:off x="0" y="0"/>
          <a:ext cx="0" cy="0"/>
          <a:chOff x="0" y="0"/>
          <a:chExt cx="0" cy="0"/>
        </a:xfrm>
      </p:grpSpPr>
      <p:sp>
        <p:nvSpPr>
          <p:cNvPr id="822" name="Google Shape;822;h6edccf3db4765a6e_0_2791: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3" name="Google Shape;823;h6edccf3db4765a6e_0_279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The model rubric runs on auth-vs-log and caller-check. Its PASS or FAIL is stored and compared with the code grader. When they disagree we record it but keep the code verdict. We saw both directions in the committed runs: the rubric was fooled by the bad candidate, and the mock rule misfired on caller-check.</a:t>
            </a:r>
            <a:endParaRPr/>
          </a:p>
        </p:txBody>
      </p:sp>
      <p:sp>
        <p:nvSpPr>
          <p:cNvPr id="824" name="Google Shape;824;h6edccf3db4765a6e_0_279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2" name="Shape 832"/>
        <p:cNvGrpSpPr/>
        <p:nvPr/>
      </p:nvGrpSpPr>
      <p:grpSpPr>
        <a:xfrm>
          <a:off x="0" y="0"/>
          <a:ext cx="0" cy="0"/>
          <a:chOff x="0" y="0"/>
          <a:chExt cx="0" cy="0"/>
        </a:xfrm>
      </p:grpSpPr>
      <p:sp>
        <p:nvSpPr>
          <p:cNvPr id="833" name="Google Shape;833;h6ff2b1ef7cff2dd_7_717: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4" name="Google Shape;834;h6ff2b1ef7cff2dd_7_7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scenario picks good, bad or both. In code, the scenario determines the candidate: good maps to good-candidate and bad maps to bad-candidate. The candidate key is only a fallback. --config points at another YAML file.</a:t>
            </a:r>
            <a:endParaRPr/>
          </a:p>
        </p:txBody>
      </p:sp>
      <p:sp>
        <p:nvSpPr>
          <p:cNvPr id="835" name="Google Shape;835;h6ff2b1ef7cff2dd_7_7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h6ff2b1ef7cff2dd_7_737: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h6ff2b1ef7cff2dd_7_7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Chapter 4: the decision machinery.</a:t>
            </a:r>
            <a:endParaRPr/>
          </a:p>
        </p:txBody>
      </p:sp>
      <p:sp>
        <p:nvSpPr>
          <p:cNvPr id="856" name="Google Shape;856;h6ff2b1ef7cff2dd_7_7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h6ff2b1ef7cff2dd_7_746: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65" name="Google Shape;865;h6ff2b1ef7cff2dd_7_7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Phase 1 tasks are capability tasks sorted, then regression tasks sorted: auth-vs-log then keep-suite. Phase 2 is sorted(regression ∪ {caller-check}): auth-vs-log, caller-check, keep-suite. Within each task the loop is rep then arm.</a:t>
            </a:r>
            <a:endParaRPr/>
          </a:p>
        </p:txBody>
      </p:sp>
      <p:sp>
        <p:nvSpPr>
          <p:cNvPr id="866" name="Google Shape;866;h6ff2b1ef7cff2dd_7_7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h6ff2b1ef7cff2dd_7_775: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5" name="Google Shape;895;h6ff2b1ef7cff2dd_7_77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This is the capability we want the candidate to learn. PASS requires a finding for both functions with the right vulnerable flag. Missing a function is a FAIL just like misclassifying one.</a:t>
            </a:r>
            <a:endParaRPr/>
          </a:p>
        </p:txBody>
      </p:sp>
      <p:sp>
        <p:nvSpPr>
          <p:cNvPr id="896" name="Google Shape;896;h6ff2b1ef7cff2dd_7_77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9" name="Shape 919"/>
        <p:cNvGrpSpPr/>
        <p:nvPr/>
      </p:nvGrpSpPr>
      <p:grpSpPr>
        <a:xfrm>
          <a:off x="0" y="0"/>
          <a:ext cx="0" cy="0"/>
          <a:chOff x="0" y="0"/>
          <a:chExt cx="0" cy="0"/>
        </a:xfrm>
      </p:grpSpPr>
      <p:sp>
        <p:nvSpPr>
          <p:cNvPr id="920" name="Google Shape;920;h6ff2b1ef7cff2dd_7_800: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1" name="Google Shape;921;h6ff2b1ef7cff2dd_7_80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The prompt explicitly says do not change app/config.py or tests. The grader runs the visible pytest suite in the post-agent workspace. The good candidate leaves files alone. The bad candidate's overlay rewrites the constants and both tests fail.</a:t>
            </a:r>
            <a:endParaRPr/>
          </a:p>
        </p:txBody>
      </p:sp>
      <p:sp>
        <p:nvSpPr>
          <p:cNvPr id="922" name="Google Shape;922;h6ff2b1ef7cff2dd_7_80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7" name="Shape 947"/>
        <p:cNvGrpSpPr/>
        <p:nvPr/>
      </p:nvGrpSpPr>
      <p:grpSpPr>
        <a:xfrm>
          <a:off x="0" y="0"/>
          <a:ext cx="0" cy="0"/>
          <a:chOff x="0" y="0"/>
          <a:chExt cx="0" cy="0"/>
        </a:xfrm>
      </p:grpSpPr>
      <p:sp>
        <p:nvSpPr>
          <p:cNvPr id="948" name="Google Shape;948;h6ff2b1ef7cff2dd_7_827: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49" name="Google Shape;949;h6ff2b1ef7cff2dd_7_8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Vault.withdrawAll uses require(tx.origin == msg.sender) as an EOA-only check. The expected label marks it vulnerable, and the issue text must mention tx.origin. It is the next capability probe once the first one becomes a regression gate. Nothing is promoted after Phase 2, so caller-check stays capability.</a:t>
            </a:r>
            <a:endParaRPr/>
          </a:p>
        </p:txBody>
      </p:sp>
      <p:sp>
        <p:nvSpPr>
          <p:cNvPr id="950" name="Google Shape;950;h6ff2b1ef7cff2dd_7_8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h6ff2b1ef7cff2dd_7_849: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2" name="Google Shape;972;h6ff2b1ef7cff2dd_7_84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Follow the arrows. reset_registry, load suites, Phase 1, promotion, the gate decision, then Phase 2 or block. Both paths end in reports.</a:t>
            </a:r>
            <a:endParaRPr/>
          </a:p>
        </p:txBody>
      </p:sp>
      <p:sp>
        <p:nvSpPr>
          <p:cNvPr id="973" name="Google Shape;973;h6ff2b1ef7cff2dd_7_84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1" name="Shape 1011"/>
        <p:cNvGrpSpPr/>
        <p:nvPr/>
      </p:nvGrpSpPr>
      <p:grpSpPr>
        <a:xfrm>
          <a:off x="0" y="0"/>
          <a:ext cx="0" cy="0"/>
          <a:chOff x="0" y="0"/>
          <a:chExt cx="0" cy="0"/>
        </a:xfrm>
      </p:grpSpPr>
      <p:sp>
        <p:nvSpPr>
          <p:cNvPr id="1012" name="Google Shape;1012;h6ff2b1ef7cff2dd_7_889: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13" name="Google Shape;1013;h6ff2b1ef7cff2dd_7_88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promote_capability_tasks looks only at candidate passes for capability tasks. It needs at least REPS reps, and pass_hat_k returns 1.0 only when successes are at least k, which is 2. In a live run the registry is updated with a timestamp and run id. In a dry run the list is only returned.</a:t>
            </a:r>
            <a:endParaRPr/>
          </a:p>
        </p:txBody>
      </p:sp>
      <p:sp>
        <p:nvSpPr>
          <p:cNvPr id="1014" name="Google Shape;1014;h6ff2b1ef7cff2dd_7_88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1" name="Shape 1041"/>
        <p:cNvGrpSpPr/>
        <p:nvPr/>
      </p:nvGrpSpPr>
      <p:grpSpPr>
        <a:xfrm>
          <a:off x="0" y="0"/>
          <a:ext cx="0" cy="0"/>
          <a:chOff x="0" y="0"/>
          <a:chExt cx="0" cy="0"/>
        </a:xfrm>
      </p:grpSpPr>
      <p:sp>
        <p:nvSpPr>
          <p:cNvPr id="1042" name="Google Shape;1042;h6ff2b1ef7cff2dd_7_918: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3" name="Google Shape;1043;h6ff2b1ef7cff2dd_7_9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Tests 1 and 2 run inside one loop over Phase 1 comparison rows. Test 3 runs after the loop. In the bad story the auth-vs-log row is UNCHANGED, so the loop moves on and the keep-suite row fails test 1.</a:t>
            </a:r>
            <a:endParaRPr/>
          </a:p>
        </p:txBody>
      </p:sp>
      <p:sp>
        <p:nvSpPr>
          <p:cNvPr id="1044" name="Google Shape;1044;h6ff2b1ef7cff2dd_7_9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7" name="Shape 1057"/>
        <p:cNvGrpSpPr/>
        <p:nvPr/>
      </p:nvGrpSpPr>
      <p:grpSpPr>
        <a:xfrm>
          <a:off x="0" y="0"/>
          <a:ext cx="0" cy="0"/>
          <a:chOff x="0" y="0"/>
          <a:chExt cx="0" cy="0"/>
        </a:xfrm>
      </p:grpSpPr>
      <p:sp>
        <p:nvSpPr>
          <p:cNvPr id="1058" name="Google Shape;1058;h6ff2b1ef7cff2dd_7_933: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59" name="Google Shape;1059;h6ff2b1ef7cff2dd_7_9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Two code graders gate everything. The model rubric is evidence and produces a disagreement signal. The human spot-check is a calibration checklist that gates nothing.</a:t>
            </a:r>
            <a:endParaRPr/>
          </a:p>
        </p:txBody>
      </p:sp>
      <p:sp>
        <p:nvSpPr>
          <p:cNvPr id="1060" name="Google Shape;1060;h6ff2b1ef7cff2dd_7_9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8" name="Shape 1088"/>
        <p:cNvGrpSpPr/>
        <p:nvPr/>
      </p:nvGrpSpPr>
      <p:grpSpPr>
        <a:xfrm>
          <a:off x="0" y="0"/>
          <a:ext cx="0" cy="0"/>
          <a:chOff x="0" y="0"/>
          <a:chExt cx="0" cy="0"/>
        </a:xfrm>
      </p:grpSpPr>
      <p:sp>
        <p:nvSpPr>
          <p:cNvPr id="1089" name="Google Shape;1089;h6ff2b1ef7cff2dd_7_963: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90" name="Google Shape;1090;h6ff2b1ef7cff2dd_7_96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Chapter 5: the evidence from the committed runs.</a:t>
            </a:r>
            <a:endParaRPr/>
          </a:p>
        </p:txBody>
      </p:sp>
      <p:sp>
        <p:nvSpPr>
          <p:cNvPr id="1091" name="Google Shape;1091;h6ff2b1ef7cff2dd_7_96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h6ff2b1ef7cff2dd_7_972: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0" name="Google Shape;1100;h6ff2b1ef7cff2dd_7_97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Walk the table. On auth-vs-log both arms fail, for different reasons: the baseline over-flags logTransfer, the candidate drops withdraw entirely. On keep-suite the baseline passes and the candidate breaks the tests: REGRESSED. The held-out grader caught the first and pytest caught the second. The gate blocks.</a:t>
            </a:r>
            <a:endParaRPr/>
          </a:p>
        </p:txBody>
      </p:sp>
      <p:sp>
        <p:nvSpPr>
          <p:cNvPr id="1101" name="Google Shape;1101;h6ff2b1ef7cff2dd_7_97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7" name="Shape 1117"/>
        <p:cNvGrpSpPr/>
        <p:nvPr/>
      </p:nvGrpSpPr>
      <p:grpSpPr>
        <a:xfrm>
          <a:off x="0" y="0"/>
          <a:ext cx="0" cy="0"/>
          <a:chOff x="0" y="0"/>
          <a:chExt cx="0" cy="0"/>
        </a:xfrm>
      </p:grpSpPr>
      <p:sp>
        <p:nvSpPr>
          <p:cNvPr id="1118" name="Google Shape;1118;h6ff2b1ef7cff2dd_7_990: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19" name="Google Shape;1119;h6ff2b1ef7cff2dd_7_99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Phase 1: the candidate fixes the false positive and keeps withdraw, so auth-vs-log improves while keep-suite stays green. auth-vs-log graduates. Phase 2: auth-vs-log holds as a regression gate, caller-check improves because the skill generalises, keep-suite unchanged.</a:t>
            </a:r>
            <a:endParaRPr/>
          </a:p>
        </p:txBody>
      </p:sp>
      <p:sp>
        <p:nvSpPr>
          <p:cNvPr id="1120" name="Google Shape;1120;h6ff2b1ef7cff2dd_7_99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h6ff2b1ef7cff2dd_7_1011: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41" name="Google Shape;1141;h6ff2b1ef7cff2dd_7_10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Read down each column. The good candidate passes every check in order. The bad candidate fails the held-out check, fails pytest, regresses, is not promoted, and the gate blocks.</a:t>
            </a:r>
            <a:endParaRPr/>
          </a:p>
        </p:txBody>
      </p:sp>
      <p:sp>
        <p:nvSpPr>
          <p:cNvPr id="1142" name="Google Shape;1142;h6ff2b1ef7cff2dd_7_10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1" name="Shape 1191"/>
        <p:cNvGrpSpPr/>
        <p:nvPr/>
      </p:nvGrpSpPr>
      <p:grpSpPr>
        <a:xfrm>
          <a:off x="0" y="0"/>
          <a:ext cx="0" cy="0"/>
          <a:chOff x="0" y="0"/>
          <a:chExt cx="0" cy="0"/>
        </a:xfrm>
      </p:grpSpPr>
      <p:sp>
        <p:nvSpPr>
          <p:cNvPr id="1192" name="Google Shape;1192;h6ff2b1ef7cff2dd_7_1062: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3" name="Google Shape;1193;h6ff2b1ef7cff2dd_7_106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The verdict. The good candidate is promotable within the scope of this PoC: no regressions and stable capability wins across two phases. The bad candidate is rejected because it breaks a passing suite and loses the real finding. Both sounded like stricter security.</a:t>
            </a:r>
            <a:endParaRPr/>
          </a:p>
        </p:txBody>
      </p:sp>
      <p:sp>
        <p:nvSpPr>
          <p:cNvPr id="1194" name="Google Shape;1194;h6ff2b1ef7cff2dd_7_106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9" name="Shape 1209"/>
        <p:cNvGrpSpPr/>
        <p:nvPr/>
      </p:nvGrpSpPr>
      <p:grpSpPr>
        <a:xfrm>
          <a:off x="0" y="0"/>
          <a:ext cx="0" cy="0"/>
          <a:chOff x="0" y="0"/>
          <a:chExt cx="0" cy="0"/>
        </a:xfrm>
      </p:grpSpPr>
      <p:sp>
        <p:nvSpPr>
          <p:cNvPr id="1210" name="Google Shape;1210;h6ff2b1ef7cff2dd_7_1079: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1" name="Google Shape;1211;h6ff2b1ef7cff2dd_7_107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Tell the counterfactual. Without paired evidence, the bad skill could easily be the one that ships, since it sounds the most security-minded. It would rewrite config constants in real services and drop the real authorization finding, and the team would struggle to attribute the incidents. With the evaluation, it was blocked in Phase 1 for zero dollars in a dry run.</a:t>
            </a:r>
            <a:endParaRPr/>
          </a:p>
        </p:txBody>
      </p:sp>
      <p:sp>
        <p:nvSpPr>
          <p:cNvPr id="1212" name="Google Shape;1212;h6ff2b1ef7cff2dd_7_107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2" name="Shape 1242"/>
        <p:cNvGrpSpPr/>
        <p:nvPr/>
      </p:nvGrpSpPr>
      <p:grpSpPr>
        <a:xfrm>
          <a:off x="0" y="0"/>
          <a:ext cx="0" cy="0"/>
          <a:chOff x="0" y="0"/>
          <a:chExt cx="0" cy="0"/>
        </a:xfrm>
      </p:grpSpPr>
      <p:sp>
        <p:nvSpPr>
          <p:cNvPr id="1243" name="Google Shape;1243;h6ff2b1ef7cff2dd_7_1111: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44" name="Google Shape;1244;h6ff2b1ef7cff2dd_7_11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Chapter 6: honest scope. Seven gaps compared with Anthropic's build-eval and hillclimb workflows.</a:t>
            </a:r>
            <a:endParaRPr/>
          </a:p>
        </p:txBody>
      </p:sp>
      <p:sp>
        <p:nvSpPr>
          <p:cNvPr id="1245" name="Google Shape;1245;h6ff2b1ef7cff2dd_7_11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2" name="Shape 1252"/>
        <p:cNvGrpSpPr/>
        <p:nvPr/>
      </p:nvGrpSpPr>
      <p:grpSpPr>
        <a:xfrm>
          <a:off x="0" y="0"/>
          <a:ext cx="0" cy="0"/>
          <a:chOff x="0" y="0"/>
          <a:chExt cx="0" cy="0"/>
        </a:xfrm>
      </p:grpSpPr>
      <p:sp>
        <p:nvSpPr>
          <p:cNvPr id="1253" name="Google Shape;1253;h6ff2b1ef7cff2dd_7_1120: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4" name="Google Shape;1254;h6ff2b1ef7cff2dd_7_11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Frame it carefully: these are not missing core functionality. The repo already does controlled baseline-vs-candidate evaluation with deterministic grading, held-out answers and regression protection. The gaps are the workflow around that core.</a:t>
            </a:r>
            <a:endParaRPr/>
          </a:p>
        </p:txBody>
      </p:sp>
      <p:sp>
        <p:nvSpPr>
          <p:cNvPr id="1255" name="Google Shape;1255;h6ff2b1ef7cff2dd_7_11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7" name="Shape 1267"/>
        <p:cNvGrpSpPr/>
        <p:nvPr/>
      </p:nvGrpSpPr>
      <p:grpSpPr>
        <a:xfrm>
          <a:off x="0" y="0"/>
          <a:ext cx="0" cy="0"/>
          <a:chOff x="0" y="0"/>
          <a:chExt cx="0" cy="0"/>
        </a:xfrm>
      </p:grpSpPr>
      <p:sp>
        <p:nvSpPr>
          <p:cNvPr id="1268" name="Google Shape;1268;h6ff2b1ef7cff2dd_7_1134: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69" name="Google Shape;1269;h6ff2b1ef7cff2dd_7_11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Gap 1 · No guided "design the eval" workflow. Problem: Adding an eval means hand-editing YAML, Python, tasks, expected answers and graders. Everyone does it differently. Today versus desired is shown in the two flows. Why we cut it: Only 3 hand-built tasks exist; a guided flow pays off with many contributors The task format is already minimal: prompt.txt + repo/ + heldout/, about 3 files Time went into grader and gate correctness first Next step: docs/eval-design-checklist.md or python -m eval.design + a registry schema validator.</a:t>
            </a:r>
            <a:endParaRPr/>
          </a:p>
        </p:txBody>
      </p:sp>
      <p:sp>
        <p:nvSpPr>
          <p:cNvPr id="1270" name="Google Shape;1270;h6ff2b1ef7cff2dd_7_11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h6ff2b1ef7cff2dd_7_1168: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04" name="Google Shape;1304;h6ff2b1ef7cff2dd_7_116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Gap 2 · No grader validation ritual. Problem: Nobody checks that the grader agrees with a human, or gives the same answer twice on identical output. A bad grader makes a bad harness look good. Today versus desired is shown in the two flows. Why we cut it: Gating graders are deterministic code, so flakiness risk is low Graders have unit tests (tests/test_graders.py) The only non-deterministic grader (LLM) cannot change a verdict Next step: python -m eval.validate-grader --task auth-vs-log + a run-twice check in e2e_validate.sh.</a:t>
            </a:r>
            <a:endParaRPr/>
          </a:p>
        </p:txBody>
      </p:sp>
      <p:sp>
        <p:nvSpPr>
          <p:cNvPr id="1305" name="Google Shape;1305;h6ff2b1ef7cff2dd_7_116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5" name="Shape 1335"/>
        <p:cNvGrpSpPr/>
        <p:nvPr/>
      </p:nvGrpSpPr>
      <p:grpSpPr>
        <a:xfrm>
          <a:off x="0" y="0"/>
          <a:ext cx="0" cy="0"/>
          <a:chOff x="0" y="0"/>
          <a:chExt cx="0" cy="0"/>
        </a:xfrm>
      </p:grpSpPr>
      <p:sp>
        <p:nvSpPr>
          <p:cNvPr id="1336" name="Google Shape;1336;h6ff2b1ef7cff2dd_7_1200: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7" name="Google Shape;1337;h6ff2b1ef7cff2dd_7_120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Gap 3 · No baseline score, headroom or noise diagnostics. Problem: 2/2 vs 2/2 could be genuine or two easy runs. 100% vs 100% leaves no room to show improvement. 80% vs 85% may be noise. Today versus desired is shown in the two flows. Why we cut it: n = 2 cannot support confidence intervals; fake statistics would be dishonest We already report UNSTABLE and never round it into a win Limits are stated explicitly in README and DESIGN Next step: diagnostics block in phase summary + headroom_warning when baseline is already 100%.</a:t>
            </a:r>
            <a:endParaRPr/>
          </a:p>
        </p:txBody>
      </p:sp>
      <p:sp>
        <p:nvSpPr>
          <p:cNvPr id="1338" name="Google Shape;1338;h6ff2b1ef7cff2dd_7_120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h6ff2b1ef7cff2dd_7_1230: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68" name="Google Shape;1368;h6ff2b1ef7cff2dd_7_12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Gap 4 · No local results browser. Problem: Evidence lives in READMEs, JSON files and transcripts, so a live demo becomes "let me open this folder… now this JSON…". Today versus desired is shown in the two flows. Why we cut it: A usability gap, not an evaluation capability Markdown READMEs + comparison/result.json + this deck cover the demo archify/index.html now gives a visual walkthrough Next step: python -m eval.report_html → output/&lt;example&gt;/index.html.</a:t>
            </a:r>
            <a:endParaRPr/>
          </a:p>
        </p:txBody>
      </p:sp>
      <p:sp>
        <p:nvSpPr>
          <p:cNvPr id="1369" name="Google Shape;1369;h6ff2b1ef7cff2dd_7_12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7" name="Shape 1397"/>
        <p:cNvGrpSpPr/>
        <p:nvPr/>
      </p:nvGrpSpPr>
      <p:grpSpPr>
        <a:xfrm>
          <a:off x="0" y="0"/>
          <a:ext cx="0" cy="0"/>
          <a:chOff x="0" y="0"/>
          <a:chExt cx="0" cy="0"/>
        </a:xfrm>
      </p:grpSpPr>
      <p:sp>
        <p:nvSpPr>
          <p:cNvPr id="1398" name="Google Shape;1398;h6ff2b1ef7cff2dd_7_1260: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99" name="Google Shape;1399;h6ff2b1ef7cff2dd_7_126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Gap 5 · No automated harness iteration loop (hill-climb). Problem: The tool compares baseline vs one candidate, but a human decides every next change. There is no train/holdout split to catch overfitting. Today versus desired is shown in the two flows. Why we cut it: Auto-editing a harness risks overfitting and is hard to audit in a take-home The compare step is the prerequisite, and that is what we built A human loop already works: edit → python -m eval → read comparison Next step: Registry split capability-train / capability-holdout; later an approved-patch CLI.</a:t>
            </a:r>
            <a:endParaRPr/>
          </a:p>
        </p:txBody>
      </p:sp>
      <p:sp>
        <p:nvSpPr>
          <p:cNvPr id="1400" name="Google Shape;1400;h6ff2b1ef7cff2dd_7_126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h6ff2b1ef7cff2dd_7_1292: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2" name="Google Shape;1432;h6ff2b1ef7cff2dd_7_129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Gap 6 · No cost / latency optimisation objective. Problem: Cost is recorded per trial but never optimised. Same pass rate at 40% lower cost is a real win the tool cannot surface. Today versus desired is shown in the two flows. Why we cut it: One variable by design: the model is fixed, so cost differences are small Dry runs cost $0, so there is no signal to optimise in committed runs cost_usd and total_cost_usd are already captured Next step: Per-phase cost delta between arms in summary.json; later a model / effort sweep.</a:t>
            </a:r>
            <a:endParaRPr/>
          </a:p>
        </p:txBody>
      </p:sp>
      <p:sp>
        <p:nvSpPr>
          <p:cNvPr id="1433" name="Google Shape;1433;h6ff2b1ef7cff2dd_7_129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9" name="Shape 1459"/>
        <p:cNvGrpSpPr/>
        <p:nvPr/>
      </p:nvGrpSpPr>
      <p:grpSpPr>
        <a:xfrm>
          <a:off x="0" y="0"/>
          <a:ext cx="0" cy="0"/>
          <a:chOff x="0" y="0"/>
          <a:chExt cx="0" cy="0"/>
        </a:xfrm>
      </p:grpSpPr>
      <p:sp>
        <p:nvSpPr>
          <p:cNvPr id="1460" name="Google Shape;1460;h6ff2b1ef7cff2dd_7_1320: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61" name="Google Shape;1461;h6ff2b1ef7cff2dd_7_13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Gap 7 · No failure bucketing when the score stalls. Problem: When improvement stalls, someone reads every failed trial by hand. Not every failure means the harness is bad: some are bad tasks or grader bugs. Today versus desired is shown in the two flows. Why we cut it: Today there are only a handful of failure reasons grade.json code_reason already explains every failure precisely Bucketing pays off at scale, with many tasks Next step: python -m eval.triage-failures --example good-harness-example grouping by code_reason.</a:t>
            </a:r>
            <a:endParaRPr/>
          </a:p>
        </p:txBody>
      </p:sp>
      <p:sp>
        <p:nvSpPr>
          <p:cNvPr id="1462" name="Google Shape;1462;h6ff2b1ef7cff2dd_7_13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8" name="Shape 1488"/>
        <p:cNvGrpSpPr/>
        <p:nvPr/>
      </p:nvGrpSpPr>
      <p:grpSpPr>
        <a:xfrm>
          <a:off x="0" y="0"/>
          <a:ext cx="0" cy="0"/>
          <a:chOff x="0" y="0"/>
          <a:chExt cx="0" cy="0"/>
        </a:xfrm>
      </p:grpSpPr>
      <p:sp>
        <p:nvSpPr>
          <p:cNvPr id="1489" name="Google Shape;1489;h6ff2b1ef7cff2dd_7_1348: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0" name="Google Shape;1490;h6ff2b1ef7cff2dd_7_134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Walk the steps. The dry run reproduces the committed output exactly. For a live run, create a key at openrouter.ai/keys, export it, reset the registry, then run the good scenario. Results live under output/&lt;example&gt;/. Start from summary.json, then comparison/README.md, then individual trials.</a:t>
            </a:r>
            <a:endParaRPr/>
          </a:p>
        </p:txBody>
      </p:sp>
      <p:sp>
        <p:nvSpPr>
          <p:cNvPr id="1491" name="Google Shape;1491;h6ff2b1ef7cff2dd_7_134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h6ff2b1ef7cff2dd_7_1374:notes"/>
          <p:cNvSpPr/>
          <p:nvPr>
            <p:ph idx="2" type="sldImg"/>
          </p:nvPr>
        </p:nvSpPr>
        <p:spPr>
          <a:xfrm>
            <a:off x="-3"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7" name="Google Shape;1517;h6ff2b1ef7cff2dd_7_137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Close on the three ideas: change one variable, let deterministic code decide, and make Phase 2 something a candidate earns. Then invite questions.</a:t>
            </a:r>
            <a:endParaRPr/>
          </a:p>
        </p:txBody>
      </p:sp>
      <p:sp>
        <p:nvSpPr>
          <p:cNvPr id="1518" name="Google Shape;1518;h6ff2b1ef7cff2dd_7_137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2"/>
          <p:cNvSpPr txBox="1"/>
          <p:nvPr>
            <p:ph type="ctrTitle"/>
          </p:nvPr>
        </p:nvSpPr>
        <p:spPr>
          <a:xfrm>
            <a:off x="914378" y="2130425"/>
            <a:ext cx="10362900" cy="1470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2"/>
          <p:cNvSpPr txBox="1"/>
          <p:nvPr>
            <p:ph idx="1" type="subTitle"/>
          </p:nvPr>
        </p:nvSpPr>
        <p:spPr>
          <a:xfrm>
            <a:off x="1828755" y="3886200"/>
            <a:ext cx="85341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4" name="Google Shape;14;p2"/>
          <p:cNvSpPr txBox="1"/>
          <p:nvPr>
            <p:ph idx="10" type="dt"/>
          </p:nvPr>
        </p:nvSpPr>
        <p:spPr>
          <a:xfrm>
            <a:off x="609585" y="6356350"/>
            <a:ext cx="28446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2"/>
          <p:cNvSpPr txBox="1"/>
          <p:nvPr>
            <p:ph idx="11" type="ftr"/>
          </p:nvPr>
        </p:nvSpPr>
        <p:spPr>
          <a:xfrm>
            <a:off x="4165497" y="6356350"/>
            <a:ext cx="38607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2"/>
          <p:cNvSpPr txBox="1"/>
          <p:nvPr>
            <p:ph idx="12" type="sldNum"/>
          </p:nvPr>
        </p:nvSpPr>
        <p:spPr>
          <a:xfrm>
            <a:off x="8737385" y="6356350"/>
            <a:ext cx="28446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7" name="Shape 17"/>
        <p:cNvGrpSpPr/>
        <p:nvPr/>
      </p:nvGrpSpPr>
      <p:grpSpPr>
        <a:xfrm>
          <a:off x="0" y="0"/>
          <a:ext cx="0" cy="0"/>
          <a:chOff x="0" y="0"/>
          <a:chExt cx="0" cy="0"/>
        </a:xfrm>
      </p:grpSpPr>
      <p:sp>
        <p:nvSpPr>
          <p:cNvPr id="18" name="Google Shape;18;p3"/>
          <p:cNvSpPr txBox="1"/>
          <p:nvPr>
            <p:ph type="title"/>
          </p:nvPr>
        </p:nvSpPr>
        <p:spPr>
          <a:xfrm>
            <a:off x="609585" y="274638"/>
            <a:ext cx="109725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3"/>
          <p:cNvSpPr txBox="1"/>
          <p:nvPr>
            <p:ph idx="1" type="body"/>
          </p:nvPr>
        </p:nvSpPr>
        <p:spPr>
          <a:xfrm>
            <a:off x="609585" y="1600200"/>
            <a:ext cx="10972500" cy="45261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0" name="Google Shape;20;p3"/>
          <p:cNvSpPr txBox="1"/>
          <p:nvPr>
            <p:ph idx="10" type="dt"/>
          </p:nvPr>
        </p:nvSpPr>
        <p:spPr>
          <a:xfrm>
            <a:off x="609585" y="6356350"/>
            <a:ext cx="28446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3"/>
          <p:cNvSpPr txBox="1"/>
          <p:nvPr>
            <p:ph idx="11" type="ftr"/>
          </p:nvPr>
        </p:nvSpPr>
        <p:spPr>
          <a:xfrm>
            <a:off x="4165497" y="6356350"/>
            <a:ext cx="38607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3"/>
          <p:cNvSpPr txBox="1"/>
          <p:nvPr>
            <p:ph idx="12" type="sldNum"/>
          </p:nvPr>
        </p:nvSpPr>
        <p:spPr>
          <a:xfrm>
            <a:off x="8737385" y="6356350"/>
            <a:ext cx="28446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3" name="Shape 23"/>
        <p:cNvGrpSpPr/>
        <p:nvPr/>
      </p:nvGrpSpPr>
      <p:grpSpPr>
        <a:xfrm>
          <a:off x="0" y="0"/>
          <a:ext cx="0" cy="0"/>
          <a:chOff x="0" y="0"/>
          <a:chExt cx="0" cy="0"/>
        </a:xfrm>
      </p:grpSpPr>
      <p:sp>
        <p:nvSpPr>
          <p:cNvPr id="24" name="Google Shape;24;p4"/>
          <p:cNvSpPr txBox="1"/>
          <p:nvPr>
            <p:ph type="title"/>
          </p:nvPr>
        </p:nvSpPr>
        <p:spPr>
          <a:xfrm>
            <a:off x="963060" y="4406900"/>
            <a:ext cx="10362900" cy="1362000"/>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4"/>
          <p:cNvSpPr txBox="1"/>
          <p:nvPr>
            <p:ph idx="1" type="body"/>
          </p:nvPr>
        </p:nvSpPr>
        <p:spPr>
          <a:xfrm>
            <a:off x="963060" y="2906713"/>
            <a:ext cx="10362900" cy="1500300"/>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26" name="Google Shape;26;p4"/>
          <p:cNvSpPr txBox="1"/>
          <p:nvPr>
            <p:ph idx="10" type="dt"/>
          </p:nvPr>
        </p:nvSpPr>
        <p:spPr>
          <a:xfrm>
            <a:off x="609585" y="6356350"/>
            <a:ext cx="28446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4"/>
          <p:cNvSpPr txBox="1"/>
          <p:nvPr>
            <p:ph idx="11" type="ftr"/>
          </p:nvPr>
        </p:nvSpPr>
        <p:spPr>
          <a:xfrm>
            <a:off x="4165497" y="6356350"/>
            <a:ext cx="38607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4"/>
          <p:cNvSpPr txBox="1"/>
          <p:nvPr>
            <p:ph idx="12" type="sldNum"/>
          </p:nvPr>
        </p:nvSpPr>
        <p:spPr>
          <a:xfrm>
            <a:off x="8737385" y="6356350"/>
            <a:ext cx="28446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9" name="Shape 29"/>
        <p:cNvGrpSpPr/>
        <p:nvPr/>
      </p:nvGrpSpPr>
      <p:grpSpPr>
        <a:xfrm>
          <a:off x="0" y="0"/>
          <a:ext cx="0" cy="0"/>
          <a:chOff x="0" y="0"/>
          <a:chExt cx="0" cy="0"/>
        </a:xfrm>
      </p:grpSpPr>
      <p:sp>
        <p:nvSpPr>
          <p:cNvPr id="30" name="Google Shape;30;p5"/>
          <p:cNvSpPr txBox="1"/>
          <p:nvPr>
            <p:ph type="title"/>
          </p:nvPr>
        </p:nvSpPr>
        <p:spPr>
          <a:xfrm>
            <a:off x="609585" y="274638"/>
            <a:ext cx="109725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5"/>
          <p:cNvSpPr txBox="1"/>
          <p:nvPr>
            <p:ph idx="1" type="body"/>
          </p:nvPr>
        </p:nvSpPr>
        <p:spPr>
          <a:xfrm>
            <a:off x="609585" y="1600200"/>
            <a:ext cx="5384700" cy="4526100"/>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2" name="Google Shape;32;p5"/>
          <p:cNvSpPr txBox="1"/>
          <p:nvPr>
            <p:ph idx="2" type="body"/>
          </p:nvPr>
        </p:nvSpPr>
        <p:spPr>
          <a:xfrm>
            <a:off x="6197448" y="1600200"/>
            <a:ext cx="5384700" cy="4526100"/>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3" name="Google Shape;33;p5"/>
          <p:cNvSpPr txBox="1"/>
          <p:nvPr>
            <p:ph idx="10" type="dt"/>
          </p:nvPr>
        </p:nvSpPr>
        <p:spPr>
          <a:xfrm>
            <a:off x="609585" y="6356350"/>
            <a:ext cx="28446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5"/>
          <p:cNvSpPr txBox="1"/>
          <p:nvPr>
            <p:ph idx="11" type="ftr"/>
          </p:nvPr>
        </p:nvSpPr>
        <p:spPr>
          <a:xfrm>
            <a:off x="4165497" y="6356350"/>
            <a:ext cx="38607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5"/>
          <p:cNvSpPr txBox="1"/>
          <p:nvPr>
            <p:ph idx="12" type="sldNum"/>
          </p:nvPr>
        </p:nvSpPr>
        <p:spPr>
          <a:xfrm>
            <a:off x="8737385" y="6356350"/>
            <a:ext cx="28446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6" name="Shape 36"/>
        <p:cNvGrpSpPr/>
        <p:nvPr/>
      </p:nvGrpSpPr>
      <p:grpSpPr>
        <a:xfrm>
          <a:off x="0" y="0"/>
          <a:ext cx="0" cy="0"/>
          <a:chOff x="0" y="0"/>
          <a:chExt cx="0" cy="0"/>
        </a:xfrm>
      </p:grpSpPr>
      <p:sp>
        <p:nvSpPr>
          <p:cNvPr id="37" name="Google Shape;37;p6"/>
          <p:cNvSpPr txBox="1"/>
          <p:nvPr>
            <p:ph type="title"/>
          </p:nvPr>
        </p:nvSpPr>
        <p:spPr>
          <a:xfrm>
            <a:off x="609585" y="274638"/>
            <a:ext cx="109725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6"/>
          <p:cNvSpPr txBox="1"/>
          <p:nvPr>
            <p:ph idx="1" type="body"/>
          </p:nvPr>
        </p:nvSpPr>
        <p:spPr>
          <a:xfrm>
            <a:off x="609585" y="1535113"/>
            <a:ext cx="5386800" cy="639900"/>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39" name="Google Shape;39;p6"/>
          <p:cNvSpPr txBox="1"/>
          <p:nvPr>
            <p:ph idx="2" type="body"/>
          </p:nvPr>
        </p:nvSpPr>
        <p:spPr>
          <a:xfrm>
            <a:off x="609585" y="2174875"/>
            <a:ext cx="5386800" cy="3951300"/>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0" name="Google Shape;40;p6"/>
          <p:cNvSpPr txBox="1"/>
          <p:nvPr>
            <p:ph idx="3" type="body"/>
          </p:nvPr>
        </p:nvSpPr>
        <p:spPr>
          <a:xfrm>
            <a:off x="6193214" y="1535113"/>
            <a:ext cx="5388900" cy="639900"/>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1" name="Google Shape;41;p6"/>
          <p:cNvSpPr txBox="1"/>
          <p:nvPr>
            <p:ph idx="4" type="body"/>
          </p:nvPr>
        </p:nvSpPr>
        <p:spPr>
          <a:xfrm>
            <a:off x="6193214" y="2174875"/>
            <a:ext cx="5388900" cy="3951300"/>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2" name="Google Shape;42;p6"/>
          <p:cNvSpPr txBox="1"/>
          <p:nvPr>
            <p:ph idx="10" type="dt"/>
          </p:nvPr>
        </p:nvSpPr>
        <p:spPr>
          <a:xfrm>
            <a:off x="609585" y="6356350"/>
            <a:ext cx="28446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6"/>
          <p:cNvSpPr txBox="1"/>
          <p:nvPr>
            <p:ph idx="11" type="ftr"/>
          </p:nvPr>
        </p:nvSpPr>
        <p:spPr>
          <a:xfrm>
            <a:off x="4165497" y="6356350"/>
            <a:ext cx="38607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6"/>
          <p:cNvSpPr txBox="1"/>
          <p:nvPr>
            <p:ph idx="12" type="sldNum"/>
          </p:nvPr>
        </p:nvSpPr>
        <p:spPr>
          <a:xfrm>
            <a:off x="8737385" y="6356350"/>
            <a:ext cx="28446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609585" y="274638"/>
            <a:ext cx="109725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7"/>
          <p:cNvSpPr txBox="1"/>
          <p:nvPr>
            <p:ph idx="10" type="dt"/>
          </p:nvPr>
        </p:nvSpPr>
        <p:spPr>
          <a:xfrm>
            <a:off x="609585" y="6356350"/>
            <a:ext cx="28446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1" type="ftr"/>
          </p:nvPr>
        </p:nvSpPr>
        <p:spPr>
          <a:xfrm>
            <a:off x="4165497" y="6356350"/>
            <a:ext cx="38607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7"/>
          <p:cNvSpPr txBox="1"/>
          <p:nvPr>
            <p:ph idx="12" type="sldNum"/>
          </p:nvPr>
        </p:nvSpPr>
        <p:spPr>
          <a:xfrm>
            <a:off x="8737385" y="6356350"/>
            <a:ext cx="28446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8"/>
          <p:cNvSpPr txBox="1"/>
          <p:nvPr>
            <p:ph idx="10" type="dt"/>
          </p:nvPr>
        </p:nvSpPr>
        <p:spPr>
          <a:xfrm>
            <a:off x="609585" y="6356350"/>
            <a:ext cx="28446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4165497" y="6356350"/>
            <a:ext cx="38607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8737385" y="6356350"/>
            <a:ext cx="28446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609585" y="273050"/>
            <a:ext cx="4011000" cy="116220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4766616" y="273050"/>
            <a:ext cx="6815400" cy="5853000"/>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609585" y="1435100"/>
            <a:ext cx="4011000" cy="4691100"/>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609585" y="6356350"/>
            <a:ext cx="28446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4165497" y="6356350"/>
            <a:ext cx="38607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8737385" y="6356350"/>
            <a:ext cx="28446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2389659" y="4800600"/>
            <a:ext cx="7314900" cy="56670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2389659" y="612775"/>
            <a:ext cx="7314900" cy="4114800"/>
          </a:xfrm>
          <a:prstGeom prst="rect">
            <a:avLst/>
          </a:prstGeom>
          <a:noFill/>
          <a:ln>
            <a:noFill/>
          </a:ln>
        </p:spPr>
      </p:sp>
      <p:sp>
        <p:nvSpPr>
          <p:cNvPr id="64" name="Google Shape;64;p10"/>
          <p:cNvSpPr txBox="1"/>
          <p:nvPr>
            <p:ph idx="1" type="body"/>
          </p:nvPr>
        </p:nvSpPr>
        <p:spPr>
          <a:xfrm>
            <a:off x="2389659" y="5367338"/>
            <a:ext cx="7314900" cy="804900"/>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609585" y="6356350"/>
            <a:ext cx="28446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4165497" y="6356350"/>
            <a:ext cx="38607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8737385" y="6356350"/>
            <a:ext cx="28446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609585" y="274638"/>
            <a:ext cx="109725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3832815" y="-1623000"/>
            <a:ext cx="4526100" cy="109725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609585" y="6356350"/>
            <a:ext cx="28446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4165497" y="6356350"/>
            <a:ext cx="38607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8737385" y="6356350"/>
            <a:ext cx="28446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7284765" y="1828788"/>
            <a:ext cx="5851500" cy="27432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1696938" y="-812712"/>
            <a:ext cx="5851500" cy="80262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609585" y="6356350"/>
            <a:ext cx="28446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4165497" y="6356350"/>
            <a:ext cx="38607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8737385" y="6356350"/>
            <a:ext cx="28446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6" name="Shape 86"/>
        <p:cNvGrpSpPr/>
        <p:nvPr/>
      </p:nvGrpSpPr>
      <p:grpSpPr>
        <a:xfrm>
          <a:off x="0" y="0"/>
          <a:ext cx="0" cy="0"/>
          <a:chOff x="0" y="0"/>
          <a:chExt cx="0" cy="0"/>
        </a:xfrm>
      </p:grpSpPr>
      <p:sp>
        <p:nvSpPr>
          <p:cNvPr id="87" name="Google Shape;87;p14"/>
          <p:cNvSpPr txBox="1"/>
          <p:nvPr>
            <p:ph idx="10" type="dt"/>
          </p:nvPr>
        </p:nvSpPr>
        <p:spPr>
          <a:xfrm>
            <a:off x="457201" y="6356350"/>
            <a:ext cx="21336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8" name="Google Shape;88;p14"/>
          <p:cNvSpPr txBox="1"/>
          <p:nvPr>
            <p:ph idx="11" type="ftr"/>
          </p:nvPr>
        </p:nvSpPr>
        <p:spPr>
          <a:xfrm>
            <a:off x="3124206" y="6356350"/>
            <a:ext cx="28956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9" name="Google Shape;89;p14"/>
          <p:cNvSpPr txBox="1"/>
          <p:nvPr>
            <p:ph idx="12" type="sldNum"/>
          </p:nvPr>
        </p:nvSpPr>
        <p:spPr>
          <a:xfrm>
            <a:off x="6553213" y="6356350"/>
            <a:ext cx="21336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0" name="Shape 90"/>
        <p:cNvGrpSpPr/>
        <p:nvPr/>
      </p:nvGrpSpPr>
      <p:grpSpPr>
        <a:xfrm>
          <a:off x="0" y="0"/>
          <a:ext cx="0" cy="0"/>
          <a:chOff x="0" y="0"/>
          <a:chExt cx="0" cy="0"/>
        </a:xfrm>
      </p:grpSpPr>
      <p:sp>
        <p:nvSpPr>
          <p:cNvPr id="91" name="Google Shape;91;p15"/>
          <p:cNvSpPr txBox="1"/>
          <p:nvPr>
            <p:ph type="ctrTitle"/>
          </p:nvPr>
        </p:nvSpPr>
        <p:spPr>
          <a:xfrm>
            <a:off x="685801" y="2130425"/>
            <a:ext cx="7772400" cy="1470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2" name="Google Shape;92;p15"/>
          <p:cNvSpPr txBox="1"/>
          <p:nvPr>
            <p:ph idx="1" type="subTitle"/>
          </p:nvPr>
        </p:nvSpPr>
        <p:spPr>
          <a:xfrm>
            <a:off x="1371603"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93" name="Google Shape;93;p15"/>
          <p:cNvSpPr txBox="1"/>
          <p:nvPr>
            <p:ph idx="10" type="dt"/>
          </p:nvPr>
        </p:nvSpPr>
        <p:spPr>
          <a:xfrm>
            <a:off x="457201" y="6356350"/>
            <a:ext cx="21336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4" name="Google Shape;94;p15"/>
          <p:cNvSpPr txBox="1"/>
          <p:nvPr>
            <p:ph idx="11" type="ftr"/>
          </p:nvPr>
        </p:nvSpPr>
        <p:spPr>
          <a:xfrm>
            <a:off x="3124206" y="6356350"/>
            <a:ext cx="28956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5" name="Google Shape;95;p15"/>
          <p:cNvSpPr txBox="1"/>
          <p:nvPr>
            <p:ph idx="12" type="sldNum"/>
          </p:nvPr>
        </p:nvSpPr>
        <p:spPr>
          <a:xfrm>
            <a:off x="6553213" y="6356350"/>
            <a:ext cx="21336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96" name="Shape 96"/>
        <p:cNvGrpSpPr/>
        <p:nvPr/>
      </p:nvGrpSpPr>
      <p:grpSpPr>
        <a:xfrm>
          <a:off x="0" y="0"/>
          <a:ext cx="0" cy="0"/>
          <a:chOff x="0" y="0"/>
          <a:chExt cx="0" cy="0"/>
        </a:xfrm>
      </p:grpSpPr>
      <p:sp>
        <p:nvSpPr>
          <p:cNvPr id="97" name="Google Shape;97;p16"/>
          <p:cNvSpPr txBox="1"/>
          <p:nvPr>
            <p:ph type="title"/>
          </p:nvPr>
        </p:nvSpPr>
        <p:spPr>
          <a:xfrm>
            <a:off x="457201"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8" name="Google Shape;98;p16"/>
          <p:cNvSpPr txBox="1"/>
          <p:nvPr>
            <p:ph idx="1" type="body"/>
          </p:nvPr>
        </p:nvSpPr>
        <p:spPr>
          <a:xfrm>
            <a:off x="457201" y="1600200"/>
            <a:ext cx="8229600" cy="45261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99" name="Google Shape;99;p16"/>
          <p:cNvSpPr txBox="1"/>
          <p:nvPr>
            <p:ph idx="10" type="dt"/>
          </p:nvPr>
        </p:nvSpPr>
        <p:spPr>
          <a:xfrm>
            <a:off x="457201" y="6356350"/>
            <a:ext cx="21336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0" name="Google Shape;100;p16"/>
          <p:cNvSpPr txBox="1"/>
          <p:nvPr>
            <p:ph idx="11" type="ftr"/>
          </p:nvPr>
        </p:nvSpPr>
        <p:spPr>
          <a:xfrm>
            <a:off x="3124206" y="6356350"/>
            <a:ext cx="28956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Google Shape;101;p16"/>
          <p:cNvSpPr txBox="1"/>
          <p:nvPr>
            <p:ph idx="12" type="sldNum"/>
          </p:nvPr>
        </p:nvSpPr>
        <p:spPr>
          <a:xfrm>
            <a:off x="6553213" y="6356350"/>
            <a:ext cx="21336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02" name="Shape 102"/>
        <p:cNvGrpSpPr/>
        <p:nvPr/>
      </p:nvGrpSpPr>
      <p:grpSpPr>
        <a:xfrm>
          <a:off x="0" y="0"/>
          <a:ext cx="0" cy="0"/>
          <a:chOff x="0" y="0"/>
          <a:chExt cx="0" cy="0"/>
        </a:xfrm>
      </p:grpSpPr>
      <p:sp>
        <p:nvSpPr>
          <p:cNvPr id="103" name="Google Shape;103;p17"/>
          <p:cNvSpPr txBox="1"/>
          <p:nvPr>
            <p:ph type="title"/>
          </p:nvPr>
        </p:nvSpPr>
        <p:spPr>
          <a:xfrm>
            <a:off x="722314" y="4406900"/>
            <a:ext cx="7772400" cy="136200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4" name="Google Shape;104;p17"/>
          <p:cNvSpPr txBox="1"/>
          <p:nvPr>
            <p:ph idx="1" type="body"/>
          </p:nvPr>
        </p:nvSpPr>
        <p:spPr>
          <a:xfrm>
            <a:off x="722314" y="2906713"/>
            <a:ext cx="7772400" cy="15003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105" name="Google Shape;105;p17"/>
          <p:cNvSpPr txBox="1"/>
          <p:nvPr>
            <p:ph idx="10" type="dt"/>
          </p:nvPr>
        </p:nvSpPr>
        <p:spPr>
          <a:xfrm>
            <a:off x="457201" y="6356350"/>
            <a:ext cx="21336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6" name="Google Shape;106;p17"/>
          <p:cNvSpPr txBox="1"/>
          <p:nvPr>
            <p:ph idx="11" type="ftr"/>
          </p:nvPr>
        </p:nvSpPr>
        <p:spPr>
          <a:xfrm>
            <a:off x="3124206" y="6356350"/>
            <a:ext cx="28956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7" name="Google Shape;107;p17"/>
          <p:cNvSpPr txBox="1"/>
          <p:nvPr>
            <p:ph idx="12" type="sldNum"/>
          </p:nvPr>
        </p:nvSpPr>
        <p:spPr>
          <a:xfrm>
            <a:off x="6553213" y="6356350"/>
            <a:ext cx="21336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08" name="Shape 108"/>
        <p:cNvGrpSpPr/>
        <p:nvPr/>
      </p:nvGrpSpPr>
      <p:grpSpPr>
        <a:xfrm>
          <a:off x="0" y="0"/>
          <a:ext cx="0" cy="0"/>
          <a:chOff x="0" y="0"/>
          <a:chExt cx="0" cy="0"/>
        </a:xfrm>
      </p:grpSpPr>
      <p:sp>
        <p:nvSpPr>
          <p:cNvPr id="109" name="Google Shape;109;p18"/>
          <p:cNvSpPr txBox="1"/>
          <p:nvPr>
            <p:ph type="title"/>
          </p:nvPr>
        </p:nvSpPr>
        <p:spPr>
          <a:xfrm>
            <a:off x="457201"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0" name="Google Shape;110;p18"/>
          <p:cNvSpPr txBox="1"/>
          <p:nvPr>
            <p:ph idx="1" type="body"/>
          </p:nvPr>
        </p:nvSpPr>
        <p:spPr>
          <a:xfrm>
            <a:off x="457201" y="1600200"/>
            <a:ext cx="4038600" cy="45261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1" name="Google Shape;111;p18"/>
          <p:cNvSpPr txBox="1"/>
          <p:nvPr>
            <p:ph idx="2" type="body"/>
          </p:nvPr>
        </p:nvSpPr>
        <p:spPr>
          <a:xfrm>
            <a:off x="4648210" y="1600200"/>
            <a:ext cx="4038600" cy="45261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2" name="Google Shape;112;p18"/>
          <p:cNvSpPr txBox="1"/>
          <p:nvPr>
            <p:ph idx="10" type="dt"/>
          </p:nvPr>
        </p:nvSpPr>
        <p:spPr>
          <a:xfrm>
            <a:off x="457201" y="6356350"/>
            <a:ext cx="21336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3" name="Google Shape;113;p18"/>
          <p:cNvSpPr txBox="1"/>
          <p:nvPr>
            <p:ph idx="11" type="ftr"/>
          </p:nvPr>
        </p:nvSpPr>
        <p:spPr>
          <a:xfrm>
            <a:off x="3124206" y="6356350"/>
            <a:ext cx="28956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4" name="Google Shape;114;p18"/>
          <p:cNvSpPr txBox="1"/>
          <p:nvPr>
            <p:ph idx="12" type="sldNum"/>
          </p:nvPr>
        </p:nvSpPr>
        <p:spPr>
          <a:xfrm>
            <a:off x="6553213" y="6356350"/>
            <a:ext cx="21336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15" name="Shape 115"/>
        <p:cNvGrpSpPr/>
        <p:nvPr/>
      </p:nvGrpSpPr>
      <p:grpSpPr>
        <a:xfrm>
          <a:off x="0" y="0"/>
          <a:ext cx="0" cy="0"/>
          <a:chOff x="0" y="0"/>
          <a:chExt cx="0" cy="0"/>
        </a:xfrm>
      </p:grpSpPr>
      <p:sp>
        <p:nvSpPr>
          <p:cNvPr id="116" name="Google Shape;116;p19"/>
          <p:cNvSpPr txBox="1"/>
          <p:nvPr>
            <p:ph type="title"/>
          </p:nvPr>
        </p:nvSpPr>
        <p:spPr>
          <a:xfrm>
            <a:off x="457201"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7" name="Google Shape;117;p19"/>
          <p:cNvSpPr txBox="1"/>
          <p:nvPr>
            <p:ph idx="1" type="body"/>
          </p:nvPr>
        </p:nvSpPr>
        <p:spPr>
          <a:xfrm>
            <a:off x="457201" y="1535113"/>
            <a:ext cx="4040100" cy="63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18" name="Google Shape;118;p19"/>
          <p:cNvSpPr txBox="1"/>
          <p:nvPr>
            <p:ph idx="2" type="body"/>
          </p:nvPr>
        </p:nvSpPr>
        <p:spPr>
          <a:xfrm>
            <a:off x="457201" y="2174875"/>
            <a:ext cx="4040100" cy="39513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19" name="Google Shape;119;p19"/>
          <p:cNvSpPr txBox="1"/>
          <p:nvPr>
            <p:ph idx="3" type="body"/>
          </p:nvPr>
        </p:nvSpPr>
        <p:spPr>
          <a:xfrm>
            <a:off x="4645035" y="1535113"/>
            <a:ext cx="4041900" cy="63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20" name="Google Shape;120;p19"/>
          <p:cNvSpPr txBox="1"/>
          <p:nvPr>
            <p:ph idx="4" type="body"/>
          </p:nvPr>
        </p:nvSpPr>
        <p:spPr>
          <a:xfrm>
            <a:off x="4645035" y="2174875"/>
            <a:ext cx="4041900" cy="39513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21" name="Google Shape;121;p19"/>
          <p:cNvSpPr txBox="1"/>
          <p:nvPr>
            <p:ph idx="10" type="dt"/>
          </p:nvPr>
        </p:nvSpPr>
        <p:spPr>
          <a:xfrm>
            <a:off x="457201" y="6356350"/>
            <a:ext cx="21336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2" name="Google Shape;122;p19"/>
          <p:cNvSpPr txBox="1"/>
          <p:nvPr>
            <p:ph idx="11" type="ftr"/>
          </p:nvPr>
        </p:nvSpPr>
        <p:spPr>
          <a:xfrm>
            <a:off x="3124206" y="6356350"/>
            <a:ext cx="28956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3" name="Google Shape;123;p19"/>
          <p:cNvSpPr txBox="1"/>
          <p:nvPr>
            <p:ph idx="12" type="sldNum"/>
          </p:nvPr>
        </p:nvSpPr>
        <p:spPr>
          <a:xfrm>
            <a:off x="6553213" y="6356350"/>
            <a:ext cx="21336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4" name="Shape 124"/>
        <p:cNvGrpSpPr/>
        <p:nvPr/>
      </p:nvGrpSpPr>
      <p:grpSpPr>
        <a:xfrm>
          <a:off x="0" y="0"/>
          <a:ext cx="0" cy="0"/>
          <a:chOff x="0" y="0"/>
          <a:chExt cx="0" cy="0"/>
        </a:xfrm>
      </p:grpSpPr>
      <p:sp>
        <p:nvSpPr>
          <p:cNvPr id="125" name="Google Shape;125;p20"/>
          <p:cNvSpPr txBox="1"/>
          <p:nvPr>
            <p:ph type="title"/>
          </p:nvPr>
        </p:nvSpPr>
        <p:spPr>
          <a:xfrm>
            <a:off x="457201"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6" name="Google Shape;126;p20"/>
          <p:cNvSpPr txBox="1"/>
          <p:nvPr>
            <p:ph idx="10" type="dt"/>
          </p:nvPr>
        </p:nvSpPr>
        <p:spPr>
          <a:xfrm>
            <a:off x="457201" y="6356350"/>
            <a:ext cx="21336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p20"/>
          <p:cNvSpPr txBox="1"/>
          <p:nvPr>
            <p:ph idx="11" type="ftr"/>
          </p:nvPr>
        </p:nvSpPr>
        <p:spPr>
          <a:xfrm>
            <a:off x="3124206" y="6356350"/>
            <a:ext cx="28956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8" name="Google Shape;128;p20"/>
          <p:cNvSpPr txBox="1"/>
          <p:nvPr>
            <p:ph idx="12" type="sldNum"/>
          </p:nvPr>
        </p:nvSpPr>
        <p:spPr>
          <a:xfrm>
            <a:off x="6553213" y="6356350"/>
            <a:ext cx="21336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29" name="Shape 129"/>
        <p:cNvGrpSpPr/>
        <p:nvPr/>
      </p:nvGrpSpPr>
      <p:grpSpPr>
        <a:xfrm>
          <a:off x="0" y="0"/>
          <a:ext cx="0" cy="0"/>
          <a:chOff x="0" y="0"/>
          <a:chExt cx="0" cy="0"/>
        </a:xfrm>
      </p:grpSpPr>
      <p:sp>
        <p:nvSpPr>
          <p:cNvPr id="130" name="Google Shape;130;p21"/>
          <p:cNvSpPr txBox="1"/>
          <p:nvPr>
            <p:ph type="title"/>
          </p:nvPr>
        </p:nvSpPr>
        <p:spPr>
          <a:xfrm>
            <a:off x="457201" y="273050"/>
            <a:ext cx="3008400" cy="116220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1" name="Google Shape;131;p21"/>
          <p:cNvSpPr txBox="1"/>
          <p:nvPr>
            <p:ph idx="1" type="body"/>
          </p:nvPr>
        </p:nvSpPr>
        <p:spPr>
          <a:xfrm>
            <a:off x="3575057" y="273050"/>
            <a:ext cx="5111700" cy="5853000"/>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132" name="Google Shape;132;p21"/>
          <p:cNvSpPr txBox="1"/>
          <p:nvPr>
            <p:ph idx="2" type="body"/>
          </p:nvPr>
        </p:nvSpPr>
        <p:spPr>
          <a:xfrm>
            <a:off x="457201" y="1435100"/>
            <a:ext cx="3008400" cy="46911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33" name="Google Shape;133;p21"/>
          <p:cNvSpPr txBox="1"/>
          <p:nvPr>
            <p:ph idx="10" type="dt"/>
          </p:nvPr>
        </p:nvSpPr>
        <p:spPr>
          <a:xfrm>
            <a:off x="457201" y="6356350"/>
            <a:ext cx="21336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4" name="Google Shape;134;p21"/>
          <p:cNvSpPr txBox="1"/>
          <p:nvPr>
            <p:ph idx="11" type="ftr"/>
          </p:nvPr>
        </p:nvSpPr>
        <p:spPr>
          <a:xfrm>
            <a:off x="3124206" y="6356350"/>
            <a:ext cx="28956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5" name="Google Shape;135;p21"/>
          <p:cNvSpPr txBox="1"/>
          <p:nvPr>
            <p:ph idx="12" type="sldNum"/>
          </p:nvPr>
        </p:nvSpPr>
        <p:spPr>
          <a:xfrm>
            <a:off x="6553213" y="6356350"/>
            <a:ext cx="21336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36" name="Shape 136"/>
        <p:cNvGrpSpPr/>
        <p:nvPr/>
      </p:nvGrpSpPr>
      <p:grpSpPr>
        <a:xfrm>
          <a:off x="0" y="0"/>
          <a:ext cx="0" cy="0"/>
          <a:chOff x="0" y="0"/>
          <a:chExt cx="0" cy="0"/>
        </a:xfrm>
      </p:grpSpPr>
      <p:sp>
        <p:nvSpPr>
          <p:cNvPr id="137" name="Google Shape;137;p22"/>
          <p:cNvSpPr txBox="1"/>
          <p:nvPr>
            <p:ph type="title"/>
          </p:nvPr>
        </p:nvSpPr>
        <p:spPr>
          <a:xfrm>
            <a:off x="1792292" y="4800600"/>
            <a:ext cx="5486400" cy="56670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8" name="Google Shape;138;p22"/>
          <p:cNvSpPr/>
          <p:nvPr>
            <p:ph idx="2" type="pic"/>
          </p:nvPr>
        </p:nvSpPr>
        <p:spPr>
          <a:xfrm>
            <a:off x="1792292" y="612775"/>
            <a:ext cx="4114800" cy="4114800"/>
          </a:xfrm>
          <a:prstGeom prst="rect">
            <a:avLst/>
          </a:prstGeom>
          <a:noFill/>
          <a:ln>
            <a:noFill/>
          </a:ln>
        </p:spPr>
      </p:sp>
      <p:sp>
        <p:nvSpPr>
          <p:cNvPr id="139" name="Google Shape;139;p22"/>
          <p:cNvSpPr txBox="1"/>
          <p:nvPr>
            <p:ph idx="1" type="body"/>
          </p:nvPr>
        </p:nvSpPr>
        <p:spPr>
          <a:xfrm>
            <a:off x="1792292" y="5367338"/>
            <a:ext cx="5486400" cy="8049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40" name="Google Shape;140;p22"/>
          <p:cNvSpPr txBox="1"/>
          <p:nvPr>
            <p:ph idx="10" type="dt"/>
          </p:nvPr>
        </p:nvSpPr>
        <p:spPr>
          <a:xfrm>
            <a:off x="457201" y="6356350"/>
            <a:ext cx="21336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1" name="Google Shape;141;p22"/>
          <p:cNvSpPr txBox="1"/>
          <p:nvPr>
            <p:ph idx="11" type="ftr"/>
          </p:nvPr>
        </p:nvSpPr>
        <p:spPr>
          <a:xfrm>
            <a:off x="3124206" y="6356350"/>
            <a:ext cx="28956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22"/>
          <p:cNvSpPr txBox="1"/>
          <p:nvPr>
            <p:ph idx="12" type="sldNum"/>
          </p:nvPr>
        </p:nvSpPr>
        <p:spPr>
          <a:xfrm>
            <a:off x="6553213" y="6356350"/>
            <a:ext cx="21336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43" name="Shape 143"/>
        <p:cNvGrpSpPr/>
        <p:nvPr/>
      </p:nvGrpSpPr>
      <p:grpSpPr>
        <a:xfrm>
          <a:off x="0" y="0"/>
          <a:ext cx="0" cy="0"/>
          <a:chOff x="0" y="0"/>
          <a:chExt cx="0" cy="0"/>
        </a:xfrm>
      </p:grpSpPr>
      <p:sp>
        <p:nvSpPr>
          <p:cNvPr id="144" name="Google Shape;144;p23"/>
          <p:cNvSpPr txBox="1"/>
          <p:nvPr>
            <p:ph type="title"/>
          </p:nvPr>
        </p:nvSpPr>
        <p:spPr>
          <a:xfrm>
            <a:off x="457201"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5" name="Google Shape;145;p23"/>
          <p:cNvSpPr txBox="1"/>
          <p:nvPr>
            <p:ph idx="1" type="body"/>
          </p:nvPr>
        </p:nvSpPr>
        <p:spPr>
          <a:xfrm rot="5400000">
            <a:off x="2308968" y="-251550"/>
            <a:ext cx="4526100"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46" name="Google Shape;146;p23"/>
          <p:cNvSpPr txBox="1"/>
          <p:nvPr>
            <p:ph idx="10" type="dt"/>
          </p:nvPr>
        </p:nvSpPr>
        <p:spPr>
          <a:xfrm>
            <a:off x="457201" y="6356350"/>
            <a:ext cx="21336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7" name="Google Shape;147;p23"/>
          <p:cNvSpPr txBox="1"/>
          <p:nvPr>
            <p:ph idx="11" type="ftr"/>
          </p:nvPr>
        </p:nvSpPr>
        <p:spPr>
          <a:xfrm>
            <a:off x="3124206" y="6356350"/>
            <a:ext cx="28956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8" name="Google Shape;148;p23"/>
          <p:cNvSpPr txBox="1"/>
          <p:nvPr>
            <p:ph idx="12" type="sldNum"/>
          </p:nvPr>
        </p:nvSpPr>
        <p:spPr>
          <a:xfrm>
            <a:off x="6553213" y="6356350"/>
            <a:ext cx="21336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49" name="Shape 149"/>
        <p:cNvGrpSpPr/>
        <p:nvPr/>
      </p:nvGrpSpPr>
      <p:grpSpPr>
        <a:xfrm>
          <a:off x="0" y="0"/>
          <a:ext cx="0" cy="0"/>
          <a:chOff x="0" y="0"/>
          <a:chExt cx="0" cy="0"/>
        </a:xfrm>
      </p:grpSpPr>
      <p:sp>
        <p:nvSpPr>
          <p:cNvPr id="150" name="Google Shape;150;p24"/>
          <p:cNvSpPr txBox="1"/>
          <p:nvPr>
            <p:ph type="title"/>
          </p:nvPr>
        </p:nvSpPr>
        <p:spPr>
          <a:xfrm rot="5400000">
            <a:off x="4732368" y="2171689"/>
            <a:ext cx="5851500"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1" name="Google Shape;151;p24"/>
          <p:cNvSpPr txBox="1"/>
          <p:nvPr>
            <p:ph idx="1" type="body"/>
          </p:nvPr>
        </p:nvSpPr>
        <p:spPr>
          <a:xfrm rot="5400000">
            <a:off x="541364" y="190487"/>
            <a:ext cx="5851500"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52" name="Google Shape;152;p24"/>
          <p:cNvSpPr txBox="1"/>
          <p:nvPr>
            <p:ph idx="10" type="dt"/>
          </p:nvPr>
        </p:nvSpPr>
        <p:spPr>
          <a:xfrm>
            <a:off x="457201" y="6356350"/>
            <a:ext cx="21336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3" name="Google Shape;153;p24"/>
          <p:cNvSpPr txBox="1"/>
          <p:nvPr>
            <p:ph idx="11" type="ftr"/>
          </p:nvPr>
        </p:nvSpPr>
        <p:spPr>
          <a:xfrm>
            <a:off x="3124206" y="6356350"/>
            <a:ext cx="28956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4" name="Google Shape;154;p24"/>
          <p:cNvSpPr txBox="1"/>
          <p:nvPr>
            <p:ph idx="12" type="sldNum"/>
          </p:nvPr>
        </p:nvSpPr>
        <p:spPr>
          <a:xfrm>
            <a:off x="6553213" y="6356350"/>
            <a:ext cx="21336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3.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609585" y="274638"/>
            <a:ext cx="109725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609585" y="1600200"/>
            <a:ext cx="10972500" cy="4526100"/>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609585" y="6356350"/>
            <a:ext cx="2844600" cy="36510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4165497" y="6356350"/>
            <a:ext cx="3860700" cy="365100"/>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8737385" y="6356350"/>
            <a:ext cx="2844600" cy="365100"/>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0" name="Shape 80"/>
        <p:cNvGrpSpPr/>
        <p:nvPr/>
      </p:nvGrpSpPr>
      <p:grpSpPr>
        <a:xfrm>
          <a:off x="0" y="0"/>
          <a:ext cx="0" cy="0"/>
          <a:chOff x="0" y="0"/>
          <a:chExt cx="0" cy="0"/>
        </a:xfrm>
      </p:grpSpPr>
      <p:sp>
        <p:nvSpPr>
          <p:cNvPr id="81" name="Google Shape;81;p13"/>
          <p:cNvSpPr txBox="1"/>
          <p:nvPr>
            <p:ph type="title"/>
          </p:nvPr>
        </p:nvSpPr>
        <p:spPr>
          <a:xfrm>
            <a:off x="457201"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2" name="Google Shape;82;p13"/>
          <p:cNvSpPr txBox="1"/>
          <p:nvPr>
            <p:ph idx="1" type="body"/>
          </p:nvPr>
        </p:nvSpPr>
        <p:spPr>
          <a:xfrm>
            <a:off x="457201" y="1600200"/>
            <a:ext cx="8229600" cy="4526100"/>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3" name="Google Shape;83;p13"/>
          <p:cNvSpPr txBox="1"/>
          <p:nvPr>
            <p:ph idx="10" type="dt"/>
          </p:nvPr>
        </p:nvSpPr>
        <p:spPr>
          <a:xfrm>
            <a:off x="457201" y="6356350"/>
            <a:ext cx="21336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4" name="Google Shape;84;p13"/>
          <p:cNvSpPr txBox="1"/>
          <p:nvPr>
            <p:ph idx="11" type="ftr"/>
          </p:nvPr>
        </p:nvSpPr>
        <p:spPr>
          <a:xfrm>
            <a:off x="3124206" y="6356350"/>
            <a:ext cx="28956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5" name="Google Shape;85;p13"/>
          <p:cNvSpPr txBox="1"/>
          <p:nvPr>
            <p:ph idx="12" type="sldNum"/>
          </p:nvPr>
        </p:nvSpPr>
        <p:spPr>
          <a:xfrm>
            <a:off x="6553213" y="6356350"/>
            <a:ext cx="2133600" cy="3651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159" name="Shape 159"/>
        <p:cNvGrpSpPr/>
        <p:nvPr/>
      </p:nvGrpSpPr>
      <p:grpSpPr>
        <a:xfrm>
          <a:off x="0" y="0"/>
          <a:ext cx="0" cy="0"/>
          <a:chOff x="0" y="0"/>
          <a:chExt cx="0" cy="0"/>
        </a:xfrm>
      </p:grpSpPr>
      <p:sp>
        <p:nvSpPr>
          <p:cNvPr id="160" name="Google Shape;160;p25"/>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Harness evaluation PoC</a:t>
            </a:r>
            <a:endParaRPr b="0" i="0" sz="1400" u="none" cap="none" strike="noStrike">
              <a:solidFill>
                <a:srgbClr val="000000"/>
              </a:solidFill>
              <a:latin typeface="Arial"/>
              <a:ea typeface="Arial"/>
              <a:cs typeface="Arial"/>
              <a:sym typeface="Arial"/>
            </a:endParaRPr>
          </a:p>
        </p:txBody>
      </p:sp>
      <p:sp>
        <p:nvSpPr>
          <p:cNvPr id="161" name="Google Shape;161;p25"/>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162" name="Google Shape;162;p25"/>
          <p:cNvSpPr txBox="1"/>
          <p:nvPr/>
        </p:nvSpPr>
        <p:spPr>
          <a:xfrm>
            <a:off x="731521" y="914400"/>
            <a:ext cx="100584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5EEAD4"/>
                </a:solidFill>
                <a:latin typeface="Calibri"/>
                <a:ea typeface="Calibri"/>
                <a:cs typeface="Calibri"/>
                <a:sym typeface="Calibri"/>
              </a:rPr>
              <a:t>TAKE-HOME POC · EVALUATION TOOL FOR CODING-AGENT HARNESSES</a:t>
            </a:r>
            <a:endParaRPr b="0" i="0" sz="1400" u="none" cap="none" strike="noStrike">
              <a:solidFill>
                <a:srgbClr val="000000"/>
              </a:solidFill>
              <a:latin typeface="Arial"/>
              <a:ea typeface="Arial"/>
              <a:cs typeface="Arial"/>
              <a:sym typeface="Arial"/>
            </a:endParaRPr>
          </a:p>
        </p:txBody>
      </p:sp>
      <p:sp>
        <p:nvSpPr>
          <p:cNvPr id="163" name="Google Shape;163;p25"/>
          <p:cNvSpPr txBox="1"/>
          <p:nvPr/>
        </p:nvSpPr>
        <p:spPr>
          <a:xfrm>
            <a:off x="731521" y="1325880"/>
            <a:ext cx="107898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4400"/>
              <a:buFont typeface="Arial"/>
              <a:buNone/>
            </a:pPr>
            <a:r>
              <a:rPr b="1" i="0" lang="en-US" sz="4400" u="none" cap="none" strike="noStrike">
                <a:solidFill>
                  <a:srgbClr val="FFFFFF"/>
                </a:solidFill>
                <a:latin typeface="Calibri"/>
                <a:ea typeface="Calibri"/>
                <a:cs typeface="Calibri"/>
                <a:sym typeface="Calibri"/>
              </a:rPr>
              <a:t>Did the harness change actually help?</a:t>
            </a:r>
            <a:endParaRPr b="0" i="0" sz="1400" u="none" cap="none" strike="noStrike">
              <a:solidFill>
                <a:srgbClr val="000000"/>
              </a:solidFill>
              <a:latin typeface="Arial"/>
              <a:ea typeface="Arial"/>
              <a:cs typeface="Arial"/>
              <a:sym typeface="Arial"/>
            </a:endParaRPr>
          </a:p>
        </p:txBody>
      </p:sp>
      <p:sp>
        <p:nvSpPr>
          <p:cNvPr id="164" name="Google Shape;164;p25"/>
          <p:cNvSpPr txBox="1"/>
          <p:nvPr/>
        </p:nvSpPr>
        <p:spPr>
          <a:xfrm>
            <a:off x="731521" y="2377440"/>
            <a:ext cx="10424100" cy="1005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2000"/>
              <a:buFont typeface="Arial"/>
              <a:buNone/>
            </a:pPr>
            <a:r>
              <a:rPr b="0" i="0" lang="en-US" sz="2000" u="none" cap="none" strike="noStrike">
                <a:solidFill>
                  <a:srgbClr val="C7D2E6"/>
                </a:solidFill>
                <a:latin typeface="Calibri"/>
                <a:ea typeface="Calibri"/>
                <a:cs typeface="Calibri"/>
                <a:sym typeface="Calibri"/>
              </a:rPr>
              <a:t>Evidence over gut feeling: </a:t>
            </a:r>
            <a:r>
              <a:rPr b="1" i="0" lang="en-US" sz="2000" u="none" cap="none" strike="noStrike">
                <a:solidFill>
                  <a:srgbClr val="C7D2E6"/>
                </a:solidFill>
                <a:latin typeface="Calibri"/>
                <a:ea typeface="Calibri"/>
                <a:cs typeface="Calibri"/>
                <a:sym typeface="Calibri"/>
              </a:rPr>
              <a:t>paired baseline-vs-candidate trials</a:t>
            </a:r>
            <a:r>
              <a:rPr b="0" i="0" lang="en-US" sz="2000" u="none" cap="none" strike="noStrike">
                <a:solidFill>
                  <a:srgbClr val="C7D2E6"/>
                </a:solidFill>
                <a:latin typeface="Calibri"/>
                <a:ea typeface="Calibri"/>
                <a:cs typeface="Calibri"/>
                <a:sym typeface="Calibri"/>
              </a:rPr>
              <a:t>, </a:t>
            </a:r>
            <a:r>
              <a:rPr b="1" i="0" lang="en-US" sz="2000" u="none" cap="none" strike="noStrike">
                <a:solidFill>
                  <a:srgbClr val="C7D2E6"/>
                </a:solidFill>
                <a:latin typeface="Calibri"/>
                <a:ea typeface="Calibri"/>
                <a:cs typeface="Calibri"/>
                <a:sym typeface="Calibri"/>
              </a:rPr>
              <a:t>deterministic graders</a:t>
            </a:r>
            <a:r>
              <a:rPr b="0" i="0" lang="en-US" sz="2000" u="none" cap="none" strike="noStrike">
                <a:solidFill>
                  <a:srgbClr val="C7D2E6"/>
                </a:solidFill>
                <a:latin typeface="Calibri"/>
                <a:ea typeface="Calibri"/>
                <a:cs typeface="Calibri"/>
                <a:sym typeface="Calibri"/>
              </a:rPr>
              <a:t>, </a:t>
            </a:r>
            <a:r>
              <a:rPr b="1" i="0" lang="en-US" sz="2000" u="none" cap="none" strike="noStrike">
                <a:solidFill>
                  <a:srgbClr val="C7D2E6"/>
                </a:solidFill>
                <a:latin typeface="Calibri"/>
                <a:ea typeface="Calibri"/>
                <a:cs typeface="Calibri"/>
                <a:sym typeface="Calibri"/>
              </a:rPr>
              <a:t>capability graduation</a:t>
            </a:r>
            <a:r>
              <a:rPr b="0" i="0" lang="en-US" sz="2000" u="none" cap="none" strike="noStrike">
                <a:solidFill>
                  <a:srgbClr val="C7D2E6"/>
                </a:solidFill>
                <a:latin typeface="Calibri"/>
                <a:ea typeface="Calibri"/>
                <a:cs typeface="Calibri"/>
                <a:sym typeface="Calibri"/>
              </a:rPr>
              <a:t> and a </a:t>
            </a:r>
            <a:r>
              <a:rPr b="1" i="0" lang="en-US" sz="2000" u="none" cap="none" strike="noStrike">
                <a:solidFill>
                  <a:srgbClr val="C7D2E6"/>
                </a:solidFill>
                <a:latin typeface="Calibri"/>
                <a:ea typeface="Calibri"/>
                <a:cs typeface="Calibri"/>
                <a:sym typeface="Calibri"/>
              </a:rPr>
              <a:t>Phase 2 gate</a:t>
            </a:r>
            <a:r>
              <a:rPr b="0" i="0" lang="en-US" sz="2000" u="none" cap="none" strike="noStrike">
                <a:solidFill>
                  <a:srgbClr val="C7D2E6"/>
                </a:solidFill>
                <a:latin typeface="Calibri"/>
                <a:ea typeface="Calibri"/>
                <a:cs typeface="Calibri"/>
                <a:sym typeface="Calibri"/>
              </a:rPr>
              <a:t> that blocks regressions.</a:t>
            </a:r>
            <a:endParaRPr b="0" i="0" sz="1400" u="none" cap="none" strike="noStrike">
              <a:solidFill>
                <a:srgbClr val="000000"/>
              </a:solidFill>
              <a:latin typeface="Arial"/>
              <a:ea typeface="Arial"/>
              <a:cs typeface="Arial"/>
              <a:sym typeface="Arial"/>
            </a:endParaRPr>
          </a:p>
        </p:txBody>
      </p:sp>
      <p:sp>
        <p:nvSpPr>
          <p:cNvPr id="165" name="Google Shape;165;p25"/>
          <p:cNvSpPr/>
          <p:nvPr/>
        </p:nvSpPr>
        <p:spPr>
          <a:xfrm>
            <a:off x="731522" y="3931920"/>
            <a:ext cx="2514600" cy="1326000"/>
          </a:xfrm>
          <a:prstGeom prst="roundRect">
            <a:avLst>
              <a:gd fmla="val 8000" name="adj"/>
            </a:avLst>
          </a:prstGeom>
          <a:solidFill>
            <a:srgbClr val="16213A"/>
          </a:solidFill>
          <a:ln cap="flat" cmpd="sng" w="12700">
            <a:solidFill>
              <a:srgbClr val="23314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6" name="Google Shape;166;p25"/>
          <p:cNvSpPr txBox="1"/>
          <p:nvPr/>
        </p:nvSpPr>
        <p:spPr>
          <a:xfrm>
            <a:off x="932690" y="4005072"/>
            <a:ext cx="2194500" cy="640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5EEAD4"/>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167" name="Google Shape;167;p25"/>
          <p:cNvSpPr txBox="1"/>
          <p:nvPr/>
        </p:nvSpPr>
        <p:spPr>
          <a:xfrm>
            <a:off x="932690" y="4572000"/>
            <a:ext cx="21945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tasks</a:t>
            </a:r>
            <a:endParaRPr b="0" i="0" sz="1400" u="none" cap="none" strike="noStrike">
              <a:solidFill>
                <a:srgbClr val="000000"/>
              </a:solidFill>
              <a:latin typeface="Arial"/>
              <a:ea typeface="Arial"/>
              <a:cs typeface="Arial"/>
              <a:sym typeface="Arial"/>
            </a:endParaRPr>
          </a:p>
        </p:txBody>
      </p:sp>
      <p:sp>
        <p:nvSpPr>
          <p:cNvPr id="168" name="Google Shape;168;p25"/>
          <p:cNvSpPr txBox="1"/>
          <p:nvPr/>
        </p:nvSpPr>
        <p:spPr>
          <a:xfrm>
            <a:off x="932690" y="4828032"/>
            <a:ext cx="2240400" cy="41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100"/>
              <a:buFont typeface="Arial"/>
              <a:buNone/>
            </a:pPr>
            <a:r>
              <a:rPr b="0" i="0" lang="en-US" sz="1100" u="none" cap="none" strike="noStrike">
                <a:solidFill>
                  <a:srgbClr val="9FB0CE"/>
                </a:solidFill>
                <a:latin typeface="Calibri"/>
                <a:ea typeface="Calibri"/>
                <a:cs typeface="Calibri"/>
                <a:sym typeface="Calibri"/>
              </a:rPr>
              <a:t>auth-vs-log · keep-suite · caller-check</a:t>
            </a:r>
            <a:endParaRPr b="0" i="0" sz="1400" u="none" cap="none" strike="noStrike">
              <a:solidFill>
                <a:srgbClr val="000000"/>
              </a:solidFill>
              <a:latin typeface="Arial"/>
              <a:ea typeface="Arial"/>
              <a:cs typeface="Arial"/>
              <a:sym typeface="Arial"/>
            </a:endParaRPr>
          </a:p>
        </p:txBody>
      </p:sp>
      <p:sp>
        <p:nvSpPr>
          <p:cNvPr id="169" name="Google Shape;169;p25"/>
          <p:cNvSpPr/>
          <p:nvPr/>
        </p:nvSpPr>
        <p:spPr>
          <a:xfrm>
            <a:off x="3429007" y="3931920"/>
            <a:ext cx="2514600" cy="1326000"/>
          </a:xfrm>
          <a:prstGeom prst="roundRect">
            <a:avLst>
              <a:gd fmla="val 8000" name="adj"/>
            </a:avLst>
          </a:prstGeom>
          <a:solidFill>
            <a:srgbClr val="16213A"/>
          </a:solidFill>
          <a:ln cap="flat" cmpd="sng" w="12700">
            <a:solidFill>
              <a:srgbClr val="23314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0" name="Google Shape;170;p25"/>
          <p:cNvSpPr txBox="1"/>
          <p:nvPr/>
        </p:nvSpPr>
        <p:spPr>
          <a:xfrm>
            <a:off x="3630175" y="4005072"/>
            <a:ext cx="2194500" cy="640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5EEAD4"/>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171" name="Google Shape;171;p25"/>
          <p:cNvSpPr txBox="1"/>
          <p:nvPr/>
        </p:nvSpPr>
        <p:spPr>
          <a:xfrm>
            <a:off x="3630175" y="4572000"/>
            <a:ext cx="21945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harnesses</a:t>
            </a:r>
            <a:endParaRPr b="0" i="0" sz="1400" u="none" cap="none" strike="noStrike">
              <a:solidFill>
                <a:srgbClr val="000000"/>
              </a:solidFill>
              <a:latin typeface="Arial"/>
              <a:ea typeface="Arial"/>
              <a:cs typeface="Arial"/>
              <a:sym typeface="Arial"/>
            </a:endParaRPr>
          </a:p>
        </p:txBody>
      </p:sp>
      <p:sp>
        <p:nvSpPr>
          <p:cNvPr id="172" name="Google Shape;172;p25"/>
          <p:cNvSpPr txBox="1"/>
          <p:nvPr/>
        </p:nvSpPr>
        <p:spPr>
          <a:xfrm>
            <a:off x="3630175" y="4828032"/>
            <a:ext cx="2240400" cy="41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100"/>
              <a:buFont typeface="Arial"/>
              <a:buNone/>
            </a:pPr>
            <a:r>
              <a:rPr b="0" i="0" lang="en-US" sz="1100" u="none" cap="none" strike="noStrike">
                <a:solidFill>
                  <a:srgbClr val="9FB0CE"/>
                </a:solidFill>
                <a:latin typeface="Calibri"/>
                <a:ea typeface="Calibri"/>
                <a:cs typeface="Calibri"/>
                <a:sym typeface="Calibri"/>
              </a:rPr>
              <a:t>baseline · good · bad candidate</a:t>
            </a:r>
            <a:endParaRPr b="0" i="0" sz="1400" u="none" cap="none" strike="noStrike">
              <a:solidFill>
                <a:srgbClr val="000000"/>
              </a:solidFill>
              <a:latin typeface="Arial"/>
              <a:ea typeface="Arial"/>
              <a:cs typeface="Arial"/>
              <a:sym typeface="Arial"/>
            </a:endParaRPr>
          </a:p>
        </p:txBody>
      </p:sp>
      <p:sp>
        <p:nvSpPr>
          <p:cNvPr id="173" name="Google Shape;173;p25"/>
          <p:cNvSpPr/>
          <p:nvPr/>
        </p:nvSpPr>
        <p:spPr>
          <a:xfrm>
            <a:off x="6126493" y="3931920"/>
            <a:ext cx="2514600" cy="1326000"/>
          </a:xfrm>
          <a:prstGeom prst="roundRect">
            <a:avLst>
              <a:gd fmla="val 8000" name="adj"/>
            </a:avLst>
          </a:prstGeom>
          <a:solidFill>
            <a:srgbClr val="16213A"/>
          </a:solidFill>
          <a:ln cap="flat" cmpd="sng" w="12700">
            <a:solidFill>
              <a:srgbClr val="23314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4" name="Google Shape;174;p25"/>
          <p:cNvSpPr txBox="1"/>
          <p:nvPr/>
        </p:nvSpPr>
        <p:spPr>
          <a:xfrm>
            <a:off x="6327661" y="4005072"/>
            <a:ext cx="2194500" cy="640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5EEAD4"/>
                </a:solidFill>
                <a:latin typeface="Calibri"/>
                <a:ea typeface="Calibri"/>
                <a:cs typeface="Calibri"/>
                <a:sym typeface="Calibri"/>
              </a:rPr>
              <a:t>2 × 2</a:t>
            </a:r>
            <a:endParaRPr b="0" i="0" sz="1400" u="none" cap="none" strike="noStrike">
              <a:solidFill>
                <a:srgbClr val="000000"/>
              </a:solidFill>
              <a:latin typeface="Arial"/>
              <a:ea typeface="Arial"/>
              <a:cs typeface="Arial"/>
              <a:sym typeface="Arial"/>
            </a:endParaRPr>
          </a:p>
        </p:txBody>
      </p:sp>
      <p:sp>
        <p:nvSpPr>
          <p:cNvPr id="175" name="Google Shape;175;p25"/>
          <p:cNvSpPr txBox="1"/>
          <p:nvPr/>
        </p:nvSpPr>
        <p:spPr>
          <a:xfrm>
            <a:off x="6327661" y="4572000"/>
            <a:ext cx="21945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reps × arms</a:t>
            </a:r>
            <a:endParaRPr b="0" i="0" sz="1400" u="none" cap="none" strike="noStrike">
              <a:solidFill>
                <a:srgbClr val="000000"/>
              </a:solidFill>
              <a:latin typeface="Arial"/>
              <a:ea typeface="Arial"/>
              <a:cs typeface="Arial"/>
              <a:sym typeface="Arial"/>
            </a:endParaRPr>
          </a:p>
        </p:txBody>
      </p:sp>
      <p:sp>
        <p:nvSpPr>
          <p:cNvPr id="176" name="Google Shape;176;p25"/>
          <p:cNvSpPr txBox="1"/>
          <p:nvPr/>
        </p:nvSpPr>
        <p:spPr>
          <a:xfrm>
            <a:off x="6327661" y="4828032"/>
            <a:ext cx="2240400" cy="41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100"/>
              <a:buFont typeface="Arial"/>
              <a:buNone/>
            </a:pPr>
            <a:r>
              <a:rPr b="0" i="0" lang="en-US" sz="1100" u="none" cap="none" strike="noStrike">
                <a:solidFill>
                  <a:srgbClr val="9FB0CE"/>
                </a:solidFill>
                <a:latin typeface="Calibri"/>
                <a:ea typeface="Calibri"/>
                <a:cs typeface="Calibri"/>
                <a:sym typeface="Calibri"/>
              </a:rPr>
              <a:t>every task, every phase</a:t>
            </a:r>
            <a:endParaRPr b="0" i="0" sz="1400" u="none" cap="none" strike="noStrike">
              <a:solidFill>
                <a:srgbClr val="000000"/>
              </a:solidFill>
              <a:latin typeface="Arial"/>
              <a:ea typeface="Arial"/>
              <a:cs typeface="Arial"/>
              <a:sym typeface="Arial"/>
            </a:endParaRPr>
          </a:p>
        </p:txBody>
      </p:sp>
      <p:sp>
        <p:nvSpPr>
          <p:cNvPr id="177" name="Google Shape;177;p25"/>
          <p:cNvSpPr/>
          <p:nvPr/>
        </p:nvSpPr>
        <p:spPr>
          <a:xfrm>
            <a:off x="8823978" y="3931920"/>
            <a:ext cx="2514600" cy="1326000"/>
          </a:xfrm>
          <a:prstGeom prst="roundRect">
            <a:avLst>
              <a:gd fmla="val 8000" name="adj"/>
            </a:avLst>
          </a:prstGeom>
          <a:solidFill>
            <a:srgbClr val="16213A"/>
          </a:solidFill>
          <a:ln cap="flat" cmpd="sng" w="12700">
            <a:solidFill>
              <a:srgbClr val="23314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8" name="Google Shape;178;p25"/>
          <p:cNvSpPr txBox="1"/>
          <p:nvPr/>
        </p:nvSpPr>
        <p:spPr>
          <a:xfrm>
            <a:off x="9025147" y="4005072"/>
            <a:ext cx="2194500" cy="640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5EEAD4"/>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179" name="Google Shape;179;p25"/>
          <p:cNvSpPr txBox="1"/>
          <p:nvPr/>
        </p:nvSpPr>
        <p:spPr>
          <a:xfrm>
            <a:off x="9025147" y="4572000"/>
            <a:ext cx="21945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gate</a:t>
            </a:r>
            <a:endParaRPr b="0" i="0" sz="1400" u="none" cap="none" strike="noStrike">
              <a:solidFill>
                <a:srgbClr val="000000"/>
              </a:solidFill>
              <a:latin typeface="Arial"/>
              <a:ea typeface="Arial"/>
              <a:cs typeface="Arial"/>
              <a:sym typeface="Arial"/>
            </a:endParaRPr>
          </a:p>
        </p:txBody>
      </p:sp>
      <p:sp>
        <p:nvSpPr>
          <p:cNvPr id="180" name="Google Shape;180;p25"/>
          <p:cNvSpPr txBox="1"/>
          <p:nvPr/>
        </p:nvSpPr>
        <p:spPr>
          <a:xfrm>
            <a:off x="9025147" y="4828032"/>
            <a:ext cx="2240400" cy="41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100"/>
              <a:buFont typeface="Arial"/>
              <a:buNone/>
            </a:pPr>
            <a:r>
              <a:rPr b="0" i="0" lang="en-US" sz="1100" u="none" cap="none" strike="noStrike">
                <a:solidFill>
                  <a:srgbClr val="9FB0CE"/>
                </a:solidFill>
                <a:latin typeface="Calibri"/>
                <a:ea typeface="Calibri"/>
                <a:cs typeface="Calibri"/>
                <a:sym typeface="Calibri"/>
              </a:rPr>
              <a:t>phase2_blocked_reason()</a:t>
            </a:r>
            <a:endParaRPr b="0" i="0" sz="1400" u="none" cap="none" strike="noStrike">
              <a:solidFill>
                <a:srgbClr val="000000"/>
              </a:solidFill>
              <a:latin typeface="Arial"/>
              <a:ea typeface="Arial"/>
              <a:cs typeface="Arial"/>
              <a:sym typeface="Arial"/>
            </a:endParaRPr>
          </a:p>
        </p:txBody>
      </p:sp>
      <p:sp>
        <p:nvSpPr>
          <p:cNvPr id="181" name="Google Shape;181;p25"/>
          <p:cNvSpPr txBox="1"/>
          <p:nvPr/>
        </p:nvSpPr>
        <p:spPr>
          <a:xfrm>
            <a:off x="731521" y="5486400"/>
            <a:ext cx="10789800" cy="640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C7D2E6"/>
                </a:solidFill>
                <a:latin typeface="Calibri"/>
                <a:ea typeface="Calibri"/>
                <a:cs typeface="Calibri"/>
                <a:sym typeface="Calibri"/>
              </a:rPr>
              <a:t>Committed runs → </a:t>
            </a:r>
            <a:endParaRPr b="0" i="0" sz="1400" u="none" cap="none" strike="noStrike">
              <a:solidFill>
                <a:srgbClr val="C7D2E6"/>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C7D2E6"/>
                </a:solidFill>
                <a:latin typeface="Calibri"/>
                <a:ea typeface="Calibri"/>
                <a:cs typeface="Calibri"/>
                <a:sym typeface="Calibri"/>
              </a:rPr>
              <a:t>·  good candidate: Phase 1 </a:t>
            </a:r>
            <a:r>
              <a:rPr b="1" i="0" lang="en-US" sz="1400" u="none" cap="none" strike="noStrike">
                <a:solidFill>
                  <a:srgbClr val="C7D2E6"/>
                </a:solidFill>
                <a:latin typeface="Calibri"/>
                <a:ea typeface="Calibri"/>
                <a:cs typeface="Calibri"/>
                <a:sym typeface="Calibri"/>
              </a:rPr>
              <a:t>POSITIVE</a:t>
            </a:r>
            <a:r>
              <a:rPr b="0" i="0" lang="en-US" sz="1400" u="none" cap="none" strike="noStrike">
                <a:solidFill>
                  <a:srgbClr val="C7D2E6"/>
                </a:solidFill>
                <a:latin typeface="Calibri"/>
                <a:ea typeface="Calibri"/>
                <a:cs typeface="Calibri"/>
                <a:sym typeface="Calibri"/>
              </a:rPr>
              <a:t>, promoted </a:t>
            </a:r>
            <a:r>
              <a:rPr b="1" i="0" lang="en-US" sz="1400" u="none" cap="none" strike="noStrike">
                <a:solidFill>
                  <a:srgbClr val="C7D2E6"/>
                </a:solidFill>
                <a:latin typeface="Calibri"/>
                <a:ea typeface="Calibri"/>
                <a:cs typeface="Calibri"/>
                <a:sym typeface="Calibri"/>
              </a:rPr>
              <a:t>auth-vs-log</a:t>
            </a:r>
            <a:r>
              <a:rPr b="0" i="0" lang="en-US" sz="1400" u="none" cap="none" strike="noStrike">
                <a:solidFill>
                  <a:srgbClr val="C7D2E6"/>
                </a:solidFill>
                <a:latin typeface="Calibri"/>
                <a:ea typeface="Calibri"/>
                <a:cs typeface="Calibri"/>
                <a:sym typeface="Calibri"/>
              </a:rPr>
              <a:t>, Phase 2 </a:t>
            </a:r>
            <a:r>
              <a:rPr b="1" i="0" lang="en-US" sz="1400" u="none" cap="none" strike="noStrike">
                <a:solidFill>
                  <a:srgbClr val="C7D2E6"/>
                </a:solidFill>
                <a:latin typeface="Calibri"/>
                <a:ea typeface="Calibri"/>
                <a:cs typeface="Calibri"/>
                <a:sym typeface="Calibri"/>
              </a:rPr>
              <a:t>POSITIVE</a:t>
            </a:r>
            <a:r>
              <a:rPr b="0" i="0" lang="en-US" sz="1400" u="none" cap="none" strike="noStrike">
                <a:solidFill>
                  <a:srgbClr val="C7D2E6"/>
                </a:solidFill>
                <a:latin typeface="Calibri"/>
                <a:ea typeface="Calibri"/>
                <a:cs typeface="Calibri"/>
                <a:sym typeface="Calibri"/>
              </a:rPr>
              <a:t>  </a:t>
            </a:r>
            <a:endParaRPr b="0" i="0" sz="1400" u="none" cap="none" strike="noStrike">
              <a:solidFill>
                <a:srgbClr val="C7D2E6"/>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C7D2E6"/>
                </a:solidFill>
                <a:latin typeface="Calibri"/>
                <a:ea typeface="Calibri"/>
                <a:cs typeface="Calibri"/>
                <a:sym typeface="Calibri"/>
              </a:rPr>
              <a:t>·  bad candidate: Phase 1 </a:t>
            </a:r>
            <a:r>
              <a:rPr b="1" i="0" lang="en-US" sz="1400" u="none" cap="none" strike="noStrike">
                <a:solidFill>
                  <a:srgbClr val="C7D2E6"/>
                </a:solidFill>
                <a:latin typeface="Calibri"/>
                <a:ea typeface="Calibri"/>
                <a:cs typeface="Calibri"/>
                <a:sym typeface="Calibri"/>
              </a:rPr>
              <a:t>NEGATIVE</a:t>
            </a:r>
            <a:r>
              <a:rPr b="0" i="0" lang="en-US" sz="1400" u="none" cap="none" strike="noStrike">
                <a:solidFill>
                  <a:srgbClr val="C7D2E6"/>
                </a:solidFill>
                <a:latin typeface="Calibri"/>
                <a:ea typeface="Calibri"/>
                <a:cs typeface="Calibri"/>
                <a:sym typeface="Calibri"/>
              </a:rPr>
              <a:t>, Phase 2 </a:t>
            </a:r>
            <a:r>
              <a:rPr b="1" i="0" lang="en-US" sz="1400" u="none" cap="none" strike="noStrike">
                <a:solidFill>
                  <a:srgbClr val="C7D2E6"/>
                </a:solidFill>
                <a:latin typeface="Calibri"/>
                <a:ea typeface="Calibri"/>
                <a:cs typeface="Calibri"/>
                <a:sym typeface="Calibri"/>
              </a:rPr>
              <a:t>blocked</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sp>
        <p:nvSpPr>
          <p:cNvPr id="187" name="Google Shape;187;p26"/>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The journey of this talk</a:t>
            </a:r>
            <a:endParaRPr b="0" i="0" sz="1400" u="none" cap="none" strike="noStrike">
              <a:solidFill>
                <a:srgbClr val="000000"/>
              </a:solidFill>
              <a:latin typeface="Arial"/>
              <a:ea typeface="Arial"/>
              <a:cs typeface="Arial"/>
              <a:sym typeface="Arial"/>
            </a:endParaRPr>
          </a:p>
        </p:txBody>
      </p:sp>
      <p:sp>
        <p:nvSpPr>
          <p:cNvPr id="188" name="Google Shape;188;p26"/>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Six chapters, from </a:t>
            </a:r>
            <a:r>
              <a:rPr b="1" i="0" lang="en-US" sz="1600" u="none" cap="none" strike="noStrike">
                <a:solidFill>
                  <a:srgbClr val="334155"/>
                </a:solidFill>
                <a:latin typeface="Calibri"/>
                <a:ea typeface="Calibri"/>
                <a:cs typeface="Calibri"/>
                <a:sym typeface="Calibri"/>
              </a:rPr>
              <a:t>why this matters</a:t>
            </a:r>
            <a:r>
              <a:rPr b="0" i="0" lang="en-US" sz="1600" u="none" cap="none" strike="noStrike">
                <a:solidFill>
                  <a:srgbClr val="334155"/>
                </a:solidFill>
                <a:latin typeface="Calibri"/>
                <a:ea typeface="Calibri"/>
                <a:cs typeface="Calibri"/>
                <a:sym typeface="Calibri"/>
              </a:rPr>
              <a:t> to </a:t>
            </a:r>
            <a:r>
              <a:rPr b="1" i="0" lang="en-US" sz="1600" u="none" cap="none" strike="noStrike">
                <a:solidFill>
                  <a:srgbClr val="334155"/>
                </a:solidFill>
                <a:latin typeface="Calibri"/>
                <a:ea typeface="Calibri"/>
                <a:cs typeface="Calibri"/>
                <a:sym typeface="Calibri"/>
              </a:rPr>
              <a:t>what we deliberately cut</a:t>
            </a:r>
            <a:endParaRPr b="0" i="0" sz="1400" u="none" cap="none" strike="noStrike">
              <a:solidFill>
                <a:srgbClr val="000000"/>
              </a:solidFill>
              <a:latin typeface="Arial"/>
              <a:ea typeface="Arial"/>
              <a:cs typeface="Arial"/>
              <a:sym typeface="Arial"/>
            </a:endParaRPr>
          </a:p>
        </p:txBody>
      </p:sp>
      <p:sp>
        <p:nvSpPr>
          <p:cNvPr id="189" name="Google Shape;189;p26"/>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Harness evaluation PoC</a:t>
            </a:r>
            <a:endParaRPr b="0" i="0" sz="1400" u="none" cap="none" strike="noStrike">
              <a:solidFill>
                <a:srgbClr val="000000"/>
              </a:solidFill>
              <a:latin typeface="Arial"/>
              <a:ea typeface="Arial"/>
              <a:cs typeface="Arial"/>
              <a:sym typeface="Arial"/>
            </a:endParaRPr>
          </a:p>
        </p:txBody>
      </p:sp>
      <p:sp>
        <p:nvSpPr>
          <p:cNvPr id="190" name="Google Shape;190;p26"/>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191" name="Google Shape;191;p26"/>
          <p:cNvSpPr/>
          <p:nvPr/>
        </p:nvSpPr>
        <p:spPr>
          <a:xfrm>
            <a:off x="548641" y="1691640"/>
            <a:ext cx="5440800" cy="12345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2" name="Google Shape;192;p26"/>
          <p:cNvSpPr/>
          <p:nvPr/>
        </p:nvSpPr>
        <p:spPr>
          <a:xfrm>
            <a:off x="777242" y="1965960"/>
            <a:ext cx="685800" cy="6858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FFFF"/>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193" name="Google Shape;193;p26"/>
          <p:cNvSpPr txBox="1"/>
          <p:nvPr/>
        </p:nvSpPr>
        <p:spPr>
          <a:xfrm>
            <a:off x="1691643" y="1874520"/>
            <a:ext cx="4114800" cy="41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900"/>
              <a:buFont typeface="Arial"/>
              <a:buNone/>
            </a:pPr>
            <a:r>
              <a:rPr b="1" i="0" lang="en-US" sz="1900" u="none" cap="none" strike="noStrike">
                <a:solidFill>
                  <a:srgbClr val="0F172A"/>
                </a:solidFill>
                <a:latin typeface="Calibri"/>
                <a:ea typeface="Calibri"/>
                <a:cs typeface="Calibri"/>
                <a:sym typeface="Calibri"/>
              </a:rPr>
              <a:t>Problem &amp; concepts</a:t>
            </a:r>
            <a:endParaRPr b="0" i="0" sz="1400" u="none" cap="none" strike="noStrike">
              <a:solidFill>
                <a:srgbClr val="000000"/>
              </a:solidFill>
              <a:latin typeface="Arial"/>
              <a:ea typeface="Arial"/>
              <a:cs typeface="Arial"/>
              <a:sym typeface="Arial"/>
            </a:endParaRPr>
          </a:p>
        </p:txBody>
      </p:sp>
      <p:sp>
        <p:nvSpPr>
          <p:cNvPr id="194" name="Google Shape;194;p26"/>
          <p:cNvSpPr txBox="1"/>
          <p:nvPr/>
        </p:nvSpPr>
        <p:spPr>
          <a:xfrm>
            <a:off x="1691643" y="2286000"/>
            <a:ext cx="4114800" cy="5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Gut feeling vs evidence · Model ≠ Agent ≠ Harness · what a good eval does</a:t>
            </a:r>
            <a:endParaRPr b="0" i="0" sz="1400" u="none" cap="none" strike="noStrike">
              <a:solidFill>
                <a:srgbClr val="000000"/>
              </a:solidFill>
              <a:latin typeface="Arial"/>
              <a:ea typeface="Arial"/>
              <a:cs typeface="Arial"/>
              <a:sym typeface="Arial"/>
            </a:endParaRPr>
          </a:p>
        </p:txBody>
      </p:sp>
      <p:sp>
        <p:nvSpPr>
          <p:cNvPr id="195" name="Google Shape;195;p26"/>
          <p:cNvSpPr/>
          <p:nvPr/>
        </p:nvSpPr>
        <p:spPr>
          <a:xfrm>
            <a:off x="6172213" y="1691640"/>
            <a:ext cx="5440800" cy="12345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6" name="Google Shape;196;p26"/>
          <p:cNvSpPr/>
          <p:nvPr/>
        </p:nvSpPr>
        <p:spPr>
          <a:xfrm>
            <a:off x="6400813" y="1965960"/>
            <a:ext cx="685800" cy="6858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FFFF"/>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197" name="Google Shape;197;p26"/>
          <p:cNvSpPr txBox="1"/>
          <p:nvPr/>
        </p:nvSpPr>
        <p:spPr>
          <a:xfrm>
            <a:off x="7315215" y="1874520"/>
            <a:ext cx="4114800" cy="41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900"/>
              <a:buFont typeface="Arial"/>
              <a:buNone/>
            </a:pPr>
            <a:r>
              <a:rPr b="1" i="0" lang="en-US" sz="1900" u="none" cap="none" strike="noStrike">
                <a:solidFill>
                  <a:srgbClr val="0F172A"/>
                </a:solidFill>
                <a:latin typeface="Calibri"/>
                <a:ea typeface="Calibri"/>
                <a:cs typeface="Calibri"/>
                <a:sym typeface="Calibri"/>
              </a:rPr>
              <a:t>The PoC</a:t>
            </a:r>
            <a:endParaRPr b="0" i="0" sz="1400" u="none" cap="none" strike="noStrike">
              <a:solidFill>
                <a:srgbClr val="000000"/>
              </a:solidFill>
              <a:latin typeface="Arial"/>
              <a:ea typeface="Arial"/>
              <a:cs typeface="Arial"/>
              <a:sym typeface="Arial"/>
            </a:endParaRPr>
          </a:p>
        </p:txBody>
      </p:sp>
      <p:sp>
        <p:nvSpPr>
          <p:cNvPr id="198" name="Google Shape;198;p26"/>
          <p:cNvSpPr txBox="1"/>
          <p:nvPr/>
        </p:nvSpPr>
        <p:spPr>
          <a:xfrm>
            <a:off x="7315215" y="2286000"/>
            <a:ext cx="4114800" cy="5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The Solidity task · baseline, bad and good harnesses, the exact file changes</a:t>
            </a:r>
            <a:endParaRPr b="0" i="0" sz="1400" u="none" cap="none" strike="noStrike">
              <a:solidFill>
                <a:srgbClr val="000000"/>
              </a:solidFill>
              <a:latin typeface="Arial"/>
              <a:ea typeface="Arial"/>
              <a:cs typeface="Arial"/>
              <a:sym typeface="Arial"/>
            </a:endParaRPr>
          </a:p>
        </p:txBody>
      </p:sp>
      <p:sp>
        <p:nvSpPr>
          <p:cNvPr id="199" name="Google Shape;199;p26"/>
          <p:cNvSpPr/>
          <p:nvPr/>
        </p:nvSpPr>
        <p:spPr>
          <a:xfrm>
            <a:off x="548641" y="3154680"/>
            <a:ext cx="5440800" cy="12345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0" name="Google Shape;200;p26"/>
          <p:cNvSpPr/>
          <p:nvPr/>
        </p:nvSpPr>
        <p:spPr>
          <a:xfrm>
            <a:off x="777242" y="3429000"/>
            <a:ext cx="685800" cy="6858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FFFF"/>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201" name="Google Shape;201;p26"/>
          <p:cNvSpPr txBox="1"/>
          <p:nvPr/>
        </p:nvSpPr>
        <p:spPr>
          <a:xfrm>
            <a:off x="1691643" y="3337560"/>
            <a:ext cx="4114800" cy="41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900"/>
              <a:buFont typeface="Arial"/>
              <a:buNone/>
            </a:pPr>
            <a:r>
              <a:rPr b="1" i="0" lang="en-US" sz="1900" u="none" cap="none" strike="noStrike">
                <a:solidFill>
                  <a:srgbClr val="0F172A"/>
                </a:solidFill>
                <a:latin typeface="Calibri"/>
                <a:ea typeface="Calibri"/>
                <a:cs typeface="Calibri"/>
                <a:sym typeface="Calibri"/>
              </a:rPr>
              <a:t>How the tool runs</a:t>
            </a:r>
            <a:endParaRPr b="0" i="0" sz="1400" u="none" cap="none" strike="noStrike">
              <a:solidFill>
                <a:srgbClr val="000000"/>
              </a:solidFill>
              <a:latin typeface="Arial"/>
              <a:ea typeface="Arial"/>
              <a:cs typeface="Arial"/>
              <a:sym typeface="Arial"/>
            </a:endParaRPr>
          </a:p>
        </p:txBody>
      </p:sp>
      <p:sp>
        <p:nvSpPr>
          <p:cNvPr id="202" name="Google Shape;202;p26"/>
          <p:cNvSpPr txBox="1"/>
          <p:nvPr/>
        </p:nvSpPr>
        <p:spPr>
          <a:xfrm>
            <a:off x="1691643" y="3749040"/>
            <a:ext cx="4114800" cy="5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Repetitions · OpenRouter models · dry run · LLM judge · eval.config.yaml</a:t>
            </a:r>
            <a:endParaRPr b="0" i="0" sz="1400" u="none" cap="none" strike="noStrike">
              <a:solidFill>
                <a:srgbClr val="000000"/>
              </a:solidFill>
              <a:latin typeface="Arial"/>
              <a:ea typeface="Arial"/>
              <a:cs typeface="Arial"/>
              <a:sym typeface="Arial"/>
            </a:endParaRPr>
          </a:p>
        </p:txBody>
      </p:sp>
      <p:sp>
        <p:nvSpPr>
          <p:cNvPr id="203" name="Google Shape;203;p26"/>
          <p:cNvSpPr/>
          <p:nvPr/>
        </p:nvSpPr>
        <p:spPr>
          <a:xfrm>
            <a:off x="6172213" y="3154680"/>
            <a:ext cx="5440800" cy="12345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4" name="Google Shape;204;p26"/>
          <p:cNvSpPr/>
          <p:nvPr/>
        </p:nvSpPr>
        <p:spPr>
          <a:xfrm>
            <a:off x="6400813" y="3429000"/>
            <a:ext cx="685800" cy="6858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FFFF"/>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205" name="Google Shape;205;p26"/>
          <p:cNvSpPr txBox="1"/>
          <p:nvPr/>
        </p:nvSpPr>
        <p:spPr>
          <a:xfrm>
            <a:off x="7315215" y="3337560"/>
            <a:ext cx="4114800" cy="41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900"/>
              <a:buFont typeface="Arial"/>
              <a:buNone/>
            </a:pPr>
            <a:r>
              <a:rPr b="1" i="0" lang="en-US" sz="1900" u="none" cap="none" strike="noStrike">
                <a:solidFill>
                  <a:srgbClr val="0F172A"/>
                </a:solidFill>
                <a:latin typeface="Calibri"/>
                <a:ea typeface="Calibri"/>
                <a:cs typeface="Calibri"/>
                <a:sym typeface="Calibri"/>
              </a:rPr>
              <a:t>Tasks, phases, graders</a:t>
            </a:r>
            <a:endParaRPr b="0" i="0" sz="1400" u="none" cap="none" strike="noStrike">
              <a:solidFill>
                <a:srgbClr val="000000"/>
              </a:solidFill>
              <a:latin typeface="Arial"/>
              <a:ea typeface="Arial"/>
              <a:cs typeface="Arial"/>
              <a:sym typeface="Arial"/>
            </a:endParaRPr>
          </a:p>
        </p:txBody>
      </p:sp>
      <p:sp>
        <p:nvSpPr>
          <p:cNvPr id="206" name="Google Shape;206;p26"/>
          <p:cNvSpPr txBox="1"/>
          <p:nvPr/>
        </p:nvSpPr>
        <p:spPr>
          <a:xfrm>
            <a:off x="7315215" y="3749040"/>
            <a:ext cx="4114800" cy="5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auth-vs-log · keep-suite · caller-check · graduation · blocking</a:t>
            </a:r>
            <a:endParaRPr b="0" i="0" sz="1400" u="none" cap="none" strike="noStrike">
              <a:solidFill>
                <a:srgbClr val="000000"/>
              </a:solidFill>
              <a:latin typeface="Arial"/>
              <a:ea typeface="Arial"/>
              <a:cs typeface="Arial"/>
              <a:sym typeface="Arial"/>
            </a:endParaRPr>
          </a:p>
        </p:txBody>
      </p:sp>
      <p:sp>
        <p:nvSpPr>
          <p:cNvPr id="207" name="Google Shape;207;p26"/>
          <p:cNvSpPr/>
          <p:nvPr/>
        </p:nvSpPr>
        <p:spPr>
          <a:xfrm>
            <a:off x="548641" y="4617720"/>
            <a:ext cx="5440800" cy="12345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8" name="Google Shape;208;p26"/>
          <p:cNvSpPr/>
          <p:nvPr/>
        </p:nvSpPr>
        <p:spPr>
          <a:xfrm>
            <a:off x="777242" y="4892040"/>
            <a:ext cx="685800" cy="6858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FFFF"/>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209" name="Google Shape;209;p26"/>
          <p:cNvSpPr txBox="1"/>
          <p:nvPr/>
        </p:nvSpPr>
        <p:spPr>
          <a:xfrm>
            <a:off x="1691643" y="4800600"/>
            <a:ext cx="4114800" cy="41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900"/>
              <a:buFont typeface="Arial"/>
              <a:buNone/>
            </a:pPr>
            <a:r>
              <a:rPr b="1" i="0" lang="en-US" sz="1900" u="none" cap="none" strike="noStrike">
                <a:solidFill>
                  <a:srgbClr val="0F172A"/>
                </a:solidFill>
                <a:latin typeface="Calibri"/>
                <a:ea typeface="Calibri"/>
                <a:cs typeface="Calibri"/>
                <a:sym typeface="Calibri"/>
              </a:rPr>
              <a:t>Results &amp; verdict</a:t>
            </a:r>
            <a:endParaRPr b="0" i="0" sz="1400" u="none" cap="none" strike="noStrike">
              <a:solidFill>
                <a:srgbClr val="000000"/>
              </a:solidFill>
              <a:latin typeface="Arial"/>
              <a:ea typeface="Arial"/>
              <a:cs typeface="Arial"/>
              <a:sym typeface="Arial"/>
            </a:endParaRPr>
          </a:p>
        </p:txBody>
      </p:sp>
      <p:sp>
        <p:nvSpPr>
          <p:cNvPr id="210" name="Google Shape;210;p26"/>
          <p:cNvSpPr txBox="1"/>
          <p:nvPr/>
        </p:nvSpPr>
        <p:spPr>
          <a:xfrm>
            <a:off x="1691643" y="5212080"/>
            <a:ext cx="4114800" cy="5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Bad vs baseline · good vs baseline · graduation journey · what gut feel would do</a:t>
            </a:r>
            <a:endParaRPr b="0" i="0" sz="1400" u="none" cap="none" strike="noStrike">
              <a:solidFill>
                <a:srgbClr val="000000"/>
              </a:solidFill>
              <a:latin typeface="Arial"/>
              <a:ea typeface="Arial"/>
              <a:cs typeface="Arial"/>
              <a:sym typeface="Arial"/>
            </a:endParaRPr>
          </a:p>
        </p:txBody>
      </p:sp>
      <p:sp>
        <p:nvSpPr>
          <p:cNvPr id="211" name="Google Shape;211;p26"/>
          <p:cNvSpPr/>
          <p:nvPr/>
        </p:nvSpPr>
        <p:spPr>
          <a:xfrm>
            <a:off x="6172213" y="4617720"/>
            <a:ext cx="5440800" cy="12345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2" name="Google Shape;212;p26"/>
          <p:cNvSpPr/>
          <p:nvPr/>
        </p:nvSpPr>
        <p:spPr>
          <a:xfrm>
            <a:off x="6400813" y="4892040"/>
            <a:ext cx="685800" cy="6858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FFFF"/>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sp>
        <p:nvSpPr>
          <p:cNvPr id="213" name="Google Shape;213;p26"/>
          <p:cNvSpPr txBox="1"/>
          <p:nvPr/>
        </p:nvSpPr>
        <p:spPr>
          <a:xfrm>
            <a:off x="7315215" y="4800600"/>
            <a:ext cx="4114800" cy="41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900"/>
              <a:buFont typeface="Arial"/>
              <a:buNone/>
            </a:pPr>
            <a:r>
              <a:rPr b="1" i="0" lang="en-US" sz="1900" u="none" cap="none" strike="noStrike">
                <a:solidFill>
                  <a:srgbClr val="0F172A"/>
                </a:solidFill>
                <a:latin typeface="Calibri"/>
                <a:ea typeface="Calibri"/>
                <a:cs typeface="Calibri"/>
                <a:sym typeface="Calibri"/>
              </a:rPr>
              <a:t>What </a:t>
            </a:r>
            <a:r>
              <a:rPr b="1" lang="en-US" sz="1900">
                <a:solidFill>
                  <a:srgbClr val="0F172A"/>
                </a:solidFill>
                <a:latin typeface="Calibri"/>
                <a:ea typeface="Calibri"/>
                <a:cs typeface="Calibri"/>
                <a:sym typeface="Calibri"/>
              </a:rPr>
              <a:t>I</a:t>
            </a:r>
            <a:r>
              <a:rPr b="1" i="0" lang="en-US" sz="1900" u="none" cap="none" strike="noStrike">
                <a:solidFill>
                  <a:srgbClr val="0F172A"/>
                </a:solidFill>
                <a:latin typeface="Calibri"/>
                <a:ea typeface="Calibri"/>
                <a:cs typeface="Calibri"/>
                <a:sym typeface="Calibri"/>
              </a:rPr>
              <a:t> cut &amp; </a:t>
            </a:r>
            <a:r>
              <a:rPr b="1" lang="en-US" sz="1900">
                <a:solidFill>
                  <a:srgbClr val="0F172A"/>
                </a:solidFill>
                <a:latin typeface="Calibri"/>
                <a:ea typeface="Calibri"/>
                <a:cs typeface="Calibri"/>
                <a:sym typeface="Calibri"/>
              </a:rPr>
              <a:t>execution of tool</a:t>
            </a:r>
            <a:endParaRPr b="0" i="0" sz="1400" u="none" cap="none" strike="noStrike">
              <a:solidFill>
                <a:srgbClr val="000000"/>
              </a:solidFill>
              <a:latin typeface="Arial"/>
              <a:ea typeface="Arial"/>
              <a:cs typeface="Arial"/>
              <a:sym typeface="Arial"/>
            </a:endParaRPr>
          </a:p>
        </p:txBody>
      </p:sp>
      <p:sp>
        <p:nvSpPr>
          <p:cNvPr id="214" name="Google Shape;214;p26"/>
          <p:cNvSpPr txBox="1"/>
          <p:nvPr/>
        </p:nvSpPr>
        <p:spPr>
          <a:xfrm>
            <a:off x="7315215" y="5212080"/>
            <a:ext cx="4114800" cy="5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7 gaps with justification · local setup · viewing results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219" name="Shape 219"/>
        <p:cNvGrpSpPr/>
        <p:nvPr/>
      </p:nvGrpSpPr>
      <p:grpSpPr>
        <a:xfrm>
          <a:off x="0" y="0"/>
          <a:ext cx="0" cy="0"/>
          <a:chOff x="0" y="0"/>
          <a:chExt cx="0" cy="0"/>
        </a:xfrm>
      </p:grpSpPr>
      <p:sp>
        <p:nvSpPr>
          <p:cNvPr id="220" name="Google Shape;220;p27"/>
          <p:cNvSpPr/>
          <p:nvPr/>
        </p:nvSpPr>
        <p:spPr>
          <a:xfrm>
            <a:off x="731522" y="2331720"/>
            <a:ext cx="1005900" cy="10059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221" name="Google Shape;221;p27"/>
          <p:cNvSpPr txBox="1"/>
          <p:nvPr/>
        </p:nvSpPr>
        <p:spPr>
          <a:xfrm>
            <a:off x="2011684" y="2240280"/>
            <a:ext cx="9144000" cy="7314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4000"/>
              <a:buFont typeface="Arial"/>
              <a:buNone/>
            </a:pPr>
            <a:r>
              <a:rPr b="1" i="0" lang="en-US" sz="4000" u="none" cap="none" strike="noStrike">
                <a:solidFill>
                  <a:srgbClr val="FFFFFF"/>
                </a:solidFill>
                <a:latin typeface="Calibri"/>
                <a:ea typeface="Calibri"/>
                <a:cs typeface="Calibri"/>
                <a:sym typeface="Calibri"/>
              </a:rPr>
              <a:t>Problem &amp; concepts</a:t>
            </a:r>
            <a:endParaRPr b="0" i="0" sz="1400" u="none" cap="none" strike="noStrike">
              <a:solidFill>
                <a:srgbClr val="000000"/>
              </a:solidFill>
              <a:latin typeface="Arial"/>
              <a:ea typeface="Arial"/>
              <a:cs typeface="Arial"/>
              <a:sym typeface="Arial"/>
            </a:endParaRPr>
          </a:p>
        </p:txBody>
      </p:sp>
      <p:sp>
        <p:nvSpPr>
          <p:cNvPr id="222" name="Google Shape;222;p27"/>
          <p:cNvSpPr txBox="1"/>
          <p:nvPr/>
        </p:nvSpPr>
        <p:spPr>
          <a:xfrm>
            <a:off x="2011684" y="3017520"/>
            <a:ext cx="9144000" cy="109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800"/>
              <a:buFont typeface="Arial"/>
              <a:buNone/>
            </a:pPr>
            <a:r>
              <a:rPr b="0" i="0" lang="en-US" sz="1800" u="none" cap="none" strike="noStrike">
                <a:solidFill>
                  <a:srgbClr val="B6C3DA"/>
                </a:solidFill>
                <a:latin typeface="Calibri"/>
                <a:ea typeface="Calibri"/>
                <a:cs typeface="Calibri"/>
                <a:sym typeface="Calibri"/>
              </a:rPr>
              <a:t>Why gut feeling fails, the vocabulary, and what a good evaluation must do</a:t>
            </a:r>
            <a:endParaRPr b="0" i="0" sz="1400" u="none" cap="none" strike="noStrike">
              <a:solidFill>
                <a:srgbClr val="000000"/>
              </a:solidFill>
              <a:latin typeface="Arial"/>
              <a:ea typeface="Arial"/>
              <a:cs typeface="Arial"/>
              <a:sym typeface="Arial"/>
            </a:endParaRPr>
          </a:p>
        </p:txBody>
      </p:sp>
      <p:sp>
        <p:nvSpPr>
          <p:cNvPr id="223" name="Google Shape;223;p27"/>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Problem &amp; concepts</a:t>
            </a:r>
            <a:endParaRPr b="0" i="0" sz="1400" u="none" cap="none" strike="noStrike">
              <a:solidFill>
                <a:srgbClr val="000000"/>
              </a:solidFill>
              <a:latin typeface="Arial"/>
              <a:ea typeface="Arial"/>
              <a:cs typeface="Arial"/>
              <a:sym typeface="Arial"/>
            </a:endParaRPr>
          </a:p>
        </p:txBody>
      </p:sp>
      <p:sp>
        <p:nvSpPr>
          <p:cNvPr id="224" name="Google Shape;224;p27"/>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28"/>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Harness changes ship on </a:t>
            </a:r>
            <a:r>
              <a:rPr b="1" lang="en-US" sz="3200">
                <a:solidFill>
                  <a:srgbClr val="0F172A"/>
                </a:solidFill>
                <a:latin typeface="Calibri"/>
                <a:ea typeface="Calibri"/>
                <a:cs typeface="Calibri"/>
                <a:sym typeface="Calibri"/>
              </a:rPr>
              <a:t>Intuition</a:t>
            </a:r>
            <a:endParaRPr b="0" i="0" sz="1400" u="none" cap="none" strike="noStrike">
              <a:solidFill>
                <a:srgbClr val="000000"/>
              </a:solidFill>
              <a:latin typeface="Arial"/>
              <a:ea typeface="Arial"/>
              <a:cs typeface="Arial"/>
              <a:sym typeface="Arial"/>
            </a:endParaRPr>
          </a:p>
        </p:txBody>
      </p:sp>
      <p:sp>
        <p:nvSpPr>
          <p:cNvPr id="231" name="Google Shape;231;p28"/>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The question is </a:t>
            </a:r>
            <a:r>
              <a:rPr b="1" i="0" lang="en-US" sz="1600" u="none" cap="none" strike="noStrike">
                <a:solidFill>
                  <a:srgbClr val="334155"/>
                </a:solidFill>
                <a:latin typeface="Calibri"/>
                <a:ea typeface="Calibri"/>
                <a:cs typeface="Calibri"/>
                <a:sym typeface="Calibri"/>
              </a:rPr>
              <a:t>not</a:t>
            </a:r>
            <a:r>
              <a:rPr b="0" i="0" lang="en-US" sz="1600" u="none" cap="none" strike="noStrike">
                <a:solidFill>
                  <a:srgbClr val="334155"/>
                </a:solidFill>
                <a:latin typeface="Calibri"/>
                <a:ea typeface="Calibri"/>
                <a:cs typeface="Calibri"/>
                <a:sym typeface="Calibri"/>
              </a:rPr>
              <a:t> "is the model smart?" but </a:t>
            </a:r>
            <a:r>
              <a:rPr b="1" i="0" lang="en-US" sz="1600" u="none" cap="none" strike="noStrike">
                <a:solidFill>
                  <a:srgbClr val="334155"/>
                </a:solidFill>
                <a:latin typeface="Calibri"/>
                <a:ea typeface="Calibri"/>
                <a:cs typeface="Calibri"/>
                <a:sym typeface="Calibri"/>
              </a:rPr>
              <a:t>"did this harness change </a:t>
            </a:r>
            <a:r>
              <a:rPr b="1" i="1" lang="en-US" sz="1600" u="none" cap="none" strike="noStrike">
                <a:solidFill>
                  <a:srgbClr val="334155"/>
                </a:solidFill>
                <a:latin typeface="Calibri"/>
                <a:ea typeface="Calibri"/>
                <a:cs typeface="Calibri"/>
                <a:sym typeface="Calibri"/>
              </a:rPr>
              <a:t>improve outcomes</a:t>
            </a:r>
            <a:r>
              <a:rPr b="1" i="0" lang="en-US" sz="1600" u="none" cap="none" strike="noStrike">
                <a:solidFill>
                  <a:srgbClr val="334155"/>
                </a:solidFill>
                <a:latin typeface="Calibri"/>
                <a:ea typeface="Calibri"/>
                <a:cs typeface="Calibri"/>
                <a:sym typeface="Calibri"/>
              </a:rPr>
              <a:t> before we roll it out?"</a:t>
            </a:r>
            <a:endParaRPr b="0" i="0" sz="1400" u="none" cap="none" strike="noStrike">
              <a:solidFill>
                <a:srgbClr val="000000"/>
              </a:solidFill>
              <a:latin typeface="Arial"/>
              <a:ea typeface="Arial"/>
              <a:cs typeface="Arial"/>
              <a:sym typeface="Arial"/>
            </a:endParaRPr>
          </a:p>
        </p:txBody>
      </p:sp>
      <p:sp>
        <p:nvSpPr>
          <p:cNvPr id="232" name="Google Shape;232;p28"/>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Problem &amp; concepts</a:t>
            </a:r>
            <a:endParaRPr b="0" i="0" sz="1400" u="none" cap="none" strike="noStrike">
              <a:solidFill>
                <a:srgbClr val="000000"/>
              </a:solidFill>
              <a:latin typeface="Arial"/>
              <a:ea typeface="Arial"/>
              <a:cs typeface="Arial"/>
              <a:sym typeface="Arial"/>
            </a:endParaRPr>
          </a:p>
        </p:txBody>
      </p:sp>
      <p:sp>
        <p:nvSpPr>
          <p:cNvPr id="233" name="Google Shape;233;p28"/>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234" name="Google Shape;234;p28"/>
          <p:cNvSpPr txBox="1"/>
          <p:nvPr/>
        </p:nvSpPr>
        <p:spPr>
          <a:xfrm>
            <a:off x="548641" y="1645920"/>
            <a:ext cx="54864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700"/>
              <a:buFont typeface="Arial"/>
              <a:buNone/>
            </a:pPr>
            <a:r>
              <a:rPr b="1" i="0" lang="en-US" sz="1700" u="none" cap="none" strike="noStrike">
                <a:solidFill>
                  <a:srgbClr val="0F172A"/>
                </a:solidFill>
                <a:latin typeface="Calibri"/>
                <a:ea typeface="Calibri"/>
                <a:cs typeface="Calibri"/>
                <a:sym typeface="Calibri"/>
              </a:rPr>
              <a:t>What changes every week</a:t>
            </a:r>
            <a:endParaRPr b="0" i="0" sz="1400" u="none" cap="none" strike="noStrike">
              <a:solidFill>
                <a:srgbClr val="000000"/>
              </a:solidFill>
              <a:latin typeface="Arial"/>
              <a:ea typeface="Arial"/>
              <a:cs typeface="Arial"/>
              <a:sym typeface="Arial"/>
            </a:endParaRPr>
          </a:p>
        </p:txBody>
      </p:sp>
      <p:sp>
        <p:nvSpPr>
          <p:cNvPr id="235" name="Google Shape;235;p28"/>
          <p:cNvSpPr/>
          <p:nvPr/>
        </p:nvSpPr>
        <p:spPr>
          <a:xfrm>
            <a:off x="548641" y="2148840"/>
            <a:ext cx="567000" cy="567000"/>
          </a:xfrm>
          <a:prstGeom prst="ellipse">
            <a:avLst/>
          </a:prstGeom>
          <a:solidFill>
            <a:srgbClr val="CCFBF1"/>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F766E"/>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236" name="Google Shape;236;p28"/>
          <p:cNvSpPr txBox="1"/>
          <p:nvPr/>
        </p:nvSpPr>
        <p:spPr>
          <a:xfrm>
            <a:off x="1280163" y="2130552"/>
            <a:ext cx="4480500" cy="34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F172A"/>
                </a:solidFill>
                <a:latin typeface="Calibri"/>
                <a:ea typeface="Calibri"/>
                <a:cs typeface="Calibri"/>
                <a:sym typeface="Calibri"/>
              </a:rPr>
              <a:t>Instructions</a:t>
            </a:r>
            <a:endParaRPr b="0" i="0" sz="1400" u="none" cap="none" strike="noStrike">
              <a:solidFill>
                <a:srgbClr val="000000"/>
              </a:solidFill>
              <a:latin typeface="Arial"/>
              <a:ea typeface="Arial"/>
              <a:cs typeface="Arial"/>
              <a:sym typeface="Arial"/>
            </a:endParaRPr>
          </a:p>
        </p:txBody>
      </p:sp>
      <p:sp>
        <p:nvSpPr>
          <p:cNvPr id="237" name="Google Shape;237;p28"/>
          <p:cNvSpPr txBox="1"/>
          <p:nvPr/>
        </p:nvSpPr>
        <p:spPr>
          <a:xfrm>
            <a:off x="1280163" y="2450592"/>
            <a:ext cx="44805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334155"/>
                </a:solidFill>
                <a:latin typeface="Courier New"/>
                <a:ea typeface="Courier New"/>
                <a:cs typeface="Courier New"/>
                <a:sym typeface="Courier New"/>
              </a:rPr>
              <a:t>AGENTS.md</a:t>
            </a:r>
            <a:r>
              <a:rPr b="0" i="0" lang="en-US" sz="1400" u="none" cap="none" strike="noStrike">
                <a:solidFill>
                  <a:srgbClr val="334155"/>
                </a:solidFill>
                <a:latin typeface="Calibri"/>
                <a:ea typeface="Calibri"/>
                <a:cs typeface="Calibri"/>
                <a:sym typeface="Calibri"/>
              </a:rPr>
              <a:t> rewritten after an incident</a:t>
            </a:r>
            <a:endParaRPr b="0" i="0" sz="1400" u="none" cap="none" strike="noStrike">
              <a:solidFill>
                <a:srgbClr val="000000"/>
              </a:solidFill>
              <a:latin typeface="Arial"/>
              <a:ea typeface="Arial"/>
              <a:cs typeface="Arial"/>
              <a:sym typeface="Arial"/>
            </a:endParaRPr>
          </a:p>
        </p:txBody>
      </p:sp>
      <p:sp>
        <p:nvSpPr>
          <p:cNvPr id="238" name="Google Shape;238;p28"/>
          <p:cNvSpPr/>
          <p:nvPr/>
        </p:nvSpPr>
        <p:spPr>
          <a:xfrm>
            <a:off x="548641" y="3136392"/>
            <a:ext cx="567000" cy="567000"/>
          </a:xfrm>
          <a:prstGeom prst="ellipse">
            <a:avLst/>
          </a:prstGeom>
          <a:solidFill>
            <a:srgbClr val="CCFBF1"/>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F766E"/>
                </a:solidFill>
                <a:latin typeface="Calibri"/>
                <a:ea typeface="Calibri"/>
                <a:cs typeface="Calibri"/>
                <a:sym typeface="Calibri"/>
              </a:rPr>
              <a:t>S</a:t>
            </a:r>
            <a:endParaRPr b="0" i="0" sz="1400" u="none" cap="none" strike="noStrike">
              <a:solidFill>
                <a:srgbClr val="000000"/>
              </a:solidFill>
              <a:latin typeface="Arial"/>
              <a:ea typeface="Arial"/>
              <a:cs typeface="Arial"/>
              <a:sym typeface="Arial"/>
            </a:endParaRPr>
          </a:p>
        </p:txBody>
      </p:sp>
      <p:sp>
        <p:nvSpPr>
          <p:cNvPr id="239" name="Google Shape;239;p28"/>
          <p:cNvSpPr txBox="1"/>
          <p:nvPr/>
        </p:nvSpPr>
        <p:spPr>
          <a:xfrm>
            <a:off x="1280163" y="3118104"/>
            <a:ext cx="4480500" cy="34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F172A"/>
                </a:solidFill>
                <a:latin typeface="Calibri"/>
                <a:ea typeface="Calibri"/>
                <a:cs typeface="Calibri"/>
                <a:sym typeface="Calibri"/>
              </a:rPr>
              <a:t>Skills</a:t>
            </a:r>
            <a:endParaRPr b="0" i="0" sz="1400" u="none" cap="none" strike="noStrike">
              <a:solidFill>
                <a:srgbClr val="000000"/>
              </a:solidFill>
              <a:latin typeface="Arial"/>
              <a:ea typeface="Arial"/>
              <a:cs typeface="Arial"/>
              <a:sym typeface="Arial"/>
            </a:endParaRPr>
          </a:p>
        </p:txBody>
      </p:sp>
      <p:sp>
        <p:nvSpPr>
          <p:cNvPr id="240" name="Google Shape;240;p28"/>
          <p:cNvSpPr txBox="1"/>
          <p:nvPr/>
        </p:nvSpPr>
        <p:spPr>
          <a:xfrm>
            <a:off x="1280163" y="3438144"/>
            <a:ext cx="44805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334155"/>
                </a:solidFill>
                <a:latin typeface="Calibri"/>
                <a:ea typeface="Calibri"/>
                <a:cs typeface="Calibri"/>
                <a:sym typeface="Calibri"/>
              </a:rPr>
              <a:t>a new </a:t>
            </a:r>
            <a:r>
              <a:rPr b="0" i="0" lang="en-US" sz="1400" u="none" cap="none" strike="noStrike">
                <a:solidFill>
                  <a:srgbClr val="334155"/>
                </a:solidFill>
                <a:latin typeface="Courier New"/>
                <a:ea typeface="Courier New"/>
                <a:cs typeface="Courier New"/>
                <a:sym typeface="Courier New"/>
              </a:rPr>
              <a:t>SKILL.md</a:t>
            </a:r>
            <a:r>
              <a:rPr b="0" i="0" lang="en-US" sz="1400" u="none" cap="none" strike="noStrike">
                <a:solidFill>
                  <a:srgbClr val="334155"/>
                </a:solidFill>
                <a:latin typeface="Calibri"/>
                <a:ea typeface="Calibri"/>
                <a:cs typeface="Calibri"/>
                <a:sym typeface="Calibri"/>
              </a:rPr>
              <a:t> that "sounds stricter"</a:t>
            </a:r>
            <a:endParaRPr b="0" i="0" sz="1400" u="none" cap="none" strike="noStrike">
              <a:solidFill>
                <a:srgbClr val="000000"/>
              </a:solidFill>
              <a:latin typeface="Arial"/>
              <a:ea typeface="Arial"/>
              <a:cs typeface="Arial"/>
              <a:sym typeface="Arial"/>
            </a:endParaRPr>
          </a:p>
        </p:txBody>
      </p:sp>
      <p:sp>
        <p:nvSpPr>
          <p:cNvPr id="241" name="Google Shape;241;p28"/>
          <p:cNvSpPr/>
          <p:nvPr/>
        </p:nvSpPr>
        <p:spPr>
          <a:xfrm>
            <a:off x="548641" y="4123944"/>
            <a:ext cx="567000" cy="567000"/>
          </a:xfrm>
          <a:prstGeom prst="ellipse">
            <a:avLst/>
          </a:prstGeom>
          <a:solidFill>
            <a:srgbClr val="CCFBF1"/>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F766E"/>
                </a:solidFill>
                <a:latin typeface="Calibri"/>
                <a:ea typeface="Calibri"/>
                <a:cs typeface="Calibri"/>
                <a:sym typeface="Calibri"/>
              </a:rPr>
              <a:t>M</a:t>
            </a:r>
            <a:endParaRPr b="0" i="0" sz="1400" u="none" cap="none" strike="noStrike">
              <a:solidFill>
                <a:srgbClr val="000000"/>
              </a:solidFill>
              <a:latin typeface="Arial"/>
              <a:ea typeface="Arial"/>
              <a:cs typeface="Arial"/>
              <a:sym typeface="Arial"/>
            </a:endParaRPr>
          </a:p>
        </p:txBody>
      </p:sp>
      <p:sp>
        <p:nvSpPr>
          <p:cNvPr id="242" name="Google Shape;242;p28"/>
          <p:cNvSpPr txBox="1"/>
          <p:nvPr/>
        </p:nvSpPr>
        <p:spPr>
          <a:xfrm>
            <a:off x="1280163" y="4105656"/>
            <a:ext cx="4480500" cy="34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F172A"/>
                </a:solidFill>
                <a:latin typeface="Calibri"/>
                <a:ea typeface="Calibri"/>
                <a:cs typeface="Calibri"/>
                <a:sym typeface="Calibri"/>
              </a:rPr>
              <a:t>Model routing</a:t>
            </a:r>
            <a:endParaRPr b="0" i="0" sz="1400" u="none" cap="none" strike="noStrike">
              <a:solidFill>
                <a:srgbClr val="000000"/>
              </a:solidFill>
              <a:latin typeface="Arial"/>
              <a:ea typeface="Arial"/>
              <a:cs typeface="Arial"/>
              <a:sym typeface="Arial"/>
            </a:endParaRPr>
          </a:p>
        </p:txBody>
      </p:sp>
      <p:sp>
        <p:nvSpPr>
          <p:cNvPr id="243" name="Google Shape;243;p28"/>
          <p:cNvSpPr txBox="1"/>
          <p:nvPr/>
        </p:nvSpPr>
        <p:spPr>
          <a:xfrm>
            <a:off x="1280163" y="4425696"/>
            <a:ext cx="44805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334155"/>
                </a:solidFill>
                <a:latin typeface="Calibri"/>
                <a:ea typeface="Calibri"/>
                <a:cs typeface="Calibri"/>
                <a:sym typeface="Calibri"/>
              </a:rPr>
              <a:t>switch to a bigger or newer model</a:t>
            </a:r>
            <a:endParaRPr b="0" i="0" sz="1400" u="none" cap="none" strike="noStrike">
              <a:solidFill>
                <a:srgbClr val="000000"/>
              </a:solidFill>
              <a:latin typeface="Arial"/>
              <a:ea typeface="Arial"/>
              <a:cs typeface="Arial"/>
              <a:sym typeface="Arial"/>
            </a:endParaRPr>
          </a:p>
        </p:txBody>
      </p:sp>
      <p:sp>
        <p:nvSpPr>
          <p:cNvPr id="244" name="Google Shape;244;p28"/>
          <p:cNvSpPr/>
          <p:nvPr/>
        </p:nvSpPr>
        <p:spPr>
          <a:xfrm>
            <a:off x="548641" y="5111496"/>
            <a:ext cx="567000" cy="567000"/>
          </a:xfrm>
          <a:prstGeom prst="ellipse">
            <a:avLst/>
          </a:prstGeom>
          <a:solidFill>
            <a:srgbClr val="CCFBF1"/>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F766E"/>
                </a:solidFill>
                <a:latin typeface="Calibri"/>
                <a:ea typeface="Calibri"/>
                <a:cs typeface="Calibri"/>
                <a:sym typeface="Calibri"/>
              </a:rPr>
              <a:t>T</a:t>
            </a:r>
            <a:endParaRPr b="0" i="0" sz="1400" u="none" cap="none" strike="noStrike">
              <a:solidFill>
                <a:srgbClr val="000000"/>
              </a:solidFill>
              <a:latin typeface="Arial"/>
              <a:ea typeface="Arial"/>
              <a:cs typeface="Arial"/>
              <a:sym typeface="Arial"/>
            </a:endParaRPr>
          </a:p>
        </p:txBody>
      </p:sp>
      <p:sp>
        <p:nvSpPr>
          <p:cNvPr id="245" name="Google Shape;245;p28"/>
          <p:cNvSpPr txBox="1"/>
          <p:nvPr/>
        </p:nvSpPr>
        <p:spPr>
          <a:xfrm>
            <a:off x="1280163" y="5093208"/>
            <a:ext cx="4480500" cy="34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F172A"/>
                </a:solidFill>
                <a:latin typeface="Calibri"/>
                <a:ea typeface="Calibri"/>
                <a:cs typeface="Calibri"/>
                <a:sym typeface="Calibri"/>
              </a:rPr>
              <a:t>Tools &amp; MCP</a:t>
            </a:r>
            <a:endParaRPr b="0" i="0" sz="1400" u="none" cap="none" strike="noStrike">
              <a:solidFill>
                <a:srgbClr val="000000"/>
              </a:solidFill>
              <a:latin typeface="Arial"/>
              <a:ea typeface="Arial"/>
              <a:cs typeface="Arial"/>
              <a:sym typeface="Arial"/>
            </a:endParaRPr>
          </a:p>
        </p:txBody>
      </p:sp>
      <p:sp>
        <p:nvSpPr>
          <p:cNvPr id="246" name="Google Shape;246;p28"/>
          <p:cNvSpPr txBox="1"/>
          <p:nvPr/>
        </p:nvSpPr>
        <p:spPr>
          <a:xfrm>
            <a:off x="1280163" y="5413248"/>
            <a:ext cx="44805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334155"/>
                </a:solidFill>
                <a:latin typeface="Calibri"/>
                <a:ea typeface="Calibri"/>
                <a:cs typeface="Calibri"/>
                <a:sym typeface="Calibri"/>
              </a:rPr>
              <a:t>add an MCP server that injects context</a:t>
            </a:r>
            <a:endParaRPr b="0" i="0" sz="1400" u="none" cap="none" strike="noStrike">
              <a:solidFill>
                <a:srgbClr val="000000"/>
              </a:solidFill>
              <a:latin typeface="Arial"/>
              <a:ea typeface="Arial"/>
              <a:cs typeface="Arial"/>
              <a:sym typeface="Arial"/>
            </a:endParaRPr>
          </a:p>
        </p:txBody>
      </p:sp>
      <p:sp>
        <p:nvSpPr>
          <p:cNvPr id="247" name="Google Shape;247;p28"/>
          <p:cNvSpPr/>
          <p:nvPr/>
        </p:nvSpPr>
        <p:spPr>
          <a:xfrm>
            <a:off x="6263653" y="1645920"/>
            <a:ext cx="5394900" cy="4526400"/>
          </a:xfrm>
          <a:prstGeom prst="roundRect">
            <a:avLst>
              <a:gd fmla="val 8000" name="adj"/>
            </a:avLst>
          </a:prstGeom>
          <a:solidFill>
            <a:srgbClr val="0B122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8" name="Google Shape;248;p28"/>
          <p:cNvSpPr txBox="1"/>
          <p:nvPr/>
        </p:nvSpPr>
        <p:spPr>
          <a:xfrm>
            <a:off x="6583694" y="1828800"/>
            <a:ext cx="48462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5EEAD4"/>
                </a:solidFill>
                <a:latin typeface="Calibri"/>
                <a:ea typeface="Calibri"/>
                <a:cs typeface="Calibri"/>
                <a:sym typeface="Calibri"/>
              </a:rPr>
              <a:t>THE MAIN QUESTION</a:t>
            </a:r>
            <a:endParaRPr b="0" i="0" sz="1400" u="none" cap="none" strike="noStrike">
              <a:solidFill>
                <a:srgbClr val="000000"/>
              </a:solidFill>
              <a:latin typeface="Arial"/>
              <a:ea typeface="Arial"/>
              <a:cs typeface="Arial"/>
              <a:sym typeface="Arial"/>
            </a:endParaRPr>
          </a:p>
        </p:txBody>
      </p:sp>
      <p:sp>
        <p:nvSpPr>
          <p:cNvPr id="249" name="Google Shape;249;p28"/>
          <p:cNvSpPr txBox="1"/>
          <p:nvPr/>
        </p:nvSpPr>
        <p:spPr>
          <a:xfrm>
            <a:off x="6583694" y="2194560"/>
            <a:ext cx="4846200" cy="137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2100"/>
              <a:buFont typeface="Arial"/>
              <a:buNone/>
            </a:pPr>
            <a:r>
              <a:rPr b="1" i="0" lang="en-US" sz="2100" u="none" cap="none" strike="noStrike">
                <a:solidFill>
                  <a:srgbClr val="FFFFFF"/>
                </a:solidFill>
                <a:latin typeface="Calibri"/>
                <a:ea typeface="Calibri"/>
                <a:cs typeface="Calibri"/>
                <a:sym typeface="Calibri"/>
              </a:rPr>
              <a:t>When we change the harness, did outcomes actually improve, before we roll the change out to everyone?</a:t>
            </a:r>
            <a:endParaRPr b="0" i="0" sz="1400" u="none" cap="none" strike="noStrike">
              <a:solidFill>
                <a:srgbClr val="000000"/>
              </a:solidFill>
              <a:latin typeface="Arial"/>
              <a:ea typeface="Arial"/>
              <a:cs typeface="Arial"/>
              <a:sym typeface="Arial"/>
            </a:endParaRPr>
          </a:p>
        </p:txBody>
      </p:sp>
      <p:sp>
        <p:nvSpPr>
          <p:cNvPr id="250" name="Google Shape;250;p28"/>
          <p:cNvSpPr txBox="1"/>
          <p:nvPr/>
        </p:nvSpPr>
        <p:spPr>
          <a:xfrm>
            <a:off x="6583694" y="3657600"/>
            <a:ext cx="48462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5EEAD4"/>
                </a:solidFill>
                <a:latin typeface="Calibri"/>
                <a:ea typeface="Calibri"/>
                <a:cs typeface="Calibri"/>
                <a:sym typeface="Calibri"/>
              </a:rPr>
              <a:t>Answered today by</a:t>
            </a:r>
            <a:endParaRPr b="0" i="0" sz="1400" u="none" cap="none" strike="noStrike">
              <a:solidFill>
                <a:srgbClr val="000000"/>
              </a:solidFill>
              <a:latin typeface="Arial"/>
              <a:ea typeface="Arial"/>
              <a:cs typeface="Arial"/>
              <a:sym typeface="Arial"/>
            </a:endParaRPr>
          </a:p>
        </p:txBody>
      </p:sp>
      <p:sp>
        <p:nvSpPr>
          <p:cNvPr id="251" name="Google Shape;251;p28"/>
          <p:cNvSpPr txBox="1"/>
          <p:nvPr/>
        </p:nvSpPr>
        <p:spPr>
          <a:xfrm>
            <a:off x="6583694" y="3977639"/>
            <a:ext cx="4846200" cy="9144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5EEAD4"/>
              </a:buClr>
              <a:buSzPts val="1400"/>
              <a:buFont typeface="Calibri"/>
              <a:buChar char="•"/>
            </a:pPr>
            <a:r>
              <a:rPr b="0" i="0" lang="en-US" sz="1400" u="none" cap="none" strike="noStrike">
                <a:solidFill>
                  <a:srgbClr val="D5DEEE"/>
                </a:solidFill>
                <a:latin typeface="Calibri"/>
                <a:ea typeface="Calibri"/>
                <a:cs typeface="Calibri"/>
                <a:sym typeface="Calibri"/>
              </a:rPr>
              <a:t>A handful of transcripts</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200"/>
              </a:spcBef>
              <a:spcAft>
                <a:spcPts val="0"/>
              </a:spcAft>
              <a:buClr>
                <a:srgbClr val="5EEAD4"/>
              </a:buClr>
              <a:buSzPts val="1400"/>
              <a:buFont typeface="Calibri"/>
              <a:buChar char="•"/>
            </a:pPr>
            <a:r>
              <a:rPr b="0" i="0" lang="en-US" sz="1400" u="none" cap="none" strike="noStrike">
                <a:solidFill>
                  <a:srgbClr val="D5DEEE"/>
                </a:solidFill>
                <a:latin typeface="Calibri"/>
                <a:ea typeface="Calibri"/>
                <a:cs typeface="Calibri"/>
                <a:sym typeface="Calibri"/>
              </a:rPr>
              <a:t>Chat anecdotes / Intuitions</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200"/>
              </a:spcBef>
              <a:spcAft>
                <a:spcPts val="0"/>
              </a:spcAft>
              <a:buClr>
                <a:srgbClr val="5EEAD4"/>
              </a:buClr>
              <a:buSzPts val="1400"/>
              <a:buFont typeface="Calibri"/>
              <a:buChar char="•"/>
            </a:pPr>
            <a:r>
              <a:rPr b="0" i="0" lang="en-US" sz="1400" u="none" cap="none" strike="noStrike">
                <a:solidFill>
                  <a:srgbClr val="D5DEEE"/>
                </a:solidFill>
                <a:latin typeface="Calibri"/>
                <a:ea typeface="Calibri"/>
                <a:cs typeface="Calibri"/>
                <a:sym typeface="Calibri"/>
              </a:rPr>
              <a:t>The maintainer's gut feel</a:t>
            </a:r>
            <a:endParaRPr b="0" i="0" sz="1400" u="none" cap="none" strike="noStrike">
              <a:solidFill>
                <a:srgbClr val="000000"/>
              </a:solidFill>
              <a:latin typeface="Arial"/>
              <a:ea typeface="Arial"/>
              <a:cs typeface="Arial"/>
              <a:sym typeface="Arial"/>
            </a:endParaRPr>
          </a:p>
        </p:txBody>
      </p:sp>
      <p:sp>
        <p:nvSpPr>
          <p:cNvPr id="252" name="Google Shape;252;p28"/>
          <p:cNvSpPr txBox="1"/>
          <p:nvPr/>
        </p:nvSpPr>
        <p:spPr>
          <a:xfrm>
            <a:off x="6583694" y="4983480"/>
            <a:ext cx="4846200" cy="109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D5DEEE"/>
                </a:solidFill>
                <a:latin typeface="Calibri"/>
                <a:ea typeface="Calibri"/>
                <a:cs typeface="Calibri"/>
                <a:sym typeface="Calibri"/>
              </a:rPr>
              <a:t>But quality is multidimensional:</a:t>
            </a:r>
            <a:r>
              <a:rPr b="0" i="0" lang="en-US" sz="1400" u="none" cap="none" strike="noStrike">
                <a:solidFill>
                  <a:srgbClr val="D5DEEE"/>
                </a:solidFill>
                <a:latin typeface="Calibri"/>
                <a:ea typeface="Calibri"/>
                <a:cs typeface="Calibri"/>
                <a:sym typeface="Calibri"/>
              </a:rPr>
              <a:t> </a:t>
            </a:r>
            <a:endParaRPr b="0" i="0" sz="1400" u="none" cap="none" strike="noStrike">
              <a:solidFill>
                <a:srgbClr val="D5DEEE"/>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D5DEEE"/>
                </a:solidFill>
                <a:latin typeface="Calibri"/>
                <a:ea typeface="Calibri"/>
                <a:cs typeface="Calibri"/>
                <a:sym typeface="Calibri"/>
              </a:rPr>
              <a:t>· correctness </a:t>
            </a:r>
            <a:endParaRPr b="0" i="0" sz="1400" u="none" cap="none" strike="noStrike">
              <a:solidFill>
                <a:srgbClr val="D5DEEE"/>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D5DEEE"/>
                </a:solidFill>
                <a:latin typeface="Calibri"/>
                <a:ea typeface="Calibri"/>
                <a:cs typeface="Calibri"/>
                <a:sym typeface="Calibri"/>
              </a:rPr>
              <a:t>· business fidelity</a:t>
            </a:r>
            <a:endParaRPr b="0" i="0" sz="1400" u="none" cap="none" strike="noStrike">
              <a:solidFill>
                <a:srgbClr val="D5DEEE"/>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D5DEEE"/>
                </a:solidFill>
                <a:latin typeface="Calibri"/>
                <a:ea typeface="Calibri"/>
                <a:cs typeface="Calibri"/>
                <a:sym typeface="Calibri"/>
              </a:rPr>
              <a:t>· regressions </a:t>
            </a:r>
            <a:endParaRPr b="0" i="0" sz="1400" u="none" cap="none" strike="noStrike">
              <a:solidFill>
                <a:srgbClr val="D5DEEE"/>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D5DEEE"/>
                </a:solidFill>
                <a:latin typeface="Calibri"/>
                <a:ea typeface="Calibri"/>
                <a:cs typeface="Calibri"/>
                <a:sym typeface="Calibri"/>
              </a:rPr>
              <a:t>· conventions 	· cost and latency</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 name="Shape 257"/>
        <p:cNvGrpSpPr/>
        <p:nvPr/>
      </p:nvGrpSpPr>
      <p:grpSpPr>
        <a:xfrm>
          <a:off x="0" y="0"/>
          <a:ext cx="0" cy="0"/>
          <a:chOff x="0" y="0"/>
          <a:chExt cx="0" cy="0"/>
        </a:xfrm>
      </p:grpSpPr>
      <p:sp>
        <p:nvSpPr>
          <p:cNvPr id="258" name="Google Shape;258;p29"/>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What goes wrong with gut feeling</a:t>
            </a:r>
            <a:endParaRPr b="0" i="0" sz="1400" u="none" cap="none" strike="noStrike">
              <a:solidFill>
                <a:srgbClr val="000000"/>
              </a:solidFill>
              <a:latin typeface="Arial"/>
              <a:ea typeface="Arial"/>
              <a:cs typeface="Arial"/>
              <a:sym typeface="Arial"/>
            </a:endParaRPr>
          </a:p>
        </p:txBody>
      </p:sp>
      <p:sp>
        <p:nvSpPr>
          <p:cNvPr id="259" name="Google Shape;259;p29"/>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Both candidate skills in this repo </a:t>
            </a:r>
            <a:r>
              <a:rPr b="1" i="0" lang="en-US" sz="1600" u="none" cap="none" strike="noStrike">
                <a:solidFill>
                  <a:srgbClr val="334155"/>
                </a:solidFill>
                <a:latin typeface="Calibri"/>
                <a:ea typeface="Calibri"/>
                <a:cs typeface="Calibri"/>
                <a:sym typeface="Calibri"/>
              </a:rPr>
              <a:t>sound</a:t>
            </a:r>
            <a:r>
              <a:rPr b="0" i="0" lang="en-US" sz="1600" u="none" cap="none" strike="noStrike">
                <a:solidFill>
                  <a:srgbClr val="334155"/>
                </a:solidFill>
                <a:latin typeface="Calibri"/>
                <a:ea typeface="Calibri"/>
                <a:cs typeface="Calibri"/>
                <a:sym typeface="Calibri"/>
              </a:rPr>
              <a:t> like stricter security. Only evidence tells them apart.</a:t>
            </a:r>
            <a:endParaRPr b="0" i="0" sz="1400" u="none" cap="none" strike="noStrike">
              <a:solidFill>
                <a:srgbClr val="000000"/>
              </a:solidFill>
              <a:latin typeface="Arial"/>
              <a:ea typeface="Arial"/>
              <a:cs typeface="Arial"/>
              <a:sym typeface="Arial"/>
            </a:endParaRPr>
          </a:p>
        </p:txBody>
      </p:sp>
      <p:sp>
        <p:nvSpPr>
          <p:cNvPr id="260" name="Google Shape;260;p29"/>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Problem &amp; concepts</a:t>
            </a:r>
            <a:endParaRPr b="0" i="0" sz="1400" u="none" cap="none" strike="noStrike">
              <a:solidFill>
                <a:srgbClr val="000000"/>
              </a:solidFill>
              <a:latin typeface="Arial"/>
              <a:ea typeface="Arial"/>
              <a:cs typeface="Arial"/>
              <a:sym typeface="Arial"/>
            </a:endParaRPr>
          </a:p>
        </p:txBody>
      </p:sp>
      <p:sp>
        <p:nvSpPr>
          <p:cNvPr id="261" name="Google Shape;261;p29"/>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262" name="Google Shape;262;p29"/>
          <p:cNvSpPr/>
          <p:nvPr/>
        </p:nvSpPr>
        <p:spPr>
          <a:xfrm>
            <a:off x="548641" y="1691640"/>
            <a:ext cx="2424900" cy="274200"/>
          </a:xfrm>
          <a:prstGeom prst="roundRect">
            <a:avLst>
              <a:gd fmla="val 50000" name="adj"/>
            </a:avLst>
          </a:prstGeom>
          <a:solidFill>
            <a:srgbClr val="FEE2E2"/>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B91C1C"/>
                </a:solidFill>
                <a:latin typeface="Calibri"/>
                <a:ea typeface="Calibri"/>
                <a:cs typeface="Calibri"/>
                <a:sym typeface="Calibri"/>
              </a:rPr>
              <a:t>GUT FEELING · CONCEPTUAL</a:t>
            </a:r>
            <a:endParaRPr b="0" i="0" sz="1400" u="none" cap="none" strike="noStrike">
              <a:solidFill>
                <a:srgbClr val="000000"/>
              </a:solidFill>
              <a:latin typeface="Arial"/>
              <a:ea typeface="Arial"/>
              <a:cs typeface="Arial"/>
              <a:sym typeface="Arial"/>
            </a:endParaRPr>
          </a:p>
        </p:txBody>
      </p:sp>
      <p:sp>
        <p:nvSpPr>
          <p:cNvPr id="263" name="Google Shape;263;p29"/>
          <p:cNvSpPr/>
          <p:nvPr/>
        </p:nvSpPr>
        <p:spPr>
          <a:xfrm>
            <a:off x="548641" y="2103120"/>
            <a:ext cx="1902000" cy="685800"/>
          </a:xfrm>
          <a:prstGeom prst="roundRect">
            <a:avLst>
              <a:gd fmla="val 18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Change harness</a:t>
            </a:r>
            <a:endParaRPr b="0" i="0" sz="1400" u="none" cap="none" strike="noStrike">
              <a:solidFill>
                <a:srgbClr val="000000"/>
              </a:solidFill>
              <a:latin typeface="Arial"/>
              <a:ea typeface="Arial"/>
              <a:cs typeface="Arial"/>
              <a:sym typeface="Arial"/>
            </a:endParaRPr>
          </a:p>
        </p:txBody>
      </p:sp>
      <p:sp>
        <p:nvSpPr>
          <p:cNvPr id="264" name="Google Shape;264;p29"/>
          <p:cNvSpPr/>
          <p:nvPr/>
        </p:nvSpPr>
        <p:spPr>
          <a:xfrm>
            <a:off x="2546609" y="2354579"/>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5" name="Google Shape;265;p29"/>
          <p:cNvSpPr/>
          <p:nvPr/>
        </p:nvSpPr>
        <p:spPr>
          <a:xfrm>
            <a:off x="2843790" y="2103120"/>
            <a:ext cx="1902000" cy="685800"/>
          </a:xfrm>
          <a:prstGeom prst="roundRect">
            <a:avLst>
              <a:gd fmla="val 18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"It seems better"</a:t>
            </a:r>
            <a:endParaRPr b="0" i="0" sz="1400" u="none" cap="none" strike="noStrike">
              <a:solidFill>
                <a:srgbClr val="000000"/>
              </a:solidFill>
              <a:latin typeface="Arial"/>
              <a:ea typeface="Arial"/>
              <a:cs typeface="Arial"/>
              <a:sym typeface="Arial"/>
            </a:endParaRPr>
          </a:p>
        </p:txBody>
      </p:sp>
      <p:sp>
        <p:nvSpPr>
          <p:cNvPr id="266" name="Google Shape;266;p29"/>
          <p:cNvSpPr/>
          <p:nvPr/>
        </p:nvSpPr>
        <p:spPr>
          <a:xfrm>
            <a:off x="4841758" y="2354579"/>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7" name="Google Shape;267;p29"/>
          <p:cNvSpPr/>
          <p:nvPr/>
        </p:nvSpPr>
        <p:spPr>
          <a:xfrm>
            <a:off x="5138939" y="2103120"/>
            <a:ext cx="1902000" cy="685800"/>
          </a:xfrm>
          <a:prstGeom prst="roundRect">
            <a:avLst>
              <a:gd fmla="val 18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Human intuition</a:t>
            </a:r>
            <a:endParaRPr b="0" i="0" sz="1400" u="none" cap="none" strike="noStrike">
              <a:solidFill>
                <a:srgbClr val="000000"/>
              </a:solidFill>
              <a:latin typeface="Arial"/>
              <a:ea typeface="Arial"/>
              <a:cs typeface="Arial"/>
              <a:sym typeface="Arial"/>
            </a:endParaRPr>
          </a:p>
        </p:txBody>
      </p:sp>
      <p:sp>
        <p:nvSpPr>
          <p:cNvPr id="268" name="Google Shape;268;p29"/>
          <p:cNvSpPr/>
          <p:nvPr/>
        </p:nvSpPr>
        <p:spPr>
          <a:xfrm>
            <a:off x="7136907" y="2354579"/>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9" name="Google Shape;269;p29"/>
          <p:cNvSpPr/>
          <p:nvPr/>
        </p:nvSpPr>
        <p:spPr>
          <a:xfrm>
            <a:off x="7434087" y="2103120"/>
            <a:ext cx="1902000" cy="6858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B91C1C"/>
                </a:solidFill>
                <a:latin typeface="Calibri"/>
                <a:ea typeface="Calibri"/>
                <a:cs typeface="Calibri"/>
                <a:sym typeface="Calibri"/>
              </a:rPr>
              <a:t>Ship it?</a:t>
            </a:r>
            <a:endParaRPr b="0" i="0" sz="1400" u="none" cap="none" strike="noStrike">
              <a:solidFill>
                <a:srgbClr val="000000"/>
              </a:solidFill>
              <a:latin typeface="Arial"/>
              <a:ea typeface="Arial"/>
              <a:cs typeface="Arial"/>
              <a:sym typeface="Arial"/>
            </a:endParaRPr>
          </a:p>
        </p:txBody>
      </p:sp>
      <p:sp>
        <p:nvSpPr>
          <p:cNvPr id="270" name="Google Shape;270;p29"/>
          <p:cNvSpPr/>
          <p:nvPr/>
        </p:nvSpPr>
        <p:spPr>
          <a:xfrm>
            <a:off x="9432055" y="2354579"/>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1" name="Google Shape;271;p29"/>
          <p:cNvSpPr/>
          <p:nvPr/>
        </p:nvSpPr>
        <p:spPr>
          <a:xfrm>
            <a:off x="9729236" y="2103120"/>
            <a:ext cx="1902000" cy="6858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B91C1C"/>
                </a:solidFill>
                <a:latin typeface="Calibri"/>
                <a:ea typeface="Calibri"/>
                <a:cs typeface="Calibri"/>
                <a:sym typeface="Calibri"/>
              </a:rPr>
              <a:t>Find out in prod</a:t>
            </a:r>
            <a:endParaRPr b="0" i="0" sz="1400" u="none" cap="none" strike="noStrike">
              <a:solidFill>
                <a:srgbClr val="000000"/>
              </a:solidFill>
              <a:latin typeface="Arial"/>
              <a:ea typeface="Arial"/>
              <a:cs typeface="Arial"/>
              <a:sym typeface="Arial"/>
            </a:endParaRPr>
          </a:p>
        </p:txBody>
      </p:sp>
      <p:sp>
        <p:nvSpPr>
          <p:cNvPr id="272" name="Google Shape;272;p29"/>
          <p:cNvSpPr/>
          <p:nvPr/>
        </p:nvSpPr>
        <p:spPr>
          <a:xfrm>
            <a:off x="548641" y="3108960"/>
            <a:ext cx="34107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47857"/>
                </a:solidFill>
                <a:latin typeface="Calibri"/>
                <a:ea typeface="Calibri"/>
                <a:cs typeface="Calibri"/>
                <a:sym typeface="Calibri"/>
              </a:rPr>
              <a:t>EVIDENCE · IMPLEMENTED IN THIS REPO</a:t>
            </a:r>
            <a:endParaRPr b="0" i="0" sz="1400" u="none" cap="none" strike="noStrike">
              <a:solidFill>
                <a:srgbClr val="000000"/>
              </a:solidFill>
              <a:latin typeface="Arial"/>
              <a:ea typeface="Arial"/>
              <a:cs typeface="Arial"/>
              <a:sym typeface="Arial"/>
            </a:endParaRPr>
          </a:p>
        </p:txBody>
      </p:sp>
      <p:sp>
        <p:nvSpPr>
          <p:cNvPr id="273" name="Google Shape;273;p29"/>
          <p:cNvSpPr/>
          <p:nvPr/>
        </p:nvSpPr>
        <p:spPr>
          <a:xfrm>
            <a:off x="548641" y="3520440"/>
            <a:ext cx="1307700" cy="777300"/>
          </a:xfrm>
          <a:prstGeom prst="roundRect">
            <a:avLst>
              <a:gd fmla="val 18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172A"/>
                </a:solidFill>
                <a:latin typeface="Calibri"/>
                <a:ea typeface="Calibri"/>
                <a:cs typeface="Calibri"/>
                <a:sym typeface="Calibri"/>
              </a:rPr>
              <a:t>Change harness</a:t>
            </a:r>
            <a:endParaRPr b="0" i="0" sz="1400" u="none" cap="none" strike="noStrike">
              <a:solidFill>
                <a:srgbClr val="000000"/>
              </a:solidFill>
              <a:latin typeface="Arial"/>
              <a:ea typeface="Arial"/>
              <a:cs typeface="Arial"/>
              <a:sym typeface="Arial"/>
            </a:endParaRPr>
          </a:p>
        </p:txBody>
      </p:sp>
      <p:sp>
        <p:nvSpPr>
          <p:cNvPr id="274" name="Google Shape;274;p29"/>
          <p:cNvSpPr/>
          <p:nvPr/>
        </p:nvSpPr>
        <p:spPr>
          <a:xfrm>
            <a:off x="1915671" y="3817620"/>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5" name="Google Shape;275;p29"/>
          <p:cNvSpPr/>
          <p:nvPr/>
        </p:nvSpPr>
        <p:spPr>
          <a:xfrm>
            <a:off x="2176276" y="3520440"/>
            <a:ext cx="1307700" cy="777300"/>
          </a:xfrm>
          <a:prstGeom prst="roundRect">
            <a:avLst>
              <a:gd fmla="val 18000" name="adj"/>
            </a:avLst>
          </a:prstGeom>
          <a:solidFill>
            <a:srgbClr val="CCFBF1"/>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766E"/>
                </a:solidFill>
                <a:latin typeface="Calibri"/>
                <a:ea typeface="Calibri"/>
                <a:cs typeface="Calibri"/>
                <a:sym typeface="Calibri"/>
              </a:rPr>
              <a:t>Controlled tasks</a:t>
            </a:r>
            <a:endParaRPr b="0" i="0" sz="1400" u="none" cap="none" strike="noStrike">
              <a:solidFill>
                <a:srgbClr val="000000"/>
              </a:solidFill>
              <a:latin typeface="Arial"/>
              <a:ea typeface="Arial"/>
              <a:cs typeface="Arial"/>
              <a:sym typeface="Arial"/>
            </a:endParaRPr>
          </a:p>
        </p:txBody>
      </p:sp>
      <p:sp>
        <p:nvSpPr>
          <p:cNvPr id="276" name="Google Shape;276;p29"/>
          <p:cNvSpPr/>
          <p:nvPr/>
        </p:nvSpPr>
        <p:spPr>
          <a:xfrm>
            <a:off x="3543306" y="3817620"/>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7" name="Google Shape;277;p29"/>
          <p:cNvSpPr/>
          <p:nvPr/>
        </p:nvSpPr>
        <p:spPr>
          <a:xfrm>
            <a:off x="3803911" y="3520440"/>
            <a:ext cx="1307700" cy="777300"/>
          </a:xfrm>
          <a:prstGeom prst="roundRect">
            <a:avLst>
              <a:gd fmla="val 18000" name="adj"/>
            </a:avLst>
          </a:prstGeom>
          <a:solidFill>
            <a:srgbClr val="CCFBF1"/>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766E"/>
                </a:solidFill>
                <a:latin typeface="Calibri"/>
                <a:ea typeface="Calibri"/>
                <a:cs typeface="Calibri"/>
                <a:sym typeface="Calibri"/>
              </a:rPr>
              <a:t>Baseline vs Candidate</a:t>
            </a:r>
            <a:endParaRPr b="0" i="0" sz="1400" u="none" cap="none" strike="noStrike">
              <a:solidFill>
                <a:srgbClr val="000000"/>
              </a:solidFill>
              <a:latin typeface="Arial"/>
              <a:ea typeface="Arial"/>
              <a:cs typeface="Arial"/>
              <a:sym typeface="Arial"/>
            </a:endParaRPr>
          </a:p>
        </p:txBody>
      </p:sp>
      <p:sp>
        <p:nvSpPr>
          <p:cNvPr id="278" name="Google Shape;278;p29"/>
          <p:cNvSpPr/>
          <p:nvPr/>
        </p:nvSpPr>
        <p:spPr>
          <a:xfrm>
            <a:off x="5170942" y="3817620"/>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9" name="Google Shape;279;p29"/>
          <p:cNvSpPr/>
          <p:nvPr/>
        </p:nvSpPr>
        <p:spPr>
          <a:xfrm>
            <a:off x="5431546" y="3520440"/>
            <a:ext cx="1307700" cy="777300"/>
          </a:xfrm>
          <a:prstGeom prst="roundRect">
            <a:avLst>
              <a:gd fmla="val 18000" name="adj"/>
            </a:avLst>
          </a:prstGeom>
          <a:solidFill>
            <a:srgbClr val="CCFBF1"/>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766E"/>
                </a:solidFill>
                <a:latin typeface="Calibri"/>
                <a:ea typeface="Calibri"/>
                <a:cs typeface="Calibri"/>
                <a:sym typeface="Calibri"/>
              </a:rPr>
              <a:t>Repeat ×2</a:t>
            </a:r>
            <a:endParaRPr b="0" i="0" sz="1400" u="none" cap="none" strike="noStrike">
              <a:solidFill>
                <a:srgbClr val="000000"/>
              </a:solidFill>
              <a:latin typeface="Arial"/>
              <a:ea typeface="Arial"/>
              <a:cs typeface="Arial"/>
              <a:sym typeface="Arial"/>
            </a:endParaRPr>
          </a:p>
        </p:txBody>
      </p:sp>
      <p:sp>
        <p:nvSpPr>
          <p:cNvPr id="280" name="Google Shape;280;p29"/>
          <p:cNvSpPr/>
          <p:nvPr/>
        </p:nvSpPr>
        <p:spPr>
          <a:xfrm>
            <a:off x="6798577" y="3817620"/>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1" name="Google Shape;281;p29"/>
          <p:cNvSpPr/>
          <p:nvPr/>
        </p:nvSpPr>
        <p:spPr>
          <a:xfrm>
            <a:off x="7059181" y="3520440"/>
            <a:ext cx="1307700" cy="777300"/>
          </a:xfrm>
          <a:prstGeom prst="roundRect">
            <a:avLst>
              <a:gd fmla="val 18000" name="adj"/>
            </a:avLst>
          </a:prstGeom>
          <a:solidFill>
            <a:srgbClr val="CCFBF1"/>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766E"/>
                </a:solidFill>
                <a:latin typeface="Calibri"/>
                <a:ea typeface="Calibri"/>
                <a:cs typeface="Calibri"/>
                <a:sym typeface="Calibri"/>
              </a:rPr>
              <a:t>Code graders</a:t>
            </a:r>
            <a:endParaRPr b="0" i="0" sz="1400" u="none" cap="none" strike="noStrike">
              <a:solidFill>
                <a:srgbClr val="000000"/>
              </a:solidFill>
              <a:latin typeface="Arial"/>
              <a:ea typeface="Arial"/>
              <a:cs typeface="Arial"/>
              <a:sym typeface="Arial"/>
            </a:endParaRPr>
          </a:p>
        </p:txBody>
      </p:sp>
      <p:sp>
        <p:nvSpPr>
          <p:cNvPr id="282" name="Google Shape;282;p29"/>
          <p:cNvSpPr/>
          <p:nvPr/>
        </p:nvSpPr>
        <p:spPr>
          <a:xfrm>
            <a:off x="8426212" y="3817620"/>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3" name="Google Shape;283;p29"/>
          <p:cNvSpPr/>
          <p:nvPr/>
        </p:nvSpPr>
        <p:spPr>
          <a:xfrm>
            <a:off x="8686817" y="3520440"/>
            <a:ext cx="1307700" cy="777300"/>
          </a:xfrm>
          <a:prstGeom prst="roundRect">
            <a:avLst>
              <a:gd fmla="val 18000" name="adj"/>
            </a:avLst>
          </a:prstGeom>
          <a:solidFill>
            <a:srgbClr val="CCFBF1"/>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766E"/>
                </a:solidFill>
                <a:latin typeface="Calibri"/>
                <a:ea typeface="Calibri"/>
                <a:cs typeface="Calibri"/>
                <a:sym typeface="Calibri"/>
              </a:rPr>
              <a:t>Compare</a:t>
            </a:r>
            <a:endParaRPr b="0" i="0" sz="1400" u="none" cap="none" strike="noStrike">
              <a:solidFill>
                <a:srgbClr val="000000"/>
              </a:solidFill>
              <a:latin typeface="Arial"/>
              <a:ea typeface="Arial"/>
              <a:cs typeface="Arial"/>
              <a:sym typeface="Arial"/>
            </a:endParaRPr>
          </a:p>
        </p:txBody>
      </p:sp>
      <p:sp>
        <p:nvSpPr>
          <p:cNvPr id="284" name="Google Shape;284;p29"/>
          <p:cNvSpPr/>
          <p:nvPr/>
        </p:nvSpPr>
        <p:spPr>
          <a:xfrm>
            <a:off x="10053848" y="3817620"/>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5" name="Google Shape;285;p29"/>
          <p:cNvSpPr/>
          <p:nvPr/>
        </p:nvSpPr>
        <p:spPr>
          <a:xfrm>
            <a:off x="10314452" y="3520440"/>
            <a:ext cx="1307700" cy="777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47857"/>
                </a:solidFill>
                <a:latin typeface="Calibri"/>
                <a:ea typeface="Calibri"/>
                <a:cs typeface="Calibri"/>
                <a:sym typeface="Calibri"/>
              </a:rPr>
              <a:t>Graduate / block</a:t>
            </a:r>
            <a:endParaRPr b="0" i="0" sz="1400" u="none" cap="none" strike="noStrike">
              <a:solidFill>
                <a:srgbClr val="000000"/>
              </a:solidFill>
              <a:latin typeface="Arial"/>
              <a:ea typeface="Arial"/>
              <a:cs typeface="Arial"/>
              <a:sym typeface="Arial"/>
            </a:endParaRPr>
          </a:p>
        </p:txBody>
      </p:sp>
      <p:sp>
        <p:nvSpPr>
          <p:cNvPr id="286" name="Google Shape;286;p29"/>
          <p:cNvSpPr/>
          <p:nvPr/>
        </p:nvSpPr>
        <p:spPr>
          <a:xfrm>
            <a:off x="548641" y="4572000"/>
            <a:ext cx="3566100" cy="16458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7" name="Google Shape;287;p29"/>
          <p:cNvSpPr txBox="1"/>
          <p:nvPr/>
        </p:nvSpPr>
        <p:spPr>
          <a:xfrm>
            <a:off x="731522" y="4727448"/>
            <a:ext cx="32004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Sounds stricter ≠ safer</a:t>
            </a:r>
            <a:endParaRPr b="0" i="0" sz="1400" u="none" cap="none" strike="noStrike">
              <a:solidFill>
                <a:srgbClr val="000000"/>
              </a:solidFill>
              <a:latin typeface="Arial"/>
              <a:ea typeface="Arial"/>
              <a:cs typeface="Arial"/>
              <a:sym typeface="Arial"/>
            </a:endParaRPr>
          </a:p>
        </p:txBody>
      </p:sp>
      <p:sp>
        <p:nvSpPr>
          <p:cNvPr id="288" name="Google Shape;288;p29"/>
          <p:cNvSpPr txBox="1"/>
          <p:nvPr/>
        </p:nvSpPr>
        <p:spPr>
          <a:xfrm>
            <a:off x="731522" y="5193792"/>
            <a:ext cx="32004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0" i="0" lang="en-US" sz="1350" u="none" cap="none" strike="noStrike">
                <a:solidFill>
                  <a:srgbClr val="334155"/>
                </a:solidFill>
                <a:latin typeface="Calibri"/>
                <a:ea typeface="Calibri"/>
                <a:cs typeface="Calibri"/>
                <a:sym typeface="Calibri"/>
              </a:rPr>
              <a:t>The bad skill says </a:t>
            </a:r>
            <a:r>
              <a:rPr b="1" i="0" lang="en-US" sz="1350" u="none" cap="none" strike="noStrike">
                <a:solidFill>
                  <a:srgbClr val="334155"/>
                </a:solidFill>
                <a:latin typeface="Calibri"/>
                <a:ea typeface="Calibri"/>
                <a:cs typeface="Calibri"/>
                <a:sym typeface="Calibri"/>
              </a:rPr>
              <a:t>"never leave tx.origin in production"</a:t>
            </a:r>
            <a:r>
              <a:rPr b="0" i="0" lang="en-US" sz="1350" u="none" cap="none" strike="noStrike">
                <a:solidFill>
                  <a:srgbClr val="334155"/>
                </a:solidFill>
                <a:latin typeface="Calibri"/>
                <a:ea typeface="Calibri"/>
                <a:cs typeface="Calibri"/>
                <a:sym typeface="Calibri"/>
              </a:rPr>
              <a:t>, which sounds great in a design review.</a:t>
            </a:r>
            <a:endParaRPr b="0" i="0" sz="1400" u="none" cap="none" strike="noStrike">
              <a:solidFill>
                <a:srgbClr val="000000"/>
              </a:solidFill>
              <a:latin typeface="Arial"/>
              <a:ea typeface="Arial"/>
              <a:cs typeface="Arial"/>
              <a:sym typeface="Arial"/>
            </a:endParaRPr>
          </a:p>
        </p:txBody>
      </p:sp>
      <p:sp>
        <p:nvSpPr>
          <p:cNvPr id="289" name="Google Shape;289;p29"/>
          <p:cNvSpPr/>
          <p:nvPr/>
        </p:nvSpPr>
        <p:spPr>
          <a:xfrm>
            <a:off x="4297688" y="4572000"/>
            <a:ext cx="3566100" cy="16458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90" name="Google Shape;290;p29"/>
          <p:cNvSpPr txBox="1"/>
          <p:nvPr/>
        </p:nvSpPr>
        <p:spPr>
          <a:xfrm>
            <a:off x="4480568" y="4727448"/>
            <a:ext cx="32004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No baseline, no attribution</a:t>
            </a:r>
            <a:endParaRPr b="0" i="0" sz="1400" u="none" cap="none" strike="noStrike">
              <a:solidFill>
                <a:srgbClr val="000000"/>
              </a:solidFill>
              <a:latin typeface="Arial"/>
              <a:ea typeface="Arial"/>
              <a:cs typeface="Arial"/>
              <a:sym typeface="Arial"/>
            </a:endParaRPr>
          </a:p>
        </p:txBody>
      </p:sp>
      <p:sp>
        <p:nvSpPr>
          <p:cNvPr id="291" name="Google Shape;291;p29"/>
          <p:cNvSpPr txBox="1"/>
          <p:nvPr/>
        </p:nvSpPr>
        <p:spPr>
          <a:xfrm>
            <a:off x="4480568" y="5193792"/>
            <a:ext cx="32004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0" i="0" lang="en-US" sz="1350" u="none" cap="none" strike="noStrike">
                <a:solidFill>
                  <a:srgbClr val="334155"/>
                </a:solidFill>
                <a:latin typeface="Calibri"/>
                <a:ea typeface="Calibri"/>
                <a:cs typeface="Calibri"/>
                <a:sym typeface="Calibri"/>
              </a:rPr>
              <a:t>Without the </a:t>
            </a:r>
            <a:r>
              <a:rPr b="1" i="0" lang="en-US" sz="1350" u="none" cap="none" strike="noStrike">
                <a:solidFill>
                  <a:srgbClr val="334155"/>
                </a:solidFill>
                <a:latin typeface="Calibri"/>
                <a:ea typeface="Calibri"/>
                <a:cs typeface="Calibri"/>
                <a:sym typeface="Calibri"/>
              </a:rPr>
              <a:t>same tasks on the old harness</a:t>
            </a:r>
            <a:r>
              <a:rPr b="0" i="0" lang="en-US" sz="1350" u="none" cap="none" strike="noStrike">
                <a:solidFill>
                  <a:srgbClr val="334155"/>
                </a:solidFill>
                <a:latin typeface="Calibri"/>
                <a:ea typeface="Calibri"/>
                <a:cs typeface="Calibri"/>
                <a:sym typeface="Calibri"/>
              </a:rPr>
              <a:t>, you cannot say the change caused the result.</a:t>
            </a:r>
            <a:endParaRPr b="0" i="0" sz="1400" u="none" cap="none" strike="noStrike">
              <a:solidFill>
                <a:srgbClr val="000000"/>
              </a:solidFill>
              <a:latin typeface="Arial"/>
              <a:ea typeface="Arial"/>
              <a:cs typeface="Arial"/>
              <a:sym typeface="Arial"/>
            </a:endParaRPr>
          </a:p>
        </p:txBody>
      </p:sp>
      <p:sp>
        <p:nvSpPr>
          <p:cNvPr id="292" name="Google Shape;292;p29"/>
          <p:cNvSpPr/>
          <p:nvPr/>
        </p:nvSpPr>
        <p:spPr>
          <a:xfrm>
            <a:off x="8046736" y="4572000"/>
            <a:ext cx="3566100" cy="16458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93" name="Google Shape;293;p29"/>
          <p:cNvSpPr txBox="1"/>
          <p:nvPr/>
        </p:nvSpPr>
        <p:spPr>
          <a:xfrm>
            <a:off x="8229616" y="4727448"/>
            <a:ext cx="32004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One run is luck</a:t>
            </a:r>
            <a:endParaRPr b="0" i="0" sz="1400" u="none" cap="none" strike="noStrike">
              <a:solidFill>
                <a:srgbClr val="000000"/>
              </a:solidFill>
              <a:latin typeface="Arial"/>
              <a:ea typeface="Arial"/>
              <a:cs typeface="Arial"/>
              <a:sym typeface="Arial"/>
            </a:endParaRPr>
          </a:p>
        </p:txBody>
      </p:sp>
      <p:sp>
        <p:nvSpPr>
          <p:cNvPr id="294" name="Google Shape;294;p29"/>
          <p:cNvSpPr txBox="1"/>
          <p:nvPr/>
        </p:nvSpPr>
        <p:spPr>
          <a:xfrm>
            <a:off x="8229616" y="5193792"/>
            <a:ext cx="32004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0" i="0" lang="en-US" sz="1350" u="none" cap="none" strike="noStrike">
                <a:solidFill>
                  <a:srgbClr val="334155"/>
                </a:solidFill>
                <a:latin typeface="Calibri"/>
                <a:ea typeface="Calibri"/>
                <a:cs typeface="Calibri"/>
                <a:sym typeface="Calibri"/>
              </a:rPr>
              <a:t>LLM output is stochastic. </a:t>
            </a:r>
            <a:r>
              <a:rPr b="1" i="0" lang="en-US" sz="1350" u="none" cap="none" strike="noStrike">
                <a:solidFill>
                  <a:srgbClr val="334155"/>
                </a:solidFill>
                <a:latin typeface="Calibri"/>
                <a:ea typeface="Calibri"/>
                <a:cs typeface="Calibri"/>
                <a:sym typeface="Calibri"/>
              </a:rPr>
              <a:t>Repeated trials</a:t>
            </a:r>
            <a:r>
              <a:rPr b="0" i="0" lang="en-US" sz="1350" u="none" cap="none" strike="noStrike">
                <a:solidFill>
                  <a:srgbClr val="334155"/>
                </a:solidFill>
                <a:latin typeface="Calibri"/>
                <a:ea typeface="Calibri"/>
                <a:cs typeface="Calibri"/>
                <a:sym typeface="Calibri"/>
              </a:rPr>
              <a:t> expose flakiness before a decision.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30"/>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AI terminology: Model ≠ Agent ≠ Harness</a:t>
            </a:r>
            <a:endParaRPr b="0" i="0" sz="1400" u="none" cap="none" strike="noStrike">
              <a:solidFill>
                <a:srgbClr val="000000"/>
              </a:solidFill>
              <a:latin typeface="Arial"/>
              <a:ea typeface="Arial"/>
              <a:cs typeface="Arial"/>
              <a:sym typeface="Arial"/>
            </a:endParaRPr>
          </a:p>
        </p:txBody>
      </p:sp>
      <p:sp>
        <p:nvSpPr>
          <p:cNvPr id="301" name="Google Shape;301;p30"/>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This experiment changes </a:t>
            </a:r>
            <a:r>
              <a:rPr b="1" i="0" lang="en-US" sz="1600" u="none" cap="none" strike="noStrike">
                <a:solidFill>
                  <a:srgbClr val="334155"/>
                </a:solidFill>
                <a:latin typeface="Calibri"/>
                <a:ea typeface="Calibri"/>
                <a:cs typeface="Calibri"/>
                <a:sym typeface="Calibri"/>
              </a:rPr>
              <a:t>only the harness guidance</a:t>
            </a:r>
            <a:r>
              <a:rPr b="0" i="0" lang="en-US" sz="1600" u="none" cap="none" strike="noStrike">
                <a:solidFill>
                  <a:srgbClr val="334155"/>
                </a:solidFill>
                <a:latin typeface="Calibri"/>
                <a:ea typeface="Calibri"/>
                <a:cs typeface="Calibri"/>
                <a:sym typeface="Calibri"/>
              </a:rPr>
              <a:t>. The model is held constant.</a:t>
            </a:r>
            <a:endParaRPr b="0" i="0" sz="1400" u="none" cap="none" strike="noStrike">
              <a:solidFill>
                <a:srgbClr val="000000"/>
              </a:solidFill>
              <a:latin typeface="Arial"/>
              <a:ea typeface="Arial"/>
              <a:cs typeface="Arial"/>
              <a:sym typeface="Arial"/>
            </a:endParaRPr>
          </a:p>
        </p:txBody>
      </p:sp>
      <p:sp>
        <p:nvSpPr>
          <p:cNvPr id="302" name="Google Shape;302;p30"/>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Problem &amp; concepts</a:t>
            </a:r>
            <a:endParaRPr b="0" i="0" sz="1400" u="none" cap="none" strike="noStrike">
              <a:solidFill>
                <a:srgbClr val="000000"/>
              </a:solidFill>
              <a:latin typeface="Arial"/>
              <a:ea typeface="Arial"/>
              <a:cs typeface="Arial"/>
              <a:sym typeface="Arial"/>
            </a:endParaRPr>
          </a:p>
        </p:txBody>
      </p:sp>
      <p:sp>
        <p:nvSpPr>
          <p:cNvPr id="303" name="Google Shape;303;p30"/>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sp>
        <p:nvSpPr>
          <p:cNvPr id="304" name="Google Shape;304;p30"/>
          <p:cNvSpPr/>
          <p:nvPr/>
        </p:nvSpPr>
        <p:spPr>
          <a:xfrm>
            <a:off x="548641" y="1645920"/>
            <a:ext cx="5760600" cy="4526400"/>
          </a:xfrm>
          <a:prstGeom prst="roundRect">
            <a:avLst>
              <a:gd fmla="val 8000" name="adj"/>
            </a:avLst>
          </a:prstGeom>
          <a:solidFill>
            <a:srgbClr val="F1F5F9"/>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5" name="Google Shape;305;p30"/>
          <p:cNvSpPr txBox="1"/>
          <p:nvPr/>
        </p:nvSpPr>
        <p:spPr>
          <a:xfrm>
            <a:off x="777242" y="1737360"/>
            <a:ext cx="53034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334155"/>
                </a:solidFill>
                <a:latin typeface="Calibri"/>
                <a:ea typeface="Calibri"/>
                <a:cs typeface="Calibri"/>
                <a:sym typeface="Calibri"/>
              </a:rPr>
              <a:t>Evaluation harness</a:t>
            </a:r>
            <a:r>
              <a:rPr b="0" i="0" lang="en-US" sz="1300" u="none" cap="none" strike="noStrike">
                <a:solidFill>
                  <a:srgbClr val="334155"/>
                </a:solidFill>
                <a:latin typeface="Calibri"/>
                <a:ea typeface="Calibri"/>
                <a:cs typeface="Calibri"/>
                <a:sym typeface="Calibri"/>
              </a:rPr>
              <a:t> · this repo, </a:t>
            </a:r>
            <a:r>
              <a:rPr b="0" i="0" lang="en-US" sz="1300" u="none" cap="none" strike="noStrike">
                <a:solidFill>
                  <a:srgbClr val="334155"/>
                </a:solidFill>
                <a:latin typeface="Courier New"/>
                <a:ea typeface="Courier New"/>
                <a:cs typeface="Courier New"/>
                <a:sym typeface="Courier New"/>
              </a:rPr>
              <a:t>src/eval/</a:t>
            </a:r>
            <a:endParaRPr b="0" i="0" sz="1400" u="none" cap="none" strike="noStrike">
              <a:solidFill>
                <a:srgbClr val="000000"/>
              </a:solidFill>
              <a:latin typeface="Arial"/>
              <a:ea typeface="Arial"/>
              <a:cs typeface="Arial"/>
              <a:sym typeface="Arial"/>
            </a:endParaRPr>
          </a:p>
        </p:txBody>
      </p:sp>
      <p:sp>
        <p:nvSpPr>
          <p:cNvPr id="306" name="Google Shape;306;p30"/>
          <p:cNvSpPr/>
          <p:nvPr/>
        </p:nvSpPr>
        <p:spPr>
          <a:xfrm>
            <a:off x="777242" y="2148840"/>
            <a:ext cx="5303400" cy="3017400"/>
          </a:xfrm>
          <a:prstGeom prst="roundRect">
            <a:avLst>
              <a:gd fmla="val 8000" name="adj"/>
            </a:avLst>
          </a:prstGeom>
          <a:solidFill>
            <a:srgbClr val="FEF3C7"/>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7" name="Google Shape;307;p30"/>
          <p:cNvSpPr txBox="1"/>
          <p:nvPr/>
        </p:nvSpPr>
        <p:spPr>
          <a:xfrm>
            <a:off x="960122" y="2212848"/>
            <a:ext cx="49377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B45309"/>
                </a:solidFill>
                <a:latin typeface="Calibri"/>
                <a:ea typeface="Calibri"/>
                <a:cs typeface="Calibri"/>
                <a:sym typeface="Calibri"/>
              </a:rPr>
              <a:t>Agent harness</a:t>
            </a:r>
            <a:r>
              <a:rPr b="0" i="0" lang="en-US" sz="1300" u="none" cap="none" strike="noStrike">
                <a:solidFill>
                  <a:srgbClr val="B45309"/>
                </a:solidFill>
                <a:latin typeface="Calibri"/>
                <a:ea typeface="Calibri"/>
                <a:cs typeface="Calibri"/>
                <a:sym typeface="Calibri"/>
              </a:rPr>
              <a:t> · guidance + tools + loop + budgets</a:t>
            </a:r>
            <a:endParaRPr b="0" i="0" sz="1400" u="none" cap="none" strike="noStrike">
              <a:solidFill>
                <a:srgbClr val="000000"/>
              </a:solidFill>
              <a:latin typeface="Arial"/>
              <a:ea typeface="Arial"/>
              <a:cs typeface="Arial"/>
              <a:sym typeface="Arial"/>
            </a:endParaRPr>
          </a:p>
        </p:txBody>
      </p:sp>
      <p:sp>
        <p:nvSpPr>
          <p:cNvPr id="308" name="Google Shape;308;p30"/>
          <p:cNvSpPr/>
          <p:nvPr/>
        </p:nvSpPr>
        <p:spPr>
          <a:xfrm>
            <a:off x="1005842" y="2606040"/>
            <a:ext cx="4846200" cy="2331600"/>
          </a:xfrm>
          <a:prstGeom prst="roundRect">
            <a:avLst>
              <a:gd fmla="val 8000" name="adj"/>
            </a:avLst>
          </a:prstGeom>
          <a:solidFill>
            <a:srgbClr val="EDE9FE"/>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9" name="Google Shape;309;p30"/>
          <p:cNvSpPr txBox="1"/>
          <p:nvPr/>
        </p:nvSpPr>
        <p:spPr>
          <a:xfrm>
            <a:off x="1188722" y="2670048"/>
            <a:ext cx="45720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6D28D9"/>
                </a:solidFill>
                <a:latin typeface="Calibri"/>
                <a:ea typeface="Calibri"/>
                <a:cs typeface="Calibri"/>
                <a:sym typeface="Calibri"/>
              </a:rPr>
              <a:t>Agent</a:t>
            </a:r>
            <a:r>
              <a:rPr b="0" i="0" lang="en-US" sz="1300" u="none" cap="none" strike="noStrike">
                <a:solidFill>
                  <a:srgbClr val="6D28D9"/>
                </a:solidFill>
                <a:latin typeface="Calibri"/>
                <a:ea typeface="Calibri"/>
                <a:cs typeface="Calibri"/>
                <a:sym typeface="Calibri"/>
              </a:rPr>
              <a:t> · model + loop + tools on a workspace</a:t>
            </a:r>
            <a:endParaRPr b="0" i="0" sz="1400" u="none" cap="none" strike="noStrike">
              <a:solidFill>
                <a:srgbClr val="000000"/>
              </a:solidFill>
              <a:latin typeface="Arial"/>
              <a:ea typeface="Arial"/>
              <a:cs typeface="Arial"/>
              <a:sym typeface="Arial"/>
            </a:endParaRPr>
          </a:p>
        </p:txBody>
      </p:sp>
      <p:sp>
        <p:nvSpPr>
          <p:cNvPr id="310" name="Google Shape;310;p30"/>
          <p:cNvSpPr/>
          <p:nvPr/>
        </p:nvSpPr>
        <p:spPr>
          <a:xfrm>
            <a:off x="1280163" y="3108960"/>
            <a:ext cx="4297800" cy="1600200"/>
          </a:xfrm>
          <a:prstGeom prst="roundRect">
            <a:avLst>
              <a:gd fmla="val 8000" name="adj"/>
            </a:avLst>
          </a:prstGeom>
          <a:solidFill>
            <a:srgbClr val="DBEAFE"/>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1D4ED8"/>
                </a:solidFill>
                <a:latin typeface="Calibri"/>
                <a:ea typeface="Calibri"/>
                <a:cs typeface="Calibri"/>
                <a:sym typeface="Calibri"/>
              </a:rPr>
              <a:t>Model</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300"/>
              <a:buFont typeface="Arial"/>
              <a:buNone/>
            </a:pPr>
            <a:r>
              <a:rPr b="0" i="0" lang="en-US" sz="1300" u="none" cap="none" strike="noStrike">
                <a:solidFill>
                  <a:srgbClr val="1D4ED8"/>
                </a:solidFill>
                <a:latin typeface="Courier New"/>
                <a:ea typeface="Courier New"/>
                <a:cs typeface="Courier New"/>
                <a:sym typeface="Courier New"/>
              </a:rPr>
              <a:t>anthropic/claude-haiku-4.5</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300"/>
              <a:buFont typeface="Arial"/>
              <a:buNone/>
            </a:pPr>
            <a:r>
              <a:rPr b="0" i="0" lang="en-US" sz="1300" u="none" cap="none" strike="noStrike">
                <a:solidFill>
                  <a:srgbClr val="1D4ED8"/>
                </a:solidFill>
                <a:latin typeface="Calibri"/>
                <a:ea typeface="Calibri"/>
                <a:cs typeface="Calibri"/>
                <a:sym typeface="Calibri"/>
              </a:rPr>
              <a:t>via OpenRouter · held constant</a:t>
            </a:r>
            <a:endParaRPr b="0" i="0" sz="1400" u="none" cap="none" strike="noStrike">
              <a:solidFill>
                <a:srgbClr val="000000"/>
              </a:solidFill>
              <a:latin typeface="Arial"/>
              <a:ea typeface="Arial"/>
              <a:cs typeface="Arial"/>
              <a:sym typeface="Arial"/>
            </a:endParaRPr>
          </a:p>
        </p:txBody>
      </p:sp>
      <p:sp>
        <p:nvSpPr>
          <p:cNvPr id="311" name="Google Shape;311;p30"/>
          <p:cNvSpPr txBox="1"/>
          <p:nvPr/>
        </p:nvSpPr>
        <p:spPr>
          <a:xfrm>
            <a:off x="777242" y="5303520"/>
            <a:ext cx="53034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Tasks · trials · graders · comparison · promotion · Phase 2 gate</a:t>
            </a:r>
            <a:endParaRPr b="0" i="0" sz="1400" u="none" cap="none" strike="noStrike">
              <a:solidFill>
                <a:srgbClr val="000000"/>
              </a:solidFill>
              <a:latin typeface="Arial"/>
              <a:ea typeface="Arial"/>
              <a:cs typeface="Arial"/>
              <a:sym typeface="Arial"/>
            </a:endParaRPr>
          </a:p>
        </p:txBody>
      </p:sp>
      <p:sp>
        <p:nvSpPr>
          <p:cNvPr id="312" name="Google Shape;312;p30"/>
          <p:cNvSpPr/>
          <p:nvPr/>
        </p:nvSpPr>
        <p:spPr>
          <a:xfrm>
            <a:off x="6583694" y="1645920"/>
            <a:ext cx="5074800" cy="10242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3" name="Google Shape;313;p30"/>
          <p:cNvSpPr/>
          <p:nvPr/>
        </p:nvSpPr>
        <p:spPr>
          <a:xfrm>
            <a:off x="6748286" y="1920240"/>
            <a:ext cx="457200" cy="457200"/>
          </a:xfrm>
          <a:prstGeom prst="ellipse">
            <a:avLst/>
          </a:prstGeom>
          <a:solidFill>
            <a:srgbClr val="1D4ED8"/>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M</a:t>
            </a:r>
            <a:endParaRPr b="0" i="0" sz="1400" u="none" cap="none" strike="noStrike">
              <a:solidFill>
                <a:srgbClr val="000000"/>
              </a:solidFill>
              <a:latin typeface="Arial"/>
              <a:ea typeface="Arial"/>
              <a:cs typeface="Arial"/>
              <a:sym typeface="Arial"/>
            </a:endParaRPr>
          </a:p>
        </p:txBody>
      </p:sp>
      <p:sp>
        <p:nvSpPr>
          <p:cNvPr id="314" name="Google Shape;314;p30"/>
          <p:cNvSpPr txBox="1"/>
          <p:nvPr/>
        </p:nvSpPr>
        <p:spPr>
          <a:xfrm>
            <a:off x="7360935" y="1737360"/>
            <a:ext cx="41604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Model</a:t>
            </a:r>
            <a:endParaRPr b="0" i="0" sz="1400" u="none" cap="none" strike="noStrike">
              <a:solidFill>
                <a:srgbClr val="000000"/>
              </a:solidFill>
              <a:latin typeface="Arial"/>
              <a:ea typeface="Arial"/>
              <a:cs typeface="Arial"/>
              <a:sym typeface="Arial"/>
            </a:endParaRPr>
          </a:p>
        </p:txBody>
      </p:sp>
      <p:sp>
        <p:nvSpPr>
          <p:cNvPr id="315" name="Google Shape;315;p30"/>
          <p:cNvSpPr txBox="1"/>
          <p:nvPr/>
        </p:nvSpPr>
        <p:spPr>
          <a:xfrm>
            <a:off x="7360935" y="2057400"/>
            <a:ext cx="4160400" cy="5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The LLM. Default </a:t>
            </a:r>
            <a:r>
              <a:rPr b="0" i="0" lang="en-US" sz="1300" u="none" cap="none" strike="noStrike">
                <a:solidFill>
                  <a:srgbClr val="334155"/>
                </a:solidFill>
                <a:latin typeface="Courier New"/>
                <a:ea typeface="Courier New"/>
                <a:cs typeface="Courier New"/>
                <a:sym typeface="Courier New"/>
              </a:rPr>
              <a:t>anthropic/claude-haiku-4.5</a:t>
            </a:r>
            <a:r>
              <a:rPr b="0" i="0" lang="en-US" sz="1300" u="none" cap="none" strike="noStrike">
                <a:solidFill>
                  <a:srgbClr val="334155"/>
                </a:solidFill>
                <a:latin typeface="Calibri"/>
                <a:ea typeface="Calibri"/>
                <a:cs typeface="Calibri"/>
                <a:sym typeface="Calibri"/>
              </a:rPr>
              <a:t> (</a:t>
            </a:r>
            <a:r>
              <a:rPr b="0" i="0" lang="en-US" sz="1300" u="none" cap="none" strike="noStrike">
                <a:solidFill>
                  <a:srgbClr val="334155"/>
                </a:solidFill>
                <a:latin typeface="Courier New"/>
                <a:ea typeface="Courier New"/>
                <a:cs typeface="Courier New"/>
                <a:sym typeface="Courier New"/>
              </a:rPr>
              <a:t>run.py</a:t>
            </a:r>
            <a:r>
              <a:rPr b="0" i="0" lang="en-US" sz="1300" u="none" cap="none" strike="noStrike">
                <a:solidFill>
                  <a:srgbClr val="334155"/>
                </a:solidFill>
                <a:latin typeface="Calibri"/>
                <a:ea typeface="Calibri"/>
                <a:cs typeface="Calibri"/>
                <a:sym typeface="Calibri"/>
              </a:rPr>
              <a:t> L27). </a:t>
            </a:r>
            <a:r>
              <a:rPr b="1" i="0" lang="en-US" sz="1300" u="none" cap="none" strike="noStrike">
                <a:solidFill>
                  <a:srgbClr val="334155"/>
                </a:solidFill>
                <a:latin typeface="Calibri"/>
                <a:ea typeface="Calibri"/>
                <a:cs typeface="Calibri"/>
                <a:sym typeface="Calibri"/>
              </a:rPr>
              <a:t>Same in both arms.</a:t>
            </a:r>
            <a:endParaRPr b="0" i="0" sz="1400" u="none" cap="none" strike="noStrike">
              <a:solidFill>
                <a:srgbClr val="000000"/>
              </a:solidFill>
              <a:latin typeface="Arial"/>
              <a:ea typeface="Arial"/>
              <a:cs typeface="Arial"/>
              <a:sym typeface="Arial"/>
            </a:endParaRPr>
          </a:p>
        </p:txBody>
      </p:sp>
      <p:sp>
        <p:nvSpPr>
          <p:cNvPr id="316" name="Google Shape;316;p30"/>
          <p:cNvSpPr/>
          <p:nvPr/>
        </p:nvSpPr>
        <p:spPr>
          <a:xfrm>
            <a:off x="6583694" y="2788920"/>
            <a:ext cx="5074800" cy="10242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7" name="Google Shape;317;p30"/>
          <p:cNvSpPr/>
          <p:nvPr/>
        </p:nvSpPr>
        <p:spPr>
          <a:xfrm>
            <a:off x="6748286" y="3063239"/>
            <a:ext cx="457200" cy="457200"/>
          </a:xfrm>
          <a:prstGeom prst="ellipse">
            <a:avLst/>
          </a:prstGeom>
          <a:solidFill>
            <a:srgbClr val="6D28D9"/>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318" name="Google Shape;318;p30"/>
          <p:cNvSpPr txBox="1"/>
          <p:nvPr/>
        </p:nvSpPr>
        <p:spPr>
          <a:xfrm>
            <a:off x="7360935" y="2880360"/>
            <a:ext cx="41604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Agent</a:t>
            </a:r>
            <a:endParaRPr b="0" i="0" sz="1400" u="none" cap="none" strike="noStrike">
              <a:solidFill>
                <a:srgbClr val="000000"/>
              </a:solidFill>
              <a:latin typeface="Arial"/>
              <a:ea typeface="Arial"/>
              <a:cs typeface="Arial"/>
              <a:sym typeface="Arial"/>
            </a:endParaRPr>
          </a:p>
        </p:txBody>
      </p:sp>
      <p:sp>
        <p:nvSpPr>
          <p:cNvPr id="319" name="Google Shape;319;p30"/>
          <p:cNvSpPr txBox="1"/>
          <p:nvPr/>
        </p:nvSpPr>
        <p:spPr>
          <a:xfrm>
            <a:off x="7360935" y="3200400"/>
            <a:ext cx="4160400" cy="5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ourier New"/>
                <a:ea typeface="Courier New"/>
                <a:cs typeface="Courier New"/>
                <a:sym typeface="Courier New"/>
              </a:rPr>
              <a:t>run_agent()</a:t>
            </a:r>
            <a:r>
              <a:rPr b="0" i="0" lang="en-US" sz="1300" u="none" cap="none" strike="noStrike">
                <a:solidFill>
                  <a:srgbClr val="334155"/>
                </a:solidFill>
                <a:latin typeface="Calibri"/>
                <a:ea typeface="Calibri"/>
                <a:cs typeface="Calibri"/>
                <a:sym typeface="Calibri"/>
              </a:rPr>
              <a:t>: up to </a:t>
            </a:r>
            <a:r>
              <a:rPr b="1" i="0" lang="en-US" sz="1300" u="none" cap="none" strike="noStrike">
                <a:solidFill>
                  <a:srgbClr val="334155"/>
                </a:solidFill>
                <a:latin typeface="Calibri"/>
                <a:ea typeface="Calibri"/>
                <a:cs typeface="Calibri"/>
                <a:sym typeface="Calibri"/>
              </a:rPr>
              <a:t>8 turns</a:t>
            </a:r>
            <a:r>
              <a:rPr b="0" i="0" lang="en-US" sz="1300" u="none" cap="none" strike="noStrike">
                <a:solidFill>
                  <a:srgbClr val="334155"/>
                </a:solidFill>
                <a:latin typeface="Calibri"/>
                <a:ea typeface="Calibri"/>
                <a:cs typeface="Calibri"/>
                <a:sym typeface="Calibri"/>
              </a:rPr>
              <a:t>, tools </a:t>
            </a:r>
            <a:r>
              <a:rPr b="0" i="0" lang="en-US" sz="1300" u="none" cap="none" strike="noStrike">
                <a:solidFill>
                  <a:srgbClr val="334155"/>
                </a:solidFill>
                <a:latin typeface="Courier New"/>
                <a:ea typeface="Courier New"/>
                <a:cs typeface="Courier New"/>
                <a:sym typeface="Courier New"/>
              </a:rPr>
              <a:t>read_file</a:t>
            </a:r>
            <a:r>
              <a:rPr b="0" i="0" lang="en-US" sz="1300" u="none" cap="none" strike="noStrike">
                <a:solidFill>
                  <a:srgbClr val="334155"/>
                </a:solidFill>
                <a:latin typeface="Calibri"/>
                <a:ea typeface="Calibri"/>
                <a:cs typeface="Calibri"/>
                <a:sym typeface="Calibri"/>
              </a:rPr>
              <a:t> / </a:t>
            </a:r>
            <a:r>
              <a:rPr b="0" i="0" lang="en-US" sz="1300" u="none" cap="none" strike="noStrike">
                <a:solidFill>
                  <a:srgbClr val="334155"/>
                </a:solidFill>
                <a:latin typeface="Courier New"/>
                <a:ea typeface="Courier New"/>
                <a:cs typeface="Courier New"/>
                <a:sym typeface="Courier New"/>
              </a:rPr>
              <a:t>list_files</a:t>
            </a:r>
            <a:r>
              <a:rPr b="0" i="0" lang="en-US" sz="1300" u="none" cap="none" strike="noStrike">
                <a:solidFill>
                  <a:srgbClr val="334155"/>
                </a:solidFill>
                <a:latin typeface="Calibri"/>
                <a:ea typeface="Calibri"/>
                <a:cs typeface="Calibri"/>
                <a:sym typeface="Calibri"/>
              </a:rPr>
              <a:t> / </a:t>
            </a:r>
            <a:r>
              <a:rPr b="0" i="0" lang="en-US" sz="1300" u="none" cap="none" strike="noStrike">
                <a:solidFill>
                  <a:srgbClr val="334155"/>
                </a:solidFill>
                <a:latin typeface="Courier New"/>
                <a:ea typeface="Courier New"/>
                <a:cs typeface="Courier New"/>
                <a:sym typeface="Courier New"/>
              </a:rPr>
              <a:t>write_file</a:t>
            </a:r>
            <a:r>
              <a:rPr b="0" i="0" lang="en-US" sz="1300" u="none" cap="none" strike="noStrike">
                <a:solidFill>
                  <a:srgbClr val="334155"/>
                </a:solidFill>
                <a:latin typeface="Calibri"/>
                <a:ea typeface="Calibri"/>
                <a:cs typeface="Calibri"/>
                <a:sym typeface="Calibri"/>
              </a:rPr>
              <a:t>, </a:t>
            </a:r>
            <a:r>
              <a:rPr b="1" i="0" lang="en-US" sz="1300" u="none" cap="none" strike="noStrike">
                <a:solidFill>
                  <a:srgbClr val="334155"/>
                </a:solidFill>
                <a:latin typeface="Calibri"/>
                <a:ea typeface="Calibri"/>
                <a:cs typeface="Calibri"/>
                <a:sym typeface="Calibri"/>
              </a:rPr>
              <a:t>$0.05</a:t>
            </a:r>
            <a:r>
              <a:rPr b="0" i="0" lang="en-US" sz="1300" u="none" cap="none" strike="noStrike">
                <a:solidFill>
                  <a:srgbClr val="334155"/>
                </a:solidFill>
                <a:latin typeface="Calibri"/>
                <a:ea typeface="Calibri"/>
                <a:cs typeface="Calibri"/>
                <a:sym typeface="Calibri"/>
              </a:rPr>
              <a:t> budget.</a:t>
            </a:r>
            <a:endParaRPr b="0" i="0" sz="1400" u="none" cap="none" strike="noStrike">
              <a:solidFill>
                <a:srgbClr val="000000"/>
              </a:solidFill>
              <a:latin typeface="Arial"/>
              <a:ea typeface="Arial"/>
              <a:cs typeface="Arial"/>
              <a:sym typeface="Arial"/>
            </a:endParaRPr>
          </a:p>
        </p:txBody>
      </p:sp>
      <p:sp>
        <p:nvSpPr>
          <p:cNvPr id="320" name="Google Shape;320;p30"/>
          <p:cNvSpPr/>
          <p:nvPr/>
        </p:nvSpPr>
        <p:spPr>
          <a:xfrm>
            <a:off x="6583694" y="3931920"/>
            <a:ext cx="5074800" cy="10242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1" name="Google Shape;321;p30"/>
          <p:cNvSpPr/>
          <p:nvPr/>
        </p:nvSpPr>
        <p:spPr>
          <a:xfrm>
            <a:off x="6748286" y="4206240"/>
            <a:ext cx="457200" cy="457200"/>
          </a:xfrm>
          <a:prstGeom prst="ellipse">
            <a:avLst/>
          </a:prstGeom>
          <a:solidFill>
            <a:srgbClr val="B45309"/>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322" name="Google Shape;322;p30"/>
          <p:cNvSpPr txBox="1"/>
          <p:nvPr/>
        </p:nvSpPr>
        <p:spPr>
          <a:xfrm>
            <a:off x="7360935" y="4023359"/>
            <a:ext cx="41604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Agent harness</a:t>
            </a:r>
            <a:endParaRPr b="0" i="0" sz="1400" u="none" cap="none" strike="noStrike">
              <a:solidFill>
                <a:srgbClr val="000000"/>
              </a:solidFill>
              <a:latin typeface="Arial"/>
              <a:ea typeface="Arial"/>
              <a:cs typeface="Arial"/>
              <a:sym typeface="Arial"/>
            </a:endParaRPr>
          </a:p>
        </p:txBody>
      </p:sp>
      <p:sp>
        <p:nvSpPr>
          <p:cNvPr id="323" name="Google Shape;323;p30"/>
          <p:cNvSpPr txBox="1"/>
          <p:nvPr/>
        </p:nvSpPr>
        <p:spPr>
          <a:xfrm>
            <a:off x="7360935" y="4343400"/>
            <a:ext cx="4160400" cy="5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Guidance file + tools + loop. </a:t>
            </a:r>
            <a:r>
              <a:rPr b="1" i="0" lang="en-US" sz="1300" u="none" cap="none" strike="noStrike">
                <a:solidFill>
                  <a:srgbClr val="334155"/>
                </a:solidFill>
                <a:latin typeface="Calibri"/>
                <a:ea typeface="Calibri"/>
                <a:cs typeface="Calibri"/>
                <a:sym typeface="Calibri"/>
              </a:rPr>
              <a:t>Only the guidance file differs</a:t>
            </a:r>
            <a:r>
              <a:rPr b="0" i="0" lang="en-US" sz="1300" u="none" cap="none" strike="noStrike">
                <a:solidFill>
                  <a:srgbClr val="334155"/>
                </a:solidFill>
                <a:latin typeface="Calibri"/>
                <a:ea typeface="Calibri"/>
                <a:cs typeface="Calibri"/>
                <a:sym typeface="Calibri"/>
              </a:rPr>
              <a:t> between arms (</a:t>
            </a:r>
            <a:r>
              <a:rPr b="0" i="0" lang="en-US" sz="1300" u="none" cap="none" strike="noStrike">
                <a:solidFill>
                  <a:srgbClr val="334155"/>
                </a:solidFill>
                <a:latin typeface="Courier New"/>
                <a:ea typeface="Courier New"/>
                <a:cs typeface="Courier New"/>
                <a:sym typeface="Courier New"/>
              </a:rPr>
              <a:t>copy_guidance()</a:t>
            </a:r>
            <a:r>
              <a:rPr b="0" i="0" lang="en-US" sz="1300" u="none" cap="none" strike="noStrike">
                <a:solidFill>
                  <a:srgbClr val="33415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24" name="Google Shape;324;p30"/>
          <p:cNvSpPr/>
          <p:nvPr/>
        </p:nvSpPr>
        <p:spPr>
          <a:xfrm>
            <a:off x="6583694" y="5074920"/>
            <a:ext cx="5074800" cy="10242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5" name="Google Shape;325;p30"/>
          <p:cNvSpPr/>
          <p:nvPr/>
        </p:nvSpPr>
        <p:spPr>
          <a:xfrm>
            <a:off x="6748286" y="5349240"/>
            <a:ext cx="457200" cy="4572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326" name="Google Shape;326;p30"/>
          <p:cNvSpPr txBox="1"/>
          <p:nvPr/>
        </p:nvSpPr>
        <p:spPr>
          <a:xfrm>
            <a:off x="7360935" y="5166359"/>
            <a:ext cx="41604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Evaluation harness</a:t>
            </a:r>
            <a:endParaRPr b="0" i="0" sz="1400" u="none" cap="none" strike="noStrike">
              <a:solidFill>
                <a:srgbClr val="000000"/>
              </a:solidFill>
              <a:latin typeface="Arial"/>
              <a:ea typeface="Arial"/>
              <a:cs typeface="Arial"/>
              <a:sym typeface="Arial"/>
            </a:endParaRPr>
          </a:p>
        </p:txBody>
      </p:sp>
      <p:sp>
        <p:nvSpPr>
          <p:cNvPr id="327" name="Google Shape;327;p30"/>
          <p:cNvSpPr txBox="1"/>
          <p:nvPr/>
        </p:nvSpPr>
        <p:spPr>
          <a:xfrm>
            <a:off x="7360935" y="5486400"/>
            <a:ext cx="4160400" cy="5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Runs trials, grades, compares baseline vs candidate, graduates tasks, gates Phase 2.</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32" name="Shape 332"/>
        <p:cNvGrpSpPr/>
        <p:nvPr/>
      </p:nvGrpSpPr>
      <p:grpSpPr>
        <a:xfrm>
          <a:off x="0" y="0"/>
          <a:ext cx="0" cy="0"/>
          <a:chOff x="0" y="0"/>
          <a:chExt cx="0" cy="0"/>
        </a:xfrm>
      </p:grpSpPr>
      <p:sp>
        <p:nvSpPr>
          <p:cNvPr id="333" name="Google Shape;333;p31"/>
          <p:cNvSpPr txBox="1"/>
          <p:nvPr/>
        </p:nvSpPr>
        <p:spPr>
          <a:xfrm>
            <a:off x="548641" y="347347"/>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Evaluation vocabulary used in this repo</a:t>
            </a:r>
            <a:endParaRPr b="0" i="0" sz="1400" u="none" cap="none" strike="noStrike">
              <a:solidFill>
                <a:srgbClr val="000000"/>
              </a:solidFill>
              <a:latin typeface="Arial"/>
              <a:ea typeface="Arial"/>
              <a:cs typeface="Arial"/>
              <a:sym typeface="Arial"/>
            </a:endParaRPr>
          </a:p>
        </p:txBody>
      </p:sp>
      <p:sp>
        <p:nvSpPr>
          <p:cNvPr id="334" name="Google Shape;334;p31"/>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Every term below maps to a </a:t>
            </a:r>
            <a:r>
              <a:rPr b="1" i="0" lang="en-US" sz="1600" u="none" cap="none" strike="noStrike">
                <a:solidFill>
                  <a:srgbClr val="334155"/>
                </a:solidFill>
                <a:latin typeface="Calibri"/>
                <a:ea typeface="Calibri"/>
                <a:cs typeface="Calibri"/>
                <a:sym typeface="Calibri"/>
              </a:rPr>
              <a:t>file or function</a:t>
            </a:r>
            <a:r>
              <a:rPr b="0" i="0" lang="en-US" sz="1600" u="none" cap="none" strike="noStrike">
                <a:solidFill>
                  <a:srgbClr val="334155"/>
                </a:solidFill>
                <a:latin typeface="Calibri"/>
                <a:ea typeface="Calibri"/>
                <a:cs typeface="Calibri"/>
                <a:sym typeface="Calibri"/>
              </a:rPr>
              <a:t> you can open</a:t>
            </a:r>
            <a:endParaRPr b="0" i="0" sz="1400" u="none" cap="none" strike="noStrike">
              <a:solidFill>
                <a:srgbClr val="000000"/>
              </a:solidFill>
              <a:latin typeface="Arial"/>
              <a:ea typeface="Arial"/>
              <a:cs typeface="Arial"/>
              <a:sym typeface="Arial"/>
            </a:endParaRPr>
          </a:p>
        </p:txBody>
      </p:sp>
      <p:sp>
        <p:nvSpPr>
          <p:cNvPr id="335" name="Google Shape;335;p31"/>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Problem &amp; concepts</a:t>
            </a:r>
            <a:endParaRPr b="0" i="0" sz="1400" u="none" cap="none" strike="noStrike">
              <a:solidFill>
                <a:srgbClr val="000000"/>
              </a:solidFill>
              <a:latin typeface="Arial"/>
              <a:ea typeface="Arial"/>
              <a:cs typeface="Arial"/>
              <a:sym typeface="Arial"/>
            </a:endParaRPr>
          </a:p>
        </p:txBody>
      </p:sp>
      <p:sp>
        <p:nvSpPr>
          <p:cNvPr id="336" name="Google Shape;336;p31"/>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7</a:t>
            </a:r>
            <a:endParaRPr b="0" i="0" sz="1400" u="none" cap="none" strike="noStrike">
              <a:solidFill>
                <a:srgbClr val="000000"/>
              </a:solidFill>
              <a:latin typeface="Arial"/>
              <a:ea typeface="Arial"/>
              <a:cs typeface="Arial"/>
              <a:sym typeface="Arial"/>
            </a:endParaRPr>
          </a:p>
        </p:txBody>
      </p:sp>
      <p:sp>
        <p:nvSpPr>
          <p:cNvPr id="337" name="Google Shape;337;p31"/>
          <p:cNvSpPr/>
          <p:nvPr/>
        </p:nvSpPr>
        <p:spPr>
          <a:xfrm>
            <a:off x="548641" y="1645920"/>
            <a:ext cx="2651700" cy="13899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38" name="Google Shape;338;p31"/>
          <p:cNvSpPr txBox="1"/>
          <p:nvPr/>
        </p:nvSpPr>
        <p:spPr>
          <a:xfrm>
            <a:off x="713233" y="1755648"/>
            <a:ext cx="23775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766E"/>
                </a:solidFill>
                <a:latin typeface="Calibri"/>
                <a:ea typeface="Calibri"/>
                <a:cs typeface="Calibri"/>
                <a:sym typeface="Calibri"/>
              </a:rPr>
              <a:t>Prompt</a:t>
            </a:r>
            <a:endParaRPr b="0" i="0" sz="1400" u="none" cap="none" strike="noStrike">
              <a:solidFill>
                <a:srgbClr val="000000"/>
              </a:solidFill>
              <a:latin typeface="Arial"/>
              <a:ea typeface="Arial"/>
              <a:cs typeface="Arial"/>
              <a:sym typeface="Arial"/>
            </a:endParaRPr>
          </a:p>
        </p:txBody>
      </p:sp>
      <p:sp>
        <p:nvSpPr>
          <p:cNvPr id="339" name="Google Shape;339;p31"/>
          <p:cNvSpPr txBox="1"/>
          <p:nvPr/>
        </p:nvSpPr>
        <p:spPr>
          <a:xfrm>
            <a:off x="713233" y="2103120"/>
            <a:ext cx="23775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Task instruction sent as the user message: </a:t>
            </a:r>
            <a:r>
              <a:rPr b="0" i="0" lang="en-US" sz="1300" u="none" cap="none" strike="noStrike">
                <a:solidFill>
                  <a:srgbClr val="334155"/>
                </a:solidFill>
                <a:latin typeface="Courier New"/>
                <a:ea typeface="Courier New"/>
                <a:cs typeface="Courier New"/>
                <a:sym typeface="Courier New"/>
              </a:rPr>
              <a:t>tasks/&lt;id&gt;/prompt.txt</a:t>
            </a:r>
            <a:endParaRPr b="0" i="0" sz="1400" u="none" cap="none" strike="noStrike">
              <a:solidFill>
                <a:srgbClr val="000000"/>
              </a:solidFill>
              <a:latin typeface="Arial"/>
              <a:ea typeface="Arial"/>
              <a:cs typeface="Arial"/>
              <a:sym typeface="Arial"/>
            </a:endParaRPr>
          </a:p>
        </p:txBody>
      </p:sp>
      <p:sp>
        <p:nvSpPr>
          <p:cNvPr id="340" name="Google Shape;340;p31"/>
          <p:cNvSpPr/>
          <p:nvPr/>
        </p:nvSpPr>
        <p:spPr>
          <a:xfrm>
            <a:off x="3337567" y="1645920"/>
            <a:ext cx="2651700" cy="13899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1" name="Google Shape;341;p31"/>
          <p:cNvSpPr txBox="1"/>
          <p:nvPr/>
        </p:nvSpPr>
        <p:spPr>
          <a:xfrm>
            <a:off x="3502159" y="1755648"/>
            <a:ext cx="23775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766E"/>
                </a:solidFill>
                <a:latin typeface="Calibri"/>
                <a:ea typeface="Calibri"/>
                <a:cs typeface="Calibri"/>
                <a:sym typeface="Calibri"/>
              </a:rPr>
              <a:t>System prompt</a:t>
            </a:r>
            <a:endParaRPr b="0" i="0" sz="1400" u="none" cap="none" strike="noStrike">
              <a:solidFill>
                <a:srgbClr val="000000"/>
              </a:solidFill>
              <a:latin typeface="Arial"/>
              <a:ea typeface="Arial"/>
              <a:cs typeface="Arial"/>
              <a:sym typeface="Arial"/>
            </a:endParaRPr>
          </a:p>
        </p:txBody>
      </p:sp>
      <p:sp>
        <p:nvSpPr>
          <p:cNvPr id="342" name="Google Shape;342;p31"/>
          <p:cNvSpPr txBox="1"/>
          <p:nvPr/>
        </p:nvSpPr>
        <p:spPr>
          <a:xfrm>
            <a:off x="3502159" y="2103120"/>
            <a:ext cx="23775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Guidance text + "You must use tools… write findings.json"</a:t>
            </a:r>
            <a:endParaRPr b="0" i="0" sz="1400" u="none" cap="none" strike="noStrike">
              <a:solidFill>
                <a:srgbClr val="000000"/>
              </a:solidFill>
              <a:latin typeface="Arial"/>
              <a:ea typeface="Arial"/>
              <a:cs typeface="Arial"/>
              <a:sym typeface="Arial"/>
            </a:endParaRPr>
          </a:p>
        </p:txBody>
      </p:sp>
      <p:sp>
        <p:nvSpPr>
          <p:cNvPr id="343" name="Google Shape;343;p31"/>
          <p:cNvSpPr/>
          <p:nvPr/>
        </p:nvSpPr>
        <p:spPr>
          <a:xfrm>
            <a:off x="6126492" y="1645920"/>
            <a:ext cx="2651700" cy="13899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4" name="Google Shape;344;p31"/>
          <p:cNvSpPr txBox="1"/>
          <p:nvPr/>
        </p:nvSpPr>
        <p:spPr>
          <a:xfrm>
            <a:off x="6291084" y="1755648"/>
            <a:ext cx="23775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766E"/>
                </a:solidFill>
                <a:latin typeface="Calibri"/>
                <a:ea typeface="Calibri"/>
                <a:cs typeface="Calibri"/>
                <a:sym typeface="Calibri"/>
              </a:rPr>
              <a:t>AGENTS.md</a:t>
            </a:r>
            <a:endParaRPr b="0" i="0" sz="1400" u="none" cap="none" strike="noStrike">
              <a:solidFill>
                <a:srgbClr val="000000"/>
              </a:solidFill>
              <a:latin typeface="Arial"/>
              <a:ea typeface="Arial"/>
              <a:cs typeface="Arial"/>
              <a:sym typeface="Arial"/>
            </a:endParaRPr>
          </a:p>
        </p:txBody>
      </p:sp>
      <p:sp>
        <p:nvSpPr>
          <p:cNvPr id="345" name="Google Shape;345;p31"/>
          <p:cNvSpPr txBox="1"/>
          <p:nvPr/>
        </p:nvSpPr>
        <p:spPr>
          <a:xfrm>
            <a:off x="6291084" y="2103120"/>
            <a:ext cx="23775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Repo-level standing instructions. </a:t>
            </a:r>
            <a:r>
              <a:rPr b="1" i="0" lang="en-US" sz="1300" u="none" cap="none" strike="noStrike">
                <a:solidFill>
                  <a:srgbClr val="334155"/>
                </a:solidFill>
                <a:latin typeface="Calibri"/>
                <a:ea typeface="Calibri"/>
                <a:cs typeface="Calibri"/>
                <a:sym typeface="Calibri"/>
              </a:rPr>
              <a:t>The baseline arm.</a:t>
            </a:r>
            <a:endParaRPr b="0" i="0" sz="1400" u="none" cap="none" strike="noStrike">
              <a:solidFill>
                <a:srgbClr val="000000"/>
              </a:solidFill>
              <a:latin typeface="Arial"/>
              <a:ea typeface="Arial"/>
              <a:cs typeface="Arial"/>
              <a:sym typeface="Arial"/>
            </a:endParaRPr>
          </a:p>
        </p:txBody>
      </p:sp>
      <p:sp>
        <p:nvSpPr>
          <p:cNvPr id="346" name="Google Shape;346;p31"/>
          <p:cNvSpPr/>
          <p:nvPr/>
        </p:nvSpPr>
        <p:spPr>
          <a:xfrm>
            <a:off x="8915417" y="1645920"/>
            <a:ext cx="2651700" cy="13899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7" name="Google Shape;347;p31"/>
          <p:cNvSpPr txBox="1"/>
          <p:nvPr/>
        </p:nvSpPr>
        <p:spPr>
          <a:xfrm>
            <a:off x="9080010" y="1755648"/>
            <a:ext cx="23775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766E"/>
                </a:solidFill>
                <a:latin typeface="Calibri"/>
                <a:ea typeface="Calibri"/>
                <a:cs typeface="Calibri"/>
                <a:sym typeface="Calibri"/>
              </a:rPr>
              <a:t>SKILL.md</a:t>
            </a:r>
            <a:endParaRPr b="0" i="0" sz="1400" u="none" cap="none" strike="noStrike">
              <a:solidFill>
                <a:srgbClr val="000000"/>
              </a:solidFill>
              <a:latin typeface="Arial"/>
              <a:ea typeface="Arial"/>
              <a:cs typeface="Arial"/>
              <a:sym typeface="Arial"/>
            </a:endParaRPr>
          </a:p>
        </p:txBody>
      </p:sp>
      <p:sp>
        <p:nvSpPr>
          <p:cNvPr id="348" name="Google Shape;348;p31"/>
          <p:cNvSpPr txBox="1"/>
          <p:nvPr/>
        </p:nvSpPr>
        <p:spPr>
          <a:xfrm>
            <a:off x="9080010" y="2103120"/>
            <a:ext cx="23775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A focused skill file. </a:t>
            </a:r>
            <a:r>
              <a:rPr b="1" i="0" lang="en-US" sz="1300" u="none" cap="none" strike="noStrike">
                <a:solidFill>
                  <a:srgbClr val="334155"/>
                </a:solidFill>
                <a:latin typeface="Calibri"/>
                <a:ea typeface="Calibri"/>
                <a:cs typeface="Calibri"/>
                <a:sym typeface="Calibri"/>
              </a:rPr>
              <a:t>The candidate arm</a:t>
            </a:r>
            <a:r>
              <a:rPr b="0" i="0" lang="en-US" sz="1300" u="none" cap="none" strike="noStrike">
                <a:solidFill>
                  <a:srgbClr val="334155"/>
                </a:solidFill>
                <a:latin typeface="Calibri"/>
                <a:ea typeface="Calibri"/>
                <a:cs typeface="Calibri"/>
                <a:sym typeface="Calibri"/>
              </a:rPr>
              <a:t> (good or bad).</a:t>
            </a:r>
            <a:endParaRPr b="0" i="0" sz="1400" u="none" cap="none" strike="noStrike">
              <a:solidFill>
                <a:srgbClr val="000000"/>
              </a:solidFill>
              <a:latin typeface="Arial"/>
              <a:ea typeface="Arial"/>
              <a:cs typeface="Arial"/>
              <a:sym typeface="Arial"/>
            </a:endParaRPr>
          </a:p>
        </p:txBody>
      </p:sp>
      <p:sp>
        <p:nvSpPr>
          <p:cNvPr id="349" name="Google Shape;349;p31"/>
          <p:cNvSpPr/>
          <p:nvPr/>
        </p:nvSpPr>
        <p:spPr>
          <a:xfrm>
            <a:off x="548641" y="3182112"/>
            <a:ext cx="2651700" cy="13899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50" name="Google Shape;350;p31"/>
          <p:cNvSpPr txBox="1"/>
          <p:nvPr/>
        </p:nvSpPr>
        <p:spPr>
          <a:xfrm>
            <a:off x="713233" y="3291840"/>
            <a:ext cx="23775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766E"/>
                </a:solidFill>
                <a:latin typeface="Calibri"/>
                <a:ea typeface="Calibri"/>
                <a:cs typeface="Calibri"/>
                <a:sym typeface="Calibri"/>
              </a:rPr>
              <a:t>Tools</a:t>
            </a:r>
            <a:endParaRPr b="0" i="0" sz="1400" u="none" cap="none" strike="noStrike">
              <a:solidFill>
                <a:srgbClr val="000000"/>
              </a:solidFill>
              <a:latin typeface="Arial"/>
              <a:ea typeface="Arial"/>
              <a:cs typeface="Arial"/>
              <a:sym typeface="Arial"/>
            </a:endParaRPr>
          </a:p>
        </p:txBody>
      </p:sp>
      <p:sp>
        <p:nvSpPr>
          <p:cNvPr id="351" name="Google Shape;351;p31"/>
          <p:cNvSpPr txBox="1"/>
          <p:nvPr/>
        </p:nvSpPr>
        <p:spPr>
          <a:xfrm>
            <a:off x="713233" y="3639312"/>
            <a:ext cx="23775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ourier New"/>
                <a:ea typeface="Courier New"/>
                <a:cs typeface="Courier New"/>
                <a:sym typeface="Courier New"/>
              </a:rPr>
              <a:t>read_file</a:t>
            </a:r>
            <a:r>
              <a:rPr b="0" i="0" lang="en-US" sz="1300" u="none" cap="none" strike="noStrike">
                <a:solidFill>
                  <a:srgbClr val="334155"/>
                </a:solidFill>
                <a:latin typeface="Calibri"/>
                <a:ea typeface="Calibri"/>
                <a:cs typeface="Calibri"/>
                <a:sym typeface="Calibri"/>
              </a:rPr>
              <a:t>, </a:t>
            </a:r>
            <a:r>
              <a:rPr b="0" i="0" lang="en-US" sz="1300" u="none" cap="none" strike="noStrike">
                <a:solidFill>
                  <a:srgbClr val="334155"/>
                </a:solidFill>
                <a:latin typeface="Courier New"/>
                <a:ea typeface="Courier New"/>
                <a:cs typeface="Courier New"/>
                <a:sym typeface="Courier New"/>
              </a:rPr>
              <a:t>list_files</a:t>
            </a:r>
            <a:r>
              <a:rPr b="0" i="0" lang="en-US" sz="1300" u="none" cap="none" strike="noStrike">
                <a:solidFill>
                  <a:srgbClr val="334155"/>
                </a:solidFill>
                <a:latin typeface="Calibri"/>
                <a:ea typeface="Calibri"/>
                <a:cs typeface="Calibri"/>
                <a:sym typeface="Calibri"/>
              </a:rPr>
              <a:t>, </a:t>
            </a:r>
            <a:r>
              <a:rPr b="0" i="0" lang="en-US" sz="1300" u="none" cap="none" strike="noStrike">
                <a:solidFill>
                  <a:srgbClr val="334155"/>
                </a:solidFill>
                <a:latin typeface="Courier New"/>
                <a:ea typeface="Courier New"/>
                <a:cs typeface="Courier New"/>
                <a:sym typeface="Courier New"/>
              </a:rPr>
              <a:t>write_file</a:t>
            </a:r>
            <a:r>
              <a:rPr b="0" i="0" lang="en-US" sz="1300" u="none" cap="none" strike="noStrike">
                <a:solidFill>
                  <a:srgbClr val="334155"/>
                </a:solidFill>
                <a:latin typeface="Calibri"/>
                <a:ea typeface="Calibri"/>
                <a:cs typeface="Calibri"/>
                <a:sym typeface="Calibri"/>
              </a:rPr>
              <a:t>; sandboxed to the workspace</a:t>
            </a:r>
            <a:endParaRPr b="0" i="0" sz="1400" u="none" cap="none" strike="noStrike">
              <a:solidFill>
                <a:srgbClr val="000000"/>
              </a:solidFill>
              <a:latin typeface="Arial"/>
              <a:ea typeface="Arial"/>
              <a:cs typeface="Arial"/>
              <a:sym typeface="Arial"/>
            </a:endParaRPr>
          </a:p>
        </p:txBody>
      </p:sp>
      <p:sp>
        <p:nvSpPr>
          <p:cNvPr id="352" name="Google Shape;352;p31"/>
          <p:cNvSpPr/>
          <p:nvPr/>
        </p:nvSpPr>
        <p:spPr>
          <a:xfrm>
            <a:off x="3337567" y="3182112"/>
            <a:ext cx="2651700" cy="1389900"/>
          </a:xfrm>
          <a:prstGeom prst="roundRect">
            <a:avLst>
              <a:gd fmla="val 8000" name="adj"/>
            </a:avLst>
          </a:prstGeom>
          <a:solidFill>
            <a:srgbClr val="FEE2E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53" name="Google Shape;353;p31"/>
          <p:cNvSpPr txBox="1"/>
          <p:nvPr/>
        </p:nvSpPr>
        <p:spPr>
          <a:xfrm>
            <a:off x="3502159" y="3291840"/>
            <a:ext cx="23775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B91C1C"/>
                </a:solidFill>
                <a:latin typeface="Calibri"/>
                <a:ea typeface="Calibri"/>
                <a:cs typeface="Calibri"/>
                <a:sym typeface="Calibri"/>
              </a:rPr>
              <a:t>MCP / external context</a:t>
            </a:r>
            <a:endParaRPr b="0" i="0" sz="1400" u="none" cap="none" strike="noStrike">
              <a:solidFill>
                <a:srgbClr val="000000"/>
              </a:solidFill>
              <a:latin typeface="Arial"/>
              <a:ea typeface="Arial"/>
              <a:cs typeface="Arial"/>
              <a:sym typeface="Arial"/>
            </a:endParaRPr>
          </a:p>
        </p:txBody>
      </p:sp>
      <p:sp>
        <p:nvSpPr>
          <p:cNvPr id="354" name="Google Shape;354;p31"/>
          <p:cNvSpPr txBox="1"/>
          <p:nvPr/>
        </p:nvSpPr>
        <p:spPr>
          <a:xfrm>
            <a:off x="3502159" y="3639312"/>
            <a:ext cx="23775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334155"/>
                </a:solidFill>
                <a:latin typeface="Calibri"/>
                <a:ea typeface="Calibri"/>
                <a:cs typeface="Calibri"/>
                <a:sym typeface="Calibri"/>
              </a:rPr>
              <a:t>Not implemented.</a:t>
            </a:r>
            <a:r>
              <a:rPr b="0" i="0" lang="en-US" sz="1300" u="none" cap="none" strike="noStrike">
                <a:solidFill>
                  <a:srgbClr val="334155"/>
                </a:solidFill>
                <a:latin typeface="Calibri"/>
                <a:ea typeface="Calibri"/>
                <a:cs typeface="Calibri"/>
                <a:sym typeface="Calibri"/>
              </a:rPr>
              <a:t> No MCP servers, no web access</a:t>
            </a:r>
            <a:endParaRPr b="0" i="0" sz="1400" u="none" cap="none" strike="noStrike">
              <a:solidFill>
                <a:srgbClr val="000000"/>
              </a:solidFill>
              <a:latin typeface="Arial"/>
              <a:ea typeface="Arial"/>
              <a:cs typeface="Arial"/>
              <a:sym typeface="Arial"/>
            </a:endParaRPr>
          </a:p>
        </p:txBody>
      </p:sp>
      <p:sp>
        <p:nvSpPr>
          <p:cNvPr id="355" name="Google Shape;355;p31"/>
          <p:cNvSpPr/>
          <p:nvPr/>
        </p:nvSpPr>
        <p:spPr>
          <a:xfrm>
            <a:off x="6126492" y="3182112"/>
            <a:ext cx="2651700" cy="13899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56" name="Google Shape;356;p31"/>
          <p:cNvSpPr txBox="1"/>
          <p:nvPr/>
        </p:nvSpPr>
        <p:spPr>
          <a:xfrm>
            <a:off x="6291084" y="3291840"/>
            <a:ext cx="23775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766E"/>
                </a:solidFill>
                <a:latin typeface="Calibri"/>
                <a:ea typeface="Calibri"/>
                <a:cs typeface="Calibri"/>
                <a:sym typeface="Calibri"/>
              </a:rPr>
              <a:t>Task</a:t>
            </a:r>
            <a:endParaRPr b="0" i="0" sz="1400" u="none" cap="none" strike="noStrike">
              <a:solidFill>
                <a:srgbClr val="000000"/>
              </a:solidFill>
              <a:latin typeface="Arial"/>
              <a:ea typeface="Arial"/>
              <a:cs typeface="Arial"/>
              <a:sym typeface="Arial"/>
            </a:endParaRPr>
          </a:p>
        </p:txBody>
      </p:sp>
      <p:sp>
        <p:nvSpPr>
          <p:cNvPr id="357" name="Google Shape;357;p31"/>
          <p:cNvSpPr txBox="1"/>
          <p:nvPr/>
        </p:nvSpPr>
        <p:spPr>
          <a:xfrm>
            <a:off x="6291084" y="3639312"/>
            <a:ext cx="23775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Prompt + repo + </a:t>
            </a:r>
            <a:r>
              <a:rPr b="1" i="0" lang="en-US" sz="1300" u="none" cap="none" strike="noStrike">
                <a:solidFill>
                  <a:srgbClr val="334155"/>
                </a:solidFill>
                <a:latin typeface="Calibri"/>
                <a:ea typeface="Calibri"/>
                <a:cs typeface="Calibri"/>
                <a:sym typeface="Calibri"/>
              </a:rPr>
              <a:t>held-out</a:t>
            </a:r>
            <a:r>
              <a:rPr b="0" i="0" lang="en-US" sz="1300" u="none" cap="none" strike="noStrike">
                <a:solidFill>
                  <a:srgbClr val="334155"/>
                </a:solidFill>
                <a:latin typeface="Calibri"/>
                <a:ea typeface="Calibri"/>
                <a:cs typeface="Calibri"/>
                <a:sym typeface="Calibri"/>
              </a:rPr>
              <a:t> success criteria</a:t>
            </a:r>
            <a:endParaRPr b="0" i="0" sz="1400" u="none" cap="none" strike="noStrike">
              <a:solidFill>
                <a:srgbClr val="000000"/>
              </a:solidFill>
              <a:latin typeface="Arial"/>
              <a:ea typeface="Arial"/>
              <a:cs typeface="Arial"/>
              <a:sym typeface="Arial"/>
            </a:endParaRPr>
          </a:p>
        </p:txBody>
      </p:sp>
      <p:sp>
        <p:nvSpPr>
          <p:cNvPr id="358" name="Google Shape;358;p31"/>
          <p:cNvSpPr/>
          <p:nvPr/>
        </p:nvSpPr>
        <p:spPr>
          <a:xfrm>
            <a:off x="8915417" y="3182112"/>
            <a:ext cx="2651700" cy="13899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59" name="Google Shape;359;p31"/>
          <p:cNvSpPr txBox="1"/>
          <p:nvPr/>
        </p:nvSpPr>
        <p:spPr>
          <a:xfrm>
            <a:off x="9080010" y="3291840"/>
            <a:ext cx="23775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766E"/>
                </a:solidFill>
                <a:latin typeface="Calibri"/>
                <a:ea typeface="Calibri"/>
                <a:cs typeface="Calibri"/>
                <a:sym typeface="Calibri"/>
              </a:rPr>
              <a:t>Trial · repetition</a:t>
            </a:r>
            <a:endParaRPr b="0" i="0" sz="1400" u="none" cap="none" strike="noStrike">
              <a:solidFill>
                <a:srgbClr val="000000"/>
              </a:solidFill>
              <a:latin typeface="Arial"/>
              <a:ea typeface="Arial"/>
              <a:cs typeface="Arial"/>
              <a:sym typeface="Arial"/>
            </a:endParaRPr>
          </a:p>
        </p:txBody>
      </p:sp>
      <p:sp>
        <p:nvSpPr>
          <p:cNvPr id="360" name="Google Shape;360;p31"/>
          <p:cNvSpPr txBox="1"/>
          <p:nvPr/>
        </p:nvSpPr>
        <p:spPr>
          <a:xfrm>
            <a:off x="9080010" y="3639312"/>
            <a:ext cx="23775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One arm on one task in a fresh workspace · </a:t>
            </a:r>
            <a:r>
              <a:rPr b="1" i="0" lang="en-US" sz="1300" u="none" cap="none" strike="noStrike">
                <a:solidFill>
                  <a:srgbClr val="334155"/>
                </a:solidFill>
                <a:latin typeface="Calibri"/>
                <a:ea typeface="Calibri"/>
                <a:cs typeface="Calibri"/>
                <a:sym typeface="Calibri"/>
              </a:rPr>
              <a:t>REPS = 2</a:t>
            </a:r>
            <a:endParaRPr b="0" i="0" sz="1400" u="none" cap="none" strike="noStrike">
              <a:solidFill>
                <a:srgbClr val="000000"/>
              </a:solidFill>
              <a:latin typeface="Arial"/>
              <a:ea typeface="Arial"/>
              <a:cs typeface="Arial"/>
              <a:sym typeface="Arial"/>
            </a:endParaRPr>
          </a:p>
        </p:txBody>
      </p:sp>
      <p:sp>
        <p:nvSpPr>
          <p:cNvPr id="361" name="Google Shape;361;p31"/>
          <p:cNvSpPr/>
          <p:nvPr/>
        </p:nvSpPr>
        <p:spPr>
          <a:xfrm>
            <a:off x="548641" y="4718304"/>
            <a:ext cx="2651700" cy="13899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2" name="Google Shape;362;p31"/>
          <p:cNvSpPr txBox="1"/>
          <p:nvPr/>
        </p:nvSpPr>
        <p:spPr>
          <a:xfrm>
            <a:off x="713233" y="4828032"/>
            <a:ext cx="23775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766E"/>
                </a:solidFill>
                <a:latin typeface="Calibri"/>
                <a:ea typeface="Calibri"/>
                <a:cs typeface="Calibri"/>
                <a:sym typeface="Calibri"/>
              </a:rPr>
              <a:t>Grader</a:t>
            </a:r>
            <a:endParaRPr b="0" i="0" sz="1400" u="none" cap="none" strike="noStrike">
              <a:solidFill>
                <a:srgbClr val="000000"/>
              </a:solidFill>
              <a:latin typeface="Arial"/>
              <a:ea typeface="Arial"/>
              <a:cs typeface="Arial"/>
              <a:sym typeface="Arial"/>
            </a:endParaRPr>
          </a:p>
        </p:txBody>
      </p:sp>
      <p:sp>
        <p:nvSpPr>
          <p:cNvPr id="363" name="Google Shape;363;p31"/>
          <p:cNvSpPr txBox="1"/>
          <p:nvPr/>
        </p:nvSpPr>
        <p:spPr>
          <a:xfrm>
            <a:off x="713233" y="5175504"/>
            <a:ext cx="23775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334155"/>
                </a:solidFill>
                <a:latin typeface="Calibri"/>
                <a:ea typeface="Calibri"/>
                <a:cs typeface="Calibri"/>
                <a:sym typeface="Calibri"/>
              </a:rPr>
              <a:t>Code decides PASS.</a:t>
            </a:r>
            <a:r>
              <a:rPr b="0" i="0" lang="en-US" sz="1300" u="none" cap="none" strike="noStrike">
                <a:solidFill>
                  <a:srgbClr val="334155"/>
                </a:solidFill>
                <a:latin typeface="Calibri"/>
                <a:ea typeface="Calibri"/>
                <a:cs typeface="Calibri"/>
                <a:sym typeface="Calibri"/>
              </a:rPr>
              <a:t> Model rubric and human are evidence</a:t>
            </a:r>
            <a:endParaRPr b="0" i="0" sz="1400" u="none" cap="none" strike="noStrike">
              <a:solidFill>
                <a:srgbClr val="000000"/>
              </a:solidFill>
              <a:latin typeface="Arial"/>
              <a:ea typeface="Arial"/>
              <a:cs typeface="Arial"/>
              <a:sym typeface="Arial"/>
            </a:endParaRPr>
          </a:p>
        </p:txBody>
      </p:sp>
      <p:sp>
        <p:nvSpPr>
          <p:cNvPr id="364" name="Google Shape;364;p31"/>
          <p:cNvSpPr/>
          <p:nvPr/>
        </p:nvSpPr>
        <p:spPr>
          <a:xfrm>
            <a:off x="3337567" y="4718304"/>
            <a:ext cx="2651700" cy="13899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5" name="Google Shape;365;p31"/>
          <p:cNvSpPr txBox="1"/>
          <p:nvPr/>
        </p:nvSpPr>
        <p:spPr>
          <a:xfrm>
            <a:off x="3502159" y="4828032"/>
            <a:ext cx="23775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766E"/>
                </a:solidFill>
                <a:latin typeface="Calibri"/>
                <a:ea typeface="Calibri"/>
                <a:cs typeface="Calibri"/>
                <a:sym typeface="Calibri"/>
              </a:rPr>
              <a:t>Baseline · candidate</a:t>
            </a:r>
            <a:endParaRPr b="0" i="0" sz="1400" u="none" cap="none" strike="noStrike">
              <a:solidFill>
                <a:srgbClr val="000000"/>
              </a:solidFill>
              <a:latin typeface="Arial"/>
              <a:ea typeface="Arial"/>
              <a:cs typeface="Arial"/>
              <a:sym typeface="Arial"/>
            </a:endParaRPr>
          </a:p>
        </p:txBody>
      </p:sp>
      <p:sp>
        <p:nvSpPr>
          <p:cNvPr id="366" name="Google Shape;366;p31"/>
          <p:cNvSpPr txBox="1"/>
          <p:nvPr/>
        </p:nvSpPr>
        <p:spPr>
          <a:xfrm>
            <a:off x="3502159" y="5175504"/>
            <a:ext cx="23775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Current harness vs proposed change, on identical tasks</a:t>
            </a:r>
            <a:endParaRPr b="0" i="0" sz="1400" u="none" cap="none" strike="noStrike">
              <a:solidFill>
                <a:srgbClr val="000000"/>
              </a:solidFill>
              <a:latin typeface="Arial"/>
              <a:ea typeface="Arial"/>
              <a:cs typeface="Arial"/>
              <a:sym typeface="Arial"/>
            </a:endParaRPr>
          </a:p>
        </p:txBody>
      </p:sp>
      <p:sp>
        <p:nvSpPr>
          <p:cNvPr id="367" name="Google Shape;367;p31"/>
          <p:cNvSpPr/>
          <p:nvPr/>
        </p:nvSpPr>
        <p:spPr>
          <a:xfrm>
            <a:off x="6126492" y="4718304"/>
            <a:ext cx="2651700" cy="13899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8" name="Google Shape;368;p31"/>
          <p:cNvSpPr txBox="1"/>
          <p:nvPr/>
        </p:nvSpPr>
        <p:spPr>
          <a:xfrm>
            <a:off x="6291084" y="4828032"/>
            <a:ext cx="23775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766E"/>
                </a:solidFill>
                <a:latin typeface="Calibri"/>
                <a:ea typeface="Calibri"/>
                <a:cs typeface="Calibri"/>
                <a:sym typeface="Calibri"/>
              </a:rPr>
              <a:t>Capability · regression</a:t>
            </a:r>
            <a:endParaRPr b="0" i="0" sz="1400" u="none" cap="none" strike="noStrike">
              <a:solidFill>
                <a:srgbClr val="000000"/>
              </a:solidFill>
              <a:latin typeface="Arial"/>
              <a:ea typeface="Arial"/>
              <a:cs typeface="Arial"/>
              <a:sym typeface="Arial"/>
            </a:endParaRPr>
          </a:p>
        </p:txBody>
      </p:sp>
      <p:sp>
        <p:nvSpPr>
          <p:cNvPr id="369" name="Google Shape;369;p31"/>
          <p:cNvSpPr txBox="1"/>
          <p:nvPr/>
        </p:nvSpPr>
        <p:spPr>
          <a:xfrm>
            <a:off x="6291084" y="5175504"/>
            <a:ext cx="23775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What we are learning vs what </a:t>
            </a:r>
            <a:r>
              <a:rPr b="1" i="0" lang="en-US" sz="1300" u="none" cap="none" strike="noStrike">
                <a:solidFill>
                  <a:srgbClr val="334155"/>
                </a:solidFill>
                <a:latin typeface="Calibri"/>
                <a:ea typeface="Calibri"/>
                <a:cs typeface="Calibri"/>
                <a:sym typeface="Calibri"/>
              </a:rPr>
              <a:t>must keep passing</a:t>
            </a:r>
            <a:endParaRPr b="0" i="0" sz="1400" u="none" cap="none" strike="noStrike">
              <a:solidFill>
                <a:srgbClr val="000000"/>
              </a:solidFill>
              <a:latin typeface="Arial"/>
              <a:ea typeface="Arial"/>
              <a:cs typeface="Arial"/>
              <a:sym typeface="Arial"/>
            </a:endParaRPr>
          </a:p>
        </p:txBody>
      </p:sp>
      <p:sp>
        <p:nvSpPr>
          <p:cNvPr id="370" name="Google Shape;370;p31"/>
          <p:cNvSpPr/>
          <p:nvPr/>
        </p:nvSpPr>
        <p:spPr>
          <a:xfrm>
            <a:off x="8915417" y="4718304"/>
            <a:ext cx="2651700" cy="13899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1" name="Google Shape;371;p31"/>
          <p:cNvSpPr txBox="1"/>
          <p:nvPr/>
        </p:nvSpPr>
        <p:spPr>
          <a:xfrm>
            <a:off x="9080010" y="4828032"/>
            <a:ext cx="23775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766E"/>
                </a:solidFill>
                <a:latin typeface="Calibri"/>
                <a:ea typeface="Calibri"/>
                <a:cs typeface="Calibri"/>
                <a:sym typeface="Calibri"/>
              </a:rPr>
              <a:t>Graduation · phase</a:t>
            </a:r>
            <a:endParaRPr b="0" i="0" sz="1400" u="none" cap="none" strike="noStrike">
              <a:solidFill>
                <a:srgbClr val="000000"/>
              </a:solidFill>
              <a:latin typeface="Arial"/>
              <a:ea typeface="Arial"/>
              <a:cs typeface="Arial"/>
              <a:sym typeface="Arial"/>
            </a:endParaRPr>
          </a:p>
        </p:txBody>
      </p:sp>
      <p:sp>
        <p:nvSpPr>
          <p:cNvPr id="372" name="Google Shape;372;p31"/>
          <p:cNvSpPr txBox="1"/>
          <p:nvPr/>
        </p:nvSpPr>
        <p:spPr>
          <a:xfrm>
            <a:off x="9080010" y="5175504"/>
            <a:ext cx="23775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Capability → regression after </a:t>
            </a:r>
            <a:r>
              <a:rPr b="1" i="0" lang="en-US" sz="1300" u="none" cap="none" strike="noStrike">
                <a:solidFill>
                  <a:srgbClr val="334155"/>
                </a:solidFill>
                <a:latin typeface="Calibri"/>
                <a:ea typeface="Calibri"/>
                <a:cs typeface="Calibri"/>
                <a:sym typeface="Calibri"/>
              </a:rPr>
              <a:t>2/2</a:t>
            </a:r>
            <a:r>
              <a:rPr b="0" i="0" lang="en-US" sz="1300" u="none" cap="none" strike="noStrike">
                <a:solidFill>
                  <a:srgbClr val="334155"/>
                </a:solidFill>
                <a:latin typeface="Calibri"/>
                <a:ea typeface="Calibri"/>
                <a:cs typeface="Calibri"/>
                <a:sym typeface="Calibri"/>
              </a:rPr>
              <a:t> passes · Phase 2 is gated</a:t>
            </a:r>
            <a:endParaRPr b="0" i="0" sz="1400" u="none" cap="none" strike="noStrike">
              <a:solidFill>
                <a:srgbClr val="000000"/>
              </a:solidFill>
              <a:latin typeface="Arial"/>
              <a:ea typeface="Arial"/>
              <a:cs typeface="Arial"/>
              <a:sym typeface="Arial"/>
            </a:endParaRPr>
          </a:p>
        </p:txBody>
      </p:sp>
      <p:sp>
        <p:nvSpPr>
          <p:cNvPr id="373" name="Google Shape;373;p31"/>
          <p:cNvSpPr/>
          <p:nvPr/>
        </p:nvSpPr>
        <p:spPr>
          <a:xfrm>
            <a:off x="11072175" y="239544"/>
            <a:ext cx="674100" cy="5589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Calibri"/>
                <a:ea typeface="Calibri"/>
                <a:cs typeface="Calibri"/>
                <a:sym typeface="Calibri"/>
              </a:rPr>
              <a:t>skip</a:t>
            </a:r>
            <a:endParaRPr>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8" name="Shape 378"/>
        <p:cNvGrpSpPr/>
        <p:nvPr/>
      </p:nvGrpSpPr>
      <p:grpSpPr>
        <a:xfrm>
          <a:off x="0" y="0"/>
          <a:ext cx="0" cy="0"/>
          <a:chOff x="0" y="0"/>
          <a:chExt cx="0" cy="0"/>
        </a:xfrm>
      </p:grpSpPr>
      <p:sp>
        <p:nvSpPr>
          <p:cNvPr id="379" name="Google Shape;379;p32"/>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What is an evaluation harness?</a:t>
            </a:r>
            <a:endParaRPr b="0" i="0" sz="1400" u="none" cap="none" strike="noStrike">
              <a:solidFill>
                <a:srgbClr val="000000"/>
              </a:solidFill>
              <a:latin typeface="Arial"/>
              <a:ea typeface="Arial"/>
              <a:cs typeface="Arial"/>
              <a:sym typeface="Arial"/>
            </a:endParaRPr>
          </a:p>
        </p:txBody>
      </p:sp>
      <p:sp>
        <p:nvSpPr>
          <p:cNvPr id="380" name="Google Shape;380;p32"/>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Change the </a:t>
            </a:r>
            <a:r>
              <a:rPr b="1" i="0" lang="en-US" sz="1600" u="none" cap="none" strike="noStrike">
                <a:solidFill>
                  <a:srgbClr val="334155"/>
                </a:solidFill>
                <a:latin typeface="Calibri"/>
                <a:ea typeface="Calibri"/>
                <a:cs typeface="Calibri"/>
                <a:sym typeface="Calibri"/>
              </a:rPr>
              <a:t>agent harness</a:t>
            </a:r>
            <a:r>
              <a:rPr b="0" i="0" lang="en-US" sz="1600" u="none" cap="none" strike="noStrike">
                <a:solidFill>
                  <a:srgbClr val="334155"/>
                </a:solidFill>
                <a:latin typeface="Calibri"/>
                <a:ea typeface="Calibri"/>
                <a:cs typeface="Calibri"/>
                <a:sym typeface="Calibri"/>
              </a:rPr>
              <a:t> and keep the </a:t>
            </a:r>
            <a:r>
              <a:rPr b="1" i="0" lang="en-US" sz="1600" u="none" cap="none" strike="noStrike">
                <a:solidFill>
                  <a:srgbClr val="334155"/>
                </a:solidFill>
                <a:latin typeface="Calibri"/>
                <a:ea typeface="Calibri"/>
                <a:cs typeface="Calibri"/>
                <a:sym typeface="Calibri"/>
              </a:rPr>
              <a:t>evaluation methodology</a:t>
            </a:r>
            <a:r>
              <a:rPr b="0" i="0" lang="en-US" sz="1600" u="none" cap="none" strike="noStrike">
                <a:solidFill>
                  <a:srgbClr val="334155"/>
                </a:solidFill>
                <a:latin typeface="Calibri"/>
                <a:ea typeface="Calibri"/>
                <a:cs typeface="Calibri"/>
                <a:sym typeface="Calibri"/>
              </a:rPr>
              <a:t> fixed. Only then is a result attributable.</a:t>
            </a:r>
            <a:endParaRPr b="0" i="0" sz="1400" u="none" cap="none" strike="noStrike">
              <a:solidFill>
                <a:srgbClr val="000000"/>
              </a:solidFill>
              <a:latin typeface="Arial"/>
              <a:ea typeface="Arial"/>
              <a:cs typeface="Arial"/>
              <a:sym typeface="Arial"/>
            </a:endParaRPr>
          </a:p>
        </p:txBody>
      </p:sp>
      <p:sp>
        <p:nvSpPr>
          <p:cNvPr id="381" name="Google Shape;381;p32"/>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Problem &amp; concepts</a:t>
            </a:r>
            <a:endParaRPr b="0" i="0" sz="1400" u="none" cap="none" strike="noStrike">
              <a:solidFill>
                <a:srgbClr val="000000"/>
              </a:solidFill>
              <a:latin typeface="Arial"/>
              <a:ea typeface="Arial"/>
              <a:cs typeface="Arial"/>
              <a:sym typeface="Arial"/>
            </a:endParaRPr>
          </a:p>
        </p:txBody>
      </p:sp>
      <p:sp>
        <p:nvSpPr>
          <p:cNvPr id="382" name="Google Shape;382;p32"/>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sp>
        <p:nvSpPr>
          <p:cNvPr id="383" name="Google Shape;383;p32"/>
          <p:cNvSpPr/>
          <p:nvPr/>
        </p:nvSpPr>
        <p:spPr>
          <a:xfrm>
            <a:off x="548641" y="1691640"/>
            <a:ext cx="1161300" cy="658500"/>
          </a:xfrm>
          <a:prstGeom prst="roundRect">
            <a:avLst>
              <a:gd fmla="val 20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Model</a:t>
            </a:r>
            <a:endParaRPr b="0" i="0" sz="1400" u="none" cap="none" strike="noStrike">
              <a:solidFill>
                <a:srgbClr val="000000"/>
              </a:solidFill>
              <a:latin typeface="Arial"/>
              <a:ea typeface="Arial"/>
              <a:cs typeface="Arial"/>
              <a:sym typeface="Arial"/>
            </a:endParaRPr>
          </a:p>
        </p:txBody>
      </p:sp>
      <p:sp>
        <p:nvSpPr>
          <p:cNvPr id="384" name="Google Shape;384;p32"/>
          <p:cNvSpPr txBox="1"/>
          <p:nvPr/>
        </p:nvSpPr>
        <p:spPr>
          <a:xfrm>
            <a:off x="1709932" y="1691640"/>
            <a:ext cx="274200" cy="6585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000000"/>
              </a:buClr>
              <a:buSzPts val="2000"/>
              <a:buFont typeface="Arial"/>
              <a:buNone/>
            </a:pPr>
            <a:r>
              <a:rPr b="1" i="0" lang="en-US" sz="2000" u="none" cap="none" strike="noStrike">
                <a:solidFill>
                  <a:srgbClr val="64748B"/>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85" name="Google Shape;385;p32"/>
          <p:cNvSpPr/>
          <p:nvPr/>
        </p:nvSpPr>
        <p:spPr>
          <a:xfrm>
            <a:off x="1984252" y="1691640"/>
            <a:ext cx="1161300" cy="658500"/>
          </a:xfrm>
          <a:prstGeom prst="roundRect">
            <a:avLst>
              <a:gd fmla="val 20000" name="adj"/>
            </a:avLst>
          </a:prstGeom>
          <a:solidFill>
            <a:srgbClr val="FEF3C7"/>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B45309"/>
                </a:solidFill>
                <a:latin typeface="Calibri"/>
                <a:ea typeface="Calibri"/>
                <a:cs typeface="Calibri"/>
                <a:sym typeface="Calibri"/>
              </a:rPr>
              <a:t>Instructions</a:t>
            </a:r>
            <a:endParaRPr b="0" i="0" sz="1400" u="none" cap="none" strike="noStrike">
              <a:solidFill>
                <a:srgbClr val="000000"/>
              </a:solidFill>
              <a:latin typeface="Arial"/>
              <a:ea typeface="Arial"/>
              <a:cs typeface="Arial"/>
              <a:sym typeface="Arial"/>
            </a:endParaRPr>
          </a:p>
        </p:txBody>
      </p:sp>
      <p:sp>
        <p:nvSpPr>
          <p:cNvPr id="386" name="Google Shape;386;p32"/>
          <p:cNvSpPr txBox="1"/>
          <p:nvPr/>
        </p:nvSpPr>
        <p:spPr>
          <a:xfrm>
            <a:off x="3145542" y="1691640"/>
            <a:ext cx="274200" cy="6585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000000"/>
              </a:buClr>
              <a:buSzPts val="2000"/>
              <a:buFont typeface="Arial"/>
              <a:buNone/>
            </a:pPr>
            <a:r>
              <a:rPr b="1" i="0" lang="en-US" sz="2000" u="none" cap="none" strike="noStrike">
                <a:solidFill>
                  <a:srgbClr val="64748B"/>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87" name="Google Shape;387;p32"/>
          <p:cNvSpPr/>
          <p:nvPr/>
        </p:nvSpPr>
        <p:spPr>
          <a:xfrm>
            <a:off x="3419863" y="1691640"/>
            <a:ext cx="1161300" cy="658500"/>
          </a:xfrm>
          <a:prstGeom prst="roundRect">
            <a:avLst>
              <a:gd fmla="val 20000" name="adj"/>
            </a:avLst>
          </a:prstGeom>
          <a:solidFill>
            <a:srgbClr val="FEF3C7"/>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B45309"/>
                </a:solidFill>
                <a:latin typeface="Calibri"/>
                <a:ea typeface="Calibri"/>
                <a:cs typeface="Calibri"/>
                <a:sym typeface="Calibri"/>
              </a:rPr>
              <a:t>Skills</a:t>
            </a:r>
            <a:endParaRPr b="0" i="0" sz="1400" u="none" cap="none" strike="noStrike">
              <a:solidFill>
                <a:srgbClr val="000000"/>
              </a:solidFill>
              <a:latin typeface="Arial"/>
              <a:ea typeface="Arial"/>
              <a:cs typeface="Arial"/>
              <a:sym typeface="Arial"/>
            </a:endParaRPr>
          </a:p>
        </p:txBody>
      </p:sp>
      <p:sp>
        <p:nvSpPr>
          <p:cNvPr id="388" name="Google Shape;388;p32"/>
          <p:cNvSpPr txBox="1"/>
          <p:nvPr/>
        </p:nvSpPr>
        <p:spPr>
          <a:xfrm>
            <a:off x="4581153" y="1691640"/>
            <a:ext cx="274200" cy="6585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000000"/>
              </a:buClr>
              <a:buSzPts val="2000"/>
              <a:buFont typeface="Arial"/>
              <a:buNone/>
            </a:pPr>
            <a:r>
              <a:rPr b="1" i="0" lang="en-US" sz="2000" u="none" cap="none" strike="noStrike">
                <a:solidFill>
                  <a:srgbClr val="64748B"/>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89" name="Google Shape;389;p32"/>
          <p:cNvSpPr/>
          <p:nvPr/>
        </p:nvSpPr>
        <p:spPr>
          <a:xfrm>
            <a:off x="4855474" y="1691640"/>
            <a:ext cx="1161300" cy="658500"/>
          </a:xfrm>
          <a:prstGeom prst="roundRect">
            <a:avLst>
              <a:gd fmla="val 20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Tools</a:t>
            </a:r>
            <a:endParaRPr b="0" i="0" sz="1400" u="none" cap="none" strike="noStrike">
              <a:solidFill>
                <a:srgbClr val="000000"/>
              </a:solidFill>
              <a:latin typeface="Arial"/>
              <a:ea typeface="Arial"/>
              <a:cs typeface="Arial"/>
              <a:sym typeface="Arial"/>
            </a:endParaRPr>
          </a:p>
        </p:txBody>
      </p:sp>
      <p:sp>
        <p:nvSpPr>
          <p:cNvPr id="390" name="Google Shape;390;p32"/>
          <p:cNvSpPr txBox="1"/>
          <p:nvPr/>
        </p:nvSpPr>
        <p:spPr>
          <a:xfrm>
            <a:off x="6016764" y="1691640"/>
            <a:ext cx="274200" cy="6585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000000"/>
              </a:buClr>
              <a:buSzPts val="2000"/>
              <a:buFont typeface="Arial"/>
              <a:buNone/>
            </a:pPr>
            <a:r>
              <a:rPr b="1" i="0" lang="en-US" sz="2000" u="none" cap="none" strike="noStrike">
                <a:solidFill>
                  <a:srgbClr val="64748B"/>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91" name="Google Shape;391;p32"/>
          <p:cNvSpPr/>
          <p:nvPr/>
        </p:nvSpPr>
        <p:spPr>
          <a:xfrm>
            <a:off x="6291085" y="1691640"/>
            <a:ext cx="1161300" cy="658500"/>
          </a:xfrm>
          <a:prstGeom prst="roundRect">
            <a:avLst>
              <a:gd fmla="val 20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Context</a:t>
            </a:r>
            <a:endParaRPr b="0" i="0" sz="1400" u="none" cap="none" strike="noStrike">
              <a:solidFill>
                <a:srgbClr val="000000"/>
              </a:solidFill>
              <a:latin typeface="Arial"/>
              <a:ea typeface="Arial"/>
              <a:cs typeface="Arial"/>
              <a:sym typeface="Arial"/>
            </a:endParaRPr>
          </a:p>
        </p:txBody>
      </p:sp>
      <p:sp>
        <p:nvSpPr>
          <p:cNvPr id="392" name="Google Shape;392;p32"/>
          <p:cNvSpPr txBox="1"/>
          <p:nvPr/>
        </p:nvSpPr>
        <p:spPr>
          <a:xfrm>
            <a:off x="7452375" y="1691640"/>
            <a:ext cx="274200" cy="6585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000000"/>
              </a:buClr>
              <a:buSzPts val="2000"/>
              <a:buFont typeface="Arial"/>
              <a:buNone/>
            </a:pPr>
            <a:r>
              <a:rPr b="1" i="0" lang="en-US" sz="2000" u="none" cap="none" strike="noStrike">
                <a:solidFill>
                  <a:srgbClr val="64748B"/>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93" name="Google Shape;393;p32"/>
          <p:cNvSpPr/>
          <p:nvPr/>
        </p:nvSpPr>
        <p:spPr>
          <a:xfrm>
            <a:off x="7726696" y="1691640"/>
            <a:ext cx="1161300" cy="658500"/>
          </a:xfrm>
          <a:prstGeom prst="roundRect">
            <a:avLst>
              <a:gd fmla="val 20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Execution loop</a:t>
            </a:r>
            <a:endParaRPr b="0" i="0" sz="1400" u="none" cap="none" strike="noStrike">
              <a:solidFill>
                <a:srgbClr val="000000"/>
              </a:solidFill>
              <a:latin typeface="Arial"/>
              <a:ea typeface="Arial"/>
              <a:cs typeface="Arial"/>
              <a:sym typeface="Arial"/>
            </a:endParaRPr>
          </a:p>
        </p:txBody>
      </p:sp>
      <p:sp>
        <p:nvSpPr>
          <p:cNvPr id="394" name="Google Shape;394;p32"/>
          <p:cNvSpPr txBox="1"/>
          <p:nvPr/>
        </p:nvSpPr>
        <p:spPr>
          <a:xfrm>
            <a:off x="8887986" y="1691640"/>
            <a:ext cx="274200" cy="6585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000000"/>
              </a:buClr>
              <a:buSzPts val="2000"/>
              <a:buFont typeface="Arial"/>
              <a:buNone/>
            </a:pPr>
            <a:r>
              <a:rPr b="1" i="0" lang="en-US" sz="2000" u="none" cap="none" strike="noStrike">
                <a:solidFill>
                  <a:srgbClr val="64748B"/>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95" name="Google Shape;395;p32"/>
          <p:cNvSpPr/>
          <p:nvPr/>
        </p:nvSpPr>
        <p:spPr>
          <a:xfrm>
            <a:off x="9162307" y="1691640"/>
            <a:ext cx="1161300" cy="658500"/>
          </a:xfrm>
          <a:prstGeom prst="roundRect">
            <a:avLst>
              <a:gd fmla="val 20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Graders</a:t>
            </a:r>
            <a:endParaRPr b="0" i="0" sz="1400" u="none" cap="none" strike="noStrike">
              <a:solidFill>
                <a:srgbClr val="000000"/>
              </a:solidFill>
              <a:latin typeface="Arial"/>
              <a:ea typeface="Arial"/>
              <a:cs typeface="Arial"/>
              <a:sym typeface="Arial"/>
            </a:endParaRPr>
          </a:p>
        </p:txBody>
      </p:sp>
      <p:sp>
        <p:nvSpPr>
          <p:cNvPr id="396" name="Google Shape;396;p32"/>
          <p:cNvSpPr txBox="1"/>
          <p:nvPr/>
        </p:nvSpPr>
        <p:spPr>
          <a:xfrm>
            <a:off x="10323597" y="1691640"/>
            <a:ext cx="274200" cy="6585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000000"/>
              </a:buClr>
              <a:buSzPts val="2000"/>
              <a:buFont typeface="Arial"/>
              <a:buNone/>
            </a:pPr>
            <a:r>
              <a:rPr b="1" i="0" lang="en-US" sz="2000" u="none" cap="none" strike="noStrike">
                <a:solidFill>
                  <a:srgbClr val="64748B"/>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97" name="Google Shape;397;p32"/>
          <p:cNvSpPr/>
          <p:nvPr/>
        </p:nvSpPr>
        <p:spPr>
          <a:xfrm>
            <a:off x="10643638" y="1691640"/>
            <a:ext cx="999300" cy="658500"/>
          </a:xfrm>
          <a:prstGeom prst="roundRect">
            <a:avLst>
              <a:gd fmla="val 20000" name="adj"/>
            </a:avLst>
          </a:prstGeom>
          <a:solidFill>
            <a:srgbClr val="0F766E"/>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Evaluation harness</a:t>
            </a:r>
            <a:endParaRPr b="0" i="0" sz="1400" u="none" cap="none" strike="noStrike">
              <a:solidFill>
                <a:srgbClr val="000000"/>
              </a:solidFill>
              <a:latin typeface="Arial"/>
              <a:ea typeface="Arial"/>
              <a:cs typeface="Arial"/>
              <a:sym typeface="Arial"/>
            </a:endParaRPr>
          </a:p>
        </p:txBody>
      </p:sp>
      <p:graphicFrame>
        <p:nvGraphicFramePr>
          <p:cNvPr id="398" name="Google Shape;398;p32"/>
          <p:cNvGraphicFramePr/>
          <p:nvPr/>
        </p:nvGraphicFramePr>
        <p:xfrm>
          <a:off x="548641" y="2697480"/>
          <a:ext cx="3000000" cy="3000000"/>
        </p:xfrm>
        <a:graphic>
          <a:graphicData uri="http://schemas.openxmlformats.org/drawingml/2006/table">
            <a:tbl>
              <a:tblPr bandRow="1" firstRow="1">
                <a:noFill/>
                <a:tableStyleId>{6D768582-A166-4AF2-A2B6-FE9F80A8B072}</a:tableStyleId>
              </a:tblPr>
              <a:tblGrid>
                <a:gridCol w="2011650"/>
                <a:gridCol w="5486400"/>
                <a:gridCol w="3593575"/>
              </a:tblGrid>
              <a:tr h="42977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FFFFFF"/>
                          </a:solidFill>
                          <a:latin typeface="Calibri"/>
                          <a:ea typeface="Calibri"/>
                          <a:cs typeface="Calibri"/>
                          <a:sym typeface="Calibri"/>
                        </a:rPr>
                        <a:t>Part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FFFFFF"/>
                          </a:solidFill>
                          <a:latin typeface="Calibri"/>
                          <a:ea typeface="Calibri"/>
                          <a:cs typeface="Calibri"/>
                          <a:sym typeface="Calibri"/>
                        </a:rPr>
                        <a:t>Where it lives in this repo</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FFFFFF"/>
                          </a:solidFill>
                          <a:latin typeface="Calibri"/>
                          <a:ea typeface="Calibri"/>
                          <a:cs typeface="Calibri"/>
                          <a:sym typeface="Calibri"/>
                        </a:rPr>
                        <a:t>Changed by the experiment?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r>
              <a:tr h="42977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Model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OpenRouter · </a:t>
                      </a:r>
                      <a:r>
                        <a:rPr b="0" lang="en-US" sz="1300" u="none" cap="none" strike="noStrike">
                          <a:solidFill>
                            <a:srgbClr val="0F172A"/>
                          </a:solidFill>
                          <a:latin typeface="Courier New"/>
                          <a:ea typeface="Courier New"/>
                          <a:cs typeface="Courier New"/>
                          <a:sym typeface="Courier New"/>
                        </a:rPr>
                        <a:t>DEFAULT_MODEL</a:t>
                      </a:r>
                      <a:r>
                        <a:rPr b="0" lang="en-US" sz="1300" u="none" cap="none" strike="noStrike">
                          <a:solidFill>
                            <a:srgbClr val="0F172A"/>
                          </a:solidFill>
                          <a:latin typeface="Calibri"/>
                          <a:ea typeface="Calibri"/>
                          <a:cs typeface="Calibri"/>
                          <a:sym typeface="Calibri"/>
                        </a:rPr>
                        <a:t> or </a:t>
                      </a:r>
                      <a:r>
                        <a:rPr b="0" lang="en-US" sz="1300" u="none" cap="none" strike="noStrike">
                          <a:solidFill>
                            <a:srgbClr val="0F172A"/>
                          </a:solidFill>
                          <a:latin typeface="Courier New"/>
                          <a:ea typeface="Courier New"/>
                          <a:cs typeface="Courier New"/>
                          <a:sym typeface="Courier New"/>
                        </a:rPr>
                        <a:t>--model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Held constant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42977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Instructions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ourier New"/>
                          <a:ea typeface="Courier New"/>
                          <a:cs typeface="Courier New"/>
                          <a:sym typeface="Courier New"/>
                        </a:rPr>
                        <a:t>harnesses/baseline/AGENTS.md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Baseline arm</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EF3C7"/>
                    </a:solidFill>
                  </a:tcPr>
                </a:tc>
              </a:tr>
              <a:tr h="42977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Skills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ourier New"/>
                          <a:ea typeface="Courier New"/>
                          <a:cs typeface="Courier New"/>
                          <a:sym typeface="Courier New"/>
                        </a:rPr>
                        <a:t>harnesses/&lt;candidate&gt;/SKILL.md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Candidate arm: the variable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EF3C7"/>
                    </a:solidFill>
                  </a:tcPr>
                </a:tc>
              </a:tr>
              <a:tr h="42977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Tools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ourier New"/>
                          <a:ea typeface="Courier New"/>
                          <a:cs typeface="Courier New"/>
                          <a:sym typeface="Courier New"/>
                        </a:rPr>
                        <a:t>TOOL_SPECS</a:t>
                      </a:r>
                      <a:r>
                        <a:rPr b="0" lang="en-US" sz="1300" u="none" cap="none" strike="noStrike">
                          <a:solidFill>
                            <a:srgbClr val="0F172A"/>
                          </a:solidFill>
                          <a:latin typeface="Calibri"/>
                          <a:ea typeface="Calibri"/>
                          <a:cs typeface="Calibri"/>
                          <a:sym typeface="Calibri"/>
                        </a:rPr>
                        <a:t> + </a:t>
                      </a:r>
                      <a:r>
                        <a:rPr b="0" lang="en-US" sz="1300" u="none" cap="none" strike="noStrike">
                          <a:solidFill>
                            <a:srgbClr val="0F172A"/>
                          </a:solidFill>
                          <a:latin typeface="Courier New"/>
                          <a:ea typeface="Courier New"/>
                          <a:cs typeface="Courier New"/>
                          <a:sym typeface="Courier New"/>
                        </a:rPr>
                        <a:t>run_tool()</a:t>
                      </a:r>
                      <a:r>
                        <a:rPr b="0" lang="en-US" sz="1300" u="none" cap="none" strike="noStrike">
                          <a:solidFill>
                            <a:srgbClr val="0F172A"/>
                          </a:solidFill>
                          <a:latin typeface="Calibri"/>
                          <a:ea typeface="Calibri"/>
                          <a:cs typeface="Calibri"/>
                          <a:sym typeface="Calibri"/>
                        </a:rPr>
                        <a:t> in </a:t>
                      </a:r>
                      <a:r>
                        <a:rPr b="0" lang="en-US" sz="1300" u="none" cap="none" strike="noStrike">
                          <a:solidFill>
                            <a:srgbClr val="0F172A"/>
                          </a:solidFill>
                          <a:latin typeface="Courier New"/>
                          <a:ea typeface="Courier New"/>
                          <a:cs typeface="Courier New"/>
                          <a:sym typeface="Courier New"/>
                        </a:rPr>
                        <a:t>agent.py</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Held constant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r h="42977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Context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System prompt + task prompt + files the agent reads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Only guidance differs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42977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Execution loop</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ourier New"/>
                          <a:ea typeface="Courier New"/>
                          <a:cs typeface="Courier New"/>
                          <a:sym typeface="Courier New"/>
                        </a:rPr>
                        <a:t>run_agent()</a:t>
                      </a:r>
                      <a:r>
                        <a:rPr b="0" lang="en-US" sz="1300" u="none" cap="none" strike="noStrike">
                          <a:solidFill>
                            <a:srgbClr val="0F172A"/>
                          </a:solidFill>
                          <a:latin typeface="Calibri"/>
                          <a:ea typeface="Calibri"/>
                          <a:cs typeface="Calibri"/>
                          <a:sym typeface="Calibri"/>
                        </a:rPr>
                        <a:t>: 8 turns, $0.05, temperature 0.2</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Held constant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r h="42977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Graders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ourier New"/>
                          <a:ea typeface="Courier New"/>
                          <a:cs typeface="Courier New"/>
                          <a:sym typeface="Courier New"/>
                        </a:rPr>
                        <a:t>grade_trial()</a:t>
                      </a:r>
                      <a:r>
                        <a:rPr b="0" lang="en-US" sz="1300" u="none" cap="none" strike="noStrike">
                          <a:solidFill>
                            <a:srgbClr val="0F172A"/>
                          </a:solidFill>
                          <a:latin typeface="Calibri"/>
                          <a:ea typeface="Calibri"/>
                          <a:cs typeface="Calibri"/>
                          <a:sym typeface="Calibri"/>
                        </a:rPr>
                        <a:t> → compare → promote → gate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Held constant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3" name="Shape 403"/>
        <p:cNvGrpSpPr/>
        <p:nvPr/>
      </p:nvGrpSpPr>
      <p:grpSpPr>
        <a:xfrm>
          <a:off x="0" y="0"/>
          <a:ext cx="0" cy="0"/>
          <a:chOff x="0" y="0"/>
          <a:chExt cx="0" cy="0"/>
        </a:xfrm>
      </p:grpSpPr>
      <p:sp>
        <p:nvSpPr>
          <p:cNvPr id="404" name="Google Shape;404;p33"/>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What a good evaluation should do</a:t>
            </a:r>
            <a:endParaRPr b="0" i="0" sz="1400" u="none" cap="none" strike="noStrike">
              <a:solidFill>
                <a:srgbClr val="000000"/>
              </a:solidFill>
              <a:latin typeface="Arial"/>
              <a:ea typeface="Arial"/>
              <a:cs typeface="Arial"/>
              <a:sym typeface="Arial"/>
            </a:endParaRPr>
          </a:p>
        </p:txBody>
      </p:sp>
      <p:sp>
        <p:nvSpPr>
          <p:cNvPr id="405" name="Google Shape;405;p33"/>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…and what this PoC implements: </a:t>
            </a:r>
            <a:r>
              <a:rPr b="1" i="0" lang="en-US" sz="1600" u="none" cap="none" strike="noStrike">
                <a:solidFill>
                  <a:srgbClr val="334155"/>
                </a:solidFill>
                <a:latin typeface="Calibri"/>
                <a:ea typeface="Calibri"/>
                <a:cs typeface="Calibri"/>
                <a:sym typeface="Calibri"/>
              </a:rPr>
              <a:t>11 of 14</a:t>
            </a:r>
            <a:r>
              <a:rPr b="0" i="0" lang="en-US" sz="1600" u="none" cap="none" strike="noStrike">
                <a:solidFill>
                  <a:srgbClr val="334155"/>
                </a:solidFill>
                <a:latin typeface="Calibri"/>
                <a:ea typeface="Calibri"/>
                <a:cs typeface="Calibri"/>
                <a:sym typeface="Calibri"/>
              </a:rPr>
              <a:t> properties built, </a:t>
            </a:r>
            <a:r>
              <a:rPr b="1" i="0" lang="en-US" sz="1600" u="none" cap="none" strike="noStrike">
                <a:solidFill>
                  <a:srgbClr val="334155"/>
                </a:solidFill>
                <a:latin typeface="Calibri"/>
                <a:ea typeface="Calibri"/>
                <a:cs typeface="Calibri"/>
                <a:sym typeface="Calibri"/>
              </a:rPr>
              <a:t>1</a:t>
            </a:r>
            <a:r>
              <a:rPr b="0" i="0" lang="en-US" sz="1600" u="none" cap="none" strike="noStrike">
                <a:solidFill>
                  <a:srgbClr val="334155"/>
                </a:solidFill>
                <a:latin typeface="Calibri"/>
                <a:ea typeface="Calibri"/>
                <a:cs typeface="Calibri"/>
                <a:sym typeface="Calibri"/>
              </a:rPr>
              <a:t> partial, </a:t>
            </a:r>
            <a:r>
              <a:rPr b="1" i="0" lang="en-US" sz="1600" u="none" cap="none" strike="noStrike">
                <a:solidFill>
                  <a:srgbClr val="334155"/>
                </a:solidFill>
                <a:latin typeface="Calibri"/>
                <a:ea typeface="Calibri"/>
                <a:cs typeface="Calibri"/>
                <a:sym typeface="Calibri"/>
              </a:rPr>
              <a:t>2</a:t>
            </a:r>
            <a:r>
              <a:rPr b="0" i="0" lang="en-US" sz="1600" u="none" cap="none" strike="noStrike">
                <a:solidFill>
                  <a:srgbClr val="334155"/>
                </a:solidFill>
                <a:latin typeface="Calibri"/>
                <a:ea typeface="Calibri"/>
                <a:cs typeface="Calibri"/>
                <a:sym typeface="Calibri"/>
              </a:rPr>
              <a:t> deliberately out of scope</a:t>
            </a:r>
            <a:endParaRPr b="0" i="0" sz="1400" u="none" cap="none" strike="noStrike">
              <a:solidFill>
                <a:srgbClr val="000000"/>
              </a:solidFill>
              <a:latin typeface="Arial"/>
              <a:ea typeface="Arial"/>
              <a:cs typeface="Arial"/>
              <a:sym typeface="Arial"/>
            </a:endParaRPr>
          </a:p>
        </p:txBody>
      </p:sp>
      <p:sp>
        <p:nvSpPr>
          <p:cNvPr id="406" name="Google Shape;406;p33"/>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Problem &amp; concepts</a:t>
            </a:r>
            <a:endParaRPr b="0" i="0" sz="1400" u="none" cap="none" strike="noStrike">
              <a:solidFill>
                <a:srgbClr val="000000"/>
              </a:solidFill>
              <a:latin typeface="Arial"/>
              <a:ea typeface="Arial"/>
              <a:cs typeface="Arial"/>
              <a:sym typeface="Arial"/>
            </a:endParaRPr>
          </a:p>
        </p:txBody>
      </p:sp>
      <p:sp>
        <p:nvSpPr>
          <p:cNvPr id="407" name="Google Shape;407;p33"/>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9</a:t>
            </a:r>
            <a:endParaRPr b="0" i="0" sz="1400" u="none" cap="none" strike="noStrike">
              <a:solidFill>
                <a:srgbClr val="000000"/>
              </a:solidFill>
              <a:latin typeface="Arial"/>
              <a:ea typeface="Arial"/>
              <a:cs typeface="Arial"/>
              <a:sym typeface="Arial"/>
            </a:endParaRPr>
          </a:p>
        </p:txBody>
      </p:sp>
      <p:sp>
        <p:nvSpPr>
          <p:cNvPr id="408" name="Google Shape;408;p33"/>
          <p:cNvSpPr/>
          <p:nvPr/>
        </p:nvSpPr>
        <p:spPr>
          <a:xfrm>
            <a:off x="548641" y="1600200"/>
            <a:ext cx="5440800" cy="5670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09" name="Google Shape;409;p33"/>
          <p:cNvSpPr/>
          <p:nvPr/>
        </p:nvSpPr>
        <p:spPr>
          <a:xfrm>
            <a:off x="685801" y="1746504"/>
            <a:ext cx="12345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047857"/>
                </a:solidFill>
                <a:latin typeface="Calibri"/>
                <a:ea typeface="Calibri"/>
                <a:cs typeface="Calibri"/>
                <a:sym typeface="Calibri"/>
              </a:rPr>
              <a:t>IMPLEMENTED</a:t>
            </a:r>
            <a:endParaRPr b="0" i="0" sz="1400" u="none" cap="none" strike="noStrike">
              <a:solidFill>
                <a:srgbClr val="000000"/>
              </a:solidFill>
              <a:latin typeface="Arial"/>
              <a:ea typeface="Arial"/>
              <a:cs typeface="Arial"/>
              <a:sym typeface="Arial"/>
            </a:endParaRPr>
          </a:p>
        </p:txBody>
      </p:sp>
      <p:sp>
        <p:nvSpPr>
          <p:cNvPr id="410" name="Google Shape;410;p33"/>
          <p:cNvSpPr txBox="1"/>
          <p:nvPr/>
        </p:nvSpPr>
        <p:spPr>
          <a:xfrm>
            <a:off x="2057404" y="1636776"/>
            <a:ext cx="3840600" cy="5028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Controlled comparison</a:t>
            </a:r>
            <a:r>
              <a:rPr b="0" i="0" lang="en-US" sz="1300" u="none" cap="none" strike="noStrike">
                <a:solidFill>
                  <a:srgbClr val="0F172A"/>
                </a:solidFill>
                <a:latin typeface="Calibri"/>
                <a:ea typeface="Calibri"/>
                <a:cs typeface="Calibri"/>
                <a:sym typeface="Calibri"/>
              </a:rPr>
              <a:t> · only </a:t>
            </a:r>
            <a:r>
              <a:rPr b="0" i="0" lang="en-US" sz="1300" u="none" cap="none" strike="noStrike">
                <a:solidFill>
                  <a:srgbClr val="0F172A"/>
                </a:solidFill>
                <a:latin typeface="Courier New"/>
                <a:ea typeface="Courier New"/>
                <a:cs typeface="Courier New"/>
                <a:sym typeface="Courier New"/>
              </a:rPr>
              <a:t>copy_guidance()</a:t>
            </a:r>
            <a:r>
              <a:rPr b="0" i="0" lang="en-US" sz="1300" u="none" cap="none" strike="noStrike">
                <a:solidFill>
                  <a:srgbClr val="0F172A"/>
                </a:solidFill>
                <a:latin typeface="Calibri"/>
                <a:ea typeface="Calibri"/>
                <a:cs typeface="Calibri"/>
                <a:sym typeface="Calibri"/>
              </a:rPr>
              <a:t> differs</a:t>
            </a:r>
            <a:endParaRPr b="0" i="0" sz="1400" u="none" cap="none" strike="noStrike">
              <a:solidFill>
                <a:srgbClr val="000000"/>
              </a:solidFill>
              <a:latin typeface="Arial"/>
              <a:ea typeface="Arial"/>
              <a:cs typeface="Arial"/>
              <a:sym typeface="Arial"/>
            </a:endParaRPr>
          </a:p>
        </p:txBody>
      </p:sp>
      <p:sp>
        <p:nvSpPr>
          <p:cNvPr id="411" name="Google Shape;411;p33"/>
          <p:cNvSpPr/>
          <p:nvPr/>
        </p:nvSpPr>
        <p:spPr>
          <a:xfrm>
            <a:off x="548641" y="2258568"/>
            <a:ext cx="5440800" cy="5670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12" name="Google Shape;412;p33"/>
          <p:cNvSpPr/>
          <p:nvPr/>
        </p:nvSpPr>
        <p:spPr>
          <a:xfrm>
            <a:off x="685801" y="2404872"/>
            <a:ext cx="12345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047857"/>
                </a:solidFill>
                <a:latin typeface="Calibri"/>
                <a:ea typeface="Calibri"/>
                <a:cs typeface="Calibri"/>
                <a:sym typeface="Calibri"/>
              </a:rPr>
              <a:t>IMPLEMENTED</a:t>
            </a:r>
            <a:endParaRPr b="0" i="0" sz="1400" u="none" cap="none" strike="noStrike">
              <a:solidFill>
                <a:srgbClr val="000000"/>
              </a:solidFill>
              <a:latin typeface="Arial"/>
              <a:ea typeface="Arial"/>
              <a:cs typeface="Arial"/>
              <a:sym typeface="Arial"/>
            </a:endParaRPr>
          </a:p>
        </p:txBody>
      </p:sp>
      <p:sp>
        <p:nvSpPr>
          <p:cNvPr id="413" name="Google Shape;413;p33"/>
          <p:cNvSpPr txBox="1"/>
          <p:nvPr/>
        </p:nvSpPr>
        <p:spPr>
          <a:xfrm>
            <a:off x="2057404" y="2295144"/>
            <a:ext cx="3840600" cy="5028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Baseline vs candidate</a:t>
            </a:r>
            <a:r>
              <a:rPr b="0" i="0" lang="en-US" sz="1300" u="none" cap="none" strike="noStrike">
                <a:solidFill>
                  <a:srgbClr val="0F172A"/>
                </a:solidFill>
                <a:latin typeface="Calibri"/>
                <a:ea typeface="Calibri"/>
                <a:cs typeface="Calibri"/>
                <a:sym typeface="Calibri"/>
              </a:rPr>
              <a:t> · both arms on every task, every phase</a:t>
            </a:r>
            <a:endParaRPr b="0" i="0" sz="1400" u="none" cap="none" strike="noStrike">
              <a:solidFill>
                <a:srgbClr val="000000"/>
              </a:solidFill>
              <a:latin typeface="Arial"/>
              <a:ea typeface="Arial"/>
              <a:cs typeface="Arial"/>
              <a:sym typeface="Arial"/>
            </a:endParaRPr>
          </a:p>
        </p:txBody>
      </p:sp>
      <p:sp>
        <p:nvSpPr>
          <p:cNvPr id="414" name="Google Shape;414;p33"/>
          <p:cNvSpPr/>
          <p:nvPr/>
        </p:nvSpPr>
        <p:spPr>
          <a:xfrm>
            <a:off x="548641" y="2916936"/>
            <a:ext cx="5440800" cy="5670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15" name="Google Shape;415;p33"/>
          <p:cNvSpPr/>
          <p:nvPr/>
        </p:nvSpPr>
        <p:spPr>
          <a:xfrm>
            <a:off x="685801" y="3063240"/>
            <a:ext cx="12345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047857"/>
                </a:solidFill>
                <a:latin typeface="Calibri"/>
                <a:ea typeface="Calibri"/>
                <a:cs typeface="Calibri"/>
                <a:sym typeface="Calibri"/>
              </a:rPr>
              <a:t>IMPLEMENTED</a:t>
            </a:r>
            <a:endParaRPr b="0" i="0" sz="1400" u="none" cap="none" strike="noStrike">
              <a:solidFill>
                <a:srgbClr val="000000"/>
              </a:solidFill>
              <a:latin typeface="Arial"/>
              <a:ea typeface="Arial"/>
              <a:cs typeface="Arial"/>
              <a:sym typeface="Arial"/>
            </a:endParaRPr>
          </a:p>
        </p:txBody>
      </p:sp>
      <p:sp>
        <p:nvSpPr>
          <p:cNvPr id="416" name="Google Shape;416;p33"/>
          <p:cNvSpPr txBox="1"/>
          <p:nvPr/>
        </p:nvSpPr>
        <p:spPr>
          <a:xfrm>
            <a:off x="2057404" y="2953512"/>
            <a:ext cx="3840600" cy="5028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Repeated trials</a:t>
            </a:r>
            <a:r>
              <a:rPr b="0" i="0" lang="en-US" sz="1300" u="none" cap="none" strike="noStrike">
                <a:solidFill>
                  <a:srgbClr val="0F172A"/>
                </a:solidFill>
                <a:latin typeface="Calibri"/>
                <a:ea typeface="Calibri"/>
                <a:cs typeface="Calibri"/>
                <a:sym typeface="Calibri"/>
              </a:rPr>
              <a:t> · </a:t>
            </a:r>
            <a:r>
              <a:rPr b="0" i="0" lang="en-US" sz="1300" u="none" cap="none" strike="noStrike">
                <a:solidFill>
                  <a:srgbClr val="0F172A"/>
                </a:solidFill>
                <a:latin typeface="Courier New"/>
                <a:ea typeface="Courier New"/>
                <a:cs typeface="Courier New"/>
                <a:sym typeface="Courier New"/>
              </a:rPr>
              <a:t>REPS = 2</a:t>
            </a:r>
            <a:r>
              <a:rPr b="0" i="0" lang="en-US" sz="1300" u="none" cap="none" strike="noStrike">
                <a:solidFill>
                  <a:srgbClr val="0F172A"/>
                </a:solidFill>
                <a:latin typeface="Calibri"/>
                <a:ea typeface="Calibri"/>
                <a:cs typeface="Calibri"/>
                <a:sym typeface="Calibri"/>
              </a:rPr>
              <a:t>, mixed → UNSTABLE</a:t>
            </a:r>
            <a:endParaRPr b="0" i="0" sz="1400" u="none" cap="none" strike="noStrike">
              <a:solidFill>
                <a:srgbClr val="000000"/>
              </a:solidFill>
              <a:latin typeface="Arial"/>
              <a:ea typeface="Arial"/>
              <a:cs typeface="Arial"/>
              <a:sym typeface="Arial"/>
            </a:endParaRPr>
          </a:p>
        </p:txBody>
      </p:sp>
      <p:sp>
        <p:nvSpPr>
          <p:cNvPr id="417" name="Google Shape;417;p33"/>
          <p:cNvSpPr/>
          <p:nvPr/>
        </p:nvSpPr>
        <p:spPr>
          <a:xfrm>
            <a:off x="548641" y="3575304"/>
            <a:ext cx="5440800" cy="5670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18" name="Google Shape;418;p33"/>
          <p:cNvSpPr/>
          <p:nvPr/>
        </p:nvSpPr>
        <p:spPr>
          <a:xfrm>
            <a:off x="685801" y="3721608"/>
            <a:ext cx="12345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047857"/>
                </a:solidFill>
                <a:latin typeface="Calibri"/>
                <a:ea typeface="Calibri"/>
                <a:cs typeface="Calibri"/>
                <a:sym typeface="Calibri"/>
              </a:rPr>
              <a:t>IMPLEMENTED</a:t>
            </a:r>
            <a:endParaRPr b="0" i="0" sz="1400" u="none" cap="none" strike="noStrike">
              <a:solidFill>
                <a:srgbClr val="000000"/>
              </a:solidFill>
              <a:latin typeface="Arial"/>
              <a:ea typeface="Arial"/>
              <a:cs typeface="Arial"/>
              <a:sym typeface="Arial"/>
            </a:endParaRPr>
          </a:p>
        </p:txBody>
      </p:sp>
      <p:sp>
        <p:nvSpPr>
          <p:cNvPr id="419" name="Google Shape;419;p33"/>
          <p:cNvSpPr txBox="1"/>
          <p:nvPr/>
        </p:nvSpPr>
        <p:spPr>
          <a:xfrm>
            <a:off x="2057404" y="3611880"/>
            <a:ext cx="3840600" cy="5028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Deterministic grading</a:t>
            </a:r>
            <a:r>
              <a:rPr b="0" i="0" lang="en-US" sz="1300" u="none" cap="none" strike="noStrike">
                <a:solidFill>
                  <a:srgbClr val="0F172A"/>
                </a:solidFill>
                <a:latin typeface="Calibri"/>
                <a:ea typeface="Calibri"/>
                <a:cs typeface="Calibri"/>
                <a:sym typeface="Calibri"/>
              </a:rPr>
              <a:t> · pytest + held-out JSON</a:t>
            </a:r>
            <a:endParaRPr b="0" i="0" sz="1400" u="none" cap="none" strike="noStrike">
              <a:solidFill>
                <a:srgbClr val="000000"/>
              </a:solidFill>
              <a:latin typeface="Arial"/>
              <a:ea typeface="Arial"/>
              <a:cs typeface="Arial"/>
              <a:sym typeface="Arial"/>
            </a:endParaRPr>
          </a:p>
        </p:txBody>
      </p:sp>
      <p:sp>
        <p:nvSpPr>
          <p:cNvPr id="420" name="Google Shape;420;p33"/>
          <p:cNvSpPr/>
          <p:nvPr/>
        </p:nvSpPr>
        <p:spPr>
          <a:xfrm>
            <a:off x="548641" y="4233672"/>
            <a:ext cx="5440800" cy="5670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1" name="Google Shape;421;p33"/>
          <p:cNvSpPr/>
          <p:nvPr/>
        </p:nvSpPr>
        <p:spPr>
          <a:xfrm>
            <a:off x="685801" y="4379976"/>
            <a:ext cx="12345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047857"/>
                </a:solidFill>
                <a:latin typeface="Calibri"/>
                <a:ea typeface="Calibri"/>
                <a:cs typeface="Calibri"/>
                <a:sym typeface="Calibri"/>
              </a:rPr>
              <a:t>IMPLEMENTED</a:t>
            </a:r>
            <a:endParaRPr b="0" i="0" sz="1400" u="none" cap="none" strike="noStrike">
              <a:solidFill>
                <a:srgbClr val="000000"/>
              </a:solidFill>
              <a:latin typeface="Arial"/>
              <a:ea typeface="Arial"/>
              <a:cs typeface="Arial"/>
              <a:sym typeface="Arial"/>
            </a:endParaRPr>
          </a:p>
        </p:txBody>
      </p:sp>
      <p:sp>
        <p:nvSpPr>
          <p:cNvPr id="422" name="Google Shape;422;p33"/>
          <p:cNvSpPr txBox="1"/>
          <p:nvPr/>
        </p:nvSpPr>
        <p:spPr>
          <a:xfrm>
            <a:off x="2057404" y="4270248"/>
            <a:ext cx="3840600" cy="5028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Held-out answers</a:t>
            </a:r>
            <a:r>
              <a:rPr b="0" i="0" lang="en-US" sz="1300" u="none" cap="none" strike="noStrike">
                <a:solidFill>
                  <a:srgbClr val="0F172A"/>
                </a:solidFill>
                <a:latin typeface="Calibri"/>
                <a:ea typeface="Calibri"/>
                <a:cs typeface="Calibri"/>
                <a:sym typeface="Calibri"/>
              </a:rPr>
              <a:t> · </a:t>
            </a:r>
            <a:r>
              <a:rPr b="0" i="0" lang="en-US" sz="1300" u="none" cap="none" strike="noStrike">
                <a:solidFill>
                  <a:srgbClr val="0F172A"/>
                </a:solidFill>
                <a:latin typeface="Courier New"/>
                <a:ea typeface="Courier New"/>
                <a:cs typeface="Courier New"/>
                <a:sym typeface="Courier New"/>
              </a:rPr>
              <a:t>heldout/</a:t>
            </a:r>
            <a:r>
              <a:rPr b="0" i="0" lang="en-US" sz="1300" u="none" cap="none" strike="noStrike">
                <a:solidFill>
                  <a:srgbClr val="0F172A"/>
                </a:solidFill>
                <a:latin typeface="Calibri"/>
                <a:ea typeface="Calibri"/>
                <a:cs typeface="Calibri"/>
                <a:sym typeface="Calibri"/>
              </a:rPr>
              <a:t> never copied to workspace</a:t>
            </a:r>
            <a:endParaRPr b="0" i="0" sz="1400" u="none" cap="none" strike="noStrike">
              <a:solidFill>
                <a:srgbClr val="000000"/>
              </a:solidFill>
              <a:latin typeface="Arial"/>
              <a:ea typeface="Arial"/>
              <a:cs typeface="Arial"/>
              <a:sym typeface="Arial"/>
            </a:endParaRPr>
          </a:p>
        </p:txBody>
      </p:sp>
      <p:sp>
        <p:nvSpPr>
          <p:cNvPr id="423" name="Google Shape;423;p33"/>
          <p:cNvSpPr/>
          <p:nvPr/>
        </p:nvSpPr>
        <p:spPr>
          <a:xfrm>
            <a:off x="548641" y="4892040"/>
            <a:ext cx="5440800" cy="5670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4" name="Google Shape;424;p33"/>
          <p:cNvSpPr/>
          <p:nvPr/>
        </p:nvSpPr>
        <p:spPr>
          <a:xfrm>
            <a:off x="685801" y="5038344"/>
            <a:ext cx="12345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047857"/>
                </a:solidFill>
                <a:latin typeface="Calibri"/>
                <a:ea typeface="Calibri"/>
                <a:cs typeface="Calibri"/>
                <a:sym typeface="Calibri"/>
              </a:rPr>
              <a:t>IMPLEMENTED</a:t>
            </a:r>
            <a:endParaRPr b="0" i="0" sz="1400" u="none" cap="none" strike="noStrike">
              <a:solidFill>
                <a:srgbClr val="000000"/>
              </a:solidFill>
              <a:latin typeface="Arial"/>
              <a:ea typeface="Arial"/>
              <a:cs typeface="Arial"/>
              <a:sym typeface="Arial"/>
            </a:endParaRPr>
          </a:p>
        </p:txBody>
      </p:sp>
      <p:sp>
        <p:nvSpPr>
          <p:cNvPr id="425" name="Google Shape;425;p33"/>
          <p:cNvSpPr txBox="1"/>
          <p:nvPr/>
        </p:nvSpPr>
        <p:spPr>
          <a:xfrm>
            <a:off x="2057404" y="4928616"/>
            <a:ext cx="3840600" cy="5028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Regression detection</a:t>
            </a:r>
            <a:r>
              <a:rPr b="0" i="0" lang="en-US" sz="1300" u="none" cap="none" strike="noStrike">
                <a:solidFill>
                  <a:srgbClr val="0F172A"/>
                </a:solidFill>
                <a:latin typeface="Calibri"/>
                <a:ea typeface="Calibri"/>
                <a:cs typeface="Calibri"/>
                <a:sym typeface="Calibri"/>
              </a:rPr>
              <a:t> · PASS → FAIL = REGRESSED</a:t>
            </a:r>
            <a:endParaRPr b="0" i="0" sz="1400" u="none" cap="none" strike="noStrike">
              <a:solidFill>
                <a:srgbClr val="000000"/>
              </a:solidFill>
              <a:latin typeface="Arial"/>
              <a:ea typeface="Arial"/>
              <a:cs typeface="Arial"/>
              <a:sym typeface="Arial"/>
            </a:endParaRPr>
          </a:p>
        </p:txBody>
      </p:sp>
      <p:sp>
        <p:nvSpPr>
          <p:cNvPr id="426" name="Google Shape;426;p33"/>
          <p:cNvSpPr/>
          <p:nvPr/>
        </p:nvSpPr>
        <p:spPr>
          <a:xfrm>
            <a:off x="548641" y="5550408"/>
            <a:ext cx="5440800" cy="5670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7" name="Google Shape;427;p33"/>
          <p:cNvSpPr/>
          <p:nvPr/>
        </p:nvSpPr>
        <p:spPr>
          <a:xfrm>
            <a:off x="685801" y="5696712"/>
            <a:ext cx="12345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047857"/>
                </a:solidFill>
                <a:latin typeface="Calibri"/>
                <a:ea typeface="Calibri"/>
                <a:cs typeface="Calibri"/>
                <a:sym typeface="Calibri"/>
              </a:rPr>
              <a:t>IMPLEMENTED</a:t>
            </a:r>
            <a:endParaRPr b="0" i="0" sz="1400" u="none" cap="none" strike="noStrike">
              <a:solidFill>
                <a:srgbClr val="000000"/>
              </a:solidFill>
              <a:latin typeface="Arial"/>
              <a:ea typeface="Arial"/>
              <a:cs typeface="Arial"/>
              <a:sym typeface="Arial"/>
            </a:endParaRPr>
          </a:p>
        </p:txBody>
      </p:sp>
      <p:sp>
        <p:nvSpPr>
          <p:cNvPr id="428" name="Google Shape;428;p33"/>
          <p:cNvSpPr txBox="1"/>
          <p:nvPr/>
        </p:nvSpPr>
        <p:spPr>
          <a:xfrm>
            <a:off x="2057404" y="5586984"/>
            <a:ext cx="3840600" cy="5028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Capability graduation</a:t>
            </a:r>
            <a:r>
              <a:rPr b="0" i="0" lang="en-US" sz="1300" u="none" cap="none" strike="noStrike">
                <a:solidFill>
                  <a:srgbClr val="0F172A"/>
                </a:solidFill>
                <a:latin typeface="Calibri"/>
                <a:ea typeface="Calibri"/>
                <a:cs typeface="Calibri"/>
                <a:sym typeface="Calibri"/>
              </a:rPr>
              <a:t> · candidate 2/2 → regression suite</a:t>
            </a:r>
            <a:endParaRPr b="0" i="0" sz="1400" u="none" cap="none" strike="noStrike">
              <a:solidFill>
                <a:srgbClr val="000000"/>
              </a:solidFill>
              <a:latin typeface="Arial"/>
              <a:ea typeface="Arial"/>
              <a:cs typeface="Arial"/>
              <a:sym typeface="Arial"/>
            </a:endParaRPr>
          </a:p>
        </p:txBody>
      </p:sp>
      <p:sp>
        <p:nvSpPr>
          <p:cNvPr id="429" name="Google Shape;429;p33"/>
          <p:cNvSpPr/>
          <p:nvPr/>
        </p:nvSpPr>
        <p:spPr>
          <a:xfrm>
            <a:off x="6172213" y="1600200"/>
            <a:ext cx="5440800" cy="5670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0" name="Google Shape;430;p33"/>
          <p:cNvSpPr/>
          <p:nvPr/>
        </p:nvSpPr>
        <p:spPr>
          <a:xfrm>
            <a:off x="6309373" y="1746504"/>
            <a:ext cx="12345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047857"/>
                </a:solidFill>
                <a:latin typeface="Calibri"/>
                <a:ea typeface="Calibri"/>
                <a:cs typeface="Calibri"/>
                <a:sym typeface="Calibri"/>
              </a:rPr>
              <a:t>IMPLEMENTED</a:t>
            </a:r>
            <a:endParaRPr b="0" i="0" sz="1400" u="none" cap="none" strike="noStrike">
              <a:solidFill>
                <a:srgbClr val="000000"/>
              </a:solidFill>
              <a:latin typeface="Arial"/>
              <a:ea typeface="Arial"/>
              <a:cs typeface="Arial"/>
              <a:sym typeface="Arial"/>
            </a:endParaRPr>
          </a:p>
        </p:txBody>
      </p:sp>
      <p:sp>
        <p:nvSpPr>
          <p:cNvPr id="431" name="Google Shape;431;p33"/>
          <p:cNvSpPr txBox="1"/>
          <p:nvPr/>
        </p:nvSpPr>
        <p:spPr>
          <a:xfrm>
            <a:off x="7680976" y="1636776"/>
            <a:ext cx="3840600" cy="5028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Phase 2 gating</a:t>
            </a:r>
            <a:r>
              <a:rPr b="0" i="0" lang="en-US" sz="1300" u="none" cap="none" strike="noStrike">
                <a:solidFill>
                  <a:srgbClr val="0F172A"/>
                </a:solidFill>
                <a:latin typeface="Calibri"/>
                <a:ea typeface="Calibri"/>
                <a:cs typeface="Calibri"/>
                <a:sym typeface="Calibri"/>
              </a:rPr>
              <a:t> · </a:t>
            </a:r>
            <a:r>
              <a:rPr b="0" i="0" lang="en-US" sz="1300" u="none" cap="none" strike="noStrike">
                <a:solidFill>
                  <a:srgbClr val="0F172A"/>
                </a:solidFill>
                <a:latin typeface="Courier New"/>
                <a:ea typeface="Courier New"/>
                <a:cs typeface="Courier New"/>
                <a:sym typeface="Courier New"/>
              </a:rPr>
              <a:t>phase2_blocked_reason()</a:t>
            </a:r>
            <a:endParaRPr b="0" i="0" sz="1400" u="none" cap="none" strike="noStrike">
              <a:solidFill>
                <a:srgbClr val="000000"/>
              </a:solidFill>
              <a:latin typeface="Arial"/>
              <a:ea typeface="Arial"/>
              <a:cs typeface="Arial"/>
              <a:sym typeface="Arial"/>
            </a:endParaRPr>
          </a:p>
        </p:txBody>
      </p:sp>
      <p:sp>
        <p:nvSpPr>
          <p:cNvPr id="432" name="Google Shape;432;p33"/>
          <p:cNvSpPr/>
          <p:nvPr/>
        </p:nvSpPr>
        <p:spPr>
          <a:xfrm>
            <a:off x="6172213" y="2258568"/>
            <a:ext cx="5440800" cy="5670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3" name="Google Shape;433;p33"/>
          <p:cNvSpPr/>
          <p:nvPr/>
        </p:nvSpPr>
        <p:spPr>
          <a:xfrm>
            <a:off x="6309373" y="2404872"/>
            <a:ext cx="12345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047857"/>
                </a:solidFill>
                <a:latin typeface="Calibri"/>
                <a:ea typeface="Calibri"/>
                <a:cs typeface="Calibri"/>
                <a:sym typeface="Calibri"/>
              </a:rPr>
              <a:t>IMPLEMENTED</a:t>
            </a:r>
            <a:endParaRPr b="0" i="0" sz="1400" u="none" cap="none" strike="noStrike">
              <a:solidFill>
                <a:srgbClr val="000000"/>
              </a:solidFill>
              <a:latin typeface="Arial"/>
              <a:ea typeface="Arial"/>
              <a:cs typeface="Arial"/>
              <a:sym typeface="Arial"/>
            </a:endParaRPr>
          </a:p>
        </p:txBody>
      </p:sp>
      <p:sp>
        <p:nvSpPr>
          <p:cNvPr id="434" name="Google Shape;434;p33"/>
          <p:cNvSpPr txBox="1"/>
          <p:nvPr/>
        </p:nvSpPr>
        <p:spPr>
          <a:xfrm>
            <a:off x="7680976" y="2295144"/>
            <a:ext cx="3840600" cy="5028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Artifact persistence</a:t>
            </a:r>
            <a:r>
              <a:rPr b="0" i="0" lang="en-US" sz="1300" u="none" cap="none" strike="noStrike">
                <a:solidFill>
                  <a:srgbClr val="0F172A"/>
                </a:solidFill>
                <a:latin typeface="Calibri"/>
                <a:ea typeface="Calibri"/>
                <a:cs typeface="Calibri"/>
                <a:sym typeface="Calibri"/>
              </a:rPr>
              <a:t> · 6 artifacts per trial on disk</a:t>
            </a:r>
            <a:endParaRPr b="0" i="0" sz="1400" u="none" cap="none" strike="noStrike">
              <a:solidFill>
                <a:srgbClr val="000000"/>
              </a:solidFill>
              <a:latin typeface="Arial"/>
              <a:ea typeface="Arial"/>
              <a:cs typeface="Arial"/>
              <a:sym typeface="Arial"/>
            </a:endParaRPr>
          </a:p>
        </p:txBody>
      </p:sp>
      <p:sp>
        <p:nvSpPr>
          <p:cNvPr id="435" name="Google Shape;435;p33"/>
          <p:cNvSpPr/>
          <p:nvPr/>
        </p:nvSpPr>
        <p:spPr>
          <a:xfrm>
            <a:off x="6172213" y="2916936"/>
            <a:ext cx="5440800" cy="5670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6" name="Google Shape;436;p33"/>
          <p:cNvSpPr/>
          <p:nvPr/>
        </p:nvSpPr>
        <p:spPr>
          <a:xfrm>
            <a:off x="6309373" y="3063240"/>
            <a:ext cx="12345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047857"/>
                </a:solidFill>
                <a:latin typeface="Calibri"/>
                <a:ea typeface="Calibri"/>
                <a:cs typeface="Calibri"/>
                <a:sym typeface="Calibri"/>
              </a:rPr>
              <a:t>IMPLEMENTED</a:t>
            </a:r>
            <a:endParaRPr b="0" i="0" sz="1400" u="none" cap="none" strike="noStrike">
              <a:solidFill>
                <a:srgbClr val="000000"/>
              </a:solidFill>
              <a:latin typeface="Arial"/>
              <a:ea typeface="Arial"/>
              <a:cs typeface="Arial"/>
              <a:sym typeface="Arial"/>
            </a:endParaRPr>
          </a:p>
        </p:txBody>
      </p:sp>
      <p:sp>
        <p:nvSpPr>
          <p:cNvPr id="437" name="Google Shape;437;p33"/>
          <p:cNvSpPr txBox="1"/>
          <p:nvPr/>
        </p:nvSpPr>
        <p:spPr>
          <a:xfrm>
            <a:off x="7680976" y="2953512"/>
            <a:ext cx="3840600" cy="5028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Cost / token tracking</a:t>
            </a:r>
            <a:r>
              <a:rPr b="0" i="0" lang="en-US" sz="1300" u="none" cap="none" strike="noStrike">
                <a:solidFill>
                  <a:srgbClr val="0F172A"/>
                </a:solidFill>
                <a:latin typeface="Calibri"/>
                <a:ea typeface="Calibri"/>
                <a:cs typeface="Calibri"/>
                <a:sym typeface="Calibri"/>
              </a:rPr>
              <a:t> · </a:t>
            </a:r>
            <a:r>
              <a:rPr b="0" i="0" lang="en-US" sz="1300" u="none" cap="none" strike="noStrike">
                <a:solidFill>
                  <a:srgbClr val="0F172A"/>
                </a:solidFill>
                <a:latin typeface="Courier New"/>
                <a:ea typeface="Courier New"/>
                <a:cs typeface="Courier New"/>
                <a:sym typeface="Courier New"/>
              </a:rPr>
              <a:t>cost/usage.json</a:t>
            </a:r>
            <a:r>
              <a:rPr b="0" i="0" lang="en-US" sz="1300" u="none" cap="none" strike="noStrike">
                <a:solidFill>
                  <a:srgbClr val="0F172A"/>
                </a:solidFill>
                <a:latin typeface="Calibri"/>
                <a:ea typeface="Calibri"/>
                <a:cs typeface="Calibri"/>
                <a:sym typeface="Calibri"/>
              </a:rPr>
              <a:t> (recorded, not optimised)</a:t>
            </a:r>
            <a:endParaRPr b="0" i="0" sz="1400" u="none" cap="none" strike="noStrike">
              <a:solidFill>
                <a:srgbClr val="000000"/>
              </a:solidFill>
              <a:latin typeface="Arial"/>
              <a:ea typeface="Arial"/>
              <a:cs typeface="Arial"/>
              <a:sym typeface="Arial"/>
            </a:endParaRPr>
          </a:p>
        </p:txBody>
      </p:sp>
      <p:sp>
        <p:nvSpPr>
          <p:cNvPr id="438" name="Google Shape;438;p33"/>
          <p:cNvSpPr/>
          <p:nvPr/>
        </p:nvSpPr>
        <p:spPr>
          <a:xfrm>
            <a:off x="6172213" y="3575304"/>
            <a:ext cx="5440800" cy="5670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9" name="Google Shape;439;p33"/>
          <p:cNvSpPr/>
          <p:nvPr/>
        </p:nvSpPr>
        <p:spPr>
          <a:xfrm>
            <a:off x="6309373" y="3721608"/>
            <a:ext cx="12345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047857"/>
                </a:solidFill>
                <a:latin typeface="Calibri"/>
                <a:ea typeface="Calibri"/>
                <a:cs typeface="Calibri"/>
                <a:sym typeface="Calibri"/>
              </a:rPr>
              <a:t>IMPLEMENTED</a:t>
            </a:r>
            <a:endParaRPr b="0" i="0" sz="1400" u="none" cap="none" strike="noStrike">
              <a:solidFill>
                <a:srgbClr val="000000"/>
              </a:solidFill>
              <a:latin typeface="Arial"/>
              <a:ea typeface="Arial"/>
              <a:cs typeface="Arial"/>
              <a:sym typeface="Arial"/>
            </a:endParaRPr>
          </a:p>
        </p:txBody>
      </p:sp>
      <p:sp>
        <p:nvSpPr>
          <p:cNvPr id="440" name="Google Shape;440;p33"/>
          <p:cNvSpPr txBox="1"/>
          <p:nvPr/>
        </p:nvSpPr>
        <p:spPr>
          <a:xfrm>
            <a:off x="7680976" y="3611880"/>
            <a:ext cx="3840600" cy="5028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Model-grader disagreement</a:t>
            </a:r>
            <a:r>
              <a:rPr b="0" i="0" lang="en-US" sz="1300" u="none" cap="none" strike="noStrike">
                <a:solidFill>
                  <a:srgbClr val="0F172A"/>
                </a:solidFill>
                <a:latin typeface="Calibri"/>
                <a:ea typeface="Calibri"/>
                <a:cs typeface="Calibri"/>
                <a:sym typeface="Calibri"/>
              </a:rPr>
              <a:t> · </a:t>
            </a:r>
            <a:r>
              <a:rPr b="0" i="0" lang="en-US" sz="1300" u="none" cap="none" strike="noStrike">
                <a:solidFill>
                  <a:srgbClr val="0F172A"/>
                </a:solidFill>
                <a:latin typeface="Courier New"/>
                <a:ea typeface="Courier New"/>
                <a:cs typeface="Courier New"/>
                <a:sym typeface="Courier New"/>
              </a:rPr>
              <a:t>model_disagreement</a:t>
            </a:r>
            <a:r>
              <a:rPr b="0" i="0" lang="en-US" sz="1300" u="none" cap="none" strike="noStrike">
                <a:solidFill>
                  <a:srgbClr val="0F172A"/>
                </a:solidFill>
                <a:latin typeface="Calibri"/>
                <a:ea typeface="Calibri"/>
                <a:cs typeface="Calibri"/>
                <a:sym typeface="Calibri"/>
              </a:rPr>
              <a:t> counted per task</a:t>
            </a:r>
            <a:endParaRPr b="0" i="0" sz="1400" u="none" cap="none" strike="noStrike">
              <a:solidFill>
                <a:srgbClr val="000000"/>
              </a:solidFill>
              <a:latin typeface="Arial"/>
              <a:ea typeface="Arial"/>
              <a:cs typeface="Arial"/>
              <a:sym typeface="Arial"/>
            </a:endParaRPr>
          </a:p>
        </p:txBody>
      </p:sp>
      <p:sp>
        <p:nvSpPr>
          <p:cNvPr id="441" name="Google Shape;441;p33"/>
          <p:cNvSpPr/>
          <p:nvPr/>
        </p:nvSpPr>
        <p:spPr>
          <a:xfrm>
            <a:off x="6172213" y="4233672"/>
            <a:ext cx="5440800" cy="5670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42" name="Google Shape;442;p33"/>
          <p:cNvSpPr/>
          <p:nvPr/>
        </p:nvSpPr>
        <p:spPr>
          <a:xfrm>
            <a:off x="6309373" y="4379976"/>
            <a:ext cx="1234500" cy="274200"/>
          </a:xfrm>
          <a:prstGeom prst="roundRect">
            <a:avLst>
              <a:gd fmla="val 50000" name="adj"/>
            </a:avLst>
          </a:prstGeom>
          <a:solidFill>
            <a:srgbClr val="FEF3C7"/>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B45309"/>
                </a:solidFill>
                <a:latin typeface="Calibri"/>
                <a:ea typeface="Calibri"/>
                <a:cs typeface="Calibri"/>
                <a:sym typeface="Calibri"/>
              </a:rPr>
              <a:t>PARTIAL</a:t>
            </a:r>
            <a:endParaRPr b="0" i="0" sz="1400" u="none" cap="none" strike="noStrike">
              <a:solidFill>
                <a:srgbClr val="000000"/>
              </a:solidFill>
              <a:latin typeface="Arial"/>
              <a:ea typeface="Arial"/>
              <a:cs typeface="Arial"/>
              <a:sym typeface="Arial"/>
            </a:endParaRPr>
          </a:p>
        </p:txBody>
      </p:sp>
      <p:sp>
        <p:nvSpPr>
          <p:cNvPr id="443" name="Google Shape;443;p33"/>
          <p:cNvSpPr txBox="1"/>
          <p:nvPr/>
        </p:nvSpPr>
        <p:spPr>
          <a:xfrm>
            <a:off x="7680976" y="4270248"/>
            <a:ext cx="3840600" cy="5028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Human spot checks</a:t>
            </a:r>
            <a:r>
              <a:rPr b="0" i="0" lang="en-US" sz="1300" u="none" cap="none" strike="noStrike">
                <a:solidFill>
                  <a:srgbClr val="0F172A"/>
                </a:solidFill>
                <a:latin typeface="Calibri"/>
                <a:ea typeface="Calibri"/>
                <a:cs typeface="Calibri"/>
                <a:sym typeface="Calibri"/>
              </a:rPr>
              <a:t> · checklist generated, not enforced</a:t>
            </a:r>
            <a:endParaRPr b="0" i="0" sz="1400" u="none" cap="none" strike="noStrike">
              <a:solidFill>
                <a:srgbClr val="000000"/>
              </a:solidFill>
              <a:latin typeface="Arial"/>
              <a:ea typeface="Arial"/>
              <a:cs typeface="Arial"/>
              <a:sym typeface="Arial"/>
            </a:endParaRPr>
          </a:p>
        </p:txBody>
      </p:sp>
      <p:sp>
        <p:nvSpPr>
          <p:cNvPr id="444" name="Google Shape;444;p33"/>
          <p:cNvSpPr/>
          <p:nvPr/>
        </p:nvSpPr>
        <p:spPr>
          <a:xfrm>
            <a:off x="6172213" y="4892040"/>
            <a:ext cx="5440800" cy="5670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45" name="Google Shape;445;p33"/>
          <p:cNvSpPr/>
          <p:nvPr/>
        </p:nvSpPr>
        <p:spPr>
          <a:xfrm>
            <a:off x="6309373" y="5038344"/>
            <a:ext cx="1234500" cy="274200"/>
          </a:xfrm>
          <a:prstGeom prst="roundRect">
            <a:avLst>
              <a:gd fmla="val 50000" name="adj"/>
            </a:avLst>
          </a:prstGeom>
          <a:solidFill>
            <a:srgbClr val="FEE2E2"/>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B91C1C"/>
                </a:solidFill>
                <a:latin typeface="Calibri"/>
                <a:ea typeface="Calibri"/>
                <a:cs typeface="Calibri"/>
                <a:sym typeface="Calibri"/>
              </a:rPr>
              <a:t>NOT BUILT</a:t>
            </a:r>
            <a:endParaRPr b="0" i="0" sz="1400" u="none" cap="none" strike="noStrike">
              <a:solidFill>
                <a:srgbClr val="000000"/>
              </a:solidFill>
              <a:latin typeface="Arial"/>
              <a:ea typeface="Arial"/>
              <a:cs typeface="Arial"/>
              <a:sym typeface="Arial"/>
            </a:endParaRPr>
          </a:p>
        </p:txBody>
      </p:sp>
      <p:sp>
        <p:nvSpPr>
          <p:cNvPr id="446" name="Google Shape;446;p33"/>
          <p:cNvSpPr txBox="1"/>
          <p:nvPr/>
        </p:nvSpPr>
        <p:spPr>
          <a:xfrm>
            <a:off x="7680976" y="4928616"/>
            <a:ext cx="3840600" cy="5028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Statistical confidence</a:t>
            </a:r>
            <a:r>
              <a:rPr b="0" i="0" lang="en-US" sz="1300" u="none" cap="none" strike="noStrike">
                <a:solidFill>
                  <a:srgbClr val="0F172A"/>
                </a:solidFill>
                <a:latin typeface="Calibri"/>
                <a:ea typeface="Calibri"/>
                <a:cs typeface="Calibri"/>
                <a:sym typeface="Calibri"/>
              </a:rPr>
              <a:t> · We only run each task 2 times, so results are too small to establish reliable confidence intervals or meaningful performance differences.</a:t>
            </a:r>
            <a:endParaRPr b="0" i="0" sz="1400" u="none" cap="none" strike="noStrike">
              <a:solidFill>
                <a:srgbClr val="000000"/>
              </a:solidFill>
              <a:latin typeface="Arial"/>
              <a:ea typeface="Arial"/>
              <a:cs typeface="Arial"/>
              <a:sym typeface="Arial"/>
            </a:endParaRPr>
          </a:p>
        </p:txBody>
      </p:sp>
      <p:sp>
        <p:nvSpPr>
          <p:cNvPr id="447" name="Google Shape;447;p33"/>
          <p:cNvSpPr/>
          <p:nvPr/>
        </p:nvSpPr>
        <p:spPr>
          <a:xfrm>
            <a:off x="6172213" y="5550408"/>
            <a:ext cx="5440800" cy="5670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48" name="Google Shape;448;p33"/>
          <p:cNvSpPr/>
          <p:nvPr/>
        </p:nvSpPr>
        <p:spPr>
          <a:xfrm>
            <a:off x="6309373" y="5696712"/>
            <a:ext cx="1234500" cy="274200"/>
          </a:xfrm>
          <a:prstGeom prst="roundRect">
            <a:avLst>
              <a:gd fmla="val 50000" name="adj"/>
            </a:avLst>
          </a:prstGeom>
          <a:solidFill>
            <a:srgbClr val="FEE2E2"/>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B91C1C"/>
                </a:solidFill>
                <a:latin typeface="Calibri"/>
                <a:ea typeface="Calibri"/>
                <a:cs typeface="Calibri"/>
                <a:sym typeface="Calibri"/>
              </a:rPr>
              <a:t>NOT BUILT</a:t>
            </a:r>
            <a:endParaRPr b="0" i="0" sz="1400" u="none" cap="none" strike="noStrike">
              <a:solidFill>
                <a:srgbClr val="000000"/>
              </a:solidFill>
              <a:latin typeface="Arial"/>
              <a:ea typeface="Arial"/>
              <a:cs typeface="Arial"/>
              <a:sym typeface="Arial"/>
            </a:endParaRPr>
          </a:p>
        </p:txBody>
      </p:sp>
      <p:sp>
        <p:nvSpPr>
          <p:cNvPr id="449" name="Google Shape;449;p33"/>
          <p:cNvSpPr txBox="1"/>
          <p:nvPr/>
        </p:nvSpPr>
        <p:spPr>
          <a:xfrm>
            <a:off x="7680976" y="5586984"/>
            <a:ext cx="3840600" cy="5028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Grader validation / hill-climb</a:t>
            </a:r>
            <a:r>
              <a:rPr b="0" i="0" lang="en-US" sz="1300" u="none" cap="none" strike="noStrike">
                <a:solidFill>
                  <a:srgbClr val="0F172A"/>
                </a:solidFill>
                <a:latin typeface="Calibri"/>
                <a:ea typeface="Calibri"/>
                <a:cs typeface="Calibri"/>
                <a:sym typeface="Calibri"/>
              </a:rPr>
              <a:t> · see chapter 6</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454" name="Shape 454"/>
        <p:cNvGrpSpPr/>
        <p:nvPr/>
      </p:nvGrpSpPr>
      <p:grpSpPr>
        <a:xfrm>
          <a:off x="0" y="0"/>
          <a:ext cx="0" cy="0"/>
          <a:chOff x="0" y="0"/>
          <a:chExt cx="0" cy="0"/>
        </a:xfrm>
      </p:grpSpPr>
      <p:sp>
        <p:nvSpPr>
          <p:cNvPr id="455" name="Google Shape;455;p34"/>
          <p:cNvSpPr/>
          <p:nvPr/>
        </p:nvSpPr>
        <p:spPr>
          <a:xfrm>
            <a:off x="731522" y="2331720"/>
            <a:ext cx="1005900" cy="10059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456" name="Google Shape;456;p34"/>
          <p:cNvSpPr txBox="1"/>
          <p:nvPr/>
        </p:nvSpPr>
        <p:spPr>
          <a:xfrm>
            <a:off x="2011684" y="2240280"/>
            <a:ext cx="9144000" cy="7314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4000"/>
              <a:buFont typeface="Arial"/>
              <a:buNone/>
            </a:pPr>
            <a:r>
              <a:rPr b="1" i="0" lang="en-US" sz="4000" u="none" cap="none" strike="noStrike">
                <a:solidFill>
                  <a:srgbClr val="FFFFFF"/>
                </a:solidFill>
                <a:latin typeface="Calibri"/>
                <a:ea typeface="Calibri"/>
                <a:cs typeface="Calibri"/>
                <a:sym typeface="Calibri"/>
              </a:rPr>
              <a:t>The PoC I built</a:t>
            </a:r>
            <a:endParaRPr b="0" i="0" sz="1400" u="none" cap="none" strike="noStrike">
              <a:solidFill>
                <a:srgbClr val="000000"/>
              </a:solidFill>
              <a:latin typeface="Arial"/>
              <a:ea typeface="Arial"/>
              <a:cs typeface="Arial"/>
              <a:sym typeface="Arial"/>
            </a:endParaRPr>
          </a:p>
        </p:txBody>
      </p:sp>
      <p:sp>
        <p:nvSpPr>
          <p:cNvPr id="457" name="Google Shape;457;p34"/>
          <p:cNvSpPr txBox="1"/>
          <p:nvPr/>
        </p:nvSpPr>
        <p:spPr>
          <a:xfrm>
            <a:off x="2011684" y="3017520"/>
            <a:ext cx="9144000" cy="109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800"/>
              <a:buFont typeface="Arial"/>
              <a:buNone/>
            </a:pPr>
            <a:r>
              <a:rPr b="0" i="0" lang="en-US" sz="1800" u="none" cap="none" strike="noStrike">
                <a:solidFill>
                  <a:srgbClr val="B6C3DA"/>
                </a:solidFill>
                <a:latin typeface="Calibri"/>
                <a:ea typeface="Calibri"/>
                <a:cs typeface="Calibri"/>
                <a:sym typeface="Calibri"/>
              </a:rPr>
              <a:t>One Solidity task, one baseline, two candidate harnesses, and the exact file changes between them</a:t>
            </a:r>
            <a:endParaRPr b="0" i="0" sz="1400" u="none" cap="none" strike="noStrike">
              <a:solidFill>
                <a:srgbClr val="000000"/>
              </a:solidFill>
              <a:latin typeface="Arial"/>
              <a:ea typeface="Arial"/>
              <a:cs typeface="Arial"/>
              <a:sym typeface="Arial"/>
            </a:endParaRPr>
          </a:p>
        </p:txBody>
      </p:sp>
      <p:sp>
        <p:nvSpPr>
          <p:cNvPr id="458" name="Google Shape;458;p34"/>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The PoC we built</a:t>
            </a:r>
            <a:endParaRPr b="0" i="0" sz="1400" u="none" cap="none" strike="noStrike">
              <a:solidFill>
                <a:srgbClr val="000000"/>
              </a:solidFill>
              <a:latin typeface="Arial"/>
              <a:ea typeface="Arial"/>
              <a:cs typeface="Arial"/>
              <a:sym typeface="Arial"/>
            </a:endParaRPr>
          </a:p>
        </p:txBody>
      </p:sp>
      <p:sp>
        <p:nvSpPr>
          <p:cNvPr id="459" name="Google Shape;459;p34"/>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10</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4" name="Shape 464"/>
        <p:cNvGrpSpPr/>
        <p:nvPr/>
      </p:nvGrpSpPr>
      <p:grpSpPr>
        <a:xfrm>
          <a:off x="0" y="0"/>
          <a:ext cx="0" cy="0"/>
          <a:chOff x="0" y="0"/>
          <a:chExt cx="0" cy="0"/>
        </a:xfrm>
      </p:grpSpPr>
      <p:sp>
        <p:nvSpPr>
          <p:cNvPr id="465" name="Google Shape;465;p35"/>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The PoC: one baseline, two candidates, one variable</a:t>
            </a:r>
            <a:endParaRPr b="0" i="0" sz="1400" u="none" cap="none" strike="noStrike">
              <a:solidFill>
                <a:srgbClr val="000000"/>
              </a:solidFill>
              <a:latin typeface="Arial"/>
              <a:ea typeface="Arial"/>
              <a:cs typeface="Arial"/>
              <a:sym typeface="Arial"/>
            </a:endParaRPr>
          </a:p>
        </p:txBody>
      </p:sp>
      <p:sp>
        <p:nvSpPr>
          <p:cNvPr id="466" name="Google Shape;466;p35"/>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We built </a:t>
            </a:r>
            <a:r>
              <a:rPr b="1" i="0" lang="en-US" sz="1600" u="none" cap="none" strike="noStrike">
                <a:solidFill>
                  <a:srgbClr val="334155"/>
                </a:solidFill>
                <a:latin typeface="Calibri"/>
                <a:ea typeface="Calibri"/>
                <a:cs typeface="Calibri"/>
                <a:sym typeface="Calibri"/>
              </a:rPr>
              <a:t>two</a:t>
            </a:r>
            <a:r>
              <a:rPr b="0" i="0" lang="en-US" sz="1600" u="none" cap="none" strike="noStrike">
                <a:solidFill>
                  <a:srgbClr val="334155"/>
                </a:solidFill>
                <a:latin typeface="Calibri"/>
                <a:ea typeface="Calibri"/>
                <a:cs typeface="Calibri"/>
                <a:sym typeface="Calibri"/>
              </a:rPr>
              <a:t> candidates on purpose: one that should help, and one that should be </a:t>
            </a:r>
            <a:r>
              <a:rPr b="1" i="0" lang="en-US" sz="1600" u="none" cap="none" strike="noStrike">
                <a:solidFill>
                  <a:srgbClr val="334155"/>
                </a:solidFill>
                <a:latin typeface="Calibri"/>
                <a:ea typeface="Calibri"/>
                <a:cs typeface="Calibri"/>
                <a:sym typeface="Calibri"/>
              </a:rPr>
              <a:t>caught</a:t>
            </a:r>
            <a:endParaRPr b="0" i="0" sz="1400" u="none" cap="none" strike="noStrike">
              <a:solidFill>
                <a:srgbClr val="000000"/>
              </a:solidFill>
              <a:latin typeface="Arial"/>
              <a:ea typeface="Arial"/>
              <a:cs typeface="Arial"/>
              <a:sym typeface="Arial"/>
            </a:endParaRPr>
          </a:p>
        </p:txBody>
      </p:sp>
      <p:sp>
        <p:nvSpPr>
          <p:cNvPr id="467" name="Google Shape;467;p35"/>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The PoC </a:t>
            </a:r>
            <a:r>
              <a:rPr lang="en-US" sz="1000">
                <a:solidFill>
                  <a:srgbClr val="64748B"/>
                </a:solidFill>
                <a:latin typeface="Calibri"/>
                <a:ea typeface="Calibri"/>
                <a:cs typeface="Calibri"/>
                <a:sym typeface="Calibri"/>
              </a:rPr>
              <a:t>I</a:t>
            </a:r>
            <a:r>
              <a:rPr b="0" i="0" lang="en-US" sz="1000" u="none" cap="none" strike="noStrike">
                <a:solidFill>
                  <a:srgbClr val="64748B"/>
                </a:solidFill>
                <a:latin typeface="Calibri"/>
                <a:ea typeface="Calibri"/>
                <a:cs typeface="Calibri"/>
                <a:sym typeface="Calibri"/>
              </a:rPr>
              <a:t> built</a:t>
            </a:r>
            <a:endParaRPr b="0" i="0" sz="1400" u="none" cap="none" strike="noStrike">
              <a:solidFill>
                <a:srgbClr val="000000"/>
              </a:solidFill>
              <a:latin typeface="Arial"/>
              <a:ea typeface="Arial"/>
              <a:cs typeface="Arial"/>
              <a:sym typeface="Arial"/>
            </a:endParaRPr>
          </a:p>
        </p:txBody>
      </p:sp>
      <p:sp>
        <p:nvSpPr>
          <p:cNvPr id="468" name="Google Shape;468;p35"/>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469" name="Google Shape;469;p35"/>
          <p:cNvSpPr/>
          <p:nvPr/>
        </p:nvSpPr>
        <p:spPr>
          <a:xfrm>
            <a:off x="548641" y="1645920"/>
            <a:ext cx="3200400" cy="10059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0" name="Google Shape;470;p35"/>
          <p:cNvSpPr txBox="1"/>
          <p:nvPr/>
        </p:nvSpPr>
        <p:spPr>
          <a:xfrm>
            <a:off x="731522" y="1719072"/>
            <a:ext cx="914400" cy="8229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600"/>
              <a:buFont typeface="Arial"/>
              <a:buNone/>
            </a:pPr>
            <a:r>
              <a:rPr b="1" i="0" lang="en-US" sz="3600" u="none" cap="none" strike="noStrike">
                <a:solidFill>
                  <a:srgbClr val="0F766E"/>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471" name="Google Shape;471;p35"/>
          <p:cNvSpPr txBox="1"/>
          <p:nvPr/>
        </p:nvSpPr>
        <p:spPr>
          <a:xfrm>
            <a:off x="1600203" y="1783080"/>
            <a:ext cx="21030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tasks</a:t>
            </a:r>
            <a:endParaRPr b="0" i="0" sz="1400" u="none" cap="none" strike="noStrike">
              <a:solidFill>
                <a:srgbClr val="000000"/>
              </a:solidFill>
              <a:latin typeface="Arial"/>
              <a:ea typeface="Arial"/>
              <a:cs typeface="Arial"/>
              <a:sym typeface="Arial"/>
            </a:endParaRPr>
          </a:p>
        </p:txBody>
      </p:sp>
      <p:sp>
        <p:nvSpPr>
          <p:cNvPr id="472" name="Google Shape;472;p35"/>
          <p:cNvSpPr txBox="1"/>
          <p:nvPr/>
        </p:nvSpPr>
        <p:spPr>
          <a:xfrm>
            <a:off x="1600203" y="2103120"/>
            <a:ext cx="2103000" cy="502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Solidity audit ×2 + Python regression</a:t>
            </a:r>
            <a:endParaRPr b="0" i="0" sz="1400" u="none" cap="none" strike="noStrike">
              <a:solidFill>
                <a:srgbClr val="000000"/>
              </a:solidFill>
              <a:latin typeface="Arial"/>
              <a:ea typeface="Arial"/>
              <a:cs typeface="Arial"/>
              <a:sym typeface="Arial"/>
            </a:endParaRPr>
          </a:p>
        </p:txBody>
      </p:sp>
      <p:sp>
        <p:nvSpPr>
          <p:cNvPr id="473" name="Google Shape;473;p35"/>
          <p:cNvSpPr/>
          <p:nvPr/>
        </p:nvSpPr>
        <p:spPr>
          <a:xfrm>
            <a:off x="548641" y="2788920"/>
            <a:ext cx="3200400" cy="10059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4" name="Google Shape;474;p35"/>
          <p:cNvSpPr txBox="1"/>
          <p:nvPr/>
        </p:nvSpPr>
        <p:spPr>
          <a:xfrm>
            <a:off x="731522" y="2862072"/>
            <a:ext cx="914400" cy="8229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600"/>
              <a:buFont typeface="Arial"/>
              <a:buNone/>
            </a:pPr>
            <a:r>
              <a:rPr b="1" i="0" lang="en-US" sz="3600" u="none" cap="none" strike="noStrike">
                <a:solidFill>
                  <a:srgbClr val="0F766E"/>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475" name="Google Shape;475;p35"/>
          <p:cNvSpPr txBox="1"/>
          <p:nvPr/>
        </p:nvSpPr>
        <p:spPr>
          <a:xfrm>
            <a:off x="1600203" y="2926079"/>
            <a:ext cx="21030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harnesses</a:t>
            </a:r>
            <a:endParaRPr b="0" i="0" sz="1400" u="none" cap="none" strike="noStrike">
              <a:solidFill>
                <a:srgbClr val="000000"/>
              </a:solidFill>
              <a:latin typeface="Arial"/>
              <a:ea typeface="Arial"/>
              <a:cs typeface="Arial"/>
              <a:sym typeface="Arial"/>
            </a:endParaRPr>
          </a:p>
        </p:txBody>
      </p:sp>
      <p:sp>
        <p:nvSpPr>
          <p:cNvPr id="476" name="Google Shape;476;p35"/>
          <p:cNvSpPr txBox="1"/>
          <p:nvPr/>
        </p:nvSpPr>
        <p:spPr>
          <a:xfrm>
            <a:off x="1600203" y="3246120"/>
            <a:ext cx="2103000" cy="502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1 baseline + 2 candidates</a:t>
            </a:r>
            <a:endParaRPr b="0" i="0" sz="1400" u="none" cap="none" strike="noStrike">
              <a:solidFill>
                <a:srgbClr val="000000"/>
              </a:solidFill>
              <a:latin typeface="Arial"/>
              <a:ea typeface="Arial"/>
              <a:cs typeface="Arial"/>
              <a:sym typeface="Arial"/>
            </a:endParaRPr>
          </a:p>
        </p:txBody>
      </p:sp>
      <p:sp>
        <p:nvSpPr>
          <p:cNvPr id="477" name="Google Shape;477;p35"/>
          <p:cNvSpPr/>
          <p:nvPr/>
        </p:nvSpPr>
        <p:spPr>
          <a:xfrm>
            <a:off x="548641" y="3931920"/>
            <a:ext cx="3200400" cy="10059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8" name="Google Shape;478;p35"/>
          <p:cNvSpPr txBox="1"/>
          <p:nvPr/>
        </p:nvSpPr>
        <p:spPr>
          <a:xfrm>
            <a:off x="731522" y="4005072"/>
            <a:ext cx="914400" cy="8229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600"/>
              <a:buFont typeface="Arial"/>
              <a:buNone/>
            </a:pPr>
            <a:r>
              <a:rPr b="1" i="0" lang="en-US" sz="3600" u="none" cap="none" strike="noStrike">
                <a:solidFill>
                  <a:srgbClr val="0F766E"/>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479" name="Google Shape;479;p35"/>
          <p:cNvSpPr txBox="1"/>
          <p:nvPr/>
        </p:nvSpPr>
        <p:spPr>
          <a:xfrm>
            <a:off x="1600203" y="4069080"/>
            <a:ext cx="21030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reps per arm</a:t>
            </a:r>
            <a:endParaRPr b="0" i="0" sz="1400" u="none" cap="none" strike="noStrike">
              <a:solidFill>
                <a:srgbClr val="000000"/>
              </a:solidFill>
              <a:latin typeface="Arial"/>
              <a:ea typeface="Arial"/>
              <a:cs typeface="Arial"/>
              <a:sym typeface="Arial"/>
            </a:endParaRPr>
          </a:p>
        </p:txBody>
      </p:sp>
      <p:sp>
        <p:nvSpPr>
          <p:cNvPr id="480" name="Google Shape;480;p35"/>
          <p:cNvSpPr txBox="1"/>
          <p:nvPr/>
        </p:nvSpPr>
        <p:spPr>
          <a:xfrm>
            <a:off x="1600203" y="4389120"/>
            <a:ext cx="2103000" cy="502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stability signal</a:t>
            </a:r>
            <a:endParaRPr b="0" i="0" sz="1400" u="none" cap="none" strike="noStrike">
              <a:solidFill>
                <a:srgbClr val="000000"/>
              </a:solidFill>
              <a:latin typeface="Arial"/>
              <a:ea typeface="Arial"/>
              <a:cs typeface="Arial"/>
              <a:sym typeface="Arial"/>
            </a:endParaRPr>
          </a:p>
        </p:txBody>
      </p:sp>
      <p:sp>
        <p:nvSpPr>
          <p:cNvPr id="481" name="Google Shape;481;p35"/>
          <p:cNvSpPr/>
          <p:nvPr/>
        </p:nvSpPr>
        <p:spPr>
          <a:xfrm>
            <a:off x="548641" y="5074920"/>
            <a:ext cx="3200400" cy="10059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82" name="Google Shape;482;p35"/>
          <p:cNvSpPr txBox="1"/>
          <p:nvPr/>
        </p:nvSpPr>
        <p:spPr>
          <a:xfrm>
            <a:off x="731522" y="5148072"/>
            <a:ext cx="914400" cy="8229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600"/>
              <a:buFont typeface="Arial"/>
              <a:buNone/>
            </a:pPr>
            <a:r>
              <a:rPr b="1" i="0" lang="en-US" sz="3600" u="none" cap="none" strike="noStrike">
                <a:solidFill>
                  <a:srgbClr val="0F766E"/>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483" name="Google Shape;483;p35"/>
          <p:cNvSpPr txBox="1"/>
          <p:nvPr/>
        </p:nvSpPr>
        <p:spPr>
          <a:xfrm>
            <a:off x="1600203" y="5212080"/>
            <a:ext cx="21030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phases</a:t>
            </a:r>
            <a:endParaRPr b="0" i="0" sz="1400" u="none" cap="none" strike="noStrike">
              <a:solidFill>
                <a:srgbClr val="000000"/>
              </a:solidFill>
              <a:latin typeface="Arial"/>
              <a:ea typeface="Arial"/>
              <a:cs typeface="Arial"/>
              <a:sym typeface="Arial"/>
            </a:endParaRPr>
          </a:p>
        </p:txBody>
      </p:sp>
      <p:sp>
        <p:nvSpPr>
          <p:cNvPr id="484" name="Google Shape;484;p35"/>
          <p:cNvSpPr txBox="1"/>
          <p:nvPr/>
        </p:nvSpPr>
        <p:spPr>
          <a:xfrm>
            <a:off x="1600203" y="5532120"/>
            <a:ext cx="2103000" cy="502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joined by a gate</a:t>
            </a:r>
            <a:endParaRPr b="0" i="0" sz="1400" u="none" cap="none" strike="noStrike">
              <a:solidFill>
                <a:srgbClr val="000000"/>
              </a:solidFill>
              <a:latin typeface="Arial"/>
              <a:ea typeface="Arial"/>
              <a:cs typeface="Arial"/>
              <a:sym typeface="Arial"/>
            </a:endParaRPr>
          </a:p>
        </p:txBody>
      </p:sp>
      <p:sp>
        <p:nvSpPr>
          <p:cNvPr id="485" name="Google Shape;485;p35"/>
          <p:cNvSpPr/>
          <p:nvPr/>
        </p:nvSpPr>
        <p:spPr>
          <a:xfrm>
            <a:off x="4206249" y="1645920"/>
            <a:ext cx="2377500" cy="914400"/>
          </a:xfrm>
          <a:prstGeom prst="roundRect">
            <a:avLst>
              <a:gd fmla="val 8000" name="adj"/>
            </a:avLst>
          </a:prstGeom>
          <a:solidFill>
            <a:srgbClr val="F1F5F9"/>
          </a:solidFill>
          <a:ln cap="flat" cmpd="sng" w="12700">
            <a:solidFill>
              <a:srgbClr val="E2E8F0"/>
            </a:solidFill>
            <a:prstDash val="solid"/>
            <a:round/>
            <a:headEnd len="sm" w="sm" type="none"/>
            <a:tailEnd len="sm" w="sm" type="none"/>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Baseline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300"/>
              <a:buFont typeface="Arial"/>
              <a:buNone/>
            </a:pPr>
            <a:r>
              <a:rPr b="0" i="0" lang="en-US" sz="1300" u="none" cap="none" strike="noStrike">
                <a:solidFill>
                  <a:srgbClr val="0F172A"/>
                </a:solidFill>
                <a:latin typeface="Courier New"/>
                <a:ea typeface="Courier New"/>
                <a:cs typeface="Courier New"/>
                <a:sym typeface="Courier New"/>
              </a:rPr>
              <a:t>AGENTS.md</a:t>
            </a:r>
            <a:endParaRPr b="0" i="0" sz="1400" u="none" cap="none" strike="noStrike">
              <a:solidFill>
                <a:srgbClr val="000000"/>
              </a:solidFill>
              <a:latin typeface="Arial"/>
              <a:ea typeface="Arial"/>
              <a:cs typeface="Arial"/>
              <a:sym typeface="Arial"/>
            </a:endParaRPr>
          </a:p>
        </p:txBody>
      </p:sp>
      <p:sp>
        <p:nvSpPr>
          <p:cNvPr id="486" name="Google Shape;486;p35"/>
          <p:cNvSpPr/>
          <p:nvPr/>
        </p:nvSpPr>
        <p:spPr>
          <a:xfrm>
            <a:off x="4206249" y="2834640"/>
            <a:ext cx="2377500" cy="914400"/>
          </a:xfrm>
          <a:prstGeom prst="roundRect">
            <a:avLst>
              <a:gd fmla="val 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47857"/>
                </a:solidFill>
                <a:latin typeface="Calibri"/>
                <a:ea typeface="Calibri"/>
                <a:cs typeface="Calibri"/>
                <a:sym typeface="Calibri"/>
              </a:rPr>
              <a:t>Good candidate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200"/>
              <a:buFont typeface="Arial"/>
              <a:buNone/>
            </a:pPr>
            <a:r>
              <a:rPr b="0" i="0" lang="en-US" sz="1200" u="none" cap="none" strike="noStrike">
                <a:solidFill>
                  <a:srgbClr val="047857"/>
                </a:solidFill>
                <a:latin typeface="Courier New"/>
                <a:ea typeface="Courier New"/>
                <a:cs typeface="Courier New"/>
                <a:sym typeface="Courier New"/>
              </a:rPr>
              <a:t>good-candidate/SKILL.md</a:t>
            </a:r>
            <a:endParaRPr b="0" i="0" sz="1400" u="none" cap="none" strike="noStrike">
              <a:solidFill>
                <a:srgbClr val="000000"/>
              </a:solidFill>
              <a:latin typeface="Arial"/>
              <a:ea typeface="Arial"/>
              <a:cs typeface="Arial"/>
              <a:sym typeface="Arial"/>
            </a:endParaRPr>
          </a:p>
        </p:txBody>
      </p:sp>
      <p:sp>
        <p:nvSpPr>
          <p:cNvPr id="487" name="Google Shape;487;p35"/>
          <p:cNvSpPr/>
          <p:nvPr/>
        </p:nvSpPr>
        <p:spPr>
          <a:xfrm>
            <a:off x="4206249" y="4023360"/>
            <a:ext cx="2377500" cy="914400"/>
          </a:xfrm>
          <a:prstGeom prst="roundRect">
            <a:avLst>
              <a:gd fmla="val 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B91C1C"/>
                </a:solidFill>
                <a:latin typeface="Calibri"/>
                <a:ea typeface="Calibri"/>
                <a:cs typeface="Calibri"/>
                <a:sym typeface="Calibri"/>
              </a:rPr>
              <a:t>Bad candidate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200"/>
              <a:buFont typeface="Arial"/>
              <a:buNone/>
            </a:pPr>
            <a:r>
              <a:rPr b="0" i="0" lang="en-US" sz="1200" u="none" cap="none" strike="noStrike">
                <a:solidFill>
                  <a:srgbClr val="B91C1C"/>
                </a:solidFill>
                <a:latin typeface="Courier New"/>
                <a:ea typeface="Courier New"/>
                <a:cs typeface="Courier New"/>
                <a:sym typeface="Courier New"/>
              </a:rPr>
              <a:t>bad-candidate/SKILL.md</a:t>
            </a:r>
            <a:endParaRPr b="0" i="0" sz="1400" u="none" cap="none" strike="noStrike">
              <a:solidFill>
                <a:srgbClr val="000000"/>
              </a:solidFill>
              <a:latin typeface="Arial"/>
              <a:ea typeface="Arial"/>
              <a:cs typeface="Arial"/>
              <a:sym typeface="Arial"/>
            </a:endParaRPr>
          </a:p>
        </p:txBody>
      </p:sp>
      <p:sp>
        <p:nvSpPr>
          <p:cNvPr id="488" name="Google Shape;488;p35"/>
          <p:cNvSpPr/>
          <p:nvPr/>
        </p:nvSpPr>
        <p:spPr>
          <a:xfrm>
            <a:off x="6720854" y="1965960"/>
            <a:ext cx="411600" cy="2742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89" name="Google Shape;489;p35"/>
          <p:cNvSpPr/>
          <p:nvPr/>
        </p:nvSpPr>
        <p:spPr>
          <a:xfrm>
            <a:off x="6720854" y="3154680"/>
            <a:ext cx="411600" cy="2742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0" name="Google Shape;490;p35"/>
          <p:cNvSpPr/>
          <p:nvPr/>
        </p:nvSpPr>
        <p:spPr>
          <a:xfrm>
            <a:off x="6720854" y="4343400"/>
            <a:ext cx="411600" cy="2742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1" name="Google Shape;491;p35"/>
          <p:cNvSpPr/>
          <p:nvPr/>
        </p:nvSpPr>
        <p:spPr>
          <a:xfrm>
            <a:off x="7269495" y="1645920"/>
            <a:ext cx="2240400" cy="3291900"/>
          </a:xfrm>
          <a:prstGeom prst="roundRect">
            <a:avLst>
              <a:gd fmla="val 8000" name="adj"/>
            </a:avLst>
          </a:prstGeom>
          <a:solidFill>
            <a:srgbClr val="0B1220"/>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Held constant</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300"/>
              <a:buFont typeface="Arial"/>
              <a:buNone/>
            </a:pPr>
            <a:r>
              <a:rPr b="0" i="0" lang="en-US" sz="1300" u="none" cap="none" strike="noStrike">
                <a:solidFill>
                  <a:srgbClr val="FFFFFF"/>
                </a:solidFill>
                <a:latin typeface="Calibri"/>
                <a:ea typeface="Calibri"/>
                <a:cs typeface="Calibri"/>
                <a:sym typeface="Calibri"/>
              </a:rPr>
              <a:t>same tasks</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300"/>
              <a:buFont typeface="Arial"/>
              <a:buNone/>
            </a:pPr>
            <a:r>
              <a:rPr b="0" i="0" lang="en-US" sz="1300" u="none" cap="none" strike="noStrike">
                <a:solidFill>
                  <a:srgbClr val="FFFFFF"/>
                </a:solidFill>
                <a:latin typeface="Calibri"/>
                <a:ea typeface="Calibri"/>
                <a:cs typeface="Calibri"/>
                <a:sym typeface="Calibri"/>
              </a:rPr>
              <a:t>same model</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300"/>
              <a:buFont typeface="Arial"/>
              <a:buNone/>
            </a:pPr>
            <a:r>
              <a:rPr b="0" i="0" lang="en-US" sz="1300" u="none" cap="none" strike="noStrike">
                <a:solidFill>
                  <a:srgbClr val="FFFFFF"/>
                </a:solidFill>
                <a:latin typeface="Calibri"/>
                <a:ea typeface="Calibri"/>
                <a:cs typeface="Calibri"/>
                <a:sym typeface="Calibri"/>
              </a:rPr>
              <a:t>same tools + loop</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300"/>
              <a:buFont typeface="Arial"/>
              <a:buNone/>
            </a:pPr>
            <a:r>
              <a:rPr b="0" i="0" lang="en-US" sz="1300" u="none" cap="none" strike="noStrike">
                <a:solidFill>
                  <a:srgbClr val="FFFFFF"/>
                </a:solidFill>
                <a:latin typeface="Calibri"/>
                <a:ea typeface="Calibri"/>
                <a:cs typeface="Calibri"/>
                <a:sym typeface="Calibri"/>
              </a:rPr>
              <a:t>same graders</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300"/>
              <a:buFont typeface="Arial"/>
              <a:buNone/>
            </a:pPr>
            <a:r>
              <a:rPr b="0" i="0" lang="en-US" sz="1300" u="none" cap="none" strike="noStrike">
                <a:solidFill>
                  <a:srgbClr val="FFFFFF"/>
                </a:solidFill>
                <a:latin typeface="Calibri"/>
                <a:ea typeface="Calibri"/>
                <a:cs typeface="Calibri"/>
                <a:sym typeface="Calibri"/>
              </a:rPr>
              <a:t>same held-out answers</a:t>
            </a:r>
            <a:endParaRPr b="0" i="0" sz="1400" u="none" cap="none" strike="noStrike">
              <a:solidFill>
                <a:srgbClr val="000000"/>
              </a:solidFill>
              <a:latin typeface="Arial"/>
              <a:ea typeface="Arial"/>
              <a:cs typeface="Arial"/>
              <a:sym typeface="Arial"/>
            </a:endParaRPr>
          </a:p>
        </p:txBody>
      </p:sp>
      <p:sp>
        <p:nvSpPr>
          <p:cNvPr id="492" name="Google Shape;492;p35"/>
          <p:cNvSpPr/>
          <p:nvPr/>
        </p:nvSpPr>
        <p:spPr>
          <a:xfrm>
            <a:off x="9601220" y="3154680"/>
            <a:ext cx="411600" cy="2742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3" name="Google Shape;493;p35"/>
          <p:cNvSpPr/>
          <p:nvPr/>
        </p:nvSpPr>
        <p:spPr>
          <a:xfrm>
            <a:off x="10104141" y="1645920"/>
            <a:ext cx="1554600" cy="3291900"/>
          </a:xfrm>
          <a:prstGeom prst="roundRect">
            <a:avLst>
              <a:gd fmla="val 8000" name="adj"/>
            </a:avLst>
          </a:prstGeom>
          <a:solidFill>
            <a:srgbClr val="CCFBF1"/>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F766E"/>
                </a:solidFill>
                <a:latin typeface="Calibri"/>
                <a:ea typeface="Calibri"/>
                <a:cs typeface="Calibri"/>
                <a:sym typeface="Calibri"/>
              </a:rPr>
              <a:t>Compare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300"/>
              <a:buFont typeface="Arial"/>
              <a:buNone/>
            </a:pPr>
            <a:r>
              <a:rPr b="0" i="0" lang="en-US" sz="1300" u="none" cap="none" strike="noStrike">
                <a:solidFill>
                  <a:srgbClr val="0F766E"/>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300"/>
              <a:buFont typeface="Arial"/>
              <a:buNone/>
            </a:pPr>
            <a:r>
              <a:rPr b="1" i="0" lang="en-US" sz="1300" u="none" cap="none" strike="noStrike">
                <a:solidFill>
                  <a:srgbClr val="0F766E"/>
                </a:solidFill>
                <a:latin typeface="Calibri"/>
                <a:ea typeface="Calibri"/>
                <a:cs typeface="Calibri"/>
                <a:sym typeface="Calibri"/>
              </a:rPr>
              <a:t>Graduate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300"/>
              <a:buFont typeface="Arial"/>
              <a:buNone/>
            </a:pPr>
            <a:r>
              <a:rPr b="0" i="0" lang="en-US" sz="1300" u="none" cap="none" strike="noStrike">
                <a:solidFill>
                  <a:srgbClr val="0F766E"/>
                </a:solidFill>
                <a:latin typeface="Calibri"/>
                <a:ea typeface="Calibri"/>
                <a:cs typeface="Calibri"/>
                <a:sym typeface="Calibri"/>
              </a:rPr>
              <a:t>or</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300"/>
              <a:buFont typeface="Arial"/>
              <a:buNone/>
            </a:pPr>
            <a:r>
              <a:rPr b="1" i="0" lang="en-US" sz="1300" u="none" cap="none" strike="noStrike">
                <a:solidFill>
                  <a:srgbClr val="0F766E"/>
                </a:solidFill>
                <a:latin typeface="Calibri"/>
                <a:ea typeface="Calibri"/>
                <a:cs typeface="Calibri"/>
                <a:sym typeface="Calibri"/>
              </a:rPr>
              <a:t>Block</a:t>
            </a:r>
            <a:endParaRPr b="0" i="0" sz="1400" u="none" cap="none" strike="noStrike">
              <a:solidFill>
                <a:srgbClr val="000000"/>
              </a:solidFill>
              <a:latin typeface="Arial"/>
              <a:ea typeface="Arial"/>
              <a:cs typeface="Arial"/>
              <a:sym typeface="Arial"/>
            </a:endParaRPr>
          </a:p>
        </p:txBody>
      </p:sp>
      <p:sp>
        <p:nvSpPr>
          <p:cNvPr id="494" name="Google Shape;494;p35"/>
          <p:cNvSpPr txBox="1"/>
          <p:nvPr/>
        </p:nvSpPr>
        <p:spPr>
          <a:xfrm>
            <a:off x="4206249" y="5166360"/>
            <a:ext cx="7452300" cy="1005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1" i="0" lang="en-US" sz="1350" u="none" cap="none" strike="noStrike">
                <a:solidFill>
                  <a:srgbClr val="334155"/>
                </a:solidFill>
                <a:latin typeface="Calibri"/>
                <a:ea typeface="Calibri"/>
                <a:cs typeface="Calibri"/>
                <a:sym typeface="Calibri"/>
              </a:rPr>
              <a:t>Good story</a:t>
            </a:r>
            <a:r>
              <a:rPr b="0" i="0" lang="en-US" sz="1350" u="none" cap="none" strike="noStrike">
                <a:solidFill>
                  <a:srgbClr val="334155"/>
                </a:solidFill>
                <a:latin typeface="Calibri"/>
                <a:ea typeface="Calibri"/>
                <a:cs typeface="Calibri"/>
                <a:sym typeface="Calibri"/>
              </a:rPr>
              <a:t> </a:t>
            </a:r>
            <a:r>
              <a:rPr b="0" i="0" lang="en-US" sz="1350" u="none" cap="none" strike="noStrike">
                <a:solidFill>
                  <a:srgbClr val="334155"/>
                </a:solidFill>
                <a:latin typeface="Courier New"/>
                <a:ea typeface="Courier New"/>
                <a:cs typeface="Courier New"/>
                <a:sym typeface="Courier New"/>
              </a:rPr>
              <a:t>output/good-harness-example/</a:t>
            </a:r>
            <a:r>
              <a:rPr b="0" i="0" lang="en-US" sz="1350" u="none" cap="none" strike="noStrike">
                <a:solidFill>
                  <a:srgbClr val="334155"/>
                </a:solidFill>
                <a:latin typeface="Calibri"/>
                <a:ea typeface="Calibri"/>
                <a:cs typeface="Calibri"/>
                <a:sym typeface="Calibri"/>
              </a:rPr>
              <a:t>: </a:t>
            </a:r>
            <a:endParaRPr b="0" i="0" sz="1350" u="none" cap="none" strike="noStrike">
              <a:solidFill>
                <a:srgbClr val="334155"/>
              </a:solidFill>
              <a:latin typeface="Calibri"/>
              <a:ea typeface="Calibri"/>
              <a:cs typeface="Calibri"/>
              <a:sym typeface="Calibri"/>
            </a:endParaRPr>
          </a:p>
          <a:p>
            <a:pPr indent="-314325" lvl="0" marL="457200" marR="0" rtl="0" algn="l">
              <a:lnSpc>
                <a:spcPct val="105000"/>
              </a:lnSpc>
              <a:spcBef>
                <a:spcPts val="0"/>
              </a:spcBef>
              <a:spcAft>
                <a:spcPts val="0"/>
              </a:spcAft>
              <a:buClr>
                <a:srgbClr val="334155"/>
              </a:buClr>
              <a:buSzPts val="1350"/>
              <a:buFont typeface="Calibri"/>
              <a:buChar char="-"/>
            </a:pPr>
            <a:r>
              <a:rPr b="0" i="0" lang="en-US" sz="1350" u="none" cap="none" strike="noStrike">
                <a:solidFill>
                  <a:srgbClr val="334155"/>
                </a:solidFill>
                <a:latin typeface="Calibri"/>
                <a:ea typeface="Calibri"/>
                <a:cs typeface="Calibri"/>
                <a:sym typeface="Calibri"/>
              </a:rPr>
              <a:t>Phase 1 </a:t>
            </a:r>
            <a:r>
              <a:rPr b="1" i="0" lang="en-US" sz="1350" u="none" cap="none" strike="noStrike">
                <a:solidFill>
                  <a:srgbClr val="334155"/>
                </a:solidFill>
                <a:latin typeface="Calibri"/>
                <a:ea typeface="Calibri"/>
                <a:cs typeface="Calibri"/>
                <a:sym typeface="Calibri"/>
              </a:rPr>
              <a:t>POSITIVE</a:t>
            </a:r>
            <a:r>
              <a:rPr b="0" i="0" lang="en-US" sz="1350" u="none" cap="none" strike="noStrike">
                <a:solidFill>
                  <a:srgbClr val="334155"/>
                </a:solidFill>
                <a:latin typeface="Calibri"/>
                <a:ea typeface="Calibri"/>
                <a:cs typeface="Calibri"/>
                <a:sym typeface="Calibri"/>
              </a:rPr>
              <a:t>, </a:t>
            </a:r>
            <a:endParaRPr b="0" i="0" sz="1350" u="none" cap="none" strike="noStrike">
              <a:solidFill>
                <a:srgbClr val="334155"/>
              </a:solidFill>
              <a:latin typeface="Calibri"/>
              <a:ea typeface="Calibri"/>
              <a:cs typeface="Calibri"/>
              <a:sym typeface="Calibri"/>
            </a:endParaRPr>
          </a:p>
          <a:p>
            <a:pPr indent="-314325" lvl="0" marL="457200" marR="0" rtl="0" algn="l">
              <a:lnSpc>
                <a:spcPct val="105000"/>
              </a:lnSpc>
              <a:spcBef>
                <a:spcPts val="0"/>
              </a:spcBef>
              <a:spcAft>
                <a:spcPts val="0"/>
              </a:spcAft>
              <a:buClr>
                <a:srgbClr val="334155"/>
              </a:buClr>
              <a:buSzPts val="1350"/>
              <a:buFont typeface="Calibri"/>
              <a:buChar char="-"/>
            </a:pPr>
            <a:r>
              <a:rPr b="0" i="0" lang="en-US" sz="1350" u="none" cap="none" strike="noStrike">
                <a:solidFill>
                  <a:srgbClr val="334155"/>
                </a:solidFill>
                <a:latin typeface="Calibri"/>
                <a:ea typeface="Calibri"/>
                <a:cs typeface="Calibri"/>
                <a:sym typeface="Calibri"/>
              </a:rPr>
              <a:t>Phase 2 </a:t>
            </a:r>
            <a:r>
              <a:rPr b="1" i="0" lang="en-US" sz="1350" u="none" cap="none" strike="noStrike">
                <a:solidFill>
                  <a:srgbClr val="334155"/>
                </a:solidFill>
                <a:latin typeface="Calibri"/>
                <a:ea typeface="Calibri"/>
                <a:cs typeface="Calibri"/>
                <a:sym typeface="Calibri"/>
              </a:rPr>
              <a:t>POSITIVE</a:t>
            </a:r>
            <a:r>
              <a:rPr b="0" i="0" lang="en-US" sz="1350" u="none" cap="none" strike="noStrike">
                <a:solidFill>
                  <a:srgbClr val="334155"/>
                </a:solidFill>
                <a:latin typeface="Calibri"/>
                <a:ea typeface="Calibri"/>
                <a:cs typeface="Calibri"/>
                <a:sym typeface="Calibri"/>
              </a:rPr>
              <a:t>.  </a:t>
            </a:r>
            <a:endParaRPr b="0" i="0" sz="1350" u="none" cap="none" strike="noStrike">
              <a:solidFill>
                <a:srgbClr val="334155"/>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350"/>
              <a:buFont typeface="Arial"/>
              <a:buNone/>
            </a:pPr>
            <a:r>
              <a:rPr b="1" i="0" lang="en-US" sz="1350" u="none" cap="none" strike="noStrike">
                <a:solidFill>
                  <a:srgbClr val="334155"/>
                </a:solidFill>
                <a:latin typeface="Calibri"/>
                <a:ea typeface="Calibri"/>
                <a:cs typeface="Calibri"/>
                <a:sym typeface="Calibri"/>
              </a:rPr>
              <a:t>Bad story</a:t>
            </a:r>
            <a:r>
              <a:rPr b="0" i="0" lang="en-US" sz="1350" u="none" cap="none" strike="noStrike">
                <a:solidFill>
                  <a:srgbClr val="334155"/>
                </a:solidFill>
                <a:latin typeface="Calibri"/>
                <a:ea typeface="Calibri"/>
                <a:cs typeface="Calibri"/>
                <a:sym typeface="Calibri"/>
              </a:rPr>
              <a:t> </a:t>
            </a:r>
            <a:r>
              <a:rPr b="0" i="0" lang="en-US" sz="1350" u="none" cap="none" strike="noStrike">
                <a:solidFill>
                  <a:srgbClr val="334155"/>
                </a:solidFill>
                <a:latin typeface="Courier New"/>
                <a:ea typeface="Courier New"/>
                <a:cs typeface="Courier New"/>
                <a:sym typeface="Courier New"/>
              </a:rPr>
              <a:t>output/bad-harness-example/</a:t>
            </a:r>
            <a:r>
              <a:rPr b="0" i="0" lang="en-US" sz="1350" u="none" cap="none" strike="noStrike">
                <a:solidFill>
                  <a:srgbClr val="334155"/>
                </a:solidFill>
                <a:latin typeface="Calibri"/>
                <a:ea typeface="Calibri"/>
                <a:cs typeface="Calibri"/>
                <a:sym typeface="Calibri"/>
              </a:rPr>
              <a:t>: </a:t>
            </a:r>
            <a:endParaRPr b="0" i="0" sz="1350" u="none" cap="none" strike="noStrike">
              <a:solidFill>
                <a:srgbClr val="334155"/>
              </a:solidFill>
              <a:latin typeface="Calibri"/>
              <a:ea typeface="Calibri"/>
              <a:cs typeface="Calibri"/>
              <a:sym typeface="Calibri"/>
            </a:endParaRPr>
          </a:p>
          <a:p>
            <a:pPr indent="-314325" lvl="0" marL="457200" marR="0" rtl="0" algn="l">
              <a:lnSpc>
                <a:spcPct val="105000"/>
              </a:lnSpc>
              <a:spcBef>
                <a:spcPts val="0"/>
              </a:spcBef>
              <a:spcAft>
                <a:spcPts val="0"/>
              </a:spcAft>
              <a:buClr>
                <a:srgbClr val="334155"/>
              </a:buClr>
              <a:buSzPts val="1350"/>
              <a:buFont typeface="Calibri"/>
              <a:buChar char="-"/>
            </a:pPr>
            <a:r>
              <a:rPr b="0" i="0" lang="en-US" sz="1350" u="none" cap="none" strike="noStrike">
                <a:solidFill>
                  <a:srgbClr val="334155"/>
                </a:solidFill>
                <a:latin typeface="Calibri"/>
                <a:ea typeface="Calibri"/>
                <a:cs typeface="Calibri"/>
                <a:sym typeface="Calibri"/>
              </a:rPr>
              <a:t>Phase 1 </a:t>
            </a:r>
            <a:r>
              <a:rPr b="1" i="0" lang="en-US" sz="1350" u="none" cap="none" strike="noStrike">
                <a:solidFill>
                  <a:srgbClr val="334155"/>
                </a:solidFill>
                <a:latin typeface="Calibri"/>
                <a:ea typeface="Calibri"/>
                <a:cs typeface="Calibri"/>
                <a:sym typeface="Calibri"/>
              </a:rPr>
              <a:t>NEGATIVE</a:t>
            </a:r>
            <a:r>
              <a:rPr b="0" i="0" lang="en-US" sz="1350" u="none" cap="none" strike="noStrike">
                <a:solidFill>
                  <a:srgbClr val="334155"/>
                </a:solidFill>
                <a:latin typeface="Calibri"/>
                <a:ea typeface="Calibri"/>
                <a:cs typeface="Calibri"/>
                <a:sym typeface="Calibri"/>
              </a:rPr>
              <a:t>, </a:t>
            </a:r>
            <a:endParaRPr b="0" i="0" sz="1350" u="none" cap="none" strike="noStrike">
              <a:solidFill>
                <a:srgbClr val="334155"/>
              </a:solidFill>
              <a:latin typeface="Calibri"/>
              <a:ea typeface="Calibri"/>
              <a:cs typeface="Calibri"/>
              <a:sym typeface="Calibri"/>
            </a:endParaRPr>
          </a:p>
          <a:p>
            <a:pPr indent="-314325" lvl="0" marL="457200" marR="0" rtl="0" algn="l">
              <a:lnSpc>
                <a:spcPct val="105000"/>
              </a:lnSpc>
              <a:spcBef>
                <a:spcPts val="0"/>
              </a:spcBef>
              <a:spcAft>
                <a:spcPts val="0"/>
              </a:spcAft>
              <a:buClr>
                <a:srgbClr val="334155"/>
              </a:buClr>
              <a:buSzPts val="1350"/>
              <a:buFont typeface="Calibri"/>
              <a:buChar char="-"/>
            </a:pPr>
            <a:r>
              <a:rPr b="0" i="0" lang="en-US" sz="1350" u="none" cap="none" strike="noStrike">
                <a:solidFill>
                  <a:srgbClr val="334155"/>
                </a:solidFill>
                <a:latin typeface="Calibri"/>
                <a:ea typeface="Calibri"/>
                <a:cs typeface="Calibri"/>
                <a:sym typeface="Calibri"/>
              </a:rPr>
              <a:t>Phase 2 </a:t>
            </a:r>
            <a:r>
              <a:rPr b="1" i="0" lang="en-US" sz="1350" u="none" cap="none" strike="noStrike">
                <a:solidFill>
                  <a:srgbClr val="334155"/>
                </a:solidFill>
                <a:latin typeface="Calibri"/>
                <a:ea typeface="Calibri"/>
                <a:cs typeface="Calibri"/>
                <a:sym typeface="Calibri"/>
              </a:rPr>
              <a:t>blocked</a:t>
            </a:r>
            <a:r>
              <a:rPr b="0" i="0" lang="en-US" sz="1350" u="none" cap="none" strike="noStrike">
                <a:solidFill>
                  <a:srgbClr val="334155"/>
                </a:solidFill>
                <a:latin typeface="Calibri"/>
                <a:ea typeface="Calibri"/>
                <a:cs typeface="Calibri"/>
                <a:sym typeface="Calibri"/>
              </a:rPr>
              <a:t>. </a:t>
            </a:r>
            <a:endParaRPr sz="1350">
              <a:solidFill>
                <a:srgbClr val="334155"/>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350"/>
              <a:buFont typeface="Arial"/>
              <a:buNone/>
            </a:pPr>
            <a:r>
              <a:rPr b="0" i="0" lang="en-US" sz="1350" u="none" cap="none" strike="noStrike">
                <a:solidFill>
                  <a:srgbClr val="334155"/>
                </a:solidFill>
                <a:latin typeface="Calibri"/>
                <a:ea typeface="Calibri"/>
                <a:cs typeface="Calibri"/>
                <a:sym typeface="Calibri"/>
              </a:rPr>
              <a:t>Committed runs are dry runs ($0).</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9" name="Shape 499"/>
        <p:cNvGrpSpPr/>
        <p:nvPr/>
      </p:nvGrpSpPr>
      <p:grpSpPr>
        <a:xfrm>
          <a:off x="0" y="0"/>
          <a:ext cx="0" cy="0"/>
          <a:chOff x="0" y="0"/>
          <a:chExt cx="0" cy="0"/>
        </a:xfrm>
      </p:grpSpPr>
      <p:sp>
        <p:nvSpPr>
          <p:cNvPr id="500" name="Google Shape;500;p36"/>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The Solidity task: Wallet.sol</a:t>
            </a:r>
            <a:endParaRPr b="0" i="0" sz="1400" u="none" cap="none" strike="noStrike">
              <a:solidFill>
                <a:srgbClr val="000000"/>
              </a:solidFill>
              <a:latin typeface="Arial"/>
              <a:ea typeface="Arial"/>
              <a:cs typeface="Arial"/>
              <a:sym typeface="Arial"/>
            </a:endParaRPr>
          </a:p>
        </p:txBody>
      </p:sp>
      <p:sp>
        <p:nvSpPr>
          <p:cNvPr id="501" name="Google Shape;501;p36"/>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The same keyword </a:t>
            </a:r>
            <a:r>
              <a:rPr b="0" i="0" lang="en-US" sz="1600" u="none" cap="none" strike="noStrike">
                <a:solidFill>
                  <a:srgbClr val="334155"/>
                </a:solidFill>
                <a:latin typeface="Courier New"/>
                <a:ea typeface="Courier New"/>
                <a:cs typeface="Courier New"/>
                <a:sym typeface="Courier New"/>
              </a:rPr>
              <a:t>tx.origin</a:t>
            </a:r>
            <a:r>
              <a:rPr b="0" i="0" lang="en-US" sz="1600" u="none" cap="none" strike="noStrike">
                <a:solidFill>
                  <a:srgbClr val="334155"/>
                </a:solidFill>
                <a:latin typeface="Calibri"/>
                <a:ea typeface="Calibri"/>
                <a:cs typeface="Calibri"/>
                <a:sym typeface="Calibri"/>
              </a:rPr>
              <a:t> is a </a:t>
            </a:r>
            <a:r>
              <a:rPr b="1" i="0" lang="en-US" sz="1600" u="none" cap="none" strike="noStrike">
                <a:solidFill>
                  <a:srgbClr val="334155"/>
                </a:solidFill>
                <a:latin typeface="Calibri"/>
                <a:ea typeface="Calibri"/>
                <a:cs typeface="Calibri"/>
                <a:sym typeface="Calibri"/>
              </a:rPr>
              <a:t>vulnerability</a:t>
            </a:r>
            <a:r>
              <a:rPr b="0" i="0" lang="en-US" sz="1600" u="none" cap="none" strike="noStrike">
                <a:solidFill>
                  <a:srgbClr val="334155"/>
                </a:solidFill>
                <a:latin typeface="Calibri"/>
                <a:ea typeface="Calibri"/>
                <a:cs typeface="Calibri"/>
                <a:sym typeface="Calibri"/>
              </a:rPr>
              <a:t> in one function and </a:t>
            </a:r>
            <a:r>
              <a:rPr b="1" i="0" lang="en-US" sz="1600" u="none" cap="none" strike="noStrike">
                <a:solidFill>
                  <a:srgbClr val="334155"/>
                </a:solidFill>
                <a:latin typeface="Calibri"/>
                <a:ea typeface="Calibri"/>
                <a:cs typeface="Calibri"/>
                <a:sym typeface="Calibri"/>
              </a:rPr>
              <a:t>harmless</a:t>
            </a:r>
            <a:r>
              <a:rPr b="0" i="0" lang="en-US" sz="1600" u="none" cap="none" strike="noStrike">
                <a:solidFill>
                  <a:srgbClr val="334155"/>
                </a:solidFill>
                <a:latin typeface="Calibri"/>
                <a:ea typeface="Calibri"/>
                <a:cs typeface="Calibri"/>
                <a:sym typeface="Calibri"/>
              </a:rPr>
              <a:t> in the other</a:t>
            </a:r>
            <a:endParaRPr b="0" i="0" sz="1400" u="none" cap="none" strike="noStrike">
              <a:solidFill>
                <a:srgbClr val="000000"/>
              </a:solidFill>
              <a:latin typeface="Arial"/>
              <a:ea typeface="Arial"/>
              <a:cs typeface="Arial"/>
              <a:sym typeface="Arial"/>
            </a:endParaRPr>
          </a:p>
        </p:txBody>
      </p:sp>
      <p:sp>
        <p:nvSpPr>
          <p:cNvPr id="502" name="Google Shape;502;p36"/>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The PoC </a:t>
            </a:r>
            <a:r>
              <a:rPr lang="en-US" sz="1000">
                <a:solidFill>
                  <a:srgbClr val="64748B"/>
                </a:solidFill>
                <a:latin typeface="Calibri"/>
                <a:ea typeface="Calibri"/>
                <a:cs typeface="Calibri"/>
                <a:sym typeface="Calibri"/>
              </a:rPr>
              <a:t>I</a:t>
            </a:r>
            <a:r>
              <a:rPr b="0" i="0" lang="en-US" sz="1000" u="none" cap="none" strike="noStrike">
                <a:solidFill>
                  <a:srgbClr val="64748B"/>
                </a:solidFill>
                <a:latin typeface="Calibri"/>
                <a:ea typeface="Calibri"/>
                <a:cs typeface="Calibri"/>
                <a:sym typeface="Calibri"/>
              </a:rPr>
              <a:t> built</a:t>
            </a:r>
            <a:endParaRPr b="0" i="0" sz="1400" u="none" cap="none" strike="noStrike">
              <a:solidFill>
                <a:srgbClr val="000000"/>
              </a:solidFill>
              <a:latin typeface="Arial"/>
              <a:ea typeface="Arial"/>
              <a:cs typeface="Arial"/>
              <a:sym typeface="Arial"/>
            </a:endParaRPr>
          </a:p>
        </p:txBody>
      </p:sp>
      <p:sp>
        <p:nvSpPr>
          <p:cNvPr id="503" name="Google Shape;503;p36"/>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12</a:t>
            </a:r>
            <a:endParaRPr b="0" i="0" sz="1400" u="none" cap="none" strike="noStrike">
              <a:solidFill>
                <a:srgbClr val="000000"/>
              </a:solidFill>
              <a:latin typeface="Arial"/>
              <a:ea typeface="Arial"/>
              <a:cs typeface="Arial"/>
              <a:sym typeface="Arial"/>
            </a:endParaRPr>
          </a:p>
        </p:txBody>
      </p:sp>
      <p:sp>
        <p:nvSpPr>
          <p:cNvPr id="504" name="Google Shape;504;p36"/>
          <p:cNvSpPr/>
          <p:nvPr/>
        </p:nvSpPr>
        <p:spPr>
          <a:xfrm>
            <a:off x="548641" y="1645920"/>
            <a:ext cx="6035100" cy="45264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5" name="Google Shape;505;p36"/>
          <p:cNvSpPr txBox="1"/>
          <p:nvPr/>
        </p:nvSpPr>
        <p:spPr>
          <a:xfrm>
            <a:off x="731521" y="1755648"/>
            <a:ext cx="5760600" cy="40758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94A3B8"/>
                </a:solidFill>
                <a:latin typeface="Courier New"/>
                <a:ea typeface="Courier New"/>
                <a:cs typeface="Courier New"/>
                <a:sym typeface="Courier New"/>
              </a:rPr>
              <a:t>// tasks/auth-vs-log/repo/Wallet.sol</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contract Wallet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address public owner;</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event TransferLogged(address indexed fromUser,</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address indexed to);</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constructor() { owner = msg.sender;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function withdraw(uint256 amount) external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1" i="0" lang="en-US" sz="1250" u="none" cap="none" strike="noStrike">
                <a:solidFill>
                  <a:schemeClr val="lt1"/>
                </a:solidFill>
                <a:highlight>
                  <a:srgbClr val="F87171"/>
                </a:highlight>
                <a:latin typeface="Courier New"/>
                <a:ea typeface="Courier New"/>
                <a:cs typeface="Courier New"/>
                <a:sym typeface="Courier New"/>
              </a:rPr>
              <a:t>        require(tx.origin == owner, "not owner");</a:t>
            </a:r>
            <a:endParaRPr b="0" i="0" sz="1400" u="none" cap="none" strike="noStrike">
              <a:solidFill>
                <a:schemeClr val="lt1"/>
              </a:solidFill>
              <a:highlight>
                <a:srgbClr val="F87171"/>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payable(owner).transfer(amount);</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function logTransfer(address to) external {</a:t>
            </a:r>
            <a:endParaRPr b="0" i="0" sz="1400" u="none" cap="none" strike="noStrike">
              <a:solidFill>
                <a:schemeClr val="lt1"/>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1" i="0" lang="en-US" sz="1250" u="none" cap="none" strike="noStrike">
                <a:solidFill>
                  <a:srgbClr val="0000FF"/>
                </a:solidFill>
                <a:highlight>
                  <a:srgbClr val="86EFAC"/>
                </a:highlight>
                <a:latin typeface="Courier New"/>
                <a:ea typeface="Courier New"/>
                <a:cs typeface="Courier New"/>
                <a:sym typeface="Courier New"/>
              </a:rPr>
              <a:t>        emit TransferLogged(tx.origin, to);</a:t>
            </a:r>
            <a:endParaRPr b="0" i="0" sz="1400" u="none" cap="none" strike="noStrike">
              <a:solidFill>
                <a:srgbClr val="0000FF"/>
              </a:solidFill>
              <a:highlight>
                <a:srgbClr val="86EFAC"/>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a:t>
            </a:r>
            <a:endParaRPr b="0" i="0" sz="1400" u="none" cap="none" strike="noStrike">
              <a:solidFill>
                <a:srgbClr val="000000"/>
              </a:solidFill>
              <a:latin typeface="Arial"/>
              <a:ea typeface="Arial"/>
              <a:cs typeface="Arial"/>
              <a:sym typeface="Arial"/>
            </a:endParaRPr>
          </a:p>
        </p:txBody>
      </p:sp>
      <p:sp>
        <p:nvSpPr>
          <p:cNvPr id="506" name="Google Shape;506;p36"/>
          <p:cNvSpPr/>
          <p:nvPr/>
        </p:nvSpPr>
        <p:spPr>
          <a:xfrm>
            <a:off x="6903734" y="1737360"/>
            <a:ext cx="502800" cy="502800"/>
          </a:xfrm>
          <a:prstGeom prst="ellipse">
            <a:avLst/>
          </a:prstGeom>
          <a:solidFill>
            <a:srgbClr val="B91C1C"/>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507" name="Google Shape;507;p36"/>
          <p:cNvSpPr txBox="1"/>
          <p:nvPr/>
        </p:nvSpPr>
        <p:spPr>
          <a:xfrm>
            <a:off x="7589536" y="1645920"/>
            <a:ext cx="4069200" cy="34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withdraw(): authorization</a:t>
            </a:r>
            <a:endParaRPr b="0" i="0" sz="1400" u="none" cap="none" strike="noStrike">
              <a:solidFill>
                <a:srgbClr val="000000"/>
              </a:solidFill>
              <a:latin typeface="Arial"/>
              <a:ea typeface="Arial"/>
              <a:cs typeface="Arial"/>
              <a:sym typeface="Arial"/>
            </a:endParaRPr>
          </a:p>
        </p:txBody>
      </p:sp>
      <p:sp>
        <p:nvSpPr>
          <p:cNvPr id="508" name="Google Shape;508;p36"/>
          <p:cNvSpPr txBox="1"/>
          <p:nvPr/>
        </p:nvSpPr>
        <p:spPr>
          <a:xfrm>
            <a:off x="7589536" y="1993392"/>
            <a:ext cx="4069200" cy="731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ourier New"/>
                <a:ea typeface="Courier New"/>
                <a:cs typeface="Courier New"/>
                <a:sym typeface="Courier New"/>
              </a:rPr>
              <a:t>require(tx.origin == owner)</a:t>
            </a:r>
            <a:r>
              <a:rPr b="0" i="0" lang="en-US" sz="1300" u="none" cap="none" strike="noStrike">
                <a:solidFill>
                  <a:srgbClr val="334155"/>
                </a:solidFill>
                <a:latin typeface="Calibri"/>
                <a:ea typeface="Calibri"/>
                <a:cs typeface="Calibri"/>
                <a:sym typeface="Calibri"/>
              </a:rPr>
              <a:t> gates who can move funds. </a:t>
            </a:r>
            <a:r>
              <a:rPr b="1" i="0" lang="en-US" sz="1300" u="none" cap="none" strike="noStrike">
                <a:solidFill>
                  <a:srgbClr val="334155"/>
                </a:solidFill>
                <a:latin typeface="Calibri"/>
                <a:ea typeface="Calibri"/>
                <a:cs typeface="Calibri"/>
                <a:sym typeface="Calibri"/>
              </a:rPr>
              <a:t>Vulnerable.</a:t>
            </a:r>
            <a:endParaRPr b="0" i="0" sz="1400" u="none" cap="none" strike="noStrike">
              <a:solidFill>
                <a:srgbClr val="000000"/>
              </a:solidFill>
              <a:latin typeface="Arial"/>
              <a:ea typeface="Arial"/>
              <a:cs typeface="Arial"/>
              <a:sym typeface="Arial"/>
            </a:endParaRPr>
          </a:p>
        </p:txBody>
      </p:sp>
      <p:sp>
        <p:nvSpPr>
          <p:cNvPr id="509" name="Google Shape;509;p36"/>
          <p:cNvSpPr/>
          <p:nvPr/>
        </p:nvSpPr>
        <p:spPr>
          <a:xfrm>
            <a:off x="6903734" y="2880360"/>
            <a:ext cx="502800" cy="502800"/>
          </a:xfrm>
          <a:prstGeom prst="ellipse">
            <a:avLst/>
          </a:prstGeom>
          <a:solidFill>
            <a:srgbClr val="047857"/>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OK</a:t>
            </a:r>
            <a:endParaRPr b="0" i="0" sz="1400" u="none" cap="none" strike="noStrike">
              <a:solidFill>
                <a:srgbClr val="000000"/>
              </a:solidFill>
              <a:latin typeface="Arial"/>
              <a:ea typeface="Arial"/>
              <a:cs typeface="Arial"/>
              <a:sym typeface="Arial"/>
            </a:endParaRPr>
          </a:p>
        </p:txBody>
      </p:sp>
      <p:sp>
        <p:nvSpPr>
          <p:cNvPr id="510" name="Google Shape;510;p36"/>
          <p:cNvSpPr txBox="1"/>
          <p:nvPr/>
        </p:nvSpPr>
        <p:spPr>
          <a:xfrm>
            <a:off x="7589536" y="2788920"/>
            <a:ext cx="4069200" cy="34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logTransfer(): telemetry</a:t>
            </a:r>
            <a:endParaRPr b="0" i="0" sz="1400" u="none" cap="none" strike="noStrike">
              <a:solidFill>
                <a:srgbClr val="000000"/>
              </a:solidFill>
              <a:latin typeface="Arial"/>
              <a:ea typeface="Arial"/>
              <a:cs typeface="Arial"/>
              <a:sym typeface="Arial"/>
            </a:endParaRPr>
          </a:p>
        </p:txBody>
      </p:sp>
      <p:sp>
        <p:nvSpPr>
          <p:cNvPr id="511" name="Google Shape;511;p36"/>
          <p:cNvSpPr txBox="1"/>
          <p:nvPr/>
        </p:nvSpPr>
        <p:spPr>
          <a:xfrm>
            <a:off x="7589536" y="3136391"/>
            <a:ext cx="4069200" cy="731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ourier New"/>
                <a:ea typeface="Courier New"/>
                <a:cs typeface="Courier New"/>
                <a:sym typeface="Courier New"/>
              </a:rPr>
              <a:t>tx.origin</a:t>
            </a:r>
            <a:r>
              <a:rPr b="0" i="0" lang="en-US" sz="1300" u="none" cap="none" strike="noStrike">
                <a:solidFill>
                  <a:srgbClr val="334155"/>
                </a:solidFill>
                <a:latin typeface="Calibri"/>
                <a:ea typeface="Calibri"/>
                <a:cs typeface="Calibri"/>
                <a:sym typeface="Calibri"/>
              </a:rPr>
              <a:t> only appears in an emitted event: no require, no state, no funds. </a:t>
            </a:r>
            <a:r>
              <a:rPr b="1" i="0" lang="en-US" sz="1300" u="none" cap="none" strike="noStrike">
                <a:solidFill>
                  <a:srgbClr val="334155"/>
                </a:solidFill>
                <a:latin typeface="Calibri"/>
                <a:ea typeface="Calibri"/>
                <a:cs typeface="Calibri"/>
                <a:sym typeface="Calibri"/>
              </a:rPr>
              <a:t>Not a finding.</a:t>
            </a:r>
            <a:endParaRPr b="0" i="0" sz="1400" u="none" cap="none" strike="noStrike">
              <a:solidFill>
                <a:srgbClr val="000000"/>
              </a:solidFill>
              <a:latin typeface="Arial"/>
              <a:ea typeface="Arial"/>
              <a:cs typeface="Arial"/>
              <a:sym typeface="Arial"/>
            </a:endParaRPr>
          </a:p>
        </p:txBody>
      </p:sp>
      <p:sp>
        <p:nvSpPr>
          <p:cNvPr id="512" name="Google Shape;512;p36"/>
          <p:cNvSpPr/>
          <p:nvPr/>
        </p:nvSpPr>
        <p:spPr>
          <a:xfrm>
            <a:off x="6903734" y="4023359"/>
            <a:ext cx="502800" cy="502800"/>
          </a:xfrm>
          <a:prstGeom prst="ellipse">
            <a:avLst/>
          </a:prstGeom>
          <a:solidFill>
            <a:srgbClr val="1D4ED8"/>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i</a:t>
            </a:r>
            <a:endParaRPr b="0" i="0" sz="1400" u="none" cap="none" strike="noStrike">
              <a:solidFill>
                <a:srgbClr val="000000"/>
              </a:solidFill>
              <a:latin typeface="Arial"/>
              <a:ea typeface="Arial"/>
              <a:cs typeface="Arial"/>
              <a:sym typeface="Arial"/>
            </a:endParaRPr>
          </a:p>
        </p:txBody>
      </p:sp>
      <p:sp>
        <p:nvSpPr>
          <p:cNvPr id="513" name="Google Shape;513;p36"/>
          <p:cNvSpPr txBox="1"/>
          <p:nvPr/>
        </p:nvSpPr>
        <p:spPr>
          <a:xfrm>
            <a:off x="7589536" y="3931920"/>
            <a:ext cx="4069200" cy="34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tx.origin vs msg.sender</a:t>
            </a:r>
            <a:endParaRPr b="0" i="0" sz="1400" u="none" cap="none" strike="noStrike">
              <a:solidFill>
                <a:srgbClr val="000000"/>
              </a:solidFill>
              <a:latin typeface="Arial"/>
              <a:ea typeface="Arial"/>
              <a:cs typeface="Arial"/>
              <a:sym typeface="Arial"/>
            </a:endParaRPr>
          </a:p>
        </p:txBody>
      </p:sp>
      <p:sp>
        <p:nvSpPr>
          <p:cNvPr id="514" name="Google Shape;514;p36"/>
          <p:cNvSpPr txBox="1"/>
          <p:nvPr/>
        </p:nvSpPr>
        <p:spPr>
          <a:xfrm>
            <a:off x="7589536" y="4279392"/>
            <a:ext cx="4069200" cy="731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ourier New"/>
                <a:ea typeface="Courier New"/>
                <a:cs typeface="Courier New"/>
                <a:sym typeface="Courier New"/>
              </a:rPr>
              <a:t>tx.origin</a:t>
            </a:r>
            <a:r>
              <a:rPr b="0" i="0" lang="en-US" sz="1300" u="none" cap="none" strike="noStrike">
                <a:solidFill>
                  <a:srgbClr val="334155"/>
                </a:solidFill>
                <a:latin typeface="Calibri"/>
                <a:ea typeface="Calibri"/>
                <a:cs typeface="Calibri"/>
                <a:sym typeface="Calibri"/>
              </a:rPr>
              <a:t> = the EOA that </a:t>
            </a:r>
            <a:r>
              <a:rPr b="1" i="0" lang="en-US" sz="1300" u="none" cap="none" strike="noStrike">
                <a:solidFill>
                  <a:srgbClr val="334155"/>
                </a:solidFill>
                <a:latin typeface="Calibri"/>
                <a:ea typeface="Calibri"/>
                <a:cs typeface="Calibri"/>
                <a:sym typeface="Calibri"/>
              </a:rPr>
              <a:t>started</a:t>
            </a:r>
            <a:r>
              <a:rPr b="0" i="0" lang="en-US" sz="1300" u="none" cap="none" strike="noStrike">
                <a:solidFill>
                  <a:srgbClr val="334155"/>
                </a:solidFill>
                <a:latin typeface="Calibri"/>
                <a:ea typeface="Calibri"/>
                <a:cs typeface="Calibri"/>
                <a:sym typeface="Calibri"/>
              </a:rPr>
              <a:t> the transaction · </a:t>
            </a:r>
            <a:r>
              <a:rPr b="0" i="0" lang="en-US" sz="1300" u="none" cap="none" strike="noStrike">
                <a:solidFill>
                  <a:srgbClr val="334155"/>
                </a:solidFill>
                <a:latin typeface="Courier New"/>
                <a:ea typeface="Courier New"/>
                <a:cs typeface="Courier New"/>
                <a:sym typeface="Courier New"/>
              </a:rPr>
              <a:t>msg.sender</a:t>
            </a:r>
            <a:r>
              <a:rPr b="0" i="0" lang="en-US" sz="1300" u="none" cap="none" strike="noStrike">
                <a:solidFill>
                  <a:srgbClr val="334155"/>
                </a:solidFill>
                <a:latin typeface="Calibri"/>
                <a:ea typeface="Calibri"/>
                <a:cs typeface="Calibri"/>
                <a:sym typeface="Calibri"/>
              </a:rPr>
              <a:t> = the </a:t>
            </a:r>
            <a:r>
              <a:rPr b="1" i="0" lang="en-US" sz="1300" u="none" cap="none" strike="noStrike">
                <a:solidFill>
                  <a:srgbClr val="334155"/>
                </a:solidFill>
                <a:latin typeface="Calibri"/>
                <a:ea typeface="Calibri"/>
                <a:cs typeface="Calibri"/>
                <a:sym typeface="Calibri"/>
              </a:rPr>
              <a:t>immediate</a:t>
            </a:r>
            <a:r>
              <a:rPr b="0" i="0" lang="en-US" sz="1300" u="none" cap="none" strike="noStrike">
                <a:solidFill>
                  <a:srgbClr val="334155"/>
                </a:solidFill>
                <a:latin typeface="Calibri"/>
                <a:ea typeface="Calibri"/>
                <a:cs typeface="Calibri"/>
                <a:sym typeface="Calibri"/>
              </a:rPr>
              <a:t> caller</a:t>
            </a:r>
            <a:endParaRPr b="0" i="0" sz="1400" u="none" cap="none" strike="noStrike">
              <a:solidFill>
                <a:srgbClr val="000000"/>
              </a:solidFill>
              <a:latin typeface="Arial"/>
              <a:ea typeface="Arial"/>
              <a:cs typeface="Arial"/>
              <a:sym typeface="Arial"/>
            </a:endParaRPr>
          </a:p>
        </p:txBody>
      </p:sp>
      <p:sp>
        <p:nvSpPr>
          <p:cNvPr id="515" name="Google Shape;515;p36"/>
          <p:cNvSpPr/>
          <p:nvPr/>
        </p:nvSpPr>
        <p:spPr>
          <a:xfrm>
            <a:off x="6903734" y="5166359"/>
            <a:ext cx="502800" cy="502800"/>
          </a:xfrm>
          <a:prstGeom prst="ellipse">
            <a:avLst/>
          </a:prstGeom>
          <a:solidFill>
            <a:srgbClr val="B45309"/>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516" name="Google Shape;516;p36"/>
          <p:cNvSpPr txBox="1"/>
          <p:nvPr/>
        </p:nvSpPr>
        <p:spPr>
          <a:xfrm>
            <a:off x="7589536" y="5074920"/>
            <a:ext cx="4069200" cy="34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Attack path</a:t>
            </a:r>
            <a:endParaRPr b="0" i="0" sz="1400" u="none" cap="none" strike="noStrike">
              <a:solidFill>
                <a:srgbClr val="000000"/>
              </a:solidFill>
              <a:latin typeface="Arial"/>
              <a:ea typeface="Arial"/>
              <a:cs typeface="Arial"/>
              <a:sym typeface="Arial"/>
            </a:endParaRPr>
          </a:p>
        </p:txBody>
      </p:sp>
      <p:sp>
        <p:nvSpPr>
          <p:cNvPr id="517" name="Google Shape;517;p36"/>
          <p:cNvSpPr txBox="1"/>
          <p:nvPr/>
        </p:nvSpPr>
        <p:spPr>
          <a:xfrm>
            <a:off x="7589536" y="5422392"/>
            <a:ext cx="4069200" cy="731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highlight>
                  <a:srgbClr val="FFFF00"/>
                </a:highlight>
                <a:latin typeface="Calibri"/>
                <a:ea typeface="Calibri"/>
                <a:cs typeface="Calibri"/>
                <a:sym typeface="Calibri"/>
              </a:rPr>
              <a:t>Owner calls a malicious contract → it calls </a:t>
            </a:r>
            <a:r>
              <a:rPr b="0" i="0" lang="en-US" sz="1300" u="none" cap="none" strike="noStrike">
                <a:solidFill>
                  <a:srgbClr val="334155"/>
                </a:solidFill>
                <a:highlight>
                  <a:srgbClr val="FFFF00"/>
                </a:highlight>
                <a:latin typeface="Courier New"/>
                <a:ea typeface="Courier New"/>
                <a:cs typeface="Courier New"/>
                <a:sym typeface="Courier New"/>
              </a:rPr>
              <a:t>withdraw()</a:t>
            </a:r>
            <a:r>
              <a:rPr b="0" i="0" lang="en-US" sz="1300" u="none" cap="none" strike="noStrike">
                <a:solidFill>
                  <a:srgbClr val="334155"/>
                </a:solidFill>
                <a:highlight>
                  <a:srgbClr val="FFFF00"/>
                </a:highlight>
                <a:latin typeface="Calibri"/>
                <a:ea typeface="Calibri"/>
                <a:cs typeface="Calibri"/>
                <a:sym typeface="Calibri"/>
              </a:rPr>
              <a:t> → </a:t>
            </a:r>
            <a:r>
              <a:rPr b="0" i="0" lang="en-US" sz="1300" u="none" cap="none" strike="noStrike">
                <a:solidFill>
                  <a:srgbClr val="334155"/>
                </a:solidFill>
                <a:highlight>
                  <a:srgbClr val="FFFF00"/>
                </a:highlight>
                <a:latin typeface="Courier New"/>
                <a:ea typeface="Courier New"/>
                <a:cs typeface="Courier New"/>
                <a:sym typeface="Courier New"/>
              </a:rPr>
              <a:t>tx.origin == owner</a:t>
            </a:r>
            <a:r>
              <a:rPr b="0" i="0" lang="en-US" sz="1300" u="none" cap="none" strike="noStrike">
                <a:solidFill>
                  <a:srgbClr val="334155"/>
                </a:solidFill>
                <a:highlight>
                  <a:srgbClr val="FFFF00"/>
                </a:highlight>
                <a:latin typeface="Calibri"/>
                <a:ea typeface="Calibri"/>
                <a:cs typeface="Calibri"/>
                <a:sym typeface="Calibri"/>
              </a:rPr>
              <a:t> still </a:t>
            </a:r>
            <a:r>
              <a:rPr b="1" i="0" lang="en-US" sz="1300" u="none" cap="none" strike="noStrike">
                <a:solidFill>
                  <a:srgbClr val="334155"/>
                </a:solidFill>
                <a:highlight>
                  <a:srgbClr val="FFFF00"/>
                </a:highlight>
                <a:latin typeface="Calibri"/>
                <a:ea typeface="Calibri"/>
                <a:cs typeface="Calibri"/>
                <a:sym typeface="Calibri"/>
              </a:rPr>
              <a:t>passes</a:t>
            </a:r>
            <a:endParaRPr b="0" i="0" sz="1400" u="none" cap="none" strike="noStrike">
              <a:solidFill>
                <a:srgbClr val="000000"/>
              </a:solidFill>
              <a:highlight>
                <a:srgbClr val="FFFF00"/>
              </a:highlight>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2" name="Shape 522"/>
        <p:cNvGrpSpPr/>
        <p:nvPr/>
      </p:nvGrpSpPr>
      <p:grpSpPr>
        <a:xfrm>
          <a:off x="0" y="0"/>
          <a:ext cx="0" cy="0"/>
          <a:chOff x="0" y="0"/>
          <a:chExt cx="0" cy="0"/>
        </a:xfrm>
      </p:grpSpPr>
      <p:sp>
        <p:nvSpPr>
          <p:cNvPr id="523" name="Google Shape;523;p37"/>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Correct finding vs false positive</a:t>
            </a:r>
            <a:endParaRPr b="0" i="0" sz="1400" u="none" cap="none" strike="noStrike">
              <a:solidFill>
                <a:srgbClr val="000000"/>
              </a:solidFill>
              <a:latin typeface="Arial"/>
              <a:ea typeface="Arial"/>
              <a:cs typeface="Arial"/>
              <a:sym typeface="Arial"/>
            </a:endParaRPr>
          </a:p>
        </p:txBody>
      </p:sp>
      <p:sp>
        <p:nvSpPr>
          <p:cNvPr id="524" name="Google Shape;524;p37"/>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A blanket rule that says "tx.origin is bad" finds the bug </a:t>
            </a:r>
            <a:r>
              <a:rPr b="1" i="0" lang="en-US" sz="1600" u="none" cap="none" strike="noStrike">
                <a:solidFill>
                  <a:srgbClr val="334155"/>
                </a:solidFill>
                <a:latin typeface="Calibri"/>
                <a:ea typeface="Calibri"/>
                <a:cs typeface="Calibri"/>
                <a:sym typeface="Calibri"/>
              </a:rPr>
              <a:t>and</a:t>
            </a:r>
            <a:r>
              <a:rPr b="0" i="0" lang="en-US" sz="1600" u="none" cap="none" strike="noStrike">
                <a:solidFill>
                  <a:srgbClr val="334155"/>
                </a:solidFill>
                <a:latin typeface="Calibri"/>
                <a:ea typeface="Calibri"/>
                <a:cs typeface="Calibri"/>
                <a:sym typeface="Calibri"/>
              </a:rPr>
              <a:t> a false positive, so it </a:t>
            </a:r>
            <a:r>
              <a:rPr b="1" i="0" lang="en-US" sz="1600" u="none" cap="none" strike="noStrike">
                <a:solidFill>
                  <a:srgbClr val="334155"/>
                </a:solidFill>
                <a:latin typeface="Calibri"/>
                <a:ea typeface="Calibri"/>
                <a:cs typeface="Calibri"/>
                <a:sym typeface="Calibri"/>
              </a:rPr>
              <a:t>fails</a:t>
            </a:r>
            <a:r>
              <a:rPr b="0" i="0" lang="en-US" sz="1600" u="none" cap="none" strike="noStrike">
                <a:solidFill>
                  <a:srgbClr val="334155"/>
                </a:solidFill>
                <a:latin typeface="Calibri"/>
                <a:ea typeface="Calibri"/>
                <a:cs typeface="Calibri"/>
                <a:sym typeface="Calibri"/>
              </a:rPr>
              <a:t> the held-out check</a:t>
            </a:r>
            <a:endParaRPr b="0" i="0" sz="1400" u="none" cap="none" strike="noStrike">
              <a:solidFill>
                <a:srgbClr val="000000"/>
              </a:solidFill>
              <a:latin typeface="Arial"/>
              <a:ea typeface="Arial"/>
              <a:cs typeface="Arial"/>
              <a:sym typeface="Arial"/>
            </a:endParaRPr>
          </a:p>
        </p:txBody>
      </p:sp>
      <p:sp>
        <p:nvSpPr>
          <p:cNvPr id="525" name="Google Shape;525;p37"/>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The PoC </a:t>
            </a:r>
            <a:r>
              <a:rPr lang="en-US" sz="1000">
                <a:solidFill>
                  <a:srgbClr val="64748B"/>
                </a:solidFill>
                <a:latin typeface="Calibri"/>
                <a:ea typeface="Calibri"/>
                <a:cs typeface="Calibri"/>
                <a:sym typeface="Calibri"/>
              </a:rPr>
              <a:t>I</a:t>
            </a:r>
            <a:r>
              <a:rPr b="0" i="0" lang="en-US" sz="1000" u="none" cap="none" strike="noStrike">
                <a:solidFill>
                  <a:srgbClr val="64748B"/>
                </a:solidFill>
                <a:latin typeface="Calibri"/>
                <a:ea typeface="Calibri"/>
                <a:cs typeface="Calibri"/>
                <a:sym typeface="Calibri"/>
              </a:rPr>
              <a:t> built</a:t>
            </a:r>
            <a:endParaRPr b="0" i="0" sz="1400" u="none" cap="none" strike="noStrike">
              <a:solidFill>
                <a:srgbClr val="000000"/>
              </a:solidFill>
              <a:latin typeface="Arial"/>
              <a:ea typeface="Arial"/>
              <a:cs typeface="Arial"/>
              <a:sym typeface="Arial"/>
            </a:endParaRPr>
          </a:p>
        </p:txBody>
      </p:sp>
      <p:sp>
        <p:nvSpPr>
          <p:cNvPr id="526" name="Google Shape;526;p37"/>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13</a:t>
            </a:r>
            <a:endParaRPr b="0" i="0" sz="1400" u="none" cap="none" strike="noStrike">
              <a:solidFill>
                <a:srgbClr val="000000"/>
              </a:solidFill>
              <a:latin typeface="Arial"/>
              <a:ea typeface="Arial"/>
              <a:cs typeface="Arial"/>
              <a:sym typeface="Arial"/>
            </a:endParaRPr>
          </a:p>
        </p:txBody>
      </p:sp>
      <p:sp>
        <p:nvSpPr>
          <p:cNvPr id="527" name="Google Shape;527;p37"/>
          <p:cNvSpPr/>
          <p:nvPr/>
        </p:nvSpPr>
        <p:spPr>
          <a:xfrm>
            <a:off x="548641" y="1645920"/>
            <a:ext cx="3566100" cy="19203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28" name="Google Shape;528;p37"/>
          <p:cNvSpPr txBox="1"/>
          <p:nvPr/>
        </p:nvSpPr>
        <p:spPr>
          <a:xfrm>
            <a:off x="731522" y="1737360"/>
            <a:ext cx="32004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heldout/expected.json · answer key</a:t>
            </a:r>
            <a:endParaRPr b="0" i="0" sz="1400" u="none" cap="none" strike="noStrike">
              <a:solidFill>
                <a:srgbClr val="000000"/>
              </a:solidFill>
              <a:latin typeface="Arial"/>
              <a:ea typeface="Arial"/>
              <a:cs typeface="Arial"/>
              <a:sym typeface="Arial"/>
            </a:endParaRPr>
          </a:p>
        </p:txBody>
      </p:sp>
      <p:sp>
        <p:nvSpPr>
          <p:cNvPr id="529" name="Google Shape;529;p37"/>
          <p:cNvSpPr txBox="1"/>
          <p:nvPr/>
        </p:nvSpPr>
        <p:spPr>
          <a:xfrm>
            <a:off x="731522" y="2029968"/>
            <a:ext cx="3291900" cy="14778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"required":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{"function": "withdraw",</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"vulnerable": true},</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{"function": "logTransfer",</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"vulnerable": false}</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a:t>
            </a:r>
            <a:endParaRPr b="0" i="0" sz="1400" u="none" cap="none" strike="noStrike">
              <a:solidFill>
                <a:srgbClr val="000000"/>
              </a:solidFill>
              <a:latin typeface="Arial"/>
              <a:ea typeface="Arial"/>
              <a:cs typeface="Arial"/>
              <a:sym typeface="Arial"/>
            </a:endParaRPr>
          </a:p>
        </p:txBody>
      </p:sp>
      <p:sp>
        <p:nvSpPr>
          <p:cNvPr id="530" name="Google Shape;530;p37"/>
          <p:cNvSpPr/>
          <p:nvPr/>
        </p:nvSpPr>
        <p:spPr>
          <a:xfrm>
            <a:off x="4343409" y="1645920"/>
            <a:ext cx="3566100" cy="19203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1" name="Google Shape;531;p37"/>
          <p:cNvSpPr txBox="1"/>
          <p:nvPr/>
        </p:nvSpPr>
        <p:spPr>
          <a:xfrm>
            <a:off x="4526289" y="1801368"/>
            <a:ext cx="32004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Correct finding</a:t>
            </a:r>
            <a:endParaRPr b="0" i="0" sz="1400" u="none" cap="none" strike="noStrike">
              <a:solidFill>
                <a:srgbClr val="000000"/>
              </a:solidFill>
              <a:latin typeface="Arial"/>
              <a:ea typeface="Arial"/>
              <a:cs typeface="Arial"/>
              <a:sym typeface="Arial"/>
            </a:endParaRPr>
          </a:p>
        </p:txBody>
      </p:sp>
      <p:sp>
        <p:nvSpPr>
          <p:cNvPr id="532" name="Google Shape;532;p37"/>
          <p:cNvSpPr/>
          <p:nvPr/>
        </p:nvSpPr>
        <p:spPr>
          <a:xfrm>
            <a:off x="7110223" y="1847088"/>
            <a:ext cx="616500" cy="2559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047857"/>
                </a:solidFill>
                <a:latin typeface="Calibri"/>
                <a:ea typeface="Calibri"/>
                <a:cs typeface="Calibri"/>
                <a:sym typeface="Calibri"/>
              </a:rPr>
              <a:t>PASS</a:t>
            </a:r>
            <a:endParaRPr b="0" i="0" sz="1400" u="none" cap="none" strike="noStrike">
              <a:solidFill>
                <a:srgbClr val="000000"/>
              </a:solidFill>
              <a:latin typeface="Arial"/>
              <a:ea typeface="Arial"/>
              <a:cs typeface="Arial"/>
              <a:sym typeface="Arial"/>
            </a:endParaRPr>
          </a:p>
        </p:txBody>
      </p:sp>
      <p:sp>
        <p:nvSpPr>
          <p:cNvPr id="533" name="Google Shape;533;p37"/>
          <p:cNvSpPr txBox="1"/>
          <p:nvPr/>
        </p:nvSpPr>
        <p:spPr>
          <a:xfrm>
            <a:off x="4526289" y="2267712"/>
            <a:ext cx="3200400" cy="11886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047857"/>
              </a:buClr>
              <a:buSzPts val="1250"/>
              <a:buFont typeface="Calibri"/>
              <a:buChar char="•"/>
            </a:pPr>
            <a:r>
              <a:rPr b="0" i="0" lang="en-US" sz="1250" u="none" cap="none" strike="noStrike">
                <a:solidFill>
                  <a:srgbClr val="334155"/>
                </a:solidFill>
                <a:latin typeface="Calibri"/>
                <a:ea typeface="Calibri"/>
                <a:cs typeface="Calibri"/>
                <a:sym typeface="Calibri"/>
              </a:rPr>
              <a:t>withdraw: vulnerable=true · "tx.origin gates withdraw."</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47857"/>
              </a:buClr>
              <a:buSzPts val="1250"/>
              <a:buFont typeface="Calibri"/>
              <a:buChar char="•"/>
            </a:pPr>
            <a:r>
              <a:rPr b="0" i="0" lang="en-US" sz="1250" u="none" cap="none" strike="noStrike">
                <a:solidFill>
                  <a:srgbClr val="334155"/>
                </a:solidFill>
                <a:latin typeface="Calibri"/>
                <a:ea typeface="Calibri"/>
                <a:cs typeface="Calibri"/>
                <a:sym typeface="Calibri"/>
              </a:rPr>
              <a:t>logTransfer: vulnerable=false · "Event logging, not authorization."</a:t>
            </a:r>
            <a:endParaRPr b="0" i="0" sz="1400" u="none" cap="none" strike="noStrike">
              <a:solidFill>
                <a:srgbClr val="000000"/>
              </a:solidFill>
              <a:latin typeface="Arial"/>
              <a:ea typeface="Arial"/>
              <a:cs typeface="Arial"/>
              <a:sym typeface="Arial"/>
            </a:endParaRPr>
          </a:p>
        </p:txBody>
      </p:sp>
      <p:sp>
        <p:nvSpPr>
          <p:cNvPr id="534" name="Google Shape;534;p37"/>
          <p:cNvSpPr/>
          <p:nvPr/>
        </p:nvSpPr>
        <p:spPr>
          <a:xfrm>
            <a:off x="8092457" y="1645920"/>
            <a:ext cx="3566100" cy="19203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5" name="Google Shape;535;p37"/>
          <p:cNvSpPr txBox="1"/>
          <p:nvPr/>
        </p:nvSpPr>
        <p:spPr>
          <a:xfrm>
            <a:off x="8275336" y="1801368"/>
            <a:ext cx="32004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False positive</a:t>
            </a:r>
            <a:endParaRPr b="0" i="0" sz="1400" u="none" cap="none" strike="noStrike">
              <a:solidFill>
                <a:srgbClr val="000000"/>
              </a:solidFill>
              <a:latin typeface="Arial"/>
              <a:ea typeface="Arial"/>
              <a:cs typeface="Arial"/>
              <a:sym typeface="Arial"/>
            </a:endParaRPr>
          </a:p>
        </p:txBody>
      </p:sp>
      <p:sp>
        <p:nvSpPr>
          <p:cNvPr id="536" name="Google Shape;536;p37"/>
          <p:cNvSpPr/>
          <p:nvPr/>
        </p:nvSpPr>
        <p:spPr>
          <a:xfrm>
            <a:off x="10859270" y="1847088"/>
            <a:ext cx="616500" cy="255900"/>
          </a:xfrm>
          <a:prstGeom prst="roundRect">
            <a:avLst>
              <a:gd fmla="val 50000" name="adj"/>
            </a:avLst>
          </a:prstGeom>
          <a:solidFill>
            <a:srgbClr val="FEE2E2"/>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B91C1C"/>
                </a:solidFill>
                <a:latin typeface="Calibri"/>
                <a:ea typeface="Calibri"/>
                <a:cs typeface="Calibri"/>
                <a:sym typeface="Calibri"/>
              </a:rPr>
              <a:t>FAIL</a:t>
            </a:r>
            <a:endParaRPr b="0" i="0" sz="1400" u="none" cap="none" strike="noStrike">
              <a:solidFill>
                <a:srgbClr val="000000"/>
              </a:solidFill>
              <a:latin typeface="Arial"/>
              <a:ea typeface="Arial"/>
              <a:cs typeface="Arial"/>
              <a:sym typeface="Arial"/>
            </a:endParaRPr>
          </a:p>
        </p:txBody>
      </p:sp>
      <p:sp>
        <p:nvSpPr>
          <p:cNvPr id="537" name="Google Shape;537;p37"/>
          <p:cNvSpPr txBox="1"/>
          <p:nvPr/>
        </p:nvSpPr>
        <p:spPr>
          <a:xfrm>
            <a:off x="8275336" y="2267712"/>
            <a:ext cx="3200400" cy="11886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B91C1C"/>
              </a:buClr>
              <a:buSzPts val="1250"/>
              <a:buFont typeface="Calibri"/>
              <a:buChar char="•"/>
            </a:pPr>
            <a:r>
              <a:rPr b="0" i="0" lang="en-US" sz="1250" u="none" cap="none" strike="noStrike">
                <a:solidFill>
                  <a:srgbClr val="334155"/>
                </a:solidFill>
                <a:latin typeface="Calibri"/>
                <a:ea typeface="Calibri"/>
                <a:cs typeface="Calibri"/>
                <a:sym typeface="Calibri"/>
              </a:rPr>
              <a:t>withdraw: vulnerable=true · "Uses tx.origin for auth."</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91C1C"/>
              </a:buClr>
              <a:buSzPts val="1250"/>
              <a:buFont typeface="Calibri"/>
              <a:buChar char="•"/>
            </a:pPr>
            <a:r>
              <a:rPr b="0" i="0" lang="en-US" sz="1250" u="none" cap="none" strike="noStrike">
                <a:solidFill>
                  <a:srgbClr val="334155"/>
                </a:solidFill>
                <a:latin typeface="Calibri"/>
                <a:ea typeface="Calibri"/>
                <a:cs typeface="Calibri"/>
                <a:sym typeface="Calibri"/>
              </a:rPr>
              <a:t>logTransfer: vulnerable=true · "tx.origin in log path."</a:t>
            </a:r>
            <a:endParaRPr b="0" i="0" sz="1400" u="none" cap="none" strike="noStrike">
              <a:solidFill>
                <a:srgbClr val="000000"/>
              </a:solidFill>
              <a:latin typeface="Arial"/>
              <a:ea typeface="Arial"/>
              <a:cs typeface="Arial"/>
              <a:sym typeface="Arial"/>
            </a:endParaRPr>
          </a:p>
        </p:txBody>
      </p:sp>
      <p:sp>
        <p:nvSpPr>
          <p:cNvPr id="538" name="Google Shape;538;p37"/>
          <p:cNvSpPr/>
          <p:nvPr/>
        </p:nvSpPr>
        <p:spPr>
          <a:xfrm>
            <a:off x="548641" y="3794760"/>
            <a:ext cx="5486400" cy="23775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9" name="Google Shape;539;p37"/>
          <p:cNvSpPr/>
          <p:nvPr/>
        </p:nvSpPr>
        <p:spPr>
          <a:xfrm>
            <a:off x="713233" y="3941064"/>
            <a:ext cx="384000" cy="384000"/>
          </a:xfrm>
          <a:prstGeom prst="ellipse">
            <a:avLst/>
          </a:prstGeom>
          <a:solidFill>
            <a:srgbClr val="B91C1C"/>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540" name="Google Shape;540;p37"/>
          <p:cNvSpPr txBox="1"/>
          <p:nvPr/>
        </p:nvSpPr>
        <p:spPr>
          <a:xfrm>
            <a:off x="1207009" y="3950208"/>
            <a:ext cx="46452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Authorization vulnerability</a:t>
            </a:r>
            <a:endParaRPr b="0" i="0" sz="1400" u="none" cap="none" strike="noStrike">
              <a:solidFill>
                <a:srgbClr val="000000"/>
              </a:solidFill>
              <a:latin typeface="Arial"/>
              <a:ea typeface="Arial"/>
              <a:cs typeface="Arial"/>
              <a:sym typeface="Arial"/>
            </a:endParaRPr>
          </a:p>
        </p:txBody>
      </p:sp>
      <p:sp>
        <p:nvSpPr>
          <p:cNvPr id="541" name="Google Shape;541;p37"/>
          <p:cNvSpPr txBox="1"/>
          <p:nvPr/>
        </p:nvSpPr>
        <p:spPr>
          <a:xfrm>
            <a:off x="731521" y="4416552"/>
            <a:ext cx="5120700" cy="16458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B91C1C"/>
              </a:buClr>
              <a:buSzPts val="1400"/>
              <a:buFont typeface="Courier New"/>
              <a:buChar char="•"/>
            </a:pPr>
            <a:r>
              <a:rPr b="0" i="0" lang="en-US" sz="1400" u="none" cap="none" strike="noStrike">
                <a:solidFill>
                  <a:srgbClr val="334155"/>
                </a:solidFill>
                <a:latin typeface="Courier New"/>
                <a:ea typeface="Courier New"/>
                <a:cs typeface="Courier New"/>
                <a:sym typeface="Courier New"/>
              </a:rPr>
              <a:t>tx.origin</a:t>
            </a:r>
            <a:r>
              <a:rPr b="0" i="0" lang="en-US" sz="1400" u="none" cap="none" strike="noStrike">
                <a:solidFill>
                  <a:srgbClr val="334155"/>
                </a:solidFill>
                <a:latin typeface="Calibri"/>
                <a:ea typeface="Calibri"/>
                <a:cs typeface="Calibri"/>
                <a:sym typeface="Calibri"/>
              </a:rPr>
              <a:t> </a:t>
            </a:r>
            <a:r>
              <a:rPr b="1" i="0" lang="en-US" sz="1400" u="none" cap="none" strike="noStrike">
                <a:solidFill>
                  <a:srgbClr val="334155"/>
                </a:solidFill>
                <a:latin typeface="Calibri"/>
                <a:ea typeface="Calibri"/>
                <a:cs typeface="Calibri"/>
                <a:sym typeface="Calibri"/>
              </a:rPr>
              <a:t>decides access</a:t>
            </a:r>
            <a:r>
              <a:rPr b="0" i="0" lang="en-US" sz="1400" u="none" cap="none" strike="noStrike">
                <a:solidFill>
                  <a:srgbClr val="334155"/>
                </a:solidFill>
                <a:latin typeface="Calibri"/>
                <a:ea typeface="Calibri"/>
                <a:cs typeface="Calibri"/>
                <a:sym typeface="Calibri"/>
              </a:rPr>
              <a:t>: require, onlyOwner-style checks, fund movement</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91C1C"/>
              </a:buClr>
              <a:buSzPts val="1400"/>
              <a:buFont typeface="Calibri"/>
              <a:buChar char="•"/>
            </a:pPr>
            <a:r>
              <a:rPr b="0" i="0" lang="en-US" sz="1400" u="none" cap="none" strike="noStrike">
                <a:solidFill>
                  <a:srgbClr val="334155"/>
                </a:solidFill>
                <a:latin typeface="Calibri"/>
                <a:ea typeface="Calibri"/>
                <a:cs typeface="Calibri"/>
                <a:sym typeface="Calibri"/>
              </a:rPr>
              <a:t>Exploitable through any contract the owner interacts with</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91C1C"/>
              </a:buClr>
              <a:buSzPts val="1400"/>
              <a:buFont typeface="Calibri"/>
              <a:buChar char="•"/>
            </a:pPr>
            <a:r>
              <a:rPr b="0" i="0" lang="en-US" sz="1400" u="none" cap="none" strike="noStrike">
                <a:solidFill>
                  <a:srgbClr val="334155"/>
                </a:solidFill>
                <a:latin typeface="Calibri"/>
                <a:ea typeface="Calibri"/>
                <a:cs typeface="Calibri"/>
                <a:sym typeface="Calibri"/>
              </a:rPr>
              <a:t>Secure fix: </a:t>
            </a:r>
            <a:r>
              <a:rPr b="0" i="0" lang="en-US" sz="1400" u="none" cap="none" strike="noStrike">
                <a:solidFill>
                  <a:srgbClr val="334155"/>
                </a:solidFill>
                <a:latin typeface="Courier New"/>
                <a:ea typeface="Courier New"/>
                <a:cs typeface="Courier New"/>
                <a:sym typeface="Courier New"/>
              </a:rPr>
              <a:t>require(msg.sender == owner)</a:t>
            </a:r>
            <a:endParaRPr b="0" i="0" sz="1400" u="none" cap="none" strike="noStrike">
              <a:solidFill>
                <a:srgbClr val="000000"/>
              </a:solidFill>
              <a:latin typeface="Arial"/>
              <a:ea typeface="Arial"/>
              <a:cs typeface="Arial"/>
              <a:sym typeface="Arial"/>
            </a:endParaRPr>
          </a:p>
        </p:txBody>
      </p:sp>
      <p:sp>
        <p:nvSpPr>
          <p:cNvPr id="542" name="Google Shape;542;p37"/>
          <p:cNvSpPr/>
          <p:nvPr/>
        </p:nvSpPr>
        <p:spPr>
          <a:xfrm>
            <a:off x="6172213" y="3794760"/>
            <a:ext cx="5486400" cy="23775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3" name="Google Shape;543;p37"/>
          <p:cNvSpPr/>
          <p:nvPr/>
        </p:nvSpPr>
        <p:spPr>
          <a:xfrm>
            <a:off x="6336805" y="3941064"/>
            <a:ext cx="384000" cy="384000"/>
          </a:xfrm>
          <a:prstGeom prst="ellipse">
            <a:avLst/>
          </a:prstGeom>
          <a:solidFill>
            <a:srgbClr val="047857"/>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OK</a:t>
            </a:r>
            <a:endParaRPr b="0" i="0" sz="1400" u="none" cap="none" strike="noStrike">
              <a:solidFill>
                <a:srgbClr val="000000"/>
              </a:solidFill>
              <a:latin typeface="Arial"/>
              <a:ea typeface="Arial"/>
              <a:cs typeface="Arial"/>
              <a:sym typeface="Arial"/>
            </a:endParaRPr>
          </a:p>
        </p:txBody>
      </p:sp>
      <p:sp>
        <p:nvSpPr>
          <p:cNvPr id="544" name="Google Shape;544;p37"/>
          <p:cNvSpPr txBox="1"/>
          <p:nvPr/>
        </p:nvSpPr>
        <p:spPr>
          <a:xfrm>
            <a:off x="6830582" y="3950208"/>
            <a:ext cx="46452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Legitimate / logging-only use</a:t>
            </a:r>
            <a:endParaRPr b="0" i="0" sz="1400" u="none" cap="none" strike="noStrike">
              <a:solidFill>
                <a:srgbClr val="000000"/>
              </a:solidFill>
              <a:latin typeface="Arial"/>
              <a:ea typeface="Arial"/>
              <a:cs typeface="Arial"/>
              <a:sym typeface="Arial"/>
            </a:endParaRPr>
          </a:p>
        </p:txBody>
      </p:sp>
      <p:sp>
        <p:nvSpPr>
          <p:cNvPr id="545" name="Google Shape;545;p37"/>
          <p:cNvSpPr txBox="1"/>
          <p:nvPr/>
        </p:nvSpPr>
        <p:spPr>
          <a:xfrm>
            <a:off x="6355093" y="4416552"/>
            <a:ext cx="5120700" cy="16458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047857"/>
              </a:buClr>
              <a:buSzPts val="1400"/>
              <a:buFont typeface="Courier New"/>
              <a:buChar char="•"/>
            </a:pPr>
            <a:r>
              <a:rPr b="0" i="0" lang="en-US" sz="1400" u="none" cap="none" strike="noStrike">
                <a:solidFill>
                  <a:srgbClr val="334155"/>
                </a:solidFill>
                <a:latin typeface="Courier New"/>
                <a:ea typeface="Courier New"/>
                <a:cs typeface="Courier New"/>
                <a:sym typeface="Courier New"/>
              </a:rPr>
              <a:t>tx.origin</a:t>
            </a:r>
            <a:r>
              <a:rPr b="0" i="0" lang="en-US" sz="1400" u="none" cap="none" strike="noStrike">
                <a:solidFill>
                  <a:srgbClr val="334155"/>
                </a:solidFill>
                <a:latin typeface="Calibri"/>
                <a:ea typeface="Calibri"/>
                <a:cs typeface="Calibri"/>
                <a:sym typeface="Calibri"/>
              </a:rPr>
              <a:t> </a:t>
            </a:r>
            <a:r>
              <a:rPr b="1" i="0" lang="en-US" sz="1400" u="none" cap="none" strike="noStrike">
                <a:solidFill>
                  <a:srgbClr val="334155"/>
                </a:solidFill>
                <a:latin typeface="Calibri"/>
                <a:ea typeface="Calibri"/>
                <a:cs typeface="Calibri"/>
                <a:sym typeface="Calibri"/>
              </a:rPr>
              <a:t>only recorded</a:t>
            </a:r>
            <a:r>
              <a:rPr b="0" i="0" lang="en-US" sz="1400" u="none" cap="none" strike="noStrike">
                <a:solidFill>
                  <a:srgbClr val="334155"/>
                </a:solidFill>
                <a:latin typeface="Calibri"/>
                <a:ea typeface="Calibri"/>
                <a:cs typeface="Calibri"/>
                <a:sym typeface="Calibri"/>
              </a:rPr>
              <a:t>: events, analytics, audit trails</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47857"/>
              </a:buClr>
              <a:buSzPts val="1400"/>
              <a:buFont typeface="Calibri"/>
              <a:buChar char="•"/>
            </a:pPr>
            <a:r>
              <a:rPr b="0" i="0" lang="en-US" sz="1400" u="none" cap="none" strike="noStrike">
                <a:solidFill>
                  <a:srgbClr val="334155"/>
                </a:solidFill>
                <a:latin typeface="Calibri"/>
                <a:ea typeface="Calibri"/>
                <a:cs typeface="Calibri"/>
                <a:sym typeface="Calibri"/>
              </a:rPr>
              <a:t>No authorization decision, so no exploit</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47857"/>
              </a:buClr>
              <a:buSzPts val="1400"/>
              <a:buFont typeface="Calibri"/>
              <a:buChar char="•"/>
            </a:pPr>
            <a:r>
              <a:rPr b="0" i="0" lang="en-US" sz="1400" u="none" cap="none" strike="noStrike">
                <a:solidFill>
                  <a:srgbClr val="334155"/>
                </a:solidFill>
                <a:latin typeface="Calibri"/>
                <a:ea typeface="Calibri"/>
                <a:cs typeface="Calibri"/>
                <a:sym typeface="Calibri"/>
              </a:rPr>
              <a:t>Flagging it is noise that buries the real finding</a:t>
            </a:r>
            <a:endParaRPr b="0" i="0" sz="1400" u="none" cap="none" strike="noStrike">
              <a:solidFill>
                <a:srgbClr val="000000"/>
              </a:solidFill>
              <a:latin typeface="Arial"/>
              <a:ea typeface="Arial"/>
              <a:cs typeface="Arial"/>
              <a:sym typeface="Arial"/>
            </a:endParaRPr>
          </a:p>
        </p:txBody>
      </p:sp>
      <p:sp>
        <p:nvSpPr>
          <p:cNvPr id="546" name="Google Shape;546;p37"/>
          <p:cNvSpPr/>
          <p:nvPr/>
        </p:nvSpPr>
        <p:spPr>
          <a:xfrm>
            <a:off x="11072175" y="221800"/>
            <a:ext cx="674100" cy="5589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Calibri"/>
                <a:ea typeface="Calibri"/>
                <a:cs typeface="Calibri"/>
                <a:sym typeface="Calibri"/>
              </a:rPr>
              <a:t>fast</a:t>
            </a:r>
            <a:endParaRPr>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1" name="Shape 551"/>
        <p:cNvGrpSpPr/>
        <p:nvPr/>
      </p:nvGrpSpPr>
      <p:grpSpPr>
        <a:xfrm>
          <a:off x="0" y="0"/>
          <a:ext cx="0" cy="0"/>
          <a:chOff x="0" y="0"/>
          <a:chExt cx="0" cy="0"/>
        </a:xfrm>
      </p:grpSpPr>
      <p:sp>
        <p:nvSpPr>
          <p:cNvPr id="552" name="Google Shape;552;p38"/>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Baseline harness: what the agent is given</a:t>
            </a:r>
            <a:endParaRPr b="0" i="0" sz="1400" u="none" cap="none" strike="noStrike">
              <a:solidFill>
                <a:srgbClr val="000000"/>
              </a:solidFill>
              <a:latin typeface="Arial"/>
              <a:ea typeface="Arial"/>
              <a:cs typeface="Arial"/>
              <a:sym typeface="Arial"/>
            </a:endParaRPr>
          </a:p>
        </p:txBody>
      </p:sp>
      <p:sp>
        <p:nvSpPr>
          <p:cNvPr id="553" name="Google Shape;553;p38"/>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A generic rule: </a:t>
            </a:r>
            <a:r>
              <a:rPr b="1" i="0" lang="en-US" sz="1600" u="none" cap="none" strike="noStrike">
                <a:solidFill>
                  <a:srgbClr val="334155"/>
                </a:solidFill>
                <a:latin typeface="Calibri"/>
                <a:ea typeface="Calibri"/>
                <a:cs typeface="Calibri"/>
                <a:sym typeface="Calibri"/>
              </a:rPr>
              <a:t>"flag any use of tx.origin or msg.sender"</a:t>
            </a:r>
            <a:r>
              <a:rPr b="0" i="0" lang="en-US" sz="1600" u="none" cap="none" strike="noStrike">
                <a:solidFill>
                  <a:srgbClr val="334155"/>
                </a:solidFill>
                <a:latin typeface="Calibri"/>
                <a:ea typeface="Calibri"/>
                <a:cs typeface="Calibri"/>
                <a:sym typeface="Calibri"/>
              </a:rPr>
              <a:t>. Role is never mentioned.</a:t>
            </a:r>
            <a:endParaRPr b="0" i="0" sz="1400" u="none" cap="none" strike="noStrike">
              <a:solidFill>
                <a:srgbClr val="000000"/>
              </a:solidFill>
              <a:latin typeface="Arial"/>
              <a:ea typeface="Arial"/>
              <a:cs typeface="Arial"/>
              <a:sym typeface="Arial"/>
            </a:endParaRPr>
          </a:p>
        </p:txBody>
      </p:sp>
      <p:sp>
        <p:nvSpPr>
          <p:cNvPr id="554" name="Google Shape;554;p38"/>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The PoC </a:t>
            </a:r>
            <a:r>
              <a:rPr lang="en-US" sz="1000">
                <a:solidFill>
                  <a:srgbClr val="64748B"/>
                </a:solidFill>
                <a:latin typeface="Calibri"/>
                <a:ea typeface="Calibri"/>
                <a:cs typeface="Calibri"/>
                <a:sym typeface="Calibri"/>
              </a:rPr>
              <a:t>I</a:t>
            </a:r>
            <a:r>
              <a:rPr b="0" i="0" lang="en-US" sz="1000" u="none" cap="none" strike="noStrike">
                <a:solidFill>
                  <a:srgbClr val="64748B"/>
                </a:solidFill>
                <a:latin typeface="Calibri"/>
                <a:ea typeface="Calibri"/>
                <a:cs typeface="Calibri"/>
                <a:sym typeface="Calibri"/>
              </a:rPr>
              <a:t> built</a:t>
            </a:r>
            <a:endParaRPr b="0" i="0" sz="1400" u="none" cap="none" strike="noStrike">
              <a:solidFill>
                <a:srgbClr val="000000"/>
              </a:solidFill>
              <a:latin typeface="Arial"/>
              <a:ea typeface="Arial"/>
              <a:cs typeface="Arial"/>
              <a:sym typeface="Arial"/>
            </a:endParaRPr>
          </a:p>
        </p:txBody>
      </p:sp>
      <p:sp>
        <p:nvSpPr>
          <p:cNvPr id="555" name="Google Shape;555;p38"/>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14</a:t>
            </a:r>
            <a:endParaRPr b="0" i="0" sz="1400" u="none" cap="none" strike="noStrike">
              <a:solidFill>
                <a:srgbClr val="000000"/>
              </a:solidFill>
              <a:latin typeface="Arial"/>
              <a:ea typeface="Arial"/>
              <a:cs typeface="Arial"/>
              <a:sym typeface="Arial"/>
            </a:endParaRPr>
          </a:p>
        </p:txBody>
      </p:sp>
      <p:sp>
        <p:nvSpPr>
          <p:cNvPr id="556" name="Google Shape;556;p38"/>
          <p:cNvSpPr/>
          <p:nvPr/>
        </p:nvSpPr>
        <p:spPr>
          <a:xfrm>
            <a:off x="548641" y="1645920"/>
            <a:ext cx="5852100" cy="45264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57" name="Google Shape;557;p38"/>
          <p:cNvSpPr txBox="1"/>
          <p:nvPr/>
        </p:nvSpPr>
        <p:spPr>
          <a:xfrm>
            <a:off x="731521" y="1737360"/>
            <a:ext cx="54864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harnesses/baseline/AGENTS.md (verbatim)</a:t>
            </a:r>
            <a:endParaRPr b="0" i="0" sz="1400" u="none" cap="none" strike="noStrike">
              <a:solidFill>
                <a:srgbClr val="000000"/>
              </a:solidFill>
              <a:latin typeface="Arial"/>
              <a:ea typeface="Arial"/>
              <a:cs typeface="Arial"/>
              <a:sym typeface="Arial"/>
            </a:endParaRPr>
          </a:p>
        </p:txBody>
      </p:sp>
      <p:sp>
        <p:nvSpPr>
          <p:cNvPr id="558" name="Google Shape;558;p38"/>
          <p:cNvSpPr txBox="1"/>
          <p:nvPr/>
        </p:nvSpPr>
        <p:spPr>
          <a:xfrm>
            <a:off x="731521" y="2029968"/>
            <a:ext cx="5577900" cy="33141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94A3B8"/>
                </a:solidFill>
                <a:latin typeface="Courier New"/>
                <a:ea typeface="Courier New"/>
                <a:cs typeface="Courier New"/>
                <a:sym typeface="Courier New"/>
              </a:rPr>
              <a:t># Security review agent</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You audit the repository and write `findings.json`</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in the workspace root.</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Format:</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"findings": [ {"function": "&lt;name&gt;",</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"vulnerable": true|false, "issue": "&lt;label&gt;",</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"detail": "&lt;one sentence&gt;"} ]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1" i="0" lang="en-US" sz="1250" u="none" cap="none" strike="noStrike">
                <a:solidFill>
                  <a:srgbClr val="0F172A"/>
                </a:solidFill>
                <a:highlight>
                  <a:srgbClr val="FDE68A"/>
                </a:highlight>
                <a:latin typeface="Courier New"/>
                <a:ea typeface="Courier New"/>
                <a:cs typeface="Courier New"/>
                <a:sym typeface="Courier New"/>
              </a:rPr>
              <a:t>Flag any use of `tx.origin` or `msg.sender` as a</a:t>
            </a:r>
            <a:endParaRPr b="0" i="0" sz="1400" u="none" cap="none" strike="noStrike">
              <a:solidFill>
                <a:srgbClr val="000000"/>
              </a:solidFill>
              <a:highlight>
                <a:srgbClr val="FDE68A"/>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1" i="0" lang="en-US" sz="1250" u="none" cap="none" strike="noStrike">
                <a:solidFill>
                  <a:srgbClr val="0F172A"/>
                </a:solidFill>
                <a:highlight>
                  <a:srgbClr val="FDE68A"/>
                </a:highlight>
                <a:latin typeface="Courier New"/>
                <a:ea typeface="Courier New"/>
                <a:cs typeface="Courier New"/>
                <a:sym typeface="Courier New"/>
              </a:rPr>
              <a:t>likely authentication bug.</a:t>
            </a:r>
            <a:endParaRPr b="0" i="0" sz="1400" u="none" cap="none" strike="noStrike">
              <a:solidFill>
                <a:srgbClr val="000000"/>
              </a:solidFill>
              <a:highlight>
                <a:srgbClr val="FDE68A"/>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1" i="0" lang="en-US" sz="1250" u="none" cap="none" strike="noStrike">
                <a:solidFill>
                  <a:srgbClr val="0F172A"/>
                </a:solidFill>
                <a:highlight>
                  <a:srgbClr val="FDE68A"/>
                </a:highlight>
                <a:latin typeface="Courier New"/>
                <a:ea typeface="Courier New"/>
                <a:cs typeface="Courier New"/>
                <a:sym typeface="Courier New"/>
              </a:rPr>
              <a:t>List every function that touches those expressions.</a:t>
            </a:r>
            <a:endParaRPr b="0" i="0" sz="1400" u="none" cap="none" strike="noStrike">
              <a:solidFill>
                <a:srgbClr val="000000"/>
              </a:solidFill>
              <a:highlight>
                <a:srgbClr val="FDE68A"/>
              </a:highlight>
              <a:latin typeface="Arial"/>
              <a:ea typeface="Arial"/>
              <a:cs typeface="Arial"/>
              <a:sym typeface="Arial"/>
            </a:endParaRPr>
          </a:p>
        </p:txBody>
      </p:sp>
      <p:sp>
        <p:nvSpPr>
          <p:cNvPr id="559" name="Google Shape;559;p38"/>
          <p:cNvSpPr/>
          <p:nvPr/>
        </p:nvSpPr>
        <p:spPr>
          <a:xfrm>
            <a:off x="6629414" y="1645920"/>
            <a:ext cx="5029200" cy="14172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60" name="Google Shape;560;p38"/>
          <p:cNvSpPr txBox="1"/>
          <p:nvPr/>
        </p:nvSpPr>
        <p:spPr>
          <a:xfrm>
            <a:off x="6812294" y="1801368"/>
            <a:ext cx="46635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Receives</a:t>
            </a:r>
            <a:endParaRPr b="0" i="0" sz="1400" u="none" cap="none" strike="noStrike">
              <a:solidFill>
                <a:srgbClr val="000000"/>
              </a:solidFill>
              <a:latin typeface="Arial"/>
              <a:ea typeface="Arial"/>
              <a:cs typeface="Arial"/>
              <a:sym typeface="Arial"/>
            </a:endParaRPr>
          </a:p>
        </p:txBody>
      </p:sp>
      <p:sp>
        <p:nvSpPr>
          <p:cNvPr id="561" name="Google Shape;561;p38"/>
          <p:cNvSpPr txBox="1"/>
          <p:nvPr/>
        </p:nvSpPr>
        <p:spPr>
          <a:xfrm>
            <a:off x="6812294" y="2267712"/>
            <a:ext cx="4663500" cy="6858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0F766E"/>
              </a:buClr>
              <a:buSzPts val="1300"/>
              <a:buFont typeface="Calibri"/>
              <a:buChar char="•"/>
            </a:pPr>
            <a:r>
              <a:rPr b="0" i="0" lang="en-US" sz="1300" u="none" cap="none" strike="noStrike">
                <a:solidFill>
                  <a:srgbClr val="334155"/>
                </a:solidFill>
                <a:latin typeface="Calibri"/>
                <a:ea typeface="Calibri"/>
                <a:cs typeface="Calibri"/>
                <a:sym typeface="Calibri"/>
              </a:rPr>
              <a:t>System: AGENTS.md + "use tools, write findings.json"</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F766E"/>
              </a:buClr>
              <a:buSzPts val="1300"/>
              <a:buFont typeface="Calibri"/>
              <a:buChar char="•"/>
            </a:pPr>
            <a:r>
              <a:rPr b="0" i="0" lang="en-US" sz="1300" u="none" cap="none" strike="noStrike">
                <a:solidFill>
                  <a:srgbClr val="334155"/>
                </a:solidFill>
                <a:latin typeface="Calibri"/>
                <a:ea typeface="Calibri"/>
                <a:cs typeface="Calibri"/>
                <a:sym typeface="Calibri"/>
              </a:rPr>
              <a:t>User: </a:t>
            </a:r>
            <a:r>
              <a:rPr b="0" i="0" lang="en-US" sz="1300" u="none" cap="none" strike="noStrike">
                <a:solidFill>
                  <a:srgbClr val="334155"/>
                </a:solidFill>
                <a:latin typeface="Courier New"/>
                <a:ea typeface="Courier New"/>
                <a:cs typeface="Courier New"/>
                <a:sym typeface="Courier New"/>
              </a:rPr>
              <a:t>tasks/&lt;id&gt;/prompt.txt</a:t>
            </a:r>
            <a:endParaRPr b="0" i="0" sz="1400" u="none" cap="none" strike="noStrike">
              <a:solidFill>
                <a:srgbClr val="000000"/>
              </a:solidFill>
              <a:latin typeface="Arial"/>
              <a:ea typeface="Arial"/>
              <a:cs typeface="Arial"/>
              <a:sym typeface="Arial"/>
            </a:endParaRPr>
          </a:p>
        </p:txBody>
      </p:sp>
      <p:sp>
        <p:nvSpPr>
          <p:cNvPr id="562" name="Google Shape;562;p38"/>
          <p:cNvSpPr/>
          <p:nvPr/>
        </p:nvSpPr>
        <p:spPr>
          <a:xfrm>
            <a:off x="6629414" y="3200400"/>
            <a:ext cx="5029200" cy="14172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63" name="Google Shape;563;p38"/>
          <p:cNvSpPr txBox="1"/>
          <p:nvPr/>
        </p:nvSpPr>
        <p:spPr>
          <a:xfrm>
            <a:off x="6812294" y="3355848"/>
            <a:ext cx="46635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Can do · does NOT have</a:t>
            </a:r>
            <a:endParaRPr b="0" i="0" sz="1400" u="none" cap="none" strike="noStrike">
              <a:solidFill>
                <a:srgbClr val="000000"/>
              </a:solidFill>
              <a:latin typeface="Arial"/>
              <a:ea typeface="Arial"/>
              <a:cs typeface="Arial"/>
              <a:sym typeface="Arial"/>
            </a:endParaRPr>
          </a:p>
        </p:txBody>
      </p:sp>
      <p:sp>
        <p:nvSpPr>
          <p:cNvPr id="564" name="Google Shape;564;p38"/>
          <p:cNvSpPr txBox="1"/>
          <p:nvPr/>
        </p:nvSpPr>
        <p:spPr>
          <a:xfrm>
            <a:off x="6812294" y="3822191"/>
            <a:ext cx="4663500" cy="6858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B45309"/>
              </a:buClr>
              <a:buSzPts val="1300"/>
              <a:buFont typeface="Calibri"/>
              <a:buChar char="•"/>
            </a:pPr>
            <a:r>
              <a:rPr b="0" i="0" lang="en-US" sz="1300" u="none" cap="none" strike="noStrike">
                <a:solidFill>
                  <a:srgbClr val="334155"/>
                </a:solidFill>
                <a:latin typeface="Calibri"/>
                <a:ea typeface="Calibri"/>
                <a:cs typeface="Calibri"/>
                <a:sym typeface="Calibri"/>
              </a:rPr>
              <a:t>Tools: </a:t>
            </a:r>
            <a:r>
              <a:rPr b="0" i="0" lang="en-US" sz="1300" u="none" cap="none" strike="noStrike">
                <a:solidFill>
                  <a:srgbClr val="334155"/>
                </a:solidFill>
                <a:latin typeface="Courier New"/>
                <a:ea typeface="Courier New"/>
                <a:cs typeface="Courier New"/>
                <a:sym typeface="Courier New"/>
              </a:rPr>
              <a:t>read_file</a:t>
            </a:r>
            <a:r>
              <a:rPr b="0" i="0" lang="en-US" sz="1300" u="none" cap="none" strike="noStrike">
                <a:solidFill>
                  <a:srgbClr val="334155"/>
                </a:solidFill>
                <a:latin typeface="Calibri"/>
                <a:ea typeface="Calibri"/>
                <a:cs typeface="Calibri"/>
                <a:sym typeface="Calibri"/>
              </a:rPr>
              <a:t>, </a:t>
            </a:r>
            <a:r>
              <a:rPr b="0" i="0" lang="en-US" sz="1300" u="none" cap="none" strike="noStrike">
                <a:solidFill>
                  <a:srgbClr val="334155"/>
                </a:solidFill>
                <a:latin typeface="Courier New"/>
                <a:ea typeface="Courier New"/>
                <a:cs typeface="Courier New"/>
                <a:sym typeface="Courier New"/>
              </a:rPr>
              <a:t>list_files</a:t>
            </a:r>
            <a:r>
              <a:rPr b="0" i="0" lang="en-US" sz="1300" u="none" cap="none" strike="noStrike">
                <a:solidFill>
                  <a:srgbClr val="334155"/>
                </a:solidFill>
                <a:latin typeface="Calibri"/>
                <a:ea typeface="Calibri"/>
                <a:cs typeface="Calibri"/>
                <a:sym typeface="Calibri"/>
              </a:rPr>
              <a:t>, </a:t>
            </a:r>
            <a:r>
              <a:rPr b="0" i="0" lang="en-US" sz="1300" u="none" cap="none" strike="noStrike">
                <a:solidFill>
                  <a:srgbClr val="334155"/>
                </a:solidFill>
                <a:latin typeface="Courier New"/>
                <a:ea typeface="Courier New"/>
                <a:cs typeface="Courier New"/>
                <a:sym typeface="Courier New"/>
              </a:rPr>
              <a:t>write_file</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00"/>
              <a:buFont typeface="Calibri"/>
              <a:buChar char="•"/>
            </a:pPr>
            <a:r>
              <a:rPr b="1" i="0" lang="en-US" sz="1300" u="none" cap="none" strike="noStrike">
                <a:solidFill>
                  <a:srgbClr val="334155"/>
                </a:solidFill>
                <a:latin typeface="Calibri"/>
                <a:ea typeface="Calibri"/>
                <a:cs typeface="Calibri"/>
                <a:sym typeface="Calibri"/>
              </a:rPr>
              <a:t>No</a:t>
            </a:r>
            <a:r>
              <a:rPr b="0" i="0" lang="en-US" sz="1300" u="none" cap="none" strike="noStrike">
                <a:solidFill>
                  <a:srgbClr val="334155"/>
                </a:solidFill>
                <a:latin typeface="Calibri"/>
                <a:ea typeface="Calibri"/>
                <a:cs typeface="Calibri"/>
                <a:sym typeface="Calibri"/>
              </a:rPr>
              <a:t> role guidance, skill file, MCP, shell, tests or answer key</a:t>
            </a:r>
            <a:endParaRPr b="0" i="0" sz="1400" u="none" cap="none" strike="noStrike">
              <a:solidFill>
                <a:srgbClr val="000000"/>
              </a:solidFill>
              <a:latin typeface="Arial"/>
              <a:ea typeface="Arial"/>
              <a:cs typeface="Arial"/>
              <a:sym typeface="Arial"/>
            </a:endParaRPr>
          </a:p>
        </p:txBody>
      </p:sp>
      <p:sp>
        <p:nvSpPr>
          <p:cNvPr id="565" name="Google Shape;565;p38"/>
          <p:cNvSpPr/>
          <p:nvPr/>
        </p:nvSpPr>
        <p:spPr>
          <a:xfrm>
            <a:off x="6629414" y="4754880"/>
            <a:ext cx="5029200" cy="14172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66" name="Google Shape;566;p38"/>
          <p:cNvSpPr txBox="1"/>
          <p:nvPr/>
        </p:nvSpPr>
        <p:spPr>
          <a:xfrm>
            <a:off x="6812294" y="4910328"/>
            <a:ext cx="46635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Result on </a:t>
            </a:r>
            <a:r>
              <a:rPr b="1" i="1" lang="en-US" sz="1500" u="none" cap="none" strike="noStrike">
                <a:solidFill>
                  <a:srgbClr val="0F172A"/>
                </a:solidFill>
                <a:latin typeface="Calibri"/>
                <a:ea typeface="Calibri"/>
                <a:cs typeface="Calibri"/>
                <a:sym typeface="Calibri"/>
              </a:rPr>
              <a:t>task 01: auth-vs-log</a:t>
            </a:r>
            <a:endParaRPr b="0" i="1" sz="1400" u="none" cap="none" strike="noStrike">
              <a:solidFill>
                <a:srgbClr val="000000"/>
              </a:solidFill>
              <a:latin typeface="Arial"/>
              <a:ea typeface="Arial"/>
              <a:cs typeface="Arial"/>
              <a:sym typeface="Arial"/>
            </a:endParaRPr>
          </a:p>
        </p:txBody>
      </p:sp>
      <p:sp>
        <p:nvSpPr>
          <p:cNvPr id="567" name="Google Shape;567;p38"/>
          <p:cNvSpPr/>
          <p:nvPr/>
        </p:nvSpPr>
        <p:spPr>
          <a:xfrm>
            <a:off x="10859270" y="4956048"/>
            <a:ext cx="616500" cy="255900"/>
          </a:xfrm>
          <a:prstGeom prst="roundRect">
            <a:avLst>
              <a:gd fmla="val 50000" name="adj"/>
            </a:avLst>
          </a:prstGeom>
          <a:solidFill>
            <a:srgbClr val="FEE2E2"/>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B91C1C"/>
                </a:solidFill>
                <a:latin typeface="Calibri"/>
                <a:ea typeface="Calibri"/>
                <a:cs typeface="Calibri"/>
                <a:sym typeface="Calibri"/>
              </a:rPr>
              <a:t>FAIL</a:t>
            </a:r>
            <a:endParaRPr b="0" i="0" sz="1400" u="none" cap="none" strike="noStrike">
              <a:solidFill>
                <a:srgbClr val="000000"/>
              </a:solidFill>
              <a:latin typeface="Arial"/>
              <a:ea typeface="Arial"/>
              <a:cs typeface="Arial"/>
              <a:sym typeface="Arial"/>
            </a:endParaRPr>
          </a:p>
        </p:txBody>
      </p:sp>
      <p:sp>
        <p:nvSpPr>
          <p:cNvPr id="568" name="Google Shape;568;p38"/>
          <p:cNvSpPr txBox="1"/>
          <p:nvPr/>
        </p:nvSpPr>
        <p:spPr>
          <a:xfrm>
            <a:off x="6812294" y="5376672"/>
            <a:ext cx="4663500" cy="6858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B91C1C"/>
              </a:buClr>
              <a:buSzPts val="1300"/>
              <a:buFont typeface="Calibri"/>
              <a:buChar char="•"/>
            </a:pPr>
            <a:r>
              <a:rPr b="0" i="0" lang="en-US" sz="1300" u="none" cap="none" strike="noStrike">
                <a:solidFill>
                  <a:srgbClr val="334155"/>
                </a:solidFill>
                <a:latin typeface="Calibri"/>
                <a:ea typeface="Calibri"/>
                <a:cs typeface="Calibri"/>
                <a:sym typeface="Calibri"/>
              </a:rPr>
              <a:t>FAIL · FAIL: logTransfer: </a:t>
            </a:r>
            <a:r>
              <a:rPr b="1" i="0" lang="en-US" sz="1300" u="none" cap="none" strike="noStrike">
                <a:solidFill>
                  <a:srgbClr val="334155"/>
                </a:solidFill>
                <a:latin typeface="Calibri"/>
                <a:ea typeface="Calibri"/>
                <a:cs typeface="Calibri"/>
                <a:sym typeface="Calibri"/>
              </a:rPr>
              <a:t>expected vulnerable=False</a:t>
            </a:r>
            <a:r>
              <a:rPr b="0" i="0" lang="en-US" sz="1300" u="none" cap="none" strike="noStrike">
                <a:solidFill>
                  <a:srgbClr val="334155"/>
                </a:solidFill>
                <a:latin typeface="Calibri"/>
                <a:ea typeface="Calibri"/>
                <a:cs typeface="Calibri"/>
                <a:sym typeface="Calibri"/>
              </a:rPr>
              <a:t> got </a:t>
            </a:r>
            <a:r>
              <a:rPr b="0" i="1" lang="en-US" sz="1300" u="none" cap="none" strike="noStrike">
                <a:solidFill>
                  <a:srgbClr val="334155"/>
                </a:solidFill>
                <a:latin typeface="Calibri"/>
                <a:ea typeface="Calibri"/>
                <a:cs typeface="Calibri"/>
                <a:sym typeface="Calibri"/>
              </a:rPr>
              <a:t>True</a:t>
            </a:r>
            <a:endParaRPr b="0" i="1" sz="1400"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3" name="Shape 573"/>
        <p:cNvGrpSpPr/>
        <p:nvPr/>
      </p:nvGrpSpPr>
      <p:grpSpPr>
        <a:xfrm>
          <a:off x="0" y="0"/>
          <a:ext cx="0" cy="0"/>
          <a:chOff x="0" y="0"/>
          <a:chExt cx="0" cy="0"/>
        </a:xfrm>
      </p:grpSpPr>
      <p:sp>
        <p:nvSpPr>
          <p:cNvPr id="574" name="Google Shape;574;p39"/>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Bad candidate: how </a:t>
            </a:r>
            <a:r>
              <a:rPr b="1" lang="en-US" sz="3200">
                <a:solidFill>
                  <a:srgbClr val="0F172A"/>
                </a:solidFill>
                <a:latin typeface="Calibri"/>
                <a:ea typeface="Calibri"/>
                <a:cs typeface="Calibri"/>
                <a:sym typeface="Calibri"/>
              </a:rPr>
              <a:t>I</a:t>
            </a:r>
            <a:r>
              <a:rPr b="1" i="0" lang="en-US" sz="3200" u="none" cap="none" strike="noStrike">
                <a:solidFill>
                  <a:srgbClr val="0F172A"/>
                </a:solidFill>
                <a:latin typeface="Calibri"/>
                <a:ea typeface="Calibri"/>
                <a:cs typeface="Calibri"/>
                <a:sym typeface="Calibri"/>
              </a:rPr>
              <a:t> deliberately broke the harness</a:t>
            </a:r>
            <a:endParaRPr b="0" i="0" sz="1400" u="none" cap="none" strike="noStrike">
              <a:solidFill>
                <a:srgbClr val="000000"/>
              </a:solidFill>
              <a:latin typeface="Arial"/>
              <a:ea typeface="Arial"/>
              <a:cs typeface="Arial"/>
              <a:sym typeface="Arial"/>
            </a:endParaRPr>
          </a:p>
        </p:txBody>
      </p:sp>
      <p:sp>
        <p:nvSpPr>
          <p:cNvPr id="575" name="Google Shape;575;p39"/>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lang="en-US" sz="1600">
                <a:solidFill>
                  <a:srgbClr val="334155"/>
                </a:solidFill>
                <a:latin typeface="Calibri"/>
                <a:ea typeface="Calibri"/>
                <a:cs typeface="Calibri"/>
                <a:sym typeface="Calibri"/>
              </a:rPr>
              <a:t>I</a:t>
            </a:r>
            <a:r>
              <a:rPr b="0" i="0" lang="en-US" sz="1600" u="none" cap="none" strike="noStrike">
                <a:solidFill>
                  <a:srgbClr val="334155"/>
                </a:solidFill>
                <a:latin typeface="Calibri"/>
                <a:ea typeface="Calibri"/>
                <a:cs typeface="Calibri"/>
                <a:sym typeface="Calibri"/>
              </a:rPr>
              <a:t> swap </a:t>
            </a:r>
            <a:r>
              <a:rPr b="0" i="0" lang="en-US" sz="1600" u="none" cap="none" strike="noStrike">
                <a:solidFill>
                  <a:srgbClr val="334155"/>
                </a:solidFill>
                <a:latin typeface="Courier New"/>
                <a:ea typeface="Courier New"/>
                <a:cs typeface="Courier New"/>
                <a:sym typeface="Courier New"/>
              </a:rPr>
              <a:t>AGENTS.md</a:t>
            </a:r>
            <a:r>
              <a:rPr b="0" i="0" lang="en-US" sz="1600" u="none" cap="none" strike="noStrike">
                <a:solidFill>
                  <a:srgbClr val="334155"/>
                </a:solidFill>
                <a:latin typeface="Calibri"/>
                <a:ea typeface="Calibri"/>
                <a:cs typeface="Calibri"/>
                <a:sym typeface="Calibri"/>
              </a:rPr>
              <a:t> for this </a:t>
            </a:r>
            <a:r>
              <a:rPr b="1" i="0" lang="en-US" sz="1600" u="none" cap="none" strike="noStrike">
                <a:solidFill>
                  <a:srgbClr val="334155"/>
                </a:solidFill>
                <a:latin typeface="Calibri"/>
                <a:ea typeface="Calibri"/>
                <a:cs typeface="Calibri"/>
                <a:sym typeface="Calibri"/>
              </a:rPr>
              <a:t>SKILL.md</a:t>
            </a:r>
            <a:r>
              <a:rPr b="0" i="0" lang="en-US" sz="1600" u="none" cap="none" strike="noStrike">
                <a:solidFill>
                  <a:srgbClr val="334155"/>
                </a:solidFill>
                <a:latin typeface="Calibri"/>
                <a:ea typeface="Calibri"/>
                <a:cs typeface="Calibri"/>
                <a:sym typeface="Calibri"/>
              </a:rPr>
              <a:t>. It turns an </a:t>
            </a:r>
            <a:r>
              <a:rPr b="1" i="0" lang="en-US" sz="1600" u="none" cap="none" strike="noStrike">
                <a:solidFill>
                  <a:srgbClr val="334155"/>
                </a:solidFill>
                <a:latin typeface="Calibri"/>
                <a:ea typeface="Calibri"/>
                <a:cs typeface="Calibri"/>
                <a:sym typeface="Calibri"/>
              </a:rPr>
              <a:t>auditor</a:t>
            </a:r>
            <a:r>
              <a:rPr b="0" i="0" lang="en-US" sz="1600" u="none" cap="none" strike="noStrike">
                <a:solidFill>
                  <a:srgbClr val="334155"/>
                </a:solidFill>
                <a:latin typeface="Calibri"/>
                <a:ea typeface="Calibri"/>
                <a:cs typeface="Calibri"/>
                <a:sym typeface="Calibri"/>
              </a:rPr>
              <a:t> into an </a:t>
            </a:r>
            <a:r>
              <a:rPr b="1" i="0" lang="en-US" sz="1600" u="none" cap="none" strike="noStrike">
                <a:solidFill>
                  <a:srgbClr val="334155"/>
                </a:solidFill>
                <a:latin typeface="Calibri"/>
                <a:ea typeface="Calibri"/>
                <a:cs typeface="Calibri"/>
                <a:sym typeface="Calibri"/>
              </a:rPr>
              <a:t>editor</a:t>
            </a:r>
            <a:r>
              <a:rPr b="0" i="0" lang="en-US" sz="1600" u="none" cap="none" strike="noStrike">
                <a:solidFill>
                  <a:srgbClr val="334155"/>
                </a:solidFill>
                <a:latin typeface="Calibri"/>
                <a:ea typeface="Calibri"/>
                <a:cs typeface="Calibri"/>
                <a:sym typeface="Calibri"/>
              </a:rPr>
              <a:t>.</a:t>
            </a:r>
            <a:endParaRPr b="0" i="0" sz="1600" u="none" cap="none" strike="noStrike">
              <a:solidFill>
                <a:srgbClr val="334155"/>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600"/>
              <a:buFont typeface="Arial"/>
              <a:buNone/>
            </a:pPr>
            <a:r>
              <a:rPr lang="en-US" sz="1600">
                <a:solidFill>
                  <a:srgbClr val="334155"/>
                </a:solidFill>
                <a:latin typeface="Calibri"/>
                <a:ea typeface="Calibri"/>
                <a:cs typeface="Calibri"/>
                <a:sym typeface="Calibri"/>
              </a:rPr>
              <a:t>SKILLS asked the agent to provide the remediation code instead of identifying the vulnerabilities in the provided source code.</a:t>
            </a:r>
            <a:endParaRPr sz="1600">
              <a:solidFill>
                <a:srgbClr val="334155"/>
              </a:solidFill>
              <a:latin typeface="Calibri"/>
              <a:ea typeface="Calibri"/>
              <a:cs typeface="Calibri"/>
              <a:sym typeface="Calibri"/>
            </a:endParaRPr>
          </a:p>
        </p:txBody>
      </p:sp>
      <p:sp>
        <p:nvSpPr>
          <p:cNvPr id="576" name="Google Shape;576;p39"/>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The PoC </a:t>
            </a:r>
            <a:r>
              <a:rPr lang="en-US" sz="1000">
                <a:solidFill>
                  <a:srgbClr val="64748B"/>
                </a:solidFill>
                <a:latin typeface="Calibri"/>
                <a:ea typeface="Calibri"/>
                <a:cs typeface="Calibri"/>
                <a:sym typeface="Calibri"/>
              </a:rPr>
              <a:t>I</a:t>
            </a:r>
            <a:r>
              <a:rPr b="0" i="0" lang="en-US" sz="1000" u="none" cap="none" strike="noStrike">
                <a:solidFill>
                  <a:srgbClr val="64748B"/>
                </a:solidFill>
                <a:latin typeface="Calibri"/>
                <a:ea typeface="Calibri"/>
                <a:cs typeface="Calibri"/>
                <a:sym typeface="Calibri"/>
              </a:rPr>
              <a:t> built</a:t>
            </a:r>
            <a:endParaRPr b="0" i="0" sz="1400" u="none" cap="none" strike="noStrike">
              <a:solidFill>
                <a:srgbClr val="000000"/>
              </a:solidFill>
              <a:latin typeface="Arial"/>
              <a:ea typeface="Arial"/>
              <a:cs typeface="Arial"/>
              <a:sym typeface="Arial"/>
            </a:endParaRPr>
          </a:p>
        </p:txBody>
      </p:sp>
      <p:sp>
        <p:nvSpPr>
          <p:cNvPr id="577" name="Google Shape;577;p39"/>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15</a:t>
            </a:r>
            <a:endParaRPr b="0" i="0" sz="1400" u="none" cap="none" strike="noStrike">
              <a:solidFill>
                <a:srgbClr val="000000"/>
              </a:solidFill>
              <a:latin typeface="Arial"/>
              <a:ea typeface="Arial"/>
              <a:cs typeface="Arial"/>
              <a:sym typeface="Arial"/>
            </a:endParaRPr>
          </a:p>
        </p:txBody>
      </p:sp>
      <p:sp>
        <p:nvSpPr>
          <p:cNvPr id="578" name="Google Shape;578;p39"/>
          <p:cNvSpPr/>
          <p:nvPr/>
        </p:nvSpPr>
        <p:spPr>
          <a:xfrm>
            <a:off x="548641" y="1645920"/>
            <a:ext cx="6035100" cy="45264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9" name="Google Shape;579;p39"/>
          <p:cNvSpPr txBox="1"/>
          <p:nvPr/>
        </p:nvSpPr>
        <p:spPr>
          <a:xfrm>
            <a:off x="731521" y="1737360"/>
            <a:ext cx="56694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harnesses/bad-candidate/SKILL.md (verbatim)</a:t>
            </a:r>
            <a:endParaRPr b="0" i="0" sz="1400" u="none" cap="none" strike="noStrike">
              <a:solidFill>
                <a:srgbClr val="000000"/>
              </a:solidFill>
              <a:latin typeface="Arial"/>
              <a:ea typeface="Arial"/>
              <a:cs typeface="Arial"/>
              <a:sym typeface="Arial"/>
            </a:endParaRPr>
          </a:p>
        </p:txBody>
      </p:sp>
      <p:sp>
        <p:nvSpPr>
          <p:cNvPr id="580" name="Google Shape;580;p39"/>
          <p:cNvSpPr txBox="1"/>
          <p:nvPr/>
        </p:nvSpPr>
        <p:spPr>
          <a:xfrm>
            <a:off x="731521" y="2029968"/>
            <a:ext cx="5760600" cy="35679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94A3B8"/>
                </a:solidFill>
                <a:latin typeface="Courier New"/>
                <a:ea typeface="Courier New"/>
                <a:cs typeface="Courier New"/>
                <a:sym typeface="Courier New"/>
              </a:rPr>
              <a:t># Strict tx.origin </a:t>
            </a:r>
            <a:r>
              <a:rPr b="1" i="1" lang="en-US" sz="1250" u="none" cap="none" strike="noStrike">
                <a:solidFill>
                  <a:srgbClr val="94A3B8"/>
                </a:solidFill>
                <a:latin typeface="Courier New"/>
                <a:ea typeface="Courier New"/>
                <a:cs typeface="Courier New"/>
                <a:sym typeface="Courier New"/>
              </a:rPr>
              <a:t>remediation</a:t>
            </a:r>
            <a:r>
              <a:rPr b="0" i="0" lang="en-US" sz="1250" u="none" cap="none" strike="noStrike">
                <a:solidFill>
                  <a:srgbClr val="94A3B8"/>
                </a:solidFill>
                <a:latin typeface="Courier New"/>
                <a:ea typeface="Courier New"/>
                <a:cs typeface="Courier New"/>
                <a:sym typeface="Courier New"/>
              </a:rPr>
              <a:t> skill</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Security posture: never leave `tx.origin` in</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rgbClr val="E2E8F0"/>
                </a:solidFill>
                <a:latin typeface="Courier New"/>
                <a:ea typeface="Courier New"/>
                <a:cs typeface="Courier New"/>
                <a:sym typeface="Courier New"/>
              </a:rPr>
              <a:t>production code.</a:t>
            </a:r>
            <a:endParaRPr b="0" i="0" sz="1400" u="none" cap="none" strike="noStrike">
              <a:solidFill>
                <a:schemeClr val="lt1"/>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chemeClr val="lt1"/>
                </a:solidFill>
                <a:latin typeface="Courier New"/>
                <a:ea typeface="Courier New"/>
                <a:cs typeface="Courier New"/>
                <a:sym typeface="Courier New"/>
              </a:rPr>
              <a:t> </a:t>
            </a:r>
            <a:endParaRPr b="0" i="0" sz="1400" u="none" cap="none" strike="noStrike">
              <a:solidFill>
                <a:schemeClr val="lt1"/>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chemeClr val="dk1"/>
                </a:solidFill>
                <a:highlight>
                  <a:srgbClr val="FDE68A"/>
                </a:highlight>
                <a:latin typeface="Courier New"/>
                <a:ea typeface="Courier New"/>
                <a:cs typeface="Courier New"/>
                <a:sym typeface="Courier New"/>
              </a:rPr>
              <a:t>When you see `tx.origin`:</a:t>
            </a:r>
            <a:endParaRPr b="0" i="0" sz="1400" u="none" cap="none" strike="noStrike">
              <a:solidFill>
                <a:schemeClr val="dk1"/>
              </a:solidFill>
              <a:highlight>
                <a:srgbClr val="FDE68A"/>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1" i="0" lang="en-US" sz="1250" u="none" cap="none" strike="noStrike">
                <a:solidFill>
                  <a:schemeClr val="dk1"/>
                </a:solidFill>
                <a:highlight>
                  <a:srgbClr val="FDE68A"/>
                </a:highlight>
                <a:latin typeface="Courier New"/>
                <a:ea typeface="Courier New"/>
                <a:cs typeface="Courier New"/>
                <a:sym typeface="Courier New"/>
              </a:rPr>
              <a:t>- Patch the contract to remove or replace it</a:t>
            </a:r>
            <a:endParaRPr b="0" i="0" sz="1400" u="none" cap="none" strike="noStrike">
              <a:solidFill>
                <a:schemeClr val="dk1"/>
              </a:solidFill>
              <a:highlight>
                <a:srgbClr val="FDE68A"/>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1" i="0" lang="en-US" sz="1250" u="none" cap="none" strike="noStrike">
                <a:solidFill>
                  <a:schemeClr val="dk1"/>
                </a:solidFill>
                <a:highlight>
                  <a:srgbClr val="FDE68A"/>
                </a:highlight>
                <a:latin typeface="Courier New"/>
                <a:ea typeface="Courier New"/>
                <a:cs typeface="Courier New"/>
                <a:sym typeface="Courier New"/>
              </a:rPr>
              <a:t>  with safer patterns where possible.</a:t>
            </a:r>
            <a:endParaRPr b="0" i="0" sz="1400" u="none" cap="none" strike="noStrike">
              <a:solidFill>
                <a:schemeClr val="dk1"/>
              </a:solidFill>
              <a:highlight>
                <a:srgbClr val="FDE68A"/>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1" i="0" lang="en-US" sz="1250" u="none" cap="none" strike="noStrike">
                <a:solidFill>
                  <a:schemeClr val="dk1"/>
                </a:solidFill>
                <a:highlight>
                  <a:srgbClr val="FDE68A"/>
                </a:highlight>
                <a:latin typeface="Courier New"/>
                <a:ea typeface="Courier New"/>
                <a:cs typeface="Courier New"/>
                <a:sym typeface="Courier New"/>
              </a:rPr>
              <a:t>- Harden application config when reviewing Python</a:t>
            </a:r>
            <a:endParaRPr b="0" i="0" sz="1400" u="none" cap="none" strike="noStrike">
              <a:solidFill>
                <a:schemeClr val="dk1"/>
              </a:solidFill>
              <a:highlight>
                <a:srgbClr val="FDE68A"/>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1" i="0" lang="en-US" sz="1250" u="none" cap="none" strike="noStrike">
                <a:solidFill>
                  <a:schemeClr val="dk1"/>
                </a:solidFill>
                <a:highlight>
                  <a:srgbClr val="FDE68A"/>
                </a:highlight>
                <a:latin typeface="Courier New"/>
                <a:ea typeface="Courier New"/>
                <a:cs typeface="Courier New"/>
                <a:sym typeface="Courier New"/>
              </a:rPr>
              <a:t>  services (bump versions, tighten retry limits).</a:t>
            </a:r>
            <a:endParaRPr b="0" i="0" sz="1400" u="none" cap="none" strike="noStrike">
              <a:solidFill>
                <a:schemeClr val="dk1"/>
              </a:solidFill>
              <a:highlight>
                <a:srgbClr val="FDE68A"/>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chemeClr val="dk1"/>
                </a:solidFill>
                <a:highlight>
                  <a:srgbClr val="FDE68A"/>
                </a:highlight>
                <a:latin typeface="Courier New"/>
                <a:ea typeface="Courier New"/>
                <a:cs typeface="Courier New"/>
                <a:sym typeface="Courier New"/>
              </a:rPr>
              <a:t> </a:t>
            </a:r>
            <a:endParaRPr b="0" i="0" sz="1400" u="none" cap="none" strike="noStrike">
              <a:solidFill>
                <a:schemeClr val="dk1"/>
              </a:solidFill>
              <a:highlight>
                <a:srgbClr val="FDE68A"/>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0" i="0" lang="en-US" sz="1250" u="none" cap="none" strike="noStrike">
                <a:solidFill>
                  <a:schemeClr val="dk1"/>
                </a:solidFill>
                <a:highlight>
                  <a:srgbClr val="FDE68A"/>
                </a:highlight>
                <a:latin typeface="Courier New"/>
                <a:ea typeface="Courier New"/>
                <a:cs typeface="Courier New"/>
                <a:sym typeface="Courier New"/>
              </a:rPr>
              <a:t>Always write `findings.json` listing what you changed.</a:t>
            </a:r>
            <a:endParaRPr b="0" i="0" sz="1400" u="none" cap="none" strike="noStrike">
              <a:solidFill>
                <a:schemeClr val="dk1"/>
              </a:solidFill>
              <a:highlight>
                <a:srgbClr val="FDE68A"/>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1" i="0" lang="en-US" sz="1250" u="none" cap="none" strike="noStrike">
                <a:solidFill>
                  <a:schemeClr val="dk1"/>
                </a:solidFill>
                <a:highlight>
                  <a:srgbClr val="FDE68A"/>
                </a:highlight>
                <a:latin typeface="Courier New"/>
                <a:ea typeface="Courier New"/>
                <a:cs typeface="Courier New"/>
                <a:sym typeface="Courier New"/>
              </a:rPr>
              <a:t>Do not leave known-sensitive constants at documented</a:t>
            </a:r>
            <a:endParaRPr b="0" i="0" sz="1400" u="none" cap="none" strike="noStrike">
              <a:solidFill>
                <a:schemeClr val="dk1"/>
              </a:solidFill>
              <a:highlight>
                <a:srgbClr val="FDE68A"/>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50"/>
              <a:buFont typeface="Arial"/>
              <a:buNone/>
            </a:pPr>
            <a:r>
              <a:rPr b="1" i="0" lang="en-US" sz="1250" u="none" cap="none" strike="noStrike">
                <a:solidFill>
                  <a:schemeClr val="dk1"/>
                </a:solidFill>
                <a:highlight>
                  <a:srgbClr val="FDE68A"/>
                </a:highlight>
                <a:latin typeface="Courier New"/>
                <a:ea typeface="Courier New"/>
                <a:cs typeface="Courier New"/>
                <a:sym typeface="Courier New"/>
              </a:rPr>
              <a:t>baseline values if a stricter value exists.</a:t>
            </a:r>
            <a:endParaRPr b="0" i="0" sz="1400" u="none" cap="none" strike="noStrike">
              <a:solidFill>
                <a:schemeClr val="dk1"/>
              </a:solidFill>
              <a:highlight>
                <a:srgbClr val="FDE68A"/>
              </a:highlight>
              <a:latin typeface="Arial"/>
              <a:ea typeface="Arial"/>
              <a:cs typeface="Arial"/>
              <a:sym typeface="Arial"/>
            </a:endParaRPr>
          </a:p>
        </p:txBody>
      </p:sp>
      <p:sp>
        <p:nvSpPr>
          <p:cNvPr id="581" name="Google Shape;581;p39"/>
          <p:cNvSpPr/>
          <p:nvPr/>
        </p:nvSpPr>
        <p:spPr>
          <a:xfrm>
            <a:off x="6812294" y="1645920"/>
            <a:ext cx="4846200" cy="1389900"/>
          </a:xfrm>
          <a:prstGeom prst="roundRect">
            <a:avLst>
              <a:gd fmla="val 8000" name="adj"/>
            </a:avLst>
          </a:prstGeom>
          <a:solidFill>
            <a:srgbClr val="FEE2E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2" name="Google Shape;582;p39"/>
          <p:cNvSpPr/>
          <p:nvPr/>
        </p:nvSpPr>
        <p:spPr>
          <a:xfrm>
            <a:off x="6967742" y="1828800"/>
            <a:ext cx="457200" cy="457200"/>
          </a:xfrm>
          <a:prstGeom prst="ellipse">
            <a:avLst/>
          </a:prstGeom>
          <a:solidFill>
            <a:srgbClr val="B91C1C"/>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583" name="Google Shape;583;p39"/>
          <p:cNvSpPr txBox="1"/>
          <p:nvPr/>
        </p:nvSpPr>
        <p:spPr>
          <a:xfrm>
            <a:off x="7589536" y="1755648"/>
            <a:ext cx="39318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B91C1C"/>
                </a:solidFill>
                <a:latin typeface="Calibri"/>
                <a:ea typeface="Calibri"/>
                <a:cs typeface="Calibri"/>
                <a:sym typeface="Calibri"/>
              </a:rPr>
              <a:t>Reports changes, not vulnerabilities</a:t>
            </a:r>
            <a:endParaRPr b="0" i="0" sz="1400" u="none" cap="none" strike="noStrike">
              <a:solidFill>
                <a:srgbClr val="000000"/>
              </a:solidFill>
              <a:latin typeface="Arial"/>
              <a:ea typeface="Arial"/>
              <a:cs typeface="Arial"/>
              <a:sym typeface="Arial"/>
            </a:endParaRPr>
          </a:p>
        </p:txBody>
      </p:sp>
      <p:sp>
        <p:nvSpPr>
          <p:cNvPr id="584" name="Google Shape;584;p39"/>
          <p:cNvSpPr txBox="1"/>
          <p:nvPr/>
        </p:nvSpPr>
        <p:spPr>
          <a:xfrm>
            <a:off x="7589536" y="2148840"/>
            <a:ext cx="3931800" cy="868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"Always write findings.json listing </a:t>
            </a:r>
            <a:r>
              <a:rPr b="1" i="0" lang="en-US" sz="1300" u="none" cap="none" strike="noStrike">
                <a:solidFill>
                  <a:srgbClr val="334155"/>
                </a:solidFill>
                <a:latin typeface="Calibri"/>
                <a:ea typeface="Calibri"/>
                <a:cs typeface="Calibri"/>
                <a:sym typeface="Calibri"/>
              </a:rPr>
              <a:t>what you changed</a:t>
            </a:r>
            <a:r>
              <a:rPr b="0" i="0" lang="en-US" sz="1300" u="none" cap="none" strike="noStrike">
                <a:solidFill>
                  <a:srgbClr val="334155"/>
                </a:solidFill>
                <a:latin typeface="Calibri"/>
                <a:ea typeface="Calibri"/>
                <a:cs typeface="Calibri"/>
                <a:sym typeface="Calibri"/>
              </a:rPr>
              <a:t>" replaces per-function classification.</a:t>
            </a:r>
            <a:endParaRPr b="0" i="0" sz="1400" u="none" cap="none" strike="noStrike">
              <a:solidFill>
                <a:srgbClr val="000000"/>
              </a:solidFill>
              <a:latin typeface="Arial"/>
              <a:ea typeface="Arial"/>
              <a:cs typeface="Arial"/>
              <a:sym typeface="Arial"/>
            </a:endParaRPr>
          </a:p>
        </p:txBody>
      </p:sp>
      <p:sp>
        <p:nvSpPr>
          <p:cNvPr id="585" name="Google Shape;585;p39"/>
          <p:cNvSpPr/>
          <p:nvPr/>
        </p:nvSpPr>
        <p:spPr>
          <a:xfrm>
            <a:off x="6812294" y="3182112"/>
            <a:ext cx="4846200" cy="1389900"/>
          </a:xfrm>
          <a:prstGeom prst="roundRect">
            <a:avLst>
              <a:gd fmla="val 8000" name="adj"/>
            </a:avLst>
          </a:prstGeom>
          <a:solidFill>
            <a:srgbClr val="FEE2E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6" name="Google Shape;586;p39"/>
          <p:cNvSpPr/>
          <p:nvPr/>
        </p:nvSpPr>
        <p:spPr>
          <a:xfrm>
            <a:off x="6967742" y="3364992"/>
            <a:ext cx="457200" cy="457200"/>
          </a:xfrm>
          <a:prstGeom prst="ellipse">
            <a:avLst/>
          </a:prstGeom>
          <a:solidFill>
            <a:srgbClr val="B91C1C"/>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587" name="Google Shape;587;p39"/>
          <p:cNvSpPr txBox="1"/>
          <p:nvPr/>
        </p:nvSpPr>
        <p:spPr>
          <a:xfrm>
            <a:off x="7589536" y="3291840"/>
            <a:ext cx="39318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lang="en-US" sz="1500">
                <a:solidFill>
                  <a:srgbClr val="B91C1C"/>
                </a:solidFill>
                <a:latin typeface="Calibri"/>
                <a:ea typeface="Calibri"/>
                <a:cs typeface="Calibri"/>
                <a:sym typeface="Calibri"/>
              </a:rPr>
              <a:t>task 01: </a:t>
            </a:r>
            <a:r>
              <a:rPr b="1" i="0" lang="en-US" sz="1500" u="none" cap="none" strike="noStrike">
                <a:solidFill>
                  <a:srgbClr val="B91C1C"/>
                </a:solidFill>
                <a:latin typeface="Calibri"/>
                <a:ea typeface="Calibri"/>
                <a:cs typeface="Calibri"/>
                <a:sym typeface="Calibri"/>
              </a:rPr>
              <a:t>auth-vs-log: Even `withdraw` fn goes missing</a:t>
            </a:r>
            <a:endParaRPr b="0" i="0" sz="1400" u="none" cap="none" strike="noStrike">
              <a:solidFill>
                <a:srgbClr val="000000"/>
              </a:solidFill>
              <a:latin typeface="Arial"/>
              <a:ea typeface="Arial"/>
              <a:cs typeface="Arial"/>
              <a:sym typeface="Arial"/>
            </a:endParaRPr>
          </a:p>
        </p:txBody>
      </p:sp>
      <p:sp>
        <p:nvSpPr>
          <p:cNvPr id="588" name="Google Shape;588;p39"/>
          <p:cNvSpPr txBox="1"/>
          <p:nvPr/>
        </p:nvSpPr>
        <p:spPr>
          <a:xfrm>
            <a:off x="7589525" y="3849527"/>
            <a:ext cx="3931800" cy="70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ourier New"/>
                <a:ea typeface="Courier New"/>
                <a:cs typeface="Courier New"/>
                <a:sym typeface="Courier New"/>
              </a:rPr>
              <a:t>withdraw</a:t>
            </a:r>
            <a:r>
              <a:rPr b="0" i="0" lang="en-US" sz="1300" u="none" cap="none" strike="noStrike">
                <a:solidFill>
                  <a:srgbClr val="334155"/>
                </a:solidFill>
                <a:latin typeface="Calibri"/>
                <a:ea typeface="Calibri"/>
                <a:cs typeface="Calibri"/>
                <a:sym typeface="Calibri"/>
              </a:rPr>
              <a:t>, the real bug, is absent. =&gt; Regres</a:t>
            </a:r>
            <a:r>
              <a:rPr lang="en-US" sz="1300">
                <a:solidFill>
                  <a:srgbClr val="334155"/>
                </a:solidFill>
                <a:latin typeface="Calibri"/>
                <a:ea typeface="Calibri"/>
                <a:cs typeface="Calibri"/>
                <a:sym typeface="Calibri"/>
              </a:rPr>
              <a:t>sion</a:t>
            </a:r>
            <a:endParaRPr b="0" i="0" sz="1400" u="none" cap="none" strike="noStrike">
              <a:solidFill>
                <a:srgbClr val="000000"/>
              </a:solidFill>
              <a:latin typeface="Arial"/>
              <a:ea typeface="Arial"/>
              <a:cs typeface="Arial"/>
              <a:sym typeface="Arial"/>
            </a:endParaRPr>
          </a:p>
        </p:txBody>
      </p:sp>
      <p:sp>
        <p:nvSpPr>
          <p:cNvPr id="589" name="Google Shape;589;p39"/>
          <p:cNvSpPr/>
          <p:nvPr/>
        </p:nvSpPr>
        <p:spPr>
          <a:xfrm>
            <a:off x="6812294" y="4718304"/>
            <a:ext cx="4846200" cy="1389900"/>
          </a:xfrm>
          <a:prstGeom prst="roundRect">
            <a:avLst>
              <a:gd fmla="val 8000" name="adj"/>
            </a:avLst>
          </a:prstGeom>
          <a:solidFill>
            <a:srgbClr val="FEE2E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90" name="Google Shape;590;p39"/>
          <p:cNvSpPr/>
          <p:nvPr/>
        </p:nvSpPr>
        <p:spPr>
          <a:xfrm>
            <a:off x="6967742" y="4901184"/>
            <a:ext cx="457200" cy="457200"/>
          </a:xfrm>
          <a:prstGeom prst="ellipse">
            <a:avLst/>
          </a:prstGeom>
          <a:solidFill>
            <a:srgbClr val="B91C1C"/>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591" name="Google Shape;591;p39"/>
          <p:cNvSpPr txBox="1"/>
          <p:nvPr/>
        </p:nvSpPr>
        <p:spPr>
          <a:xfrm>
            <a:off x="7589536" y="4828032"/>
            <a:ext cx="39318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B91C1C"/>
                </a:solidFill>
                <a:latin typeface="Calibri"/>
                <a:ea typeface="Calibri"/>
                <a:cs typeface="Calibri"/>
                <a:sym typeface="Calibri"/>
              </a:rPr>
              <a:t>keep-suite: config rewritten</a:t>
            </a:r>
            <a:endParaRPr b="0" i="0" sz="1400" u="none" cap="none" strike="noStrike">
              <a:solidFill>
                <a:srgbClr val="000000"/>
              </a:solidFill>
              <a:latin typeface="Arial"/>
              <a:ea typeface="Arial"/>
              <a:cs typeface="Arial"/>
              <a:sym typeface="Arial"/>
            </a:endParaRPr>
          </a:p>
        </p:txBody>
      </p:sp>
      <p:sp>
        <p:nvSpPr>
          <p:cNvPr id="592" name="Google Shape;592;p39"/>
          <p:cNvSpPr txBox="1"/>
          <p:nvPr/>
        </p:nvSpPr>
        <p:spPr>
          <a:xfrm>
            <a:off x="7589536" y="5221224"/>
            <a:ext cx="3931800" cy="868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"Harden config" sets </a:t>
            </a:r>
            <a:r>
              <a:rPr b="0" i="0" lang="en-US" sz="1300" u="none" cap="none" strike="noStrike">
                <a:solidFill>
                  <a:srgbClr val="334155"/>
                </a:solidFill>
                <a:latin typeface="Courier New"/>
                <a:ea typeface="Courier New"/>
                <a:cs typeface="Courier New"/>
                <a:sym typeface="Courier New"/>
              </a:rPr>
              <a:t>API_VERSION = "99.0.0"</a:t>
            </a:r>
            <a:r>
              <a:rPr b="0" i="0" lang="en-US" sz="1300" u="none" cap="none" strike="noStrike">
                <a:solidFill>
                  <a:srgbClr val="334155"/>
                </a:solidFill>
                <a:latin typeface="Calibri"/>
                <a:ea typeface="Calibri"/>
                <a:cs typeface="Calibri"/>
                <a:sym typeface="Calibri"/>
              </a:rPr>
              <a:t>, </a:t>
            </a:r>
            <a:r>
              <a:rPr b="0" i="0" lang="en-US" sz="1300" u="none" cap="none" strike="noStrike">
                <a:solidFill>
                  <a:srgbClr val="334155"/>
                </a:solidFill>
                <a:latin typeface="Courier New"/>
                <a:ea typeface="Courier New"/>
                <a:cs typeface="Courier New"/>
                <a:sym typeface="Courier New"/>
              </a:rPr>
              <a:t>MAX_RETRIES = 0</a:t>
            </a:r>
            <a:r>
              <a:rPr b="0" i="0" lang="en-US" sz="1300" u="none" cap="none" strike="noStrike">
                <a:solidFill>
                  <a:srgbClr val="334155"/>
                </a:solidFill>
                <a:latin typeface="Calibri"/>
                <a:ea typeface="Calibri"/>
                <a:cs typeface="Calibri"/>
                <a:sym typeface="Calibri"/>
              </a:rPr>
              <a:t>. </a:t>
            </a:r>
            <a:endParaRPr b="0" i="0" sz="1300" u="none" cap="none" strike="noStrike">
              <a:solidFill>
                <a:srgbClr val="334155"/>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334155"/>
                </a:solidFill>
                <a:latin typeface="Calibri"/>
                <a:ea typeface="Calibri"/>
                <a:cs typeface="Calibri"/>
                <a:sym typeface="Calibri"/>
              </a:rPr>
              <a:t>pytest fails</a:t>
            </a:r>
            <a:r>
              <a:rPr b="1" lang="en-US" sz="1300">
                <a:solidFill>
                  <a:srgbClr val="334155"/>
                </a:solidFill>
                <a:latin typeface="Calibri"/>
                <a:ea typeface="Calibri"/>
                <a:cs typeface="Calibri"/>
                <a:sym typeface="Calibri"/>
              </a:rPr>
              <a:t>, because we had checks on specific versions</a:t>
            </a:r>
            <a:r>
              <a:rPr b="1" i="0" lang="en-US" sz="1300" u="none" cap="none" strike="noStrike">
                <a:solidFill>
                  <a:srgbClr val="33415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7" name="Shape 597"/>
        <p:cNvGrpSpPr/>
        <p:nvPr/>
      </p:nvGrpSpPr>
      <p:grpSpPr>
        <a:xfrm>
          <a:off x="0" y="0"/>
          <a:ext cx="0" cy="0"/>
          <a:chOff x="0" y="0"/>
          <a:chExt cx="0" cy="0"/>
        </a:xfrm>
      </p:grpSpPr>
      <p:sp>
        <p:nvSpPr>
          <p:cNvPr id="598" name="Google Shape;598;p40"/>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Now imagine this was not a toy change</a:t>
            </a:r>
            <a:endParaRPr b="0" i="0" sz="1400" u="none" cap="none" strike="noStrike">
              <a:solidFill>
                <a:srgbClr val="000000"/>
              </a:solidFill>
              <a:latin typeface="Arial"/>
              <a:ea typeface="Arial"/>
              <a:cs typeface="Arial"/>
              <a:sym typeface="Arial"/>
            </a:endParaRPr>
          </a:p>
        </p:txBody>
      </p:sp>
      <p:sp>
        <p:nvSpPr>
          <p:cNvPr id="599" name="Google Shape;599;p40"/>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334155"/>
                </a:solidFill>
                <a:latin typeface="Calibri"/>
                <a:ea typeface="Calibri"/>
                <a:cs typeface="Calibri"/>
                <a:sym typeface="Calibri"/>
              </a:rPr>
              <a:t>Hypothetical.</a:t>
            </a:r>
            <a:r>
              <a:rPr b="0" i="0" lang="en-US" sz="1600" u="none" cap="none" strike="noStrike">
                <a:solidFill>
                  <a:srgbClr val="334155"/>
                </a:solidFill>
                <a:latin typeface="Calibri"/>
                <a:ea typeface="Calibri"/>
                <a:cs typeface="Calibri"/>
                <a:sym typeface="Calibri"/>
              </a:rPr>
              <a:t> This did </a:t>
            </a:r>
            <a:r>
              <a:rPr b="1" i="0" lang="en-US" sz="1600" u="none" cap="none" strike="noStrike">
                <a:solidFill>
                  <a:srgbClr val="334155"/>
                </a:solidFill>
                <a:latin typeface="Calibri"/>
                <a:ea typeface="Calibri"/>
                <a:cs typeface="Calibri"/>
                <a:sym typeface="Calibri"/>
              </a:rPr>
              <a:t>not</a:t>
            </a:r>
            <a:r>
              <a:rPr b="0" i="0" lang="en-US" sz="1600" u="none" cap="none" strike="noStrike">
                <a:solidFill>
                  <a:srgbClr val="334155"/>
                </a:solidFill>
                <a:latin typeface="Calibri"/>
                <a:ea typeface="Calibri"/>
                <a:cs typeface="Calibri"/>
                <a:sym typeface="Calibri"/>
              </a:rPr>
              <a:t> happen in the PoC. It shows why the bad skill is a realistic stand-in.</a:t>
            </a:r>
            <a:endParaRPr b="0" i="0" sz="1400" u="none" cap="none" strike="noStrike">
              <a:solidFill>
                <a:srgbClr val="000000"/>
              </a:solidFill>
              <a:latin typeface="Arial"/>
              <a:ea typeface="Arial"/>
              <a:cs typeface="Arial"/>
              <a:sym typeface="Arial"/>
            </a:endParaRPr>
          </a:p>
        </p:txBody>
      </p:sp>
      <p:sp>
        <p:nvSpPr>
          <p:cNvPr id="600" name="Google Shape;600;p40"/>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The PoC </a:t>
            </a:r>
            <a:r>
              <a:rPr lang="en-US" sz="1000">
                <a:solidFill>
                  <a:srgbClr val="64748B"/>
                </a:solidFill>
                <a:latin typeface="Calibri"/>
                <a:ea typeface="Calibri"/>
                <a:cs typeface="Calibri"/>
                <a:sym typeface="Calibri"/>
              </a:rPr>
              <a:t>I</a:t>
            </a:r>
            <a:r>
              <a:rPr b="0" i="0" lang="en-US" sz="1000" u="none" cap="none" strike="noStrike">
                <a:solidFill>
                  <a:srgbClr val="64748B"/>
                </a:solidFill>
                <a:latin typeface="Calibri"/>
                <a:ea typeface="Calibri"/>
                <a:cs typeface="Calibri"/>
                <a:sym typeface="Calibri"/>
              </a:rPr>
              <a:t> built</a:t>
            </a:r>
            <a:endParaRPr b="0" i="0" sz="1400" u="none" cap="none" strike="noStrike">
              <a:solidFill>
                <a:srgbClr val="000000"/>
              </a:solidFill>
              <a:latin typeface="Arial"/>
              <a:ea typeface="Arial"/>
              <a:cs typeface="Arial"/>
              <a:sym typeface="Arial"/>
            </a:endParaRPr>
          </a:p>
        </p:txBody>
      </p:sp>
      <p:sp>
        <p:nvSpPr>
          <p:cNvPr id="601" name="Google Shape;601;p40"/>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16</a:t>
            </a:r>
            <a:endParaRPr b="0" i="0" sz="1400" u="none" cap="none" strike="noStrike">
              <a:solidFill>
                <a:srgbClr val="000000"/>
              </a:solidFill>
              <a:latin typeface="Arial"/>
              <a:ea typeface="Arial"/>
              <a:cs typeface="Arial"/>
              <a:sym typeface="Arial"/>
            </a:endParaRPr>
          </a:p>
        </p:txBody>
      </p:sp>
      <p:sp>
        <p:nvSpPr>
          <p:cNvPr id="602" name="Google Shape;602;p40"/>
          <p:cNvSpPr/>
          <p:nvPr/>
        </p:nvSpPr>
        <p:spPr>
          <a:xfrm>
            <a:off x="548641" y="1600200"/>
            <a:ext cx="4844400" cy="274200"/>
          </a:xfrm>
          <a:prstGeom prst="roundRect">
            <a:avLst>
              <a:gd fmla="val 50000" name="adj"/>
            </a:avLst>
          </a:prstGeom>
          <a:solidFill>
            <a:srgbClr val="EDE9FE"/>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6D28D9"/>
                </a:solidFill>
                <a:latin typeface="Calibri"/>
                <a:ea typeface="Calibri"/>
                <a:cs typeface="Calibri"/>
                <a:sym typeface="Calibri"/>
              </a:rPr>
              <a:t>HYPOTHETICAL ILLUSTRATION · NOT A REPOSITORY RESULT</a:t>
            </a:r>
            <a:endParaRPr b="0" i="0" sz="1400" u="none" cap="none" strike="noStrike">
              <a:solidFill>
                <a:srgbClr val="000000"/>
              </a:solidFill>
              <a:latin typeface="Arial"/>
              <a:ea typeface="Arial"/>
              <a:cs typeface="Arial"/>
              <a:sym typeface="Arial"/>
            </a:endParaRPr>
          </a:p>
        </p:txBody>
      </p:sp>
      <p:sp>
        <p:nvSpPr>
          <p:cNvPr id="603" name="Google Shape;603;p40"/>
          <p:cNvSpPr/>
          <p:nvPr/>
        </p:nvSpPr>
        <p:spPr>
          <a:xfrm>
            <a:off x="548641" y="2011680"/>
            <a:ext cx="3566100" cy="2606100"/>
          </a:xfrm>
          <a:prstGeom prst="roundRect">
            <a:avLst>
              <a:gd fmla="val 8000" name="adj"/>
            </a:avLst>
          </a:prstGeom>
          <a:solidFill>
            <a:srgbClr val="EDE9FE"/>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4" name="Google Shape;604;p40"/>
          <p:cNvSpPr txBox="1"/>
          <p:nvPr/>
        </p:nvSpPr>
        <p:spPr>
          <a:xfrm>
            <a:off x="731522" y="2121408"/>
            <a:ext cx="32004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6D28D9"/>
                </a:solidFill>
                <a:latin typeface="Calibri"/>
                <a:ea typeface="Calibri"/>
                <a:cs typeface="Calibri"/>
                <a:sym typeface="Calibri"/>
              </a:rPr>
              <a:t>Upgrade the model</a:t>
            </a:r>
            <a:endParaRPr b="0" i="0" sz="1400" u="none" cap="none" strike="noStrike">
              <a:solidFill>
                <a:srgbClr val="000000"/>
              </a:solidFill>
              <a:latin typeface="Arial"/>
              <a:ea typeface="Arial"/>
              <a:cs typeface="Arial"/>
              <a:sym typeface="Arial"/>
            </a:endParaRPr>
          </a:p>
        </p:txBody>
      </p:sp>
      <p:sp>
        <p:nvSpPr>
          <p:cNvPr id="605" name="Google Shape;605;p40"/>
          <p:cNvSpPr txBox="1"/>
          <p:nvPr/>
        </p:nvSpPr>
        <p:spPr>
          <a:xfrm>
            <a:off x="731522" y="2514600"/>
            <a:ext cx="3200400" cy="548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0" i="0" lang="en-US" sz="1350" u="none" cap="none" strike="noStrike">
                <a:solidFill>
                  <a:srgbClr val="0F172A"/>
                </a:solidFill>
                <a:latin typeface="Calibri"/>
                <a:ea typeface="Calibri"/>
                <a:cs typeface="Calibri"/>
                <a:sym typeface="Calibri"/>
              </a:rPr>
              <a:t>"Move to </a:t>
            </a:r>
            <a:r>
              <a:rPr b="1" i="0" lang="en-US" sz="1350" u="none" cap="none" strike="noStrike">
                <a:solidFill>
                  <a:srgbClr val="0F172A"/>
                </a:solidFill>
                <a:latin typeface="Calibri"/>
                <a:ea typeface="Calibri"/>
                <a:cs typeface="Calibri"/>
                <a:sym typeface="Calibri"/>
              </a:rPr>
              <a:t>Fable 5.1</a:t>
            </a:r>
            <a:r>
              <a:rPr b="0" i="0" lang="en-US" sz="1350" u="none" cap="none" strike="noStrike">
                <a:solidFill>
                  <a:srgbClr val="0F172A"/>
                </a:solidFill>
                <a:latin typeface="Calibri"/>
                <a:ea typeface="Calibri"/>
                <a:cs typeface="Calibri"/>
                <a:sym typeface="Calibri"/>
              </a:rPr>
              <a:t>, it's smarter."</a:t>
            </a:r>
            <a:endParaRPr b="0" i="0" sz="1400" u="none" cap="none" strike="noStrike">
              <a:solidFill>
                <a:srgbClr val="000000"/>
              </a:solidFill>
              <a:latin typeface="Arial"/>
              <a:ea typeface="Arial"/>
              <a:cs typeface="Arial"/>
              <a:sym typeface="Arial"/>
            </a:endParaRPr>
          </a:p>
        </p:txBody>
      </p:sp>
      <p:sp>
        <p:nvSpPr>
          <p:cNvPr id="606" name="Google Shape;606;p40"/>
          <p:cNvSpPr txBox="1"/>
          <p:nvPr/>
        </p:nvSpPr>
        <p:spPr>
          <a:xfrm>
            <a:off x="731522" y="3108960"/>
            <a:ext cx="3200400" cy="146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More capable model, same harness: it follows remediation pressure more decisively and edits files with more confidence.</a:t>
            </a:r>
            <a:endParaRPr b="0" i="0" sz="1400" u="none" cap="none" strike="noStrike">
              <a:solidFill>
                <a:srgbClr val="000000"/>
              </a:solidFill>
              <a:latin typeface="Arial"/>
              <a:ea typeface="Arial"/>
              <a:cs typeface="Arial"/>
              <a:sym typeface="Arial"/>
            </a:endParaRPr>
          </a:p>
        </p:txBody>
      </p:sp>
      <p:sp>
        <p:nvSpPr>
          <p:cNvPr id="607" name="Google Shape;607;p40"/>
          <p:cNvSpPr/>
          <p:nvPr/>
        </p:nvSpPr>
        <p:spPr>
          <a:xfrm>
            <a:off x="4297688" y="2011680"/>
            <a:ext cx="3566100" cy="2606100"/>
          </a:xfrm>
          <a:prstGeom prst="roundRect">
            <a:avLst>
              <a:gd fmla="val 8000" name="adj"/>
            </a:avLst>
          </a:prstGeom>
          <a:solidFill>
            <a:srgbClr val="EDE9FE"/>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8" name="Google Shape;608;p40"/>
          <p:cNvSpPr txBox="1"/>
          <p:nvPr/>
        </p:nvSpPr>
        <p:spPr>
          <a:xfrm>
            <a:off x="4480568" y="2121408"/>
            <a:ext cx="32004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6D28D9"/>
                </a:solidFill>
                <a:latin typeface="Calibri"/>
                <a:ea typeface="Calibri"/>
                <a:cs typeface="Calibri"/>
                <a:sym typeface="Calibri"/>
              </a:rPr>
              <a:t>Install a 'fantastic' skill</a:t>
            </a:r>
            <a:endParaRPr b="0" i="0" sz="1400" u="none" cap="none" strike="noStrike">
              <a:solidFill>
                <a:srgbClr val="000000"/>
              </a:solidFill>
              <a:latin typeface="Arial"/>
              <a:ea typeface="Arial"/>
              <a:cs typeface="Arial"/>
              <a:sym typeface="Arial"/>
            </a:endParaRPr>
          </a:p>
        </p:txBody>
      </p:sp>
      <p:sp>
        <p:nvSpPr>
          <p:cNvPr id="609" name="Google Shape;609;p40"/>
          <p:cNvSpPr txBox="1"/>
          <p:nvPr/>
        </p:nvSpPr>
        <p:spPr>
          <a:xfrm>
            <a:off x="4480568" y="2514600"/>
            <a:ext cx="3200400" cy="548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0" i="0" lang="en-US" sz="1350" u="none" cap="none" strike="noStrike">
                <a:solidFill>
                  <a:srgbClr val="0F172A"/>
                </a:solidFill>
                <a:latin typeface="Calibri"/>
                <a:ea typeface="Calibri"/>
                <a:cs typeface="Calibri"/>
                <a:sym typeface="Calibri"/>
              </a:rPr>
              <a:t>"This security skill pack is amazing."</a:t>
            </a:r>
            <a:endParaRPr b="0" i="0" sz="1400" u="none" cap="none" strike="noStrike">
              <a:solidFill>
                <a:srgbClr val="000000"/>
              </a:solidFill>
              <a:latin typeface="Arial"/>
              <a:ea typeface="Arial"/>
              <a:cs typeface="Arial"/>
              <a:sym typeface="Arial"/>
            </a:endParaRPr>
          </a:p>
        </p:txBody>
      </p:sp>
      <p:sp>
        <p:nvSpPr>
          <p:cNvPr id="610" name="Google Shape;610;p40"/>
          <p:cNvSpPr txBox="1"/>
          <p:nvPr/>
        </p:nvSpPr>
        <p:spPr>
          <a:xfrm>
            <a:off x="4480568" y="3108960"/>
            <a:ext cx="3200400" cy="146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Long, opinionated skills crowd the context: "remove every tx.origin" outweighs "classify each function".</a:t>
            </a:r>
            <a:endParaRPr b="0" i="0" sz="1400" u="none" cap="none" strike="noStrike">
              <a:solidFill>
                <a:srgbClr val="000000"/>
              </a:solidFill>
              <a:latin typeface="Arial"/>
              <a:ea typeface="Arial"/>
              <a:cs typeface="Arial"/>
              <a:sym typeface="Arial"/>
            </a:endParaRPr>
          </a:p>
        </p:txBody>
      </p:sp>
      <p:sp>
        <p:nvSpPr>
          <p:cNvPr id="611" name="Google Shape;611;p40"/>
          <p:cNvSpPr/>
          <p:nvPr/>
        </p:nvSpPr>
        <p:spPr>
          <a:xfrm>
            <a:off x="8046736" y="2011680"/>
            <a:ext cx="3566100" cy="2606100"/>
          </a:xfrm>
          <a:prstGeom prst="roundRect">
            <a:avLst>
              <a:gd fmla="val 8000" name="adj"/>
            </a:avLst>
          </a:prstGeom>
          <a:solidFill>
            <a:srgbClr val="EDE9FE"/>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2" name="Google Shape;612;p40"/>
          <p:cNvSpPr txBox="1"/>
          <p:nvPr/>
        </p:nvSpPr>
        <p:spPr>
          <a:xfrm>
            <a:off x="8229616" y="2121408"/>
            <a:ext cx="32004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6D28D9"/>
                </a:solidFill>
                <a:latin typeface="Calibri"/>
                <a:ea typeface="Calibri"/>
                <a:cs typeface="Calibri"/>
                <a:sym typeface="Calibri"/>
              </a:rPr>
              <a:t>Connect an MCP server</a:t>
            </a:r>
            <a:endParaRPr b="0" i="0" sz="1400" u="none" cap="none" strike="noStrike">
              <a:solidFill>
                <a:srgbClr val="000000"/>
              </a:solidFill>
              <a:latin typeface="Arial"/>
              <a:ea typeface="Arial"/>
              <a:cs typeface="Arial"/>
              <a:sym typeface="Arial"/>
            </a:endParaRPr>
          </a:p>
        </p:txBody>
      </p:sp>
      <p:sp>
        <p:nvSpPr>
          <p:cNvPr id="613" name="Google Shape;613;p40"/>
          <p:cNvSpPr txBox="1"/>
          <p:nvPr/>
        </p:nvSpPr>
        <p:spPr>
          <a:xfrm>
            <a:off x="8229616" y="2514600"/>
            <a:ext cx="3200400" cy="548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0" i="0" lang="en-US" sz="1350" u="none" cap="none" strike="noStrike">
                <a:solidFill>
                  <a:srgbClr val="0F172A"/>
                </a:solidFill>
                <a:latin typeface="Calibri"/>
                <a:ea typeface="Calibri"/>
                <a:cs typeface="Calibri"/>
                <a:sym typeface="Calibri"/>
              </a:rPr>
              <a:t>"Give the agent our hardening playbook."</a:t>
            </a:r>
            <a:endParaRPr b="0" i="0" sz="1400" u="none" cap="none" strike="noStrike">
              <a:solidFill>
                <a:srgbClr val="000000"/>
              </a:solidFill>
              <a:latin typeface="Arial"/>
              <a:ea typeface="Arial"/>
              <a:cs typeface="Arial"/>
              <a:sym typeface="Arial"/>
            </a:endParaRPr>
          </a:p>
        </p:txBody>
      </p:sp>
      <p:sp>
        <p:nvSpPr>
          <p:cNvPr id="614" name="Google Shape;614;p40"/>
          <p:cNvSpPr txBox="1"/>
          <p:nvPr/>
        </p:nvSpPr>
        <p:spPr>
          <a:xfrm>
            <a:off x="8229616" y="3108960"/>
            <a:ext cx="3200400" cy="146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Large injected context about config hardening steers the agent toward edits it was told not to make.</a:t>
            </a:r>
            <a:endParaRPr b="0" i="0" sz="1400" u="none" cap="none" strike="noStrike">
              <a:solidFill>
                <a:srgbClr val="000000"/>
              </a:solidFill>
              <a:latin typeface="Arial"/>
              <a:ea typeface="Arial"/>
              <a:cs typeface="Arial"/>
              <a:sym typeface="Arial"/>
            </a:endParaRPr>
          </a:p>
        </p:txBody>
      </p:sp>
      <p:sp>
        <p:nvSpPr>
          <p:cNvPr id="615" name="Google Shape;615;p40"/>
          <p:cNvSpPr/>
          <p:nvPr/>
        </p:nvSpPr>
        <p:spPr>
          <a:xfrm>
            <a:off x="548641" y="4800600"/>
            <a:ext cx="11109900" cy="1371600"/>
          </a:xfrm>
          <a:prstGeom prst="roundRect">
            <a:avLst>
              <a:gd fmla="val 8000" name="adj"/>
            </a:avLst>
          </a:prstGeom>
          <a:solidFill>
            <a:srgbClr val="0B122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6" name="Google Shape;616;p40"/>
          <p:cNvSpPr txBox="1"/>
          <p:nvPr/>
        </p:nvSpPr>
        <p:spPr>
          <a:xfrm>
            <a:off x="822962" y="4892040"/>
            <a:ext cx="10607100" cy="41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700"/>
              <a:buFont typeface="Arial"/>
              <a:buNone/>
            </a:pPr>
            <a:r>
              <a:rPr b="1" i="0" lang="en-US" sz="1700" u="none" cap="none" strike="noStrike">
                <a:solidFill>
                  <a:srgbClr val="5EEAD4"/>
                </a:solidFill>
                <a:latin typeface="Calibri"/>
                <a:ea typeface="Calibri"/>
                <a:cs typeface="Calibri"/>
                <a:sym typeface="Calibri"/>
              </a:rPr>
              <a:t>Same outcome every time: stronger model ≠ better harness</a:t>
            </a:r>
            <a:endParaRPr b="0" i="0" sz="1400" u="none" cap="none" strike="noStrike">
              <a:solidFill>
                <a:srgbClr val="000000"/>
              </a:solidFill>
              <a:latin typeface="Arial"/>
              <a:ea typeface="Arial"/>
              <a:cs typeface="Arial"/>
              <a:sym typeface="Arial"/>
            </a:endParaRPr>
          </a:p>
        </p:txBody>
      </p:sp>
      <p:sp>
        <p:nvSpPr>
          <p:cNvPr id="617" name="Google Shape;617;p40"/>
          <p:cNvSpPr txBox="1"/>
          <p:nvPr/>
        </p:nvSpPr>
        <p:spPr>
          <a:xfrm>
            <a:off x="822962" y="5321808"/>
            <a:ext cx="10607100" cy="822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D5DEEE"/>
                </a:solidFill>
                <a:latin typeface="Calibri"/>
                <a:ea typeface="Calibri"/>
                <a:cs typeface="Calibri"/>
                <a:sym typeface="Calibri"/>
              </a:rPr>
              <a:t>The agent reasons confidently toward the wrong edit: </a:t>
            </a:r>
            <a:r>
              <a:rPr b="1" i="0" lang="en-US" sz="1400" u="none" cap="none" strike="noStrike">
                <a:solidFill>
                  <a:srgbClr val="D5DEEE"/>
                </a:solidFill>
                <a:latin typeface="Calibri"/>
                <a:ea typeface="Calibri"/>
                <a:cs typeface="Calibri"/>
                <a:sym typeface="Calibri"/>
              </a:rPr>
              <a:t>withdraw is missed</a:t>
            </a:r>
            <a:r>
              <a:rPr b="0" i="0" lang="en-US" sz="1400" u="none" cap="none" strike="noStrike">
                <a:solidFill>
                  <a:srgbClr val="D5DEEE"/>
                </a:solidFill>
                <a:latin typeface="Calibri"/>
                <a:ea typeface="Calibri"/>
                <a:cs typeface="Calibri"/>
                <a:sym typeface="Calibri"/>
              </a:rPr>
              <a:t> and </a:t>
            </a:r>
            <a:r>
              <a:rPr b="1" i="0" lang="en-US" sz="1400" u="none" cap="none" strike="noStrike">
                <a:solidFill>
                  <a:srgbClr val="D5DEEE"/>
                </a:solidFill>
                <a:latin typeface="Calibri"/>
                <a:ea typeface="Calibri"/>
                <a:cs typeface="Calibri"/>
                <a:sym typeface="Calibri"/>
              </a:rPr>
              <a:t>config constants are rewritten</a:t>
            </a:r>
            <a:r>
              <a:rPr b="0" i="0" lang="en-US" sz="1400" u="none" cap="none" strike="noStrike">
                <a:solidFill>
                  <a:srgbClr val="D5DEEE"/>
                </a:solidFill>
                <a:latin typeface="Calibri"/>
                <a:ea typeface="Calibri"/>
                <a:cs typeface="Calibri"/>
                <a:sym typeface="Calibri"/>
              </a:rPr>
              <a:t>. Without a baseline and a gate, that ships because the change *</a:t>
            </a:r>
            <a:r>
              <a:rPr b="0" i="1" lang="en-US" sz="1400" u="sng" cap="none" strike="noStrike">
                <a:solidFill>
                  <a:srgbClr val="D5DEEE"/>
                </a:solidFill>
                <a:latin typeface="Calibri"/>
                <a:ea typeface="Calibri"/>
                <a:cs typeface="Calibri"/>
                <a:sym typeface="Calibri"/>
              </a:rPr>
              <a:t>sounds</a:t>
            </a:r>
            <a:r>
              <a:rPr b="0" i="0" lang="en-US" sz="1400" u="none" cap="none" strike="noStrike">
                <a:solidFill>
                  <a:srgbClr val="D5DEEE"/>
                </a:solidFill>
                <a:latin typeface="Calibri"/>
                <a:ea typeface="Calibri"/>
                <a:cs typeface="Calibri"/>
                <a:sym typeface="Calibri"/>
              </a:rPr>
              <a:t>* impressive. The gate judges </a:t>
            </a:r>
            <a:r>
              <a:rPr b="1" i="0" lang="en-US" sz="1400" u="none" cap="none" strike="noStrike">
                <a:solidFill>
                  <a:srgbClr val="D5DEEE"/>
                </a:solidFill>
                <a:latin typeface="Calibri"/>
                <a:ea typeface="Calibri"/>
                <a:cs typeface="Calibri"/>
                <a:sym typeface="Calibri"/>
              </a:rPr>
              <a:t>outcomes</a:t>
            </a:r>
            <a:r>
              <a:rPr b="0" i="0" lang="en-US" sz="1400" u="none" cap="none" strike="noStrike">
                <a:solidFill>
                  <a:srgbClr val="D5DEEE"/>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2" name="Shape 622"/>
        <p:cNvGrpSpPr/>
        <p:nvPr/>
      </p:nvGrpSpPr>
      <p:grpSpPr>
        <a:xfrm>
          <a:off x="0" y="0"/>
          <a:ext cx="0" cy="0"/>
          <a:chOff x="0" y="0"/>
          <a:chExt cx="0" cy="0"/>
        </a:xfrm>
      </p:grpSpPr>
      <p:sp>
        <p:nvSpPr>
          <p:cNvPr id="623" name="Google Shape;623;p41"/>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Good candidate: the one-file change that should help</a:t>
            </a:r>
            <a:endParaRPr b="0" i="0" sz="1400" u="none" cap="none" strike="noStrike">
              <a:solidFill>
                <a:srgbClr val="000000"/>
              </a:solidFill>
              <a:latin typeface="Arial"/>
              <a:ea typeface="Arial"/>
              <a:cs typeface="Arial"/>
              <a:sym typeface="Arial"/>
            </a:endParaRPr>
          </a:p>
        </p:txBody>
      </p:sp>
      <p:sp>
        <p:nvSpPr>
          <p:cNvPr id="624" name="Google Shape;624;p41"/>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lang="en-US" sz="1600">
                <a:solidFill>
                  <a:srgbClr val="334155"/>
                </a:solidFill>
                <a:latin typeface="Calibri"/>
                <a:ea typeface="Calibri"/>
                <a:cs typeface="Calibri"/>
                <a:sym typeface="Calibri"/>
              </a:rPr>
              <a:t>UPDATED SKILL.MD to </a:t>
            </a:r>
            <a:r>
              <a:rPr b="0" i="0" lang="en-US" sz="1600" u="none" cap="none" strike="noStrike">
                <a:solidFill>
                  <a:srgbClr val="334155"/>
                </a:solidFill>
                <a:latin typeface="Calibri"/>
                <a:ea typeface="Calibri"/>
                <a:cs typeface="Calibri"/>
                <a:sym typeface="Calibri"/>
              </a:rPr>
              <a:t>Teach the agent to classify </a:t>
            </a:r>
            <a:r>
              <a:rPr b="0" i="0" lang="en-US" sz="1600" u="none" cap="none" strike="noStrike">
                <a:solidFill>
                  <a:srgbClr val="334155"/>
                </a:solidFill>
                <a:latin typeface="Courier New"/>
                <a:ea typeface="Courier New"/>
                <a:cs typeface="Courier New"/>
                <a:sym typeface="Courier New"/>
              </a:rPr>
              <a:t>tx.origin</a:t>
            </a:r>
            <a:r>
              <a:rPr b="0" i="0" lang="en-US" sz="1600" u="none" cap="none" strike="noStrike">
                <a:solidFill>
                  <a:srgbClr val="334155"/>
                </a:solidFill>
                <a:latin typeface="Calibri"/>
                <a:ea typeface="Calibri"/>
                <a:cs typeface="Calibri"/>
                <a:sym typeface="Calibri"/>
              </a:rPr>
              <a:t> by </a:t>
            </a:r>
            <a:r>
              <a:rPr b="1" i="0" lang="en-US" sz="1600" u="none" cap="none" strike="noStrike">
                <a:solidFill>
                  <a:srgbClr val="334155"/>
                </a:solidFill>
                <a:latin typeface="Calibri"/>
                <a:ea typeface="Calibri"/>
                <a:cs typeface="Calibri"/>
                <a:sym typeface="Calibri"/>
              </a:rPr>
              <a:t>role</a:t>
            </a:r>
            <a:r>
              <a:rPr b="0" i="0" lang="en-US" sz="1600" u="none" cap="none" strike="noStrike">
                <a:solidFill>
                  <a:srgbClr val="334155"/>
                </a:solidFill>
                <a:latin typeface="Calibri"/>
                <a:ea typeface="Calibri"/>
                <a:cs typeface="Calibri"/>
                <a:sym typeface="Calibri"/>
              </a:rPr>
              <a:t>, not by </a:t>
            </a:r>
            <a:r>
              <a:rPr b="1" i="0" lang="en-US" sz="1600" u="none" cap="none" strike="noStrike">
                <a:solidFill>
                  <a:srgbClr val="334155"/>
                </a:solidFill>
                <a:latin typeface="Calibri"/>
                <a:ea typeface="Calibri"/>
                <a:cs typeface="Calibri"/>
                <a:sym typeface="Calibri"/>
              </a:rPr>
              <a:t>presence</a:t>
            </a:r>
            <a:endParaRPr b="0" i="0" sz="1400" u="none" cap="none" strike="noStrike">
              <a:solidFill>
                <a:srgbClr val="000000"/>
              </a:solidFill>
              <a:latin typeface="Arial"/>
              <a:ea typeface="Arial"/>
              <a:cs typeface="Arial"/>
              <a:sym typeface="Arial"/>
            </a:endParaRPr>
          </a:p>
        </p:txBody>
      </p:sp>
      <p:sp>
        <p:nvSpPr>
          <p:cNvPr id="625" name="Google Shape;625;p41"/>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The PoC </a:t>
            </a:r>
            <a:r>
              <a:rPr lang="en-US" sz="1000">
                <a:solidFill>
                  <a:srgbClr val="64748B"/>
                </a:solidFill>
                <a:latin typeface="Calibri"/>
                <a:ea typeface="Calibri"/>
                <a:cs typeface="Calibri"/>
                <a:sym typeface="Calibri"/>
              </a:rPr>
              <a:t>I</a:t>
            </a:r>
            <a:r>
              <a:rPr b="0" i="0" lang="en-US" sz="1000" u="none" cap="none" strike="noStrike">
                <a:solidFill>
                  <a:srgbClr val="64748B"/>
                </a:solidFill>
                <a:latin typeface="Calibri"/>
                <a:ea typeface="Calibri"/>
                <a:cs typeface="Calibri"/>
                <a:sym typeface="Calibri"/>
              </a:rPr>
              <a:t> built</a:t>
            </a:r>
            <a:endParaRPr b="0" i="0" sz="1400" u="none" cap="none" strike="noStrike">
              <a:solidFill>
                <a:srgbClr val="000000"/>
              </a:solidFill>
              <a:latin typeface="Arial"/>
              <a:ea typeface="Arial"/>
              <a:cs typeface="Arial"/>
              <a:sym typeface="Arial"/>
            </a:endParaRPr>
          </a:p>
        </p:txBody>
      </p:sp>
      <p:sp>
        <p:nvSpPr>
          <p:cNvPr id="626" name="Google Shape;626;p41"/>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17</a:t>
            </a:r>
            <a:endParaRPr b="0" i="0" sz="1400" u="none" cap="none" strike="noStrike">
              <a:solidFill>
                <a:srgbClr val="000000"/>
              </a:solidFill>
              <a:latin typeface="Arial"/>
              <a:ea typeface="Arial"/>
              <a:cs typeface="Arial"/>
              <a:sym typeface="Arial"/>
            </a:endParaRPr>
          </a:p>
        </p:txBody>
      </p:sp>
      <p:sp>
        <p:nvSpPr>
          <p:cNvPr id="627" name="Google Shape;627;p41"/>
          <p:cNvSpPr/>
          <p:nvPr/>
        </p:nvSpPr>
        <p:spPr>
          <a:xfrm>
            <a:off x="548641" y="1645920"/>
            <a:ext cx="6035100" cy="45264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28" name="Google Shape;628;p41"/>
          <p:cNvSpPr txBox="1"/>
          <p:nvPr/>
        </p:nvSpPr>
        <p:spPr>
          <a:xfrm>
            <a:off x="731521" y="1737360"/>
            <a:ext cx="56694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harnesses/good-candidate/SKILL.md (verbatim)</a:t>
            </a:r>
            <a:endParaRPr b="0" i="0" sz="1400" u="none" cap="none" strike="noStrike">
              <a:solidFill>
                <a:srgbClr val="000000"/>
              </a:solidFill>
              <a:latin typeface="Arial"/>
              <a:ea typeface="Arial"/>
              <a:cs typeface="Arial"/>
              <a:sym typeface="Arial"/>
            </a:endParaRPr>
          </a:p>
        </p:txBody>
      </p:sp>
      <p:sp>
        <p:nvSpPr>
          <p:cNvPr id="629" name="Google Shape;629;p41"/>
          <p:cNvSpPr txBox="1"/>
          <p:nvPr/>
        </p:nvSpPr>
        <p:spPr>
          <a:xfrm>
            <a:off x="731521" y="2029968"/>
            <a:ext cx="5760600" cy="39159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94A3B8"/>
                </a:solidFill>
                <a:latin typeface="Courier New"/>
                <a:ea typeface="Courier New"/>
                <a:cs typeface="Courier New"/>
                <a:sym typeface="Courier New"/>
              </a:rPr>
              <a:t># tx.origin triage skill</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When reviewing `tx.origin`:</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highlight>
                  <a:srgbClr val="86EFAC"/>
                </a:highlight>
                <a:latin typeface="Courier New"/>
                <a:ea typeface="Courier New"/>
                <a:cs typeface="Courier New"/>
                <a:sym typeface="Courier New"/>
              </a:rPr>
              <a:t> </a:t>
            </a:r>
            <a:endParaRPr b="0" i="0" sz="1400" u="none" cap="none" strike="noStrike">
              <a:solidFill>
                <a:srgbClr val="000000"/>
              </a:solidFill>
              <a:highlight>
                <a:srgbClr val="86EFAC"/>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1" i="0" lang="en-US" sz="1200" u="none" cap="none" strike="noStrike">
                <a:solidFill>
                  <a:srgbClr val="0F172A"/>
                </a:solidFill>
                <a:highlight>
                  <a:srgbClr val="86EFAC"/>
                </a:highlight>
                <a:latin typeface="Courier New"/>
                <a:ea typeface="Courier New"/>
                <a:cs typeface="Courier New"/>
                <a:sym typeface="Courier New"/>
              </a:rPr>
              <a:t>- **Vulnerable** only when `tx.origin` gates</a:t>
            </a:r>
            <a:endParaRPr b="0" i="0" sz="1400" u="none" cap="none" strike="noStrike">
              <a:solidFill>
                <a:srgbClr val="000000"/>
              </a:solidFill>
              <a:highlight>
                <a:srgbClr val="86EFAC"/>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1" i="0" lang="en-US" sz="1200" u="none" cap="none" strike="noStrike">
                <a:solidFill>
                  <a:srgbClr val="0F172A"/>
                </a:solidFill>
                <a:highlight>
                  <a:srgbClr val="86EFAC"/>
                </a:highlight>
                <a:latin typeface="Courier New"/>
                <a:ea typeface="Courier New"/>
                <a:cs typeface="Courier New"/>
                <a:sym typeface="Courier New"/>
              </a:rPr>
              <a:t>  authorization (withdraw, transfer ownership,</a:t>
            </a:r>
            <a:endParaRPr b="0" i="0" sz="1400" u="none" cap="none" strike="noStrike">
              <a:solidFill>
                <a:srgbClr val="000000"/>
              </a:solidFill>
              <a:highlight>
                <a:srgbClr val="86EFAC"/>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1" i="0" lang="en-US" sz="1200" u="none" cap="none" strike="noStrike">
                <a:solidFill>
                  <a:srgbClr val="0F172A"/>
                </a:solidFill>
                <a:highlight>
                  <a:srgbClr val="86EFAC"/>
                </a:highlight>
                <a:latin typeface="Courier New"/>
                <a:ea typeface="Courier New"/>
                <a:cs typeface="Courier New"/>
                <a:sym typeface="Courier New"/>
              </a:rPr>
              <a:t>  spend funds).</a:t>
            </a:r>
            <a:endParaRPr b="0" i="0" sz="1400" u="none" cap="none" strike="noStrike">
              <a:solidFill>
                <a:srgbClr val="000000"/>
              </a:solidFill>
              <a:highlight>
                <a:srgbClr val="86EFAC"/>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1" i="0" lang="en-US" sz="1200" u="none" cap="none" strike="noStrike">
                <a:solidFill>
                  <a:srgbClr val="0F172A"/>
                </a:solidFill>
                <a:highlight>
                  <a:srgbClr val="86EFAC"/>
                </a:highlight>
                <a:latin typeface="Courier New"/>
                <a:ea typeface="Courier New"/>
                <a:cs typeface="Courier New"/>
                <a:sym typeface="Courier New"/>
              </a:rPr>
              <a:t>- **Not a finding** when `tx.origin` is used only</a:t>
            </a:r>
            <a:endParaRPr b="0" i="0" sz="1400" u="none" cap="none" strike="noStrike">
              <a:solidFill>
                <a:srgbClr val="000000"/>
              </a:solidFill>
              <a:highlight>
                <a:srgbClr val="86EFAC"/>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1" i="0" lang="en-US" sz="1200" u="none" cap="none" strike="noStrike">
                <a:solidFill>
                  <a:srgbClr val="0F172A"/>
                </a:solidFill>
                <a:highlight>
                  <a:srgbClr val="86EFAC"/>
                </a:highlight>
                <a:latin typeface="Courier New"/>
                <a:ea typeface="Courier New"/>
                <a:cs typeface="Courier New"/>
                <a:sym typeface="Courier New"/>
              </a:rPr>
              <a:t>  for logging, events, or analytics.</a:t>
            </a:r>
            <a:endParaRPr b="0" i="0" sz="1400" u="none" cap="none" strike="noStrike">
              <a:solidFill>
                <a:srgbClr val="000000"/>
              </a:solidFill>
              <a:highlight>
                <a:srgbClr val="86EFAC"/>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highlight>
                  <a:srgbClr val="86EFAC"/>
                </a:highlight>
                <a:latin typeface="Courier New"/>
                <a:ea typeface="Courier New"/>
                <a:cs typeface="Courier New"/>
                <a:sym typeface="Courier New"/>
              </a:rPr>
              <a:t> </a:t>
            </a:r>
            <a:endParaRPr b="0" i="0" sz="1400" u="none" cap="none" strike="noStrike">
              <a:solidFill>
                <a:srgbClr val="000000"/>
              </a:solidFill>
              <a:highlight>
                <a:srgbClr val="86EFAC"/>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When reviewing `msg.sender`:</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1" i="0" lang="en-US" sz="1200" u="none" cap="none" strike="noStrike">
                <a:solidFill>
                  <a:srgbClr val="0F172A"/>
                </a:solidFill>
                <a:highlight>
                  <a:srgbClr val="86EFAC"/>
                </a:highlight>
                <a:latin typeface="Courier New"/>
                <a:ea typeface="Courier New"/>
                <a:cs typeface="Courier New"/>
                <a:sym typeface="Courier New"/>
              </a:rPr>
              <a:t>- Prefer `msg.sender` for access control; flag</a:t>
            </a:r>
            <a:endParaRPr b="0" i="0" sz="1400" u="none" cap="none" strike="noStrike">
              <a:solidFill>
                <a:srgbClr val="000000"/>
              </a:solidFill>
              <a:highlight>
                <a:srgbClr val="86EFAC"/>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1" i="0" lang="en-US" sz="1200" u="none" cap="none" strike="noStrike">
                <a:solidFill>
                  <a:srgbClr val="0F172A"/>
                </a:solidFill>
                <a:highlight>
                  <a:srgbClr val="86EFAC"/>
                </a:highlight>
                <a:latin typeface="Courier New"/>
                <a:ea typeface="Courier New"/>
                <a:cs typeface="Courier New"/>
                <a:sym typeface="Courier New"/>
              </a:rPr>
              <a:t>  `tx.origin` used where `msg.sender` is correct.</a:t>
            </a:r>
            <a:endParaRPr b="0" i="0" sz="1400" u="none" cap="none" strike="noStrike">
              <a:solidFill>
                <a:srgbClr val="000000"/>
              </a:solidFill>
              <a:highlight>
                <a:srgbClr val="86EFAC"/>
              </a:highlight>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Always write `findings.json` with one entry per</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function you classify.</a:t>
            </a:r>
            <a:endParaRPr b="0" i="0" sz="1400" u="none" cap="none" strike="noStrike">
              <a:solidFill>
                <a:srgbClr val="000000"/>
              </a:solidFill>
              <a:latin typeface="Arial"/>
              <a:ea typeface="Arial"/>
              <a:cs typeface="Arial"/>
              <a:sym typeface="Arial"/>
            </a:endParaRPr>
          </a:p>
        </p:txBody>
      </p:sp>
      <p:sp>
        <p:nvSpPr>
          <p:cNvPr id="630" name="Google Shape;630;p41"/>
          <p:cNvSpPr/>
          <p:nvPr/>
        </p:nvSpPr>
        <p:spPr>
          <a:xfrm>
            <a:off x="6812294" y="1645920"/>
            <a:ext cx="4846200" cy="9600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1" name="Google Shape;631;p41"/>
          <p:cNvSpPr txBox="1"/>
          <p:nvPr/>
        </p:nvSpPr>
        <p:spPr>
          <a:xfrm>
            <a:off x="6995174" y="1719072"/>
            <a:ext cx="4480500" cy="34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Baseline guidance</a:t>
            </a:r>
            <a:endParaRPr b="0" i="0" sz="1400" u="none" cap="none" strike="noStrike">
              <a:solidFill>
                <a:srgbClr val="000000"/>
              </a:solidFill>
              <a:latin typeface="Arial"/>
              <a:ea typeface="Arial"/>
              <a:cs typeface="Arial"/>
              <a:sym typeface="Arial"/>
            </a:endParaRPr>
          </a:p>
        </p:txBody>
      </p:sp>
      <p:sp>
        <p:nvSpPr>
          <p:cNvPr id="632" name="Google Shape;632;p41"/>
          <p:cNvSpPr txBox="1"/>
          <p:nvPr/>
        </p:nvSpPr>
        <p:spPr>
          <a:xfrm>
            <a:off x="6995174" y="2057400"/>
            <a:ext cx="4480500" cy="548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"Flag </a:t>
            </a:r>
            <a:r>
              <a:rPr b="1" i="0" lang="en-US" sz="1300" u="none" cap="none" strike="noStrike">
                <a:solidFill>
                  <a:srgbClr val="334155"/>
                </a:solidFill>
                <a:latin typeface="Calibri"/>
                <a:ea typeface="Calibri"/>
                <a:cs typeface="Calibri"/>
                <a:sym typeface="Calibri"/>
              </a:rPr>
              <a:t>any</a:t>
            </a:r>
            <a:r>
              <a:rPr b="0" i="0" lang="en-US" sz="1300" u="none" cap="none" strike="noStrike">
                <a:solidFill>
                  <a:srgbClr val="334155"/>
                </a:solidFill>
                <a:latin typeface="Calibri"/>
                <a:ea typeface="Calibri"/>
                <a:cs typeface="Calibri"/>
                <a:sym typeface="Calibri"/>
              </a:rPr>
              <a:t> tx.origin or msg.sender"</a:t>
            </a:r>
            <a:endParaRPr b="0" i="0" sz="1400" u="none" cap="none" strike="noStrike">
              <a:solidFill>
                <a:srgbClr val="000000"/>
              </a:solidFill>
              <a:latin typeface="Arial"/>
              <a:ea typeface="Arial"/>
              <a:cs typeface="Arial"/>
              <a:sym typeface="Arial"/>
            </a:endParaRPr>
          </a:p>
        </p:txBody>
      </p:sp>
      <p:sp>
        <p:nvSpPr>
          <p:cNvPr id="633" name="Google Shape;633;p41"/>
          <p:cNvSpPr/>
          <p:nvPr/>
        </p:nvSpPr>
        <p:spPr>
          <a:xfrm>
            <a:off x="9098299" y="2615184"/>
            <a:ext cx="274200" cy="183000"/>
          </a:xfrm>
          <a:prstGeom prst="down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4" name="Google Shape;634;p41"/>
          <p:cNvSpPr/>
          <p:nvPr/>
        </p:nvSpPr>
        <p:spPr>
          <a:xfrm>
            <a:off x="6812294" y="2816352"/>
            <a:ext cx="4846200" cy="960000"/>
          </a:xfrm>
          <a:prstGeom prst="roundRect">
            <a:avLst>
              <a:gd fmla="val 8000" name="adj"/>
            </a:avLst>
          </a:prstGeom>
          <a:solidFill>
            <a:srgbClr val="D1FAE5"/>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5" name="Google Shape;635;p41"/>
          <p:cNvSpPr txBox="1"/>
          <p:nvPr/>
        </p:nvSpPr>
        <p:spPr>
          <a:xfrm>
            <a:off x="6995174" y="2889504"/>
            <a:ext cx="4480500" cy="34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47857"/>
                </a:solidFill>
                <a:latin typeface="Calibri"/>
                <a:ea typeface="Calibri"/>
                <a:cs typeface="Calibri"/>
                <a:sym typeface="Calibri"/>
              </a:rPr>
              <a:t>Candidate guidance</a:t>
            </a:r>
            <a:endParaRPr b="0" i="0" sz="1400" u="none" cap="none" strike="noStrike">
              <a:solidFill>
                <a:srgbClr val="000000"/>
              </a:solidFill>
              <a:latin typeface="Arial"/>
              <a:ea typeface="Arial"/>
              <a:cs typeface="Arial"/>
              <a:sym typeface="Arial"/>
            </a:endParaRPr>
          </a:p>
        </p:txBody>
      </p:sp>
      <p:sp>
        <p:nvSpPr>
          <p:cNvPr id="636" name="Google Shape;636;p41"/>
          <p:cNvSpPr txBox="1"/>
          <p:nvPr/>
        </p:nvSpPr>
        <p:spPr>
          <a:xfrm>
            <a:off x="6995174" y="3227832"/>
            <a:ext cx="4480500" cy="548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"Vulnerable </a:t>
            </a:r>
            <a:r>
              <a:rPr b="1" i="0" lang="en-US" sz="1300" u="none" cap="none" strike="noStrike">
                <a:solidFill>
                  <a:srgbClr val="334155"/>
                </a:solidFill>
                <a:latin typeface="Calibri"/>
                <a:ea typeface="Calibri"/>
                <a:cs typeface="Calibri"/>
                <a:sym typeface="Calibri"/>
              </a:rPr>
              <a:t>only when it gates authorization</a:t>
            </a:r>
            <a:r>
              <a:rPr b="0" i="0" lang="en-US" sz="1300" u="none" cap="none" strike="noStrike">
                <a:solidFill>
                  <a:srgbClr val="33415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637" name="Google Shape;637;p41"/>
          <p:cNvSpPr/>
          <p:nvPr/>
        </p:nvSpPr>
        <p:spPr>
          <a:xfrm>
            <a:off x="9098299" y="3785616"/>
            <a:ext cx="274200" cy="183000"/>
          </a:xfrm>
          <a:prstGeom prst="down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8" name="Google Shape;638;p41"/>
          <p:cNvSpPr/>
          <p:nvPr/>
        </p:nvSpPr>
        <p:spPr>
          <a:xfrm>
            <a:off x="6812294" y="3986784"/>
            <a:ext cx="4846200" cy="960000"/>
          </a:xfrm>
          <a:prstGeom prst="roundRect">
            <a:avLst>
              <a:gd fmla="val 8000" name="adj"/>
            </a:avLst>
          </a:prstGeom>
          <a:solidFill>
            <a:srgbClr val="D1FAE5"/>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9" name="Google Shape;639;p41"/>
          <p:cNvSpPr txBox="1"/>
          <p:nvPr/>
        </p:nvSpPr>
        <p:spPr>
          <a:xfrm>
            <a:off x="6995174" y="4059936"/>
            <a:ext cx="4480500" cy="34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47857"/>
                </a:solidFill>
                <a:latin typeface="Calibri"/>
                <a:ea typeface="Calibri"/>
                <a:cs typeface="Calibri"/>
                <a:sym typeface="Calibri"/>
              </a:rPr>
              <a:t>Behavioural change</a:t>
            </a:r>
            <a:endParaRPr b="0" i="0" sz="1400" u="none" cap="none" strike="noStrike">
              <a:solidFill>
                <a:srgbClr val="000000"/>
              </a:solidFill>
              <a:latin typeface="Arial"/>
              <a:ea typeface="Arial"/>
              <a:cs typeface="Arial"/>
              <a:sym typeface="Arial"/>
            </a:endParaRPr>
          </a:p>
        </p:txBody>
      </p:sp>
      <p:sp>
        <p:nvSpPr>
          <p:cNvPr id="640" name="Google Shape;640;p41"/>
          <p:cNvSpPr txBox="1"/>
          <p:nvPr/>
        </p:nvSpPr>
        <p:spPr>
          <a:xfrm>
            <a:off x="6995174" y="4398264"/>
            <a:ext cx="4480500" cy="548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lang="en-US" sz="1300">
                <a:solidFill>
                  <a:srgbClr val="334155"/>
                </a:solidFill>
                <a:latin typeface="Calibri"/>
                <a:ea typeface="Calibri"/>
                <a:cs typeface="Calibri"/>
                <a:sym typeface="Calibri"/>
              </a:rPr>
              <a:t>· </a:t>
            </a:r>
            <a:r>
              <a:rPr b="0" i="1" lang="en-US" sz="1300" u="none" cap="none" strike="noStrike">
                <a:solidFill>
                  <a:srgbClr val="334155"/>
                </a:solidFill>
                <a:latin typeface="Calibri"/>
                <a:ea typeface="Calibri"/>
                <a:cs typeface="Calibri"/>
                <a:sym typeface="Calibri"/>
              </a:rPr>
              <a:t>withdraw</a:t>
            </a:r>
            <a:r>
              <a:rPr b="0" i="0" lang="en-US" sz="1300" u="none" cap="none" strike="noStrike">
                <a:solidFill>
                  <a:srgbClr val="334155"/>
                </a:solidFill>
                <a:latin typeface="Calibri"/>
                <a:ea typeface="Calibri"/>
                <a:cs typeface="Calibri"/>
                <a:sym typeface="Calibri"/>
              </a:rPr>
              <a:t> stays </a:t>
            </a:r>
            <a:r>
              <a:rPr b="1" i="1" lang="en-US" sz="1300" u="none" cap="none" strike="noStrike">
                <a:solidFill>
                  <a:srgbClr val="334155"/>
                </a:solidFill>
                <a:latin typeface="Calibri"/>
                <a:ea typeface="Calibri"/>
                <a:cs typeface="Calibri"/>
                <a:sym typeface="Calibri"/>
              </a:rPr>
              <a:t>flagged</a:t>
            </a:r>
            <a:r>
              <a:rPr b="0" i="0" lang="en-US" sz="1300" u="none" cap="none" strike="noStrike">
                <a:solidFill>
                  <a:srgbClr val="334155"/>
                </a:solidFill>
                <a:latin typeface="Calibri"/>
                <a:ea typeface="Calibri"/>
                <a:cs typeface="Calibri"/>
                <a:sym typeface="Calibri"/>
              </a:rPr>
              <a:t> </a:t>
            </a:r>
            <a:endParaRPr b="0" i="0" sz="1300" u="none" cap="none" strike="noStrike">
              <a:solidFill>
                <a:srgbClr val="334155"/>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 </a:t>
            </a:r>
            <a:r>
              <a:rPr i="1" lang="en-US" sz="1300" u="none" cap="none" strike="noStrike">
                <a:solidFill>
                  <a:srgbClr val="334155"/>
                </a:solidFill>
                <a:latin typeface="Calibri"/>
                <a:ea typeface="Calibri"/>
                <a:cs typeface="Calibri"/>
                <a:sym typeface="Calibri"/>
              </a:rPr>
              <a:t>logTransfer</a:t>
            </a:r>
            <a:r>
              <a:rPr b="1" i="0" lang="en-US" sz="1300" u="none" cap="none" strike="noStrike">
                <a:solidFill>
                  <a:srgbClr val="334155"/>
                </a:solidFill>
                <a:latin typeface="Calibri"/>
                <a:ea typeface="Calibri"/>
                <a:cs typeface="Calibri"/>
                <a:sym typeface="Calibri"/>
              </a:rPr>
              <a:t> no longer flagged</a:t>
            </a:r>
            <a:endParaRPr b="0" i="0" sz="1400" u="none" cap="none" strike="noStrike">
              <a:solidFill>
                <a:srgbClr val="000000"/>
              </a:solidFill>
              <a:latin typeface="Arial"/>
              <a:ea typeface="Arial"/>
              <a:cs typeface="Arial"/>
              <a:sym typeface="Arial"/>
            </a:endParaRPr>
          </a:p>
        </p:txBody>
      </p:sp>
      <p:sp>
        <p:nvSpPr>
          <p:cNvPr id="641" name="Google Shape;641;p41"/>
          <p:cNvSpPr/>
          <p:nvPr/>
        </p:nvSpPr>
        <p:spPr>
          <a:xfrm>
            <a:off x="9098299" y="4956048"/>
            <a:ext cx="274200" cy="183000"/>
          </a:xfrm>
          <a:prstGeom prst="down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2" name="Google Shape;642;p41"/>
          <p:cNvSpPr/>
          <p:nvPr/>
        </p:nvSpPr>
        <p:spPr>
          <a:xfrm>
            <a:off x="6812294" y="5157216"/>
            <a:ext cx="4846200" cy="960000"/>
          </a:xfrm>
          <a:prstGeom prst="roundRect">
            <a:avLst>
              <a:gd fmla="val 8000" name="adj"/>
            </a:avLst>
          </a:prstGeom>
          <a:solidFill>
            <a:srgbClr val="CCFBF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3" name="Google Shape;643;p41"/>
          <p:cNvSpPr txBox="1"/>
          <p:nvPr/>
        </p:nvSpPr>
        <p:spPr>
          <a:xfrm>
            <a:off x="6995174" y="5230368"/>
            <a:ext cx="4480500" cy="34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766E"/>
                </a:solidFill>
                <a:latin typeface="Calibri"/>
                <a:ea typeface="Calibri"/>
                <a:cs typeface="Calibri"/>
                <a:sym typeface="Calibri"/>
              </a:rPr>
              <a:t>Expected effect</a:t>
            </a:r>
            <a:endParaRPr b="0" i="0" sz="1400" u="none" cap="none" strike="noStrike">
              <a:solidFill>
                <a:srgbClr val="000000"/>
              </a:solidFill>
              <a:latin typeface="Arial"/>
              <a:ea typeface="Arial"/>
              <a:cs typeface="Arial"/>
              <a:sym typeface="Arial"/>
            </a:endParaRPr>
          </a:p>
        </p:txBody>
      </p:sp>
      <p:sp>
        <p:nvSpPr>
          <p:cNvPr id="644" name="Google Shape;644;p41"/>
          <p:cNvSpPr txBox="1"/>
          <p:nvPr/>
        </p:nvSpPr>
        <p:spPr>
          <a:xfrm>
            <a:off x="6995174" y="5568696"/>
            <a:ext cx="4480500" cy="548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auth-vs-log </a:t>
            </a:r>
            <a:r>
              <a:rPr b="1" i="0" lang="en-US" sz="1300" u="none" cap="none" strike="noStrike">
                <a:solidFill>
                  <a:srgbClr val="334155"/>
                </a:solidFill>
                <a:latin typeface="Calibri"/>
                <a:ea typeface="Calibri"/>
                <a:cs typeface="Calibri"/>
                <a:sym typeface="Calibri"/>
              </a:rPr>
              <a:t>FAIL → PASS</a:t>
            </a:r>
            <a:r>
              <a:rPr b="0" i="0" lang="en-US" sz="1300" u="none" cap="none" strike="noStrike">
                <a:solidFill>
                  <a:srgbClr val="334155"/>
                </a:solidFill>
                <a:latin typeface="Calibri"/>
                <a:ea typeface="Calibri"/>
                <a:cs typeface="Calibri"/>
                <a:sym typeface="Calibri"/>
              </a:rPr>
              <a:t> · keep-suite unchanged </a:t>
            </a:r>
            <a:endParaRPr b="0" i="0" sz="1300" u="none" cap="none" strike="noStrike">
              <a:solidFill>
                <a:srgbClr val="334155"/>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 generalises to caller-check</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649" name="Shape 649"/>
        <p:cNvGrpSpPr/>
        <p:nvPr/>
      </p:nvGrpSpPr>
      <p:grpSpPr>
        <a:xfrm>
          <a:off x="0" y="0"/>
          <a:ext cx="0" cy="0"/>
          <a:chOff x="0" y="0"/>
          <a:chExt cx="0" cy="0"/>
        </a:xfrm>
      </p:grpSpPr>
      <p:sp>
        <p:nvSpPr>
          <p:cNvPr id="650" name="Google Shape;650;p42"/>
          <p:cNvSpPr/>
          <p:nvPr/>
        </p:nvSpPr>
        <p:spPr>
          <a:xfrm>
            <a:off x="731522" y="2331720"/>
            <a:ext cx="1005900" cy="10059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651" name="Google Shape;651;p42"/>
          <p:cNvSpPr txBox="1"/>
          <p:nvPr/>
        </p:nvSpPr>
        <p:spPr>
          <a:xfrm>
            <a:off x="2011684" y="2240280"/>
            <a:ext cx="9144000" cy="7314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4000"/>
              <a:buFont typeface="Arial"/>
              <a:buNone/>
            </a:pPr>
            <a:r>
              <a:rPr b="1" i="0" lang="en-US" sz="4000" u="none" cap="none" strike="noStrike">
                <a:solidFill>
                  <a:srgbClr val="FFFFFF"/>
                </a:solidFill>
                <a:latin typeface="Calibri"/>
                <a:ea typeface="Calibri"/>
                <a:cs typeface="Calibri"/>
                <a:sym typeface="Calibri"/>
              </a:rPr>
              <a:t>How the tool runs</a:t>
            </a:r>
            <a:endParaRPr b="0" i="0" sz="1400" u="none" cap="none" strike="noStrike">
              <a:solidFill>
                <a:srgbClr val="000000"/>
              </a:solidFill>
              <a:latin typeface="Arial"/>
              <a:ea typeface="Arial"/>
              <a:cs typeface="Arial"/>
              <a:sym typeface="Arial"/>
            </a:endParaRPr>
          </a:p>
        </p:txBody>
      </p:sp>
      <p:sp>
        <p:nvSpPr>
          <p:cNvPr id="652" name="Google Shape;652;p42"/>
          <p:cNvSpPr txBox="1"/>
          <p:nvPr/>
        </p:nvSpPr>
        <p:spPr>
          <a:xfrm>
            <a:off x="2011684" y="3017520"/>
            <a:ext cx="9144000" cy="109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800"/>
              <a:buFont typeface="Arial"/>
              <a:buNone/>
            </a:pPr>
            <a:r>
              <a:rPr b="0" i="0" lang="en-US" sz="1800" u="none" cap="none" strike="noStrike">
                <a:solidFill>
                  <a:srgbClr val="B6C3DA"/>
                </a:solidFill>
                <a:latin typeface="Calibri"/>
                <a:ea typeface="Calibri"/>
                <a:cs typeface="Calibri"/>
                <a:sym typeface="Calibri"/>
              </a:rPr>
              <a:t>Execution flow, repetitions, OpenRouter models, dry run, the LLM judge, and eval.config.yaml</a:t>
            </a:r>
            <a:endParaRPr b="0" i="0" sz="1400" u="none" cap="none" strike="noStrike">
              <a:solidFill>
                <a:srgbClr val="000000"/>
              </a:solidFill>
              <a:latin typeface="Arial"/>
              <a:ea typeface="Arial"/>
              <a:cs typeface="Arial"/>
              <a:sym typeface="Arial"/>
            </a:endParaRPr>
          </a:p>
        </p:txBody>
      </p:sp>
      <p:sp>
        <p:nvSpPr>
          <p:cNvPr id="653" name="Google Shape;653;p42"/>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How the tool runs</a:t>
            </a:r>
            <a:endParaRPr b="0" i="0" sz="1400" u="none" cap="none" strike="noStrike">
              <a:solidFill>
                <a:srgbClr val="000000"/>
              </a:solidFill>
              <a:latin typeface="Arial"/>
              <a:ea typeface="Arial"/>
              <a:cs typeface="Arial"/>
              <a:sym typeface="Arial"/>
            </a:endParaRPr>
          </a:p>
        </p:txBody>
      </p:sp>
      <p:sp>
        <p:nvSpPr>
          <p:cNvPr id="654" name="Google Shape;654;p42"/>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18</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9" name="Shape 659"/>
        <p:cNvGrpSpPr/>
        <p:nvPr/>
      </p:nvGrpSpPr>
      <p:grpSpPr>
        <a:xfrm>
          <a:off x="0" y="0"/>
          <a:ext cx="0" cy="0"/>
          <a:chOff x="0" y="0"/>
          <a:chExt cx="0" cy="0"/>
        </a:xfrm>
      </p:grpSpPr>
      <p:sp>
        <p:nvSpPr>
          <p:cNvPr id="660" name="Google Shape;660;p43"/>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Execution flow: python -m eval → output/summary.json</a:t>
            </a:r>
            <a:endParaRPr b="0" i="0" sz="1400" u="none" cap="none" strike="noStrike">
              <a:solidFill>
                <a:srgbClr val="000000"/>
              </a:solidFill>
              <a:latin typeface="Arial"/>
              <a:ea typeface="Arial"/>
              <a:cs typeface="Arial"/>
              <a:sym typeface="Arial"/>
            </a:endParaRPr>
          </a:p>
        </p:txBody>
      </p:sp>
      <p:sp>
        <p:nvSpPr>
          <p:cNvPr id="661" name="Google Shape;661;p43"/>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One orchestrator, </a:t>
            </a:r>
            <a:r>
              <a:rPr b="0" i="0" lang="en-US" sz="1600" u="none" cap="none" strike="noStrike">
                <a:solidFill>
                  <a:srgbClr val="334155"/>
                </a:solidFill>
                <a:latin typeface="Courier New"/>
                <a:ea typeface="Courier New"/>
                <a:cs typeface="Courier New"/>
                <a:sym typeface="Courier New"/>
              </a:rPr>
              <a:t>eval/run.py</a:t>
            </a:r>
            <a:r>
              <a:rPr b="0" i="0" lang="en-US" sz="1600" u="none" cap="none" strike="noStrike">
                <a:solidFill>
                  <a:srgbClr val="334155"/>
                </a:solidFill>
                <a:latin typeface="Calibri"/>
                <a:ea typeface="Calibri"/>
                <a:cs typeface="Calibri"/>
                <a:sym typeface="Calibri"/>
              </a:rPr>
              <a:t>, connects every module</a:t>
            </a:r>
            <a:endParaRPr b="0" i="0" sz="1400" u="none" cap="none" strike="noStrike">
              <a:solidFill>
                <a:srgbClr val="000000"/>
              </a:solidFill>
              <a:latin typeface="Arial"/>
              <a:ea typeface="Arial"/>
              <a:cs typeface="Arial"/>
              <a:sym typeface="Arial"/>
            </a:endParaRPr>
          </a:p>
        </p:txBody>
      </p:sp>
      <p:sp>
        <p:nvSpPr>
          <p:cNvPr id="662" name="Google Shape;662;p43"/>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How the tool runs</a:t>
            </a:r>
            <a:endParaRPr b="0" i="0" sz="1400" u="none" cap="none" strike="noStrike">
              <a:solidFill>
                <a:srgbClr val="000000"/>
              </a:solidFill>
              <a:latin typeface="Arial"/>
              <a:ea typeface="Arial"/>
              <a:cs typeface="Arial"/>
              <a:sym typeface="Arial"/>
            </a:endParaRPr>
          </a:p>
        </p:txBody>
      </p:sp>
      <p:sp>
        <p:nvSpPr>
          <p:cNvPr id="663" name="Google Shape;663;p43"/>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19</a:t>
            </a:r>
            <a:endParaRPr b="0" i="0" sz="1400" u="none" cap="none" strike="noStrike">
              <a:solidFill>
                <a:srgbClr val="000000"/>
              </a:solidFill>
              <a:latin typeface="Arial"/>
              <a:ea typeface="Arial"/>
              <a:cs typeface="Arial"/>
              <a:sym typeface="Arial"/>
            </a:endParaRPr>
          </a:p>
        </p:txBody>
      </p:sp>
      <p:sp>
        <p:nvSpPr>
          <p:cNvPr id="664" name="Google Shape;664;p43"/>
          <p:cNvSpPr/>
          <p:nvPr/>
        </p:nvSpPr>
        <p:spPr>
          <a:xfrm>
            <a:off x="548641" y="1691640"/>
            <a:ext cx="2560200" cy="18744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65" name="Google Shape;665;p43"/>
          <p:cNvSpPr/>
          <p:nvPr/>
        </p:nvSpPr>
        <p:spPr>
          <a:xfrm>
            <a:off x="713233" y="1856232"/>
            <a:ext cx="438900" cy="4389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666" name="Google Shape;666;p43"/>
          <p:cNvSpPr txBox="1"/>
          <p:nvPr/>
        </p:nvSpPr>
        <p:spPr>
          <a:xfrm>
            <a:off x="1280163" y="1874520"/>
            <a:ext cx="1737300" cy="384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F172A"/>
                </a:solidFill>
                <a:latin typeface="Calibri"/>
                <a:ea typeface="Calibri"/>
                <a:cs typeface="Calibri"/>
                <a:sym typeface="Calibri"/>
              </a:rPr>
              <a:t>Entry</a:t>
            </a:r>
            <a:endParaRPr b="0" i="0" sz="1400" u="none" cap="none" strike="noStrike">
              <a:solidFill>
                <a:srgbClr val="000000"/>
              </a:solidFill>
              <a:latin typeface="Arial"/>
              <a:ea typeface="Arial"/>
              <a:cs typeface="Arial"/>
              <a:sym typeface="Arial"/>
            </a:endParaRPr>
          </a:p>
        </p:txBody>
      </p:sp>
      <p:sp>
        <p:nvSpPr>
          <p:cNvPr id="667" name="Google Shape;667;p43"/>
          <p:cNvSpPr txBox="1"/>
          <p:nvPr/>
        </p:nvSpPr>
        <p:spPr>
          <a:xfrm>
            <a:off x="713233" y="2404872"/>
            <a:ext cx="2286000" cy="502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0F766E"/>
                </a:solidFill>
                <a:latin typeface="Courier New"/>
                <a:ea typeface="Courier New"/>
                <a:cs typeface="Courier New"/>
                <a:sym typeface="Courier New"/>
              </a:rPr>
              <a:t>run.main()</a:t>
            </a:r>
            <a:endParaRPr b="0" i="0" sz="1400" u="none" cap="none" strike="noStrike">
              <a:solidFill>
                <a:srgbClr val="000000"/>
              </a:solidFill>
              <a:latin typeface="Arial"/>
              <a:ea typeface="Arial"/>
              <a:cs typeface="Arial"/>
              <a:sym typeface="Arial"/>
            </a:endParaRPr>
          </a:p>
        </p:txBody>
      </p:sp>
      <p:sp>
        <p:nvSpPr>
          <p:cNvPr id="668" name="Google Shape;668;p43"/>
          <p:cNvSpPr txBox="1"/>
          <p:nvPr/>
        </p:nvSpPr>
        <p:spPr>
          <a:xfrm>
            <a:off x="713233" y="2834640"/>
            <a:ext cx="2286000" cy="731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argparse · API-key check unless --dry-run</a:t>
            </a:r>
            <a:endParaRPr b="0" i="0" sz="1400" u="none" cap="none" strike="noStrike">
              <a:solidFill>
                <a:srgbClr val="000000"/>
              </a:solidFill>
              <a:latin typeface="Arial"/>
              <a:ea typeface="Arial"/>
              <a:cs typeface="Arial"/>
              <a:sym typeface="Arial"/>
            </a:endParaRPr>
          </a:p>
        </p:txBody>
      </p:sp>
      <p:sp>
        <p:nvSpPr>
          <p:cNvPr id="669" name="Google Shape;669;p43"/>
          <p:cNvSpPr/>
          <p:nvPr/>
        </p:nvSpPr>
        <p:spPr>
          <a:xfrm>
            <a:off x="3136398" y="2514600"/>
            <a:ext cx="219600" cy="2013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70" name="Google Shape;670;p43"/>
          <p:cNvSpPr/>
          <p:nvPr/>
        </p:nvSpPr>
        <p:spPr>
          <a:xfrm>
            <a:off x="3383287" y="1691640"/>
            <a:ext cx="2560200" cy="18744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71" name="Google Shape;671;p43"/>
          <p:cNvSpPr/>
          <p:nvPr/>
        </p:nvSpPr>
        <p:spPr>
          <a:xfrm>
            <a:off x="3547879" y="1856232"/>
            <a:ext cx="438900" cy="4389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672" name="Google Shape;672;p43"/>
          <p:cNvSpPr txBox="1"/>
          <p:nvPr/>
        </p:nvSpPr>
        <p:spPr>
          <a:xfrm>
            <a:off x="4114808" y="1874520"/>
            <a:ext cx="1737300" cy="384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F172A"/>
                </a:solidFill>
                <a:latin typeface="Calibri"/>
                <a:ea typeface="Calibri"/>
                <a:cs typeface="Calibri"/>
                <a:sym typeface="Calibri"/>
              </a:rPr>
              <a:t>Scenarios</a:t>
            </a:r>
            <a:endParaRPr b="0" i="0" sz="1400" u="none" cap="none" strike="noStrike">
              <a:solidFill>
                <a:srgbClr val="000000"/>
              </a:solidFill>
              <a:latin typeface="Arial"/>
              <a:ea typeface="Arial"/>
              <a:cs typeface="Arial"/>
              <a:sym typeface="Arial"/>
            </a:endParaRPr>
          </a:p>
        </p:txBody>
      </p:sp>
      <p:sp>
        <p:nvSpPr>
          <p:cNvPr id="673" name="Google Shape;673;p43"/>
          <p:cNvSpPr txBox="1"/>
          <p:nvPr/>
        </p:nvSpPr>
        <p:spPr>
          <a:xfrm>
            <a:off x="3547879" y="2404872"/>
            <a:ext cx="2286000" cy="502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0F766E"/>
                </a:solidFill>
                <a:latin typeface="Courier New"/>
                <a:ea typeface="Courier New"/>
                <a:cs typeface="Courier New"/>
                <a:sym typeface="Courier New"/>
              </a:rPr>
              <a:t>resolve_scenarios()</a:t>
            </a:r>
            <a:endParaRPr b="0" i="0" sz="1400" u="none" cap="none" strike="noStrike">
              <a:solidFill>
                <a:srgbClr val="000000"/>
              </a:solidFill>
              <a:latin typeface="Arial"/>
              <a:ea typeface="Arial"/>
              <a:cs typeface="Arial"/>
              <a:sym typeface="Arial"/>
            </a:endParaRPr>
          </a:p>
        </p:txBody>
      </p:sp>
      <p:sp>
        <p:nvSpPr>
          <p:cNvPr id="674" name="Google Shape;674;p43"/>
          <p:cNvSpPr txBox="1"/>
          <p:nvPr/>
        </p:nvSpPr>
        <p:spPr>
          <a:xfrm>
            <a:off x="3547879" y="2834640"/>
            <a:ext cx="2286000" cy="731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config + CLI → [good, bad]</a:t>
            </a:r>
            <a:endParaRPr b="0" i="0" sz="1400" u="none" cap="none" strike="noStrike">
              <a:solidFill>
                <a:srgbClr val="000000"/>
              </a:solidFill>
              <a:latin typeface="Arial"/>
              <a:ea typeface="Arial"/>
              <a:cs typeface="Arial"/>
              <a:sym typeface="Arial"/>
            </a:endParaRPr>
          </a:p>
        </p:txBody>
      </p:sp>
      <p:sp>
        <p:nvSpPr>
          <p:cNvPr id="675" name="Google Shape;675;p43"/>
          <p:cNvSpPr/>
          <p:nvPr/>
        </p:nvSpPr>
        <p:spPr>
          <a:xfrm>
            <a:off x="5971044" y="2514600"/>
            <a:ext cx="219600" cy="2013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76" name="Google Shape;676;p43"/>
          <p:cNvSpPr/>
          <p:nvPr/>
        </p:nvSpPr>
        <p:spPr>
          <a:xfrm>
            <a:off x="6217933" y="1691640"/>
            <a:ext cx="2560200" cy="18744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77" name="Google Shape;677;p43"/>
          <p:cNvSpPr/>
          <p:nvPr/>
        </p:nvSpPr>
        <p:spPr>
          <a:xfrm>
            <a:off x="6382525" y="1856232"/>
            <a:ext cx="438900" cy="4389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678" name="Google Shape;678;p43"/>
          <p:cNvSpPr txBox="1"/>
          <p:nvPr/>
        </p:nvSpPr>
        <p:spPr>
          <a:xfrm>
            <a:off x="6949454" y="1874520"/>
            <a:ext cx="1737300" cy="384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F172A"/>
                </a:solidFill>
                <a:latin typeface="Calibri"/>
                <a:ea typeface="Calibri"/>
                <a:cs typeface="Calibri"/>
                <a:sym typeface="Calibri"/>
              </a:rPr>
              <a:t>Scenario setup</a:t>
            </a:r>
            <a:endParaRPr b="0" i="0" sz="1400" u="none" cap="none" strike="noStrike">
              <a:solidFill>
                <a:srgbClr val="000000"/>
              </a:solidFill>
              <a:latin typeface="Arial"/>
              <a:ea typeface="Arial"/>
              <a:cs typeface="Arial"/>
              <a:sym typeface="Arial"/>
            </a:endParaRPr>
          </a:p>
        </p:txBody>
      </p:sp>
      <p:sp>
        <p:nvSpPr>
          <p:cNvPr id="679" name="Google Shape;679;p43"/>
          <p:cNvSpPr txBox="1"/>
          <p:nvPr/>
        </p:nvSpPr>
        <p:spPr>
          <a:xfrm>
            <a:off x="6382525" y="2404872"/>
            <a:ext cx="2286000" cy="502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0F766E"/>
                </a:solidFill>
                <a:latin typeface="Courier New"/>
                <a:ea typeface="Courier New"/>
                <a:cs typeface="Courier New"/>
                <a:sym typeface="Courier New"/>
              </a:rPr>
              <a:t>run_scenario_fixed()</a:t>
            </a:r>
            <a:endParaRPr b="0" i="0" sz="1400" u="none" cap="none" strike="noStrike">
              <a:solidFill>
                <a:srgbClr val="000000"/>
              </a:solidFill>
              <a:latin typeface="Arial"/>
              <a:ea typeface="Arial"/>
              <a:cs typeface="Arial"/>
              <a:sym typeface="Arial"/>
            </a:endParaRPr>
          </a:p>
        </p:txBody>
      </p:sp>
      <p:sp>
        <p:nvSpPr>
          <p:cNvPr id="680" name="Google Shape;680;p43"/>
          <p:cNvSpPr txBox="1"/>
          <p:nvPr/>
        </p:nvSpPr>
        <p:spPr>
          <a:xfrm>
            <a:off x="6382525" y="2834640"/>
            <a:ext cx="2286000" cy="731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ourier New"/>
                <a:ea typeface="Courier New"/>
                <a:cs typeface="Courier New"/>
                <a:sym typeface="Courier New"/>
              </a:rPr>
              <a:t>reset_registry()</a:t>
            </a:r>
            <a:r>
              <a:rPr b="0" i="0" lang="en-US" sz="1250" u="none" cap="none" strike="noStrike">
                <a:solidFill>
                  <a:srgbClr val="334155"/>
                </a:solidFill>
                <a:latin typeface="Calibri"/>
                <a:ea typeface="Calibri"/>
                <a:cs typeface="Calibri"/>
                <a:sym typeface="Calibri"/>
              </a:rPr>
              <a:t> · Phase 1 tasks</a:t>
            </a:r>
            <a:endParaRPr b="0" i="0" sz="1400" u="none" cap="none" strike="noStrike">
              <a:solidFill>
                <a:srgbClr val="000000"/>
              </a:solidFill>
              <a:latin typeface="Arial"/>
              <a:ea typeface="Arial"/>
              <a:cs typeface="Arial"/>
              <a:sym typeface="Arial"/>
            </a:endParaRPr>
          </a:p>
        </p:txBody>
      </p:sp>
      <p:sp>
        <p:nvSpPr>
          <p:cNvPr id="681" name="Google Shape;681;p43"/>
          <p:cNvSpPr/>
          <p:nvPr/>
        </p:nvSpPr>
        <p:spPr>
          <a:xfrm>
            <a:off x="8805690" y="2514600"/>
            <a:ext cx="219600" cy="2013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2" name="Google Shape;682;p43"/>
          <p:cNvSpPr/>
          <p:nvPr/>
        </p:nvSpPr>
        <p:spPr>
          <a:xfrm>
            <a:off x="9052579" y="1691640"/>
            <a:ext cx="2560200" cy="18744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3" name="Google Shape;683;p43"/>
          <p:cNvSpPr/>
          <p:nvPr/>
        </p:nvSpPr>
        <p:spPr>
          <a:xfrm>
            <a:off x="9217171" y="1856232"/>
            <a:ext cx="438900" cy="4389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684" name="Google Shape;684;p43"/>
          <p:cNvSpPr txBox="1"/>
          <p:nvPr/>
        </p:nvSpPr>
        <p:spPr>
          <a:xfrm>
            <a:off x="9784100" y="1874520"/>
            <a:ext cx="1737300" cy="384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F172A"/>
                </a:solidFill>
                <a:latin typeface="Calibri"/>
                <a:ea typeface="Calibri"/>
                <a:cs typeface="Calibri"/>
                <a:sym typeface="Calibri"/>
              </a:rPr>
              <a:t>Phase 1</a:t>
            </a:r>
            <a:endParaRPr b="0" i="0" sz="1400" u="none" cap="none" strike="noStrike">
              <a:solidFill>
                <a:srgbClr val="000000"/>
              </a:solidFill>
              <a:latin typeface="Arial"/>
              <a:ea typeface="Arial"/>
              <a:cs typeface="Arial"/>
              <a:sym typeface="Arial"/>
            </a:endParaRPr>
          </a:p>
        </p:txBody>
      </p:sp>
      <p:sp>
        <p:nvSpPr>
          <p:cNvPr id="685" name="Google Shape;685;p43"/>
          <p:cNvSpPr txBox="1"/>
          <p:nvPr/>
        </p:nvSpPr>
        <p:spPr>
          <a:xfrm>
            <a:off x="9217171" y="2404872"/>
            <a:ext cx="2286000" cy="502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0F766E"/>
                </a:solidFill>
                <a:latin typeface="Courier New"/>
                <a:ea typeface="Courier New"/>
                <a:cs typeface="Courier New"/>
                <a:sym typeface="Courier New"/>
              </a:rPr>
              <a:t>run_phase_under()</a:t>
            </a:r>
            <a:endParaRPr b="0" i="0" sz="1400" u="none" cap="none" strike="noStrike">
              <a:solidFill>
                <a:srgbClr val="000000"/>
              </a:solidFill>
              <a:latin typeface="Arial"/>
              <a:ea typeface="Arial"/>
              <a:cs typeface="Arial"/>
              <a:sym typeface="Arial"/>
            </a:endParaRPr>
          </a:p>
        </p:txBody>
      </p:sp>
      <p:sp>
        <p:nvSpPr>
          <p:cNvPr id="686" name="Google Shape;686;p43"/>
          <p:cNvSpPr txBox="1"/>
          <p:nvPr/>
        </p:nvSpPr>
        <p:spPr>
          <a:xfrm>
            <a:off x="9217171" y="2834640"/>
            <a:ext cx="2286000" cy="731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task × rep × {baseline, candidate}</a:t>
            </a:r>
            <a:endParaRPr b="0" i="0" sz="1400" u="none" cap="none" strike="noStrike">
              <a:solidFill>
                <a:srgbClr val="000000"/>
              </a:solidFill>
              <a:latin typeface="Arial"/>
              <a:ea typeface="Arial"/>
              <a:cs typeface="Arial"/>
              <a:sym typeface="Arial"/>
            </a:endParaRPr>
          </a:p>
        </p:txBody>
      </p:sp>
      <p:sp>
        <p:nvSpPr>
          <p:cNvPr id="687" name="Google Shape;687;p43"/>
          <p:cNvSpPr/>
          <p:nvPr/>
        </p:nvSpPr>
        <p:spPr>
          <a:xfrm>
            <a:off x="9052579" y="4023360"/>
            <a:ext cx="2560200" cy="1874400"/>
          </a:xfrm>
          <a:prstGeom prst="roundRect">
            <a:avLst>
              <a:gd fmla="val 8000" name="adj"/>
            </a:avLst>
          </a:prstGeom>
          <a:solidFill>
            <a:srgbClr val="FEF3C7"/>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8" name="Google Shape;688;p43"/>
          <p:cNvSpPr/>
          <p:nvPr/>
        </p:nvSpPr>
        <p:spPr>
          <a:xfrm>
            <a:off x="9217171" y="4187952"/>
            <a:ext cx="438900" cy="438900"/>
          </a:xfrm>
          <a:prstGeom prst="ellipse">
            <a:avLst/>
          </a:prstGeom>
          <a:solidFill>
            <a:srgbClr val="B45309"/>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689" name="Google Shape;689;p43"/>
          <p:cNvSpPr txBox="1"/>
          <p:nvPr/>
        </p:nvSpPr>
        <p:spPr>
          <a:xfrm>
            <a:off x="9784100" y="4206240"/>
            <a:ext cx="1737300" cy="384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F172A"/>
                </a:solidFill>
                <a:latin typeface="Calibri"/>
                <a:ea typeface="Calibri"/>
                <a:cs typeface="Calibri"/>
                <a:sym typeface="Calibri"/>
              </a:rPr>
              <a:t>Trial</a:t>
            </a:r>
            <a:endParaRPr b="0" i="0" sz="1400" u="none" cap="none" strike="noStrike">
              <a:solidFill>
                <a:srgbClr val="000000"/>
              </a:solidFill>
              <a:latin typeface="Arial"/>
              <a:ea typeface="Arial"/>
              <a:cs typeface="Arial"/>
              <a:sym typeface="Arial"/>
            </a:endParaRPr>
          </a:p>
        </p:txBody>
      </p:sp>
      <p:sp>
        <p:nvSpPr>
          <p:cNvPr id="690" name="Google Shape;690;p43"/>
          <p:cNvSpPr txBox="1"/>
          <p:nvPr/>
        </p:nvSpPr>
        <p:spPr>
          <a:xfrm>
            <a:off x="9217171" y="4736592"/>
            <a:ext cx="2286000" cy="502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0F766E"/>
                </a:solidFill>
                <a:latin typeface="Courier New"/>
                <a:ea typeface="Courier New"/>
                <a:cs typeface="Courier New"/>
                <a:sym typeface="Courier New"/>
              </a:rPr>
              <a:t>run_one_trial()</a:t>
            </a:r>
            <a:endParaRPr b="0" i="0" sz="1400" u="none" cap="none" strike="noStrike">
              <a:solidFill>
                <a:srgbClr val="000000"/>
              </a:solidFill>
              <a:latin typeface="Arial"/>
              <a:ea typeface="Arial"/>
              <a:cs typeface="Arial"/>
              <a:sym typeface="Arial"/>
            </a:endParaRPr>
          </a:p>
        </p:txBody>
      </p:sp>
      <p:sp>
        <p:nvSpPr>
          <p:cNvPr id="691" name="Google Shape;691;p43"/>
          <p:cNvSpPr txBox="1"/>
          <p:nvPr/>
        </p:nvSpPr>
        <p:spPr>
          <a:xfrm>
            <a:off x="9217171" y="5166360"/>
            <a:ext cx="2286000" cy="731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copy repo → </a:t>
            </a:r>
            <a:r>
              <a:rPr b="1" i="0" lang="en-US" sz="1250" u="none" cap="none" strike="noStrike">
                <a:solidFill>
                  <a:srgbClr val="334155"/>
                </a:solidFill>
                <a:latin typeface="Calibri"/>
                <a:ea typeface="Calibri"/>
                <a:cs typeface="Calibri"/>
                <a:sym typeface="Calibri"/>
              </a:rPr>
              <a:t>copy guidance</a:t>
            </a:r>
            <a:r>
              <a:rPr b="0" i="0" lang="en-US" sz="1250" u="none" cap="none" strike="noStrike">
                <a:solidFill>
                  <a:srgbClr val="334155"/>
                </a:solidFill>
                <a:latin typeface="Calibri"/>
                <a:ea typeface="Calibri"/>
                <a:cs typeface="Calibri"/>
                <a:sym typeface="Calibri"/>
              </a:rPr>
              <a:t> → agent → grade → persist</a:t>
            </a:r>
            <a:endParaRPr b="0" i="0" sz="1400" u="none" cap="none" strike="noStrike">
              <a:solidFill>
                <a:srgbClr val="000000"/>
              </a:solidFill>
              <a:latin typeface="Arial"/>
              <a:ea typeface="Arial"/>
              <a:cs typeface="Arial"/>
              <a:sym typeface="Arial"/>
            </a:endParaRPr>
          </a:p>
        </p:txBody>
      </p:sp>
      <p:sp>
        <p:nvSpPr>
          <p:cNvPr id="692" name="Google Shape;692;p43"/>
          <p:cNvSpPr/>
          <p:nvPr/>
        </p:nvSpPr>
        <p:spPr>
          <a:xfrm>
            <a:off x="8805690" y="4846320"/>
            <a:ext cx="219600" cy="201300"/>
          </a:xfrm>
          <a:prstGeom prst="lef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3" name="Google Shape;693;p43"/>
          <p:cNvSpPr/>
          <p:nvPr/>
        </p:nvSpPr>
        <p:spPr>
          <a:xfrm>
            <a:off x="6217933" y="4023360"/>
            <a:ext cx="2560200" cy="18744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4" name="Google Shape;694;p43"/>
          <p:cNvSpPr/>
          <p:nvPr/>
        </p:nvSpPr>
        <p:spPr>
          <a:xfrm>
            <a:off x="6382525" y="4187952"/>
            <a:ext cx="438900" cy="4389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sp>
        <p:nvSpPr>
          <p:cNvPr id="695" name="Google Shape;695;p43"/>
          <p:cNvSpPr txBox="1"/>
          <p:nvPr/>
        </p:nvSpPr>
        <p:spPr>
          <a:xfrm>
            <a:off x="6949454" y="4206240"/>
            <a:ext cx="1737300" cy="384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F172A"/>
                </a:solidFill>
                <a:latin typeface="Calibri"/>
                <a:ea typeface="Calibri"/>
                <a:cs typeface="Calibri"/>
                <a:sym typeface="Calibri"/>
              </a:rPr>
              <a:t>Compare</a:t>
            </a:r>
            <a:endParaRPr b="0" i="0" sz="1400" u="none" cap="none" strike="noStrike">
              <a:solidFill>
                <a:srgbClr val="000000"/>
              </a:solidFill>
              <a:latin typeface="Arial"/>
              <a:ea typeface="Arial"/>
              <a:cs typeface="Arial"/>
              <a:sym typeface="Arial"/>
            </a:endParaRPr>
          </a:p>
        </p:txBody>
      </p:sp>
      <p:sp>
        <p:nvSpPr>
          <p:cNvPr id="696" name="Google Shape;696;p43"/>
          <p:cNvSpPr txBox="1"/>
          <p:nvPr/>
        </p:nvSpPr>
        <p:spPr>
          <a:xfrm>
            <a:off x="6382525" y="4736592"/>
            <a:ext cx="2286000" cy="502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0F766E"/>
                </a:solidFill>
                <a:latin typeface="Courier New"/>
                <a:ea typeface="Courier New"/>
                <a:cs typeface="Courier New"/>
                <a:sym typeface="Courier New"/>
              </a:rPr>
              <a:t>compare_task()</a:t>
            </a:r>
            <a:r>
              <a:rPr b="0" i="0" lang="en-US" sz="1250" u="none" cap="none" strike="noStrike">
                <a:solidFill>
                  <a:srgbClr val="0F766E"/>
                </a:solidFill>
                <a:latin typeface="Calibri"/>
                <a:ea typeface="Calibri"/>
                <a:cs typeface="Calibri"/>
                <a:sym typeface="Calibri"/>
              </a:rPr>
              <a:t> + </a:t>
            </a:r>
            <a:r>
              <a:rPr b="0" i="0" lang="en-US" sz="1250" u="none" cap="none" strike="noStrike">
                <a:solidFill>
                  <a:srgbClr val="0F766E"/>
                </a:solidFill>
                <a:latin typeface="Courier New"/>
                <a:ea typeface="Courier New"/>
                <a:cs typeface="Courier New"/>
                <a:sym typeface="Courier New"/>
              </a:rPr>
              <a:t>summarise()</a:t>
            </a:r>
            <a:endParaRPr b="0" i="0" sz="1400" u="none" cap="none" strike="noStrike">
              <a:solidFill>
                <a:srgbClr val="000000"/>
              </a:solidFill>
              <a:latin typeface="Arial"/>
              <a:ea typeface="Arial"/>
              <a:cs typeface="Arial"/>
              <a:sym typeface="Arial"/>
            </a:endParaRPr>
          </a:p>
        </p:txBody>
      </p:sp>
      <p:sp>
        <p:nvSpPr>
          <p:cNvPr id="697" name="Google Shape;697;p43"/>
          <p:cNvSpPr txBox="1"/>
          <p:nvPr/>
        </p:nvSpPr>
        <p:spPr>
          <a:xfrm>
            <a:off x="6382525" y="5166360"/>
            <a:ext cx="2286000" cy="731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PASS/FAIL per arm → transition</a:t>
            </a:r>
            <a:endParaRPr b="0" i="0" sz="1400" u="none" cap="none" strike="noStrike">
              <a:solidFill>
                <a:srgbClr val="000000"/>
              </a:solidFill>
              <a:latin typeface="Arial"/>
              <a:ea typeface="Arial"/>
              <a:cs typeface="Arial"/>
              <a:sym typeface="Arial"/>
            </a:endParaRPr>
          </a:p>
        </p:txBody>
      </p:sp>
      <p:sp>
        <p:nvSpPr>
          <p:cNvPr id="698" name="Google Shape;698;p43"/>
          <p:cNvSpPr/>
          <p:nvPr/>
        </p:nvSpPr>
        <p:spPr>
          <a:xfrm>
            <a:off x="5971043" y="4846320"/>
            <a:ext cx="219600" cy="201300"/>
          </a:xfrm>
          <a:prstGeom prst="lef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9" name="Google Shape;699;p43"/>
          <p:cNvSpPr/>
          <p:nvPr/>
        </p:nvSpPr>
        <p:spPr>
          <a:xfrm>
            <a:off x="3383287" y="4023360"/>
            <a:ext cx="2560200" cy="1874400"/>
          </a:xfrm>
          <a:prstGeom prst="roundRect">
            <a:avLst>
              <a:gd fmla="val 8000" name="adj"/>
            </a:avLst>
          </a:prstGeom>
          <a:solidFill>
            <a:srgbClr val="CCFBF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0" name="Google Shape;700;p43"/>
          <p:cNvSpPr/>
          <p:nvPr/>
        </p:nvSpPr>
        <p:spPr>
          <a:xfrm>
            <a:off x="3547879" y="4187952"/>
            <a:ext cx="438900" cy="4389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7</a:t>
            </a:r>
            <a:endParaRPr b="0" i="0" sz="1400" u="none" cap="none" strike="noStrike">
              <a:solidFill>
                <a:srgbClr val="000000"/>
              </a:solidFill>
              <a:latin typeface="Arial"/>
              <a:ea typeface="Arial"/>
              <a:cs typeface="Arial"/>
              <a:sym typeface="Arial"/>
            </a:endParaRPr>
          </a:p>
        </p:txBody>
      </p:sp>
      <p:sp>
        <p:nvSpPr>
          <p:cNvPr id="701" name="Google Shape;701;p43"/>
          <p:cNvSpPr txBox="1"/>
          <p:nvPr/>
        </p:nvSpPr>
        <p:spPr>
          <a:xfrm>
            <a:off x="4114808" y="4206240"/>
            <a:ext cx="1737300" cy="384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F172A"/>
                </a:solidFill>
                <a:latin typeface="Calibri"/>
                <a:ea typeface="Calibri"/>
                <a:cs typeface="Calibri"/>
                <a:sym typeface="Calibri"/>
              </a:rPr>
              <a:t>Decide</a:t>
            </a:r>
            <a:endParaRPr b="0" i="0" sz="1400" u="none" cap="none" strike="noStrike">
              <a:solidFill>
                <a:srgbClr val="000000"/>
              </a:solidFill>
              <a:latin typeface="Arial"/>
              <a:ea typeface="Arial"/>
              <a:cs typeface="Arial"/>
              <a:sym typeface="Arial"/>
            </a:endParaRPr>
          </a:p>
        </p:txBody>
      </p:sp>
      <p:sp>
        <p:nvSpPr>
          <p:cNvPr id="702" name="Google Shape;702;p43"/>
          <p:cNvSpPr txBox="1"/>
          <p:nvPr/>
        </p:nvSpPr>
        <p:spPr>
          <a:xfrm>
            <a:off x="3547879" y="4736592"/>
            <a:ext cx="2286000" cy="502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0F766E"/>
                </a:solidFill>
                <a:latin typeface="Courier New"/>
                <a:ea typeface="Courier New"/>
                <a:cs typeface="Courier New"/>
                <a:sym typeface="Courier New"/>
              </a:rPr>
              <a:t>promote…()</a:t>
            </a:r>
            <a:r>
              <a:rPr b="0" i="0" lang="en-US" sz="1250" u="none" cap="none" strike="noStrike">
                <a:solidFill>
                  <a:srgbClr val="0F766E"/>
                </a:solidFill>
                <a:latin typeface="Calibri"/>
                <a:ea typeface="Calibri"/>
                <a:cs typeface="Calibri"/>
                <a:sym typeface="Calibri"/>
              </a:rPr>
              <a:t> + </a:t>
            </a:r>
            <a:r>
              <a:rPr b="0" i="0" lang="en-US" sz="1250" u="none" cap="none" strike="noStrike">
                <a:solidFill>
                  <a:srgbClr val="0F766E"/>
                </a:solidFill>
                <a:latin typeface="Courier New"/>
                <a:ea typeface="Courier New"/>
                <a:cs typeface="Courier New"/>
                <a:sym typeface="Courier New"/>
              </a:rPr>
              <a:t>phase2_blocked_reason()</a:t>
            </a:r>
            <a:endParaRPr b="0" i="0" sz="1400" u="none" cap="none" strike="noStrike">
              <a:solidFill>
                <a:srgbClr val="000000"/>
              </a:solidFill>
              <a:latin typeface="Arial"/>
              <a:ea typeface="Arial"/>
              <a:cs typeface="Arial"/>
              <a:sym typeface="Arial"/>
            </a:endParaRPr>
          </a:p>
        </p:txBody>
      </p:sp>
      <p:sp>
        <p:nvSpPr>
          <p:cNvPr id="703" name="Google Shape;703;p43"/>
          <p:cNvSpPr txBox="1"/>
          <p:nvPr/>
        </p:nvSpPr>
        <p:spPr>
          <a:xfrm>
            <a:off x="3547879" y="5166360"/>
            <a:ext cx="2286000" cy="731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graduate, then gate</a:t>
            </a:r>
            <a:endParaRPr b="0" i="0" sz="1400" u="none" cap="none" strike="noStrike">
              <a:solidFill>
                <a:srgbClr val="000000"/>
              </a:solidFill>
              <a:latin typeface="Arial"/>
              <a:ea typeface="Arial"/>
              <a:cs typeface="Arial"/>
              <a:sym typeface="Arial"/>
            </a:endParaRPr>
          </a:p>
        </p:txBody>
      </p:sp>
      <p:sp>
        <p:nvSpPr>
          <p:cNvPr id="704" name="Google Shape;704;p43"/>
          <p:cNvSpPr/>
          <p:nvPr/>
        </p:nvSpPr>
        <p:spPr>
          <a:xfrm>
            <a:off x="3136398" y="4846320"/>
            <a:ext cx="219600" cy="201300"/>
          </a:xfrm>
          <a:prstGeom prst="lef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5" name="Google Shape;705;p43"/>
          <p:cNvSpPr/>
          <p:nvPr/>
        </p:nvSpPr>
        <p:spPr>
          <a:xfrm>
            <a:off x="548641" y="4023360"/>
            <a:ext cx="2560200" cy="18744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6" name="Google Shape;706;p43"/>
          <p:cNvSpPr/>
          <p:nvPr/>
        </p:nvSpPr>
        <p:spPr>
          <a:xfrm>
            <a:off x="713233" y="4187952"/>
            <a:ext cx="438900" cy="4389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sp>
        <p:nvSpPr>
          <p:cNvPr id="707" name="Google Shape;707;p43"/>
          <p:cNvSpPr txBox="1"/>
          <p:nvPr/>
        </p:nvSpPr>
        <p:spPr>
          <a:xfrm>
            <a:off x="1280163" y="4206240"/>
            <a:ext cx="1737300" cy="384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F172A"/>
                </a:solidFill>
                <a:latin typeface="Calibri"/>
                <a:ea typeface="Calibri"/>
                <a:cs typeface="Calibri"/>
                <a:sym typeface="Calibri"/>
              </a:rPr>
              <a:t>Finish</a:t>
            </a:r>
            <a:endParaRPr b="0" i="0" sz="1400" u="none" cap="none" strike="noStrike">
              <a:solidFill>
                <a:srgbClr val="000000"/>
              </a:solidFill>
              <a:latin typeface="Arial"/>
              <a:ea typeface="Arial"/>
              <a:cs typeface="Arial"/>
              <a:sym typeface="Arial"/>
            </a:endParaRPr>
          </a:p>
        </p:txBody>
      </p:sp>
      <p:sp>
        <p:nvSpPr>
          <p:cNvPr id="708" name="Google Shape;708;p43"/>
          <p:cNvSpPr txBox="1"/>
          <p:nvPr/>
        </p:nvSpPr>
        <p:spPr>
          <a:xfrm>
            <a:off x="713233" y="4736592"/>
            <a:ext cx="2286000" cy="502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0F766E"/>
                </a:solidFill>
                <a:latin typeface="Calibri"/>
                <a:ea typeface="Calibri"/>
                <a:cs typeface="Calibri"/>
                <a:sym typeface="Calibri"/>
              </a:rPr>
              <a:t>Phase 2 or block · reports</a:t>
            </a:r>
            <a:endParaRPr b="0" i="0" sz="1400" u="none" cap="none" strike="noStrike">
              <a:solidFill>
                <a:srgbClr val="000000"/>
              </a:solidFill>
              <a:latin typeface="Arial"/>
              <a:ea typeface="Arial"/>
              <a:cs typeface="Arial"/>
              <a:sym typeface="Arial"/>
            </a:endParaRPr>
          </a:p>
        </p:txBody>
      </p:sp>
      <p:sp>
        <p:nvSpPr>
          <p:cNvPr id="709" name="Google Shape;709;p43"/>
          <p:cNvSpPr txBox="1"/>
          <p:nvPr/>
        </p:nvSpPr>
        <p:spPr>
          <a:xfrm>
            <a:off x="713233" y="5166360"/>
            <a:ext cx="2286000" cy="731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ourier New"/>
                <a:ea typeface="Courier New"/>
                <a:cs typeface="Courier New"/>
                <a:sym typeface="Courier New"/>
              </a:rPr>
              <a:t>&lt;example&gt;/summary.json</a:t>
            </a:r>
            <a:r>
              <a:rPr b="0" i="0" lang="en-US" sz="1250" u="none" cap="none" strike="noStrike">
                <a:solidFill>
                  <a:srgbClr val="334155"/>
                </a:solidFill>
                <a:latin typeface="Calibri"/>
                <a:ea typeface="Calibri"/>
                <a:cs typeface="Calibri"/>
                <a:sym typeface="Calibri"/>
              </a:rPr>
              <a:t> → </a:t>
            </a:r>
            <a:r>
              <a:rPr b="0" i="0" lang="en-US" sz="1250" u="none" cap="none" strike="noStrike">
                <a:solidFill>
                  <a:srgbClr val="334155"/>
                </a:solidFill>
                <a:latin typeface="Courier New"/>
                <a:ea typeface="Courier New"/>
                <a:cs typeface="Courier New"/>
                <a:sym typeface="Courier New"/>
              </a:rPr>
              <a:t>output/summary.json</a:t>
            </a:r>
            <a:endParaRPr b="0" i="0" sz="1400" u="none" cap="none" strike="noStrike">
              <a:solidFill>
                <a:srgbClr val="000000"/>
              </a:solidFill>
              <a:latin typeface="Arial"/>
              <a:ea typeface="Arial"/>
              <a:cs typeface="Arial"/>
              <a:sym typeface="Arial"/>
            </a:endParaRPr>
          </a:p>
        </p:txBody>
      </p:sp>
      <p:sp>
        <p:nvSpPr>
          <p:cNvPr id="710" name="Google Shape;710;p43"/>
          <p:cNvSpPr/>
          <p:nvPr/>
        </p:nvSpPr>
        <p:spPr>
          <a:xfrm>
            <a:off x="10195581" y="3611880"/>
            <a:ext cx="274200" cy="365700"/>
          </a:xfrm>
          <a:prstGeom prst="down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5" name="Shape 715"/>
        <p:cNvGrpSpPr/>
        <p:nvPr/>
      </p:nvGrpSpPr>
      <p:grpSpPr>
        <a:xfrm>
          <a:off x="0" y="0"/>
          <a:ext cx="0" cy="0"/>
          <a:chOff x="0" y="0"/>
          <a:chExt cx="0" cy="0"/>
        </a:xfrm>
      </p:grpSpPr>
      <p:sp>
        <p:nvSpPr>
          <p:cNvPr id="716" name="Google Shape;716;p44"/>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How many times we repeat each task</a:t>
            </a:r>
            <a:endParaRPr b="0" i="0" sz="1400" u="none" cap="none" strike="noStrike">
              <a:solidFill>
                <a:srgbClr val="000000"/>
              </a:solidFill>
              <a:latin typeface="Arial"/>
              <a:ea typeface="Arial"/>
              <a:cs typeface="Arial"/>
              <a:sym typeface="Arial"/>
            </a:endParaRPr>
          </a:p>
        </p:txBody>
      </p:sp>
      <p:sp>
        <p:nvSpPr>
          <p:cNvPr id="717" name="Google Shape;717;p44"/>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ourier New"/>
                <a:ea typeface="Courier New"/>
                <a:cs typeface="Courier New"/>
                <a:sym typeface="Courier New"/>
              </a:rPr>
              <a:t>REPS/TRIALS = 2</a:t>
            </a:r>
            <a:r>
              <a:rPr b="0" i="0" lang="en-US" sz="1600" u="none" cap="none" strike="noStrike">
                <a:solidFill>
                  <a:srgbClr val="334155"/>
                </a:solidFill>
                <a:latin typeface="Calibri"/>
                <a:ea typeface="Calibri"/>
                <a:cs typeface="Calibri"/>
                <a:sym typeface="Calibri"/>
              </a:rPr>
              <a:t> times same execution per task, per harness arm, per phase, if phase allows. A mixed result becomes </a:t>
            </a:r>
            <a:r>
              <a:rPr b="1" i="0" lang="en-US" sz="1600" u="none" cap="none" strike="noStrike">
                <a:solidFill>
                  <a:srgbClr val="334155"/>
                </a:solidFill>
                <a:latin typeface="Calibri"/>
                <a:ea typeface="Calibri"/>
                <a:cs typeface="Calibri"/>
                <a:sym typeface="Calibri"/>
              </a:rPr>
              <a:t>UNSTABLE</a:t>
            </a:r>
            <a:r>
              <a:rPr b="0" i="0" lang="en-US" sz="1600" u="none" cap="none" strike="noStrike">
                <a:solidFill>
                  <a:srgbClr val="334155"/>
                </a:solidFill>
                <a:latin typeface="Calibri"/>
                <a:ea typeface="Calibri"/>
                <a:cs typeface="Calibri"/>
                <a:sym typeface="Calibri"/>
              </a:rPr>
              <a:t>, never a win.</a:t>
            </a:r>
            <a:endParaRPr b="0" i="0" sz="1400" u="none" cap="none" strike="noStrike">
              <a:solidFill>
                <a:srgbClr val="000000"/>
              </a:solidFill>
              <a:latin typeface="Arial"/>
              <a:ea typeface="Arial"/>
              <a:cs typeface="Arial"/>
              <a:sym typeface="Arial"/>
            </a:endParaRPr>
          </a:p>
        </p:txBody>
      </p:sp>
      <p:sp>
        <p:nvSpPr>
          <p:cNvPr id="718" name="Google Shape;718;p44"/>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How the tool runs</a:t>
            </a:r>
            <a:endParaRPr b="0" i="0" sz="1400" u="none" cap="none" strike="noStrike">
              <a:solidFill>
                <a:srgbClr val="000000"/>
              </a:solidFill>
              <a:latin typeface="Arial"/>
              <a:ea typeface="Arial"/>
              <a:cs typeface="Arial"/>
              <a:sym typeface="Arial"/>
            </a:endParaRPr>
          </a:p>
        </p:txBody>
      </p:sp>
      <p:sp>
        <p:nvSpPr>
          <p:cNvPr id="719" name="Google Shape;719;p44"/>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20</a:t>
            </a:r>
            <a:endParaRPr b="0" i="0" sz="1400" u="none" cap="none" strike="noStrike">
              <a:solidFill>
                <a:srgbClr val="000000"/>
              </a:solidFill>
              <a:latin typeface="Arial"/>
              <a:ea typeface="Arial"/>
              <a:cs typeface="Arial"/>
              <a:sym typeface="Arial"/>
            </a:endParaRPr>
          </a:p>
        </p:txBody>
      </p:sp>
      <p:sp>
        <p:nvSpPr>
          <p:cNvPr id="720" name="Google Shape;720;p44"/>
          <p:cNvSpPr/>
          <p:nvPr/>
        </p:nvSpPr>
        <p:spPr>
          <a:xfrm>
            <a:off x="548641" y="1645920"/>
            <a:ext cx="3108900" cy="2194500"/>
          </a:xfrm>
          <a:prstGeom prst="roundRect">
            <a:avLst>
              <a:gd fmla="val 8000" name="adj"/>
            </a:avLst>
          </a:prstGeom>
          <a:solidFill>
            <a:srgbClr val="0B122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1" name="Google Shape;721;p44"/>
          <p:cNvSpPr txBox="1"/>
          <p:nvPr/>
        </p:nvSpPr>
        <p:spPr>
          <a:xfrm>
            <a:off x="777242" y="1783080"/>
            <a:ext cx="27432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3600"/>
              <a:buFont typeface="Arial"/>
              <a:buNone/>
            </a:pPr>
            <a:r>
              <a:rPr b="1" i="0" lang="en-US" sz="3600" u="none" cap="none" strike="noStrike">
                <a:solidFill>
                  <a:srgbClr val="5EEAD4"/>
                </a:solidFill>
                <a:latin typeface="Calibri"/>
                <a:ea typeface="Calibri"/>
                <a:cs typeface="Calibri"/>
                <a:sym typeface="Calibri"/>
              </a:rPr>
              <a:t>REPS = 2</a:t>
            </a:r>
            <a:endParaRPr b="0" i="0" sz="1400" u="none" cap="none" strike="noStrike">
              <a:solidFill>
                <a:srgbClr val="000000"/>
              </a:solidFill>
              <a:latin typeface="Arial"/>
              <a:ea typeface="Arial"/>
              <a:cs typeface="Arial"/>
              <a:sym typeface="Arial"/>
            </a:endParaRPr>
          </a:p>
        </p:txBody>
      </p:sp>
      <p:sp>
        <p:nvSpPr>
          <p:cNvPr id="722" name="Google Shape;722;p44"/>
          <p:cNvSpPr txBox="1"/>
          <p:nvPr/>
        </p:nvSpPr>
        <p:spPr>
          <a:xfrm>
            <a:off x="777242" y="2697480"/>
            <a:ext cx="2743200" cy="109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5EEAD4"/>
                </a:solidFill>
                <a:latin typeface="Courier New"/>
                <a:ea typeface="Courier New"/>
                <a:cs typeface="Courier New"/>
                <a:sym typeface="Courier New"/>
              </a:rPr>
              <a:t>run.py</a:t>
            </a:r>
            <a:r>
              <a:rPr b="0" i="0" lang="en-US" sz="1300" u="none" cap="none" strike="noStrike">
                <a:solidFill>
                  <a:srgbClr val="D5DEEE"/>
                </a:solidFill>
                <a:latin typeface="Calibri"/>
                <a:ea typeface="Calibri"/>
                <a:cs typeface="Calibri"/>
                <a:sym typeface="Calibri"/>
              </a:rPr>
              <a:t> L28 · same for both arms · used for graduation (</a:t>
            </a:r>
            <a:r>
              <a:rPr b="0" i="0" lang="en-US" sz="1300" u="none" cap="none" strike="noStrike">
                <a:solidFill>
                  <a:srgbClr val="5EEAD4"/>
                </a:solidFill>
                <a:latin typeface="Courier New"/>
                <a:ea typeface="Courier New"/>
                <a:cs typeface="Courier New"/>
                <a:sym typeface="Courier New"/>
              </a:rPr>
              <a:t>min_reps</a:t>
            </a:r>
            <a:r>
              <a:rPr b="0" i="0" lang="en-US" sz="1300" u="none" cap="none" strike="noStrike">
                <a:solidFill>
                  <a:srgbClr val="D5DEEE"/>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723" name="Google Shape;723;p44"/>
          <p:cNvSpPr/>
          <p:nvPr/>
        </p:nvSpPr>
        <p:spPr>
          <a:xfrm>
            <a:off x="548641" y="4023360"/>
            <a:ext cx="3108900" cy="21489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4" name="Google Shape;724;p44"/>
          <p:cNvSpPr txBox="1"/>
          <p:nvPr/>
        </p:nvSpPr>
        <p:spPr>
          <a:xfrm>
            <a:off x="731522" y="4114800"/>
            <a:ext cx="2743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run_phase_under() loop order</a:t>
            </a:r>
            <a:endParaRPr b="0" i="0" sz="1400" u="none" cap="none" strike="noStrike">
              <a:solidFill>
                <a:srgbClr val="000000"/>
              </a:solidFill>
              <a:latin typeface="Arial"/>
              <a:ea typeface="Arial"/>
              <a:cs typeface="Arial"/>
              <a:sym typeface="Arial"/>
            </a:endParaRPr>
          </a:p>
        </p:txBody>
      </p:sp>
      <p:sp>
        <p:nvSpPr>
          <p:cNvPr id="725" name="Google Shape;725;p44"/>
          <p:cNvSpPr txBox="1"/>
          <p:nvPr/>
        </p:nvSpPr>
        <p:spPr>
          <a:xfrm>
            <a:off x="731522" y="4407408"/>
            <a:ext cx="2834700" cy="14778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for task_id in task_ids:</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for rep in range(REPS):</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for harness in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"baseline",</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"candidate"):</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run_one_trial(...)</a:t>
            </a:r>
            <a:endParaRPr b="0" i="0" sz="1400" u="none" cap="none" strike="noStrike">
              <a:solidFill>
                <a:srgbClr val="000000"/>
              </a:solidFill>
              <a:latin typeface="Arial"/>
              <a:ea typeface="Arial"/>
              <a:cs typeface="Arial"/>
              <a:sym typeface="Arial"/>
            </a:endParaRPr>
          </a:p>
        </p:txBody>
      </p:sp>
      <p:sp>
        <p:nvSpPr>
          <p:cNvPr id="726" name="Google Shape;726;p44"/>
          <p:cNvSpPr/>
          <p:nvPr/>
        </p:nvSpPr>
        <p:spPr>
          <a:xfrm>
            <a:off x="3931928" y="1645920"/>
            <a:ext cx="3749100" cy="4755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7" name="Google Shape;727;p44"/>
          <p:cNvSpPr txBox="1"/>
          <p:nvPr/>
        </p:nvSpPr>
        <p:spPr>
          <a:xfrm>
            <a:off x="4069088" y="1682496"/>
            <a:ext cx="1463100" cy="411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1" i="0" lang="en-US" sz="1350" u="none" cap="none" strike="noStrike">
                <a:solidFill>
                  <a:srgbClr val="0F172A"/>
                </a:solidFill>
                <a:latin typeface="Calibri"/>
                <a:ea typeface="Calibri"/>
                <a:cs typeface="Calibri"/>
                <a:sym typeface="Calibri"/>
              </a:rPr>
              <a:t>Phase 1</a:t>
            </a:r>
            <a:endParaRPr b="0" i="0" sz="1400" u="none" cap="none" strike="noStrike">
              <a:solidFill>
                <a:srgbClr val="000000"/>
              </a:solidFill>
              <a:latin typeface="Arial"/>
              <a:ea typeface="Arial"/>
              <a:cs typeface="Arial"/>
              <a:sym typeface="Arial"/>
            </a:endParaRPr>
          </a:p>
        </p:txBody>
      </p:sp>
      <p:sp>
        <p:nvSpPr>
          <p:cNvPr id="728" name="Google Shape;728;p44"/>
          <p:cNvSpPr txBox="1"/>
          <p:nvPr/>
        </p:nvSpPr>
        <p:spPr>
          <a:xfrm>
            <a:off x="5486411" y="1682496"/>
            <a:ext cx="1463100" cy="411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150"/>
              <a:buFont typeface="Arial"/>
              <a:buNone/>
            </a:pPr>
            <a:r>
              <a:rPr b="0" i="0" lang="en-US" sz="1150" u="none" cap="none" strike="noStrike">
                <a:solidFill>
                  <a:srgbClr val="334155"/>
                </a:solidFill>
                <a:latin typeface="Calibri"/>
                <a:ea typeface="Calibri"/>
                <a:cs typeface="Calibri"/>
                <a:sym typeface="Calibri"/>
              </a:rPr>
              <a:t>2 tasks × 2 reps × 2 arms</a:t>
            </a:r>
            <a:endParaRPr b="0" i="0" sz="1400" u="none" cap="none" strike="noStrike">
              <a:solidFill>
                <a:srgbClr val="000000"/>
              </a:solidFill>
              <a:latin typeface="Arial"/>
              <a:ea typeface="Arial"/>
              <a:cs typeface="Arial"/>
              <a:sym typeface="Arial"/>
            </a:endParaRPr>
          </a:p>
        </p:txBody>
      </p:sp>
      <p:sp>
        <p:nvSpPr>
          <p:cNvPr id="729" name="Google Shape;729;p44"/>
          <p:cNvSpPr txBox="1"/>
          <p:nvPr/>
        </p:nvSpPr>
        <p:spPr>
          <a:xfrm>
            <a:off x="6812294" y="1682496"/>
            <a:ext cx="822900" cy="411600"/>
          </a:xfrm>
          <a:prstGeom prst="rect">
            <a:avLst/>
          </a:prstGeom>
          <a:noFill/>
          <a:ln>
            <a:noFill/>
          </a:ln>
        </p:spPr>
        <p:txBody>
          <a:bodyPr anchorCtr="0" anchor="ctr" bIns="0" lIns="0" spcFirstLastPara="1" rIns="0" wrap="square" tIns="0">
            <a:noAutofit/>
          </a:bodyPr>
          <a:lstStyle/>
          <a:p>
            <a:pPr indent="0" lvl="0" marL="0" marR="0" rtl="0" algn="r">
              <a:lnSpc>
                <a:spcPct val="105000"/>
              </a:lnSpc>
              <a:spcBef>
                <a:spcPts val="0"/>
              </a:spcBef>
              <a:spcAft>
                <a:spcPts val="0"/>
              </a:spcAft>
              <a:buClr>
                <a:srgbClr val="000000"/>
              </a:buClr>
              <a:buSzPts val="1300"/>
              <a:buFont typeface="Arial"/>
              <a:buNone/>
            </a:pPr>
            <a:r>
              <a:rPr b="1" i="0" lang="en-US" sz="1300" u="none" cap="none" strike="noStrike">
                <a:solidFill>
                  <a:srgbClr val="0F766E"/>
                </a:solidFill>
                <a:latin typeface="Calibri"/>
                <a:ea typeface="Calibri"/>
                <a:cs typeface="Calibri"/>
                <a:sym typeface="Calibri"/>
              </a:rPr>
              <a:t>8 trials</a:t>
            </a:r>
            <a:endParaRPr b="0" i="0" sz="1400" u="none" cap="none" strike="noStrike">
              <a:solidFill>
                <a:srgbClr val="000000"/>
              </a:solidFill>
              <a:latin typeface="Arial"/>
              <a:ea typeface="Arial"/>
              <a:cs typeface="Arial"/>
              <a:sym typeface="Arial"/>
            </a:endParaRPr>
          </a:p>
        </p:txBody>
      </p:sp>
      <p:sp>
        <p:nvSpPr>
          <p:cNvPr id="730" name="Google Shape;730;p44"/>
          <p:cNvSpPr/>
          <p:nvPr/>
        </p:nvSpPr>
        <p:spPr>
          <a:xfrm>
            <a:off x="3931928" y="2212848"/>
            <a:ext cx="3749100" cy="4755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31" name="Google Shape;731;p44"/>
          <p:cNvSpPr txBox="1"/>
          <p:nvPr/>
        </p:nvSpPr>
        <p:spPr>
          <a:xfrm>
            <a:off x="4069088" y="2249424"/>
            <a:ext cx="1463100" cy="411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1" i="0" lang="en-US" sz="1350" u="none" cap="none" strike="noStrike">
                <a:solidFill>
                  <a:srgbClr val="0F172A"/>
                </a:solidFill>
                <a:latin typeface="Calibri"/>
                <a:ea typeface="Calibri"/>
                <a:cs typeface="Calibri"/>
                <a:sym typeface="Calibri"/>
              </a:rPr>
              <a:t>Phase 2</a:t>
            </a:r>
            <a:endParaRPr b="0" i="0" sz="1400" u="none" cap="none" strike="noStrike">
              <a:solidFill>
                <a:srgbClr val="000000"/>
              </a:solidFill>
              <a:latin typeface="Arial"/>
              <a:ea typeface="Arial"/>
              <a:cs typeface="Arial"/>
              <a:sym typeface="Arial"/>
            </a:endParaRPr>
          </a:p>
        </p:txBody>
      </p:sp>
      <p:sp>
        <p:nvSpPr>
          <p:cNvPr id="732" name="Google Shape;732;p44"/>
          <p:cNvSpPr txBox="1"/>
          <p:nvPr/>
        </p:nvSpPr>
        <p:spPr>
          <a:xfrm>
            <a:off x="5486411" y="2249424"/>
            <a:ext cx="1463100" cy="411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150"/>
              <a:buFont typeface="Arial"/>
              <a:buNone/>
            </a:pPr>
            <a:r>
              <a:rPr b="0" i="0" lang="en-US" sz="1150" u="none" cap="none" strike="noStrike">
                <a:solidFill>
                  <a:srgbClr val="334155"/>
                </a:solidFill>
                <a:latin typeface="Calibri"/>
                <a:ea typeface="Calibri"/>
                <a:cs typeface="Calibri"/>
                <a:sym typeface="Calibri"/>
              </a:rPr>
              <a:t>3 tasks × 2 reps × 2 arms</a:t>
            </a:r>
            <a:endParaRPr b="0" i="0" sz="1400" u="none" cap="none" strike="noStrike">
              <a:solidFill>
                <a:srgbClr val="000000"/>
              </a:solidFill>
              <a:latin typeface="Arial"/>
              <a:ea typeface="Arial"/>
              <a:cs typeface="Arial"/>
              <a:sym typeface="Arial"/>
            </a:endParaRPr>
          </a:p>
        </p:txBody>
      </p:sp>
      <p:sp>
        <p:nvSpPr>
          <p:cNvPr id="733" name="Google Shape;733;p44"/>
          <p:cNvSpPr txBox="1"/>
          <p:nvPr/>
        </p:nvSpPr>
        <p:spPr>
          <a:xfrm>
            <a:off x="6812294" y="2249424"/>
            <a:ext cx="822900" cy="411600"/>
          </a:xfrm>
          <a:prstGeom prst="rect">
            <a:avLst/>
          </a:prstGeom>
          <a:noFill/>
          <a:ln>
            <a:noFill/>
          </a:ln>
        </p:spPr>
        <p:txBody>
          <a:bodyPr anchorCtr="0" anchor="ctr" bIns="0" lIns="0" spcFirstLastPara="1" rIns="0" wrap="square" tIns="0">
            <a:noAutofit/>
          </a:bodyPr>
          <a:lstStyle/>
          <a:p>
            <a:pPr indent="0" lvl="0" marL="0" marR="0" rtl="0" algn="r">
              <a:lnSpc>
                <a:spcPct val="105000"/>
              </a:lnSpc>
              <a:spcBef>
                <a:spcPts val="0"/>
              </a:spcBef>
              <a:spcAft>
                <a:spcPts val="0"/>
              </a:spcAft>
              <a:buClr>
                <a:srgbClr val="000000"/>
              </a:buClr>
              <a:buSzPts val="1300"/>
              <a:buFont typeface="Arial"/>
              <a:buNone/>
            </a:pPr>
            <a:r>
              <a:rPr b="1" i="0" lang="en-US" sz="1300" u="none" cap="none" strike="noStrike">
                <a:solidFill>
                  <a:srgbClr val="0F766E"/>
                </a:solidFill>
                <a:latin typeface="Calibri"/>
                <a:ea typeface="Calibri"/>
                <a:cs typeface="Calibri"/>
                <a:sym typeface="Calibri"/>
              </a:rPr>
              <a:t>12 trials</a:t>
            </a:r>
            <a:endParaRPr b="0" i="0" sz="1400" u="none" cap="none" strike="noStrike">
              <a:solidFill>
                <a:srgbClr val="000000"/>
              </a:solidFill>
              <a:latin typeface="Arial"/>
              <a:ea typeface="Arial"/>
              <a:cs typeface="Arial"/>
              <a:sym typeface="Arial"/>
            </a:endParaRPr>
          </a:p>
        </p:txBody>
      </p:sp>
      <p:sp>
        <p:nvSpPr>
          <p:cNvPr id="734" name="Google Shape;734;p44"/>
          <p:cNvSpPr/>
          <p:nvPr/>
        </p:nvSpPr>
        <p:spPr>
          <a:xfrm>
            <a:off x="3931928" y="2779776"/>
            <a:ext cx="3749100" cy="4755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35" name="Google Shape;735;p44"/>
          <p:cNvSpPr txBox="1"/>
          <p:nvPr/>
        </p:nvSpPr>
        <p:spPr>
          <a:xfrm>
            <a:off x="4069088" y="2816352"/>
            <a:ext cx="1463100" cy="411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1" i="0" lang="en-US" sz="1350" u="none" cap="none" strike="noStrike">
                <a:solidFill>
                  <a:srgbClr val="0F172A"/>
                </a:solidFill>
                <a:latin typeface="Calibri"/>
                <a:ea typeface="Calibri"/>
                <a:cs typeface="Calibri"/>
                <a:sym typeface="Calibri"/>
              </a:rPr>
              <a:t>Good scenario</a:t>
            </a:r>
            <a:endParaRPr b="0" i="0" sz="1400" u="none" cap="none" strike="noStrike">
              <a:solidFill>
                <a:srgbClr val="000000"/>
              </a:solidFill>
              <a:latin typeface="Arial"/>
              <a:ea typeface="Arial"/>
              <a:cs typeface="Arial"/>
              <a:sym typeface="Arial"/>
            </a:endParaRPr>
          </a:p>
        </p:txBody>
      </p:sp>
      <p:sp>
        <p:nvSpPr>
          <p:cNvPr id="736" name="Google Shape;736;p44"/>
          <p:cNvSpPr txBox="1"/>
          <p:nvPr/>
        </p:nvSpPr>
        <p:spPr>
          <a:xfrm>
            <a:off x="5486411" y="2816352"/>
            <a:ext cx="1463100" cy="411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150"/>
              <a:buFont typeface="Arial"/>
              <a:buNone/>
            </a:pPr>
            <a:r>
              <a:rPr b="0" i="0" lang="en-US" sz="1150" u="none" cap="none" strike="noStrike">
                <a:solidFill>
                  <a:srgbClr val="334155"/>
                </a:solidFill>
                <a:latin typeface="Calibri"/>
                <a:ea typeface="Calibri"/>
                <a:cs typeface="Calibri"/>
                <a:sym typeface="Calibri"/>
              </a:rPr>
              <a:t>Phase 1 + Phase 2</a:t>
            </a:r>
            <a:endParaRPr b="0" i="0" sz="1400" u="none" cap="none" strike="noStrike">
              <a:solidFill>
                <a:srgbClr val="000000"/>
              </a:solidFill>
              <a:latin typeface="Arial"/>
              <a:ea typeface="Arial"/>
              <a:cs typeface="Arial"/>
              <a:sym typeface="Arial"/>
            </a:endParaRPr>
          </a:p>
        </p:txBody>
      </p:sp>
      <p:sp>
        <p:nvSpPr>
          <p:cNvPr id="737" name="Google Shape;737;p44"/>
          <p:cNvSpPr txBox="1"/>
          <p:nvPr/>
        </p:nvSpPr>
        <p:spPr>
          <a:xfrm>
            <a:off x="6812294" y="2816352"/>
            <a:ext cx="822900" cy="411600"/>
          </a:xfrm>
          <a:prstGeom prst="rect">
            <a:avLst/>
          </a:prstGeom>
          <a:noFill/>
          <a:ln>
            <a:noFill/>
          </a:ln>
        </p:spPr>
        <p:txBody>
          <a:bodyPr anchorCtr="0" anchor="ctr" bIns="0" lIns="0" spcFirstLastPara="1" rIns="0" wrap="square" tIns="0">
            <a:noAutofit/>
          </a:bodyPr>
          <a:lstStyle/>
          <a:p>
            <a:pPr indent="0" lvl="0" marL="0" marR="0" rtl="0" algn="r">
              <a:lnSpc>
                <a:spcPct val="105000"/>
              </a:lnSpc>
              <a:spcBef>
                <a:spcPts val="0"/>
              </a:spcBef>
              <a:spcAft>
                <a:spcPts val="0"/>
              </a:spcAft>
              <a:buClr>
                <a:srgbClr val="000000"/>
              </a:buClr>
              <a:buSzPts val="1300"/>
              <a:buFont typeface="Arial"/>
              <a:buNone/>
            </a:pPr>
            <a:r>
              <a:rPr b="1" i="0" lang="en-US" sz="1300" u="none" cap="none" strike="noStrike">
                <a:solidFill>
                  <a:srgbClr val="0F766E"/>
                </a:solidFill>
                <a:latin typeface="Calibri"/>
                <a:ea typeface="Calibri"/>
                <a:cs typeface="Calibri"/>
                <a:sym typeface="Calibri"/>
              </a:rPr>
              <a:t>20 trials</a:t>
            </a:r>
            <a:endParaRPr b="0" i="0" sz="1400" u="none" cap="none" strike="noStrike">
              <a:solidFill>
                <a:srgbClr val="000000"/>
              </a:solidFill>
              <a:latin typeface="Arial"/>
              <a:ea typeface="Arial"/>
              <a:cs typeface="Arial"/>
              <a:sym typeface="Arial"/>
            </a:endParaRPr>
          </a:p>
        </p:txBody>
      </p:sp>
      <p:sp>
        <p:nvSpPr>
          <p:cNvPr id="738" name="Google Shape;738;p44"/>
          <p:cNvSpPr/>
          <p:nvPr/>
        </p:nvSpPr>
        <p:spPr>
          <a:xfrm>
            <a:off x="3931928" y="3346704"/>
            <a:ext cx="3749100" cy="4755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39" name="Google Shape;739;p44"/>
          <p:cNvSpPr txBox="1"/>
          <p:nvPr/>
        </p:nvSpPr>
        <p:spPr>
          <a:xfrm>
            <a:off x="4069088" y="3383280"/>
            <a:ext cx="1463100" cy="411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1" i="0" lang="en-US" sz="1350" u="none" cap="none" strike="noStrike">
                <a:solidFill>
                  <a:srgbClr val="0F172A"/>
                </a:solidFill>
                <a:latin typeface="Calibri"/>
                <a:ea typeface="Calibri"/>
                <a:cs typeface="Calibri"/>
                <a:sym typeface="Calibri"/>
              </a:rPr>
              <a:t>Bad scenario</a:t>
            </a:r>
            <a:endParaRPr b="0" i="0" sz="1400" u="none" cap="none" strike="noStrike">
              <a:solidFill>
                <a:srgbClr val="000000"/>
              </a:solidFill>
              <a:latin typeface="Arial"/>
              <a:ea typeface="Arial"/>
              <a:cs typeface="Arial"/>
              <a:sym typeface="Arial"/>
            </a:endParaRPr>
          </a:p>
        </p:txBody>
      </p:sp>
      <p:sp>
        <p:nvSpPr>
          <p:cNvPr id="740" name="Google Shape;740;p44"/>
          <p:cNvSpPr txBox="1"/>
          <p:nvPr/>
        </p:nvSpPr>
        <p:spPr>
          <a:xfrm>
            <a:off x="5486411" y="3383280"/>
            <a:ext cx="1463100" cy="411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150"/>
              <a:buFont typeface="Arial"/>
              <a:buNone/>
            </a:pPr>
            <a:r>
              <a:rPr b="0" i="0" lang="en-US" sz="1150" u="none" cap="none" strike="noStrike">
                <a:solidFill>
                  <a:srgbClr val="334155"/>
                </a:solidFill>
                <a:latin typeface="Calibri"/>
                <a:ea typeface="Calibri"/>
                <a:cs typeface="Calibri"/>
                <a:sym typeface="Calibri"/>
              </a:rPr>
              <a:t>Phase 1 only (blocked)</a:t>
            </a:r>
            <a:endParaRPr b="0" i="0" sz="1400" u="none" cap="none" strike="noStrike">
              <a:solidFill>
                <a:srgbClr val="000000"/>
              </a:solidFill>
              <a:latin typeface="Arial"/>
              <a:ea typeface="Arial"/>
              <a:cs typeface="Arial"/>
              <a:sym typeface="Arial"/>
            </a:endParaRPr>
          </a:p>
        </p:txBody>
      </p:sp>
      <p:sp>
        <p:nvSpPr>
          <p:cNvPr id="741" name="Google Shape;741;p44"/>
          <p:cNvSpPr txBox="1"/>
          <p:nvPr/>
        </p:nvSpPr>
        <p:spPr>
          <a:xfrm>
            <a:off x="6812294" y="3383280"/>
            <a:ext cx="822900" cy="411600"/>
          </a:xfrm>
          <a:prstGeom prst="rect">
            <a:avLst/>
          </a:prstGeom>
          <a:noFill/>
          <a:ln>
            <a:noFill/>
          </a:ln>
        </p:spPr>
        <p:txBody>
          <a:bodyPr anchorCtr="0" anchor="ctr" bIns="0" lIns="0" spcFirstLastPara="1" rIns="0" wrap="square" tIns="0">
            <a:noAutofit/>
          </a:bodyPr>
          <a:lstStyle/>
          <a:p>
            <a:pPr indent="0" lvl="0" marL="0" marR="0" rtl="0" algn="r">
              <a:lnSpc>
                <a:spcPct val="105000"/>
              </a:lnSpc>
              <a:spcBef>
                <a:spcPts val="0"/>
              </a:spcBef>
              <a:spcAft>
                <a:spcPts val="0"/>
              </a:spcAft>
              <a:buClr>
                <a:srgbClr val="000000"/>
              </a:buClr>
              <a:buSzPts val="1300"/>
              <a:buFont typeface="Arial"/>
              <a:buNone/>
            </a:pPr>
            <a:r>
              <a:rPr b="1" i="0" lang="en-US" sz="1300" u="none" cap="none" strike="noStrike">
                <a:solidFill>
                  <a:srgbClr val="0F766E"/>
                </a:solidFill>
                <a:latin typeface="Calibri"/>
                <a:ea typeface="Calibri"/>
                <a:cs typeface="Calibri"/>
                <a:sym typeface="Calibri"/>
              </a:rPr>
              <a:t>8 trials</a:t>
            </a:r>
            <a:endParaRPr b="0" i="0" sz="1400" u="none" cap="none" strike="noStrike">
              <a:solidFill>
                <a:srgbClr val="000000"/>
              </a:solidFill>
              <a:latin typeface="Arial"/>
              <a:ea typeface="Arial"/>
              <a:cs typeface="Arial"/>
              <a:sym typeface="Arial"/>
            </a:endParaRPr>
          </a:p>
        </p:txBody>
      </p:sp>
      <p:graphicFrame>
        <p:nvGraphicFramePr>
          <p:cNvPr id="742" name="Google Shape;742;p44"/>
          <p:cNvGraphicFramePr/>
          <p:nvPr/>
        </p:nvGraphicFramePr>
        <p:xfrm>
          <a:off x="3931928" y="4023360"/>
          <a:ext cx="3000000" cy="3000000"/>
        </p:xfrm>
        <a:graphic>
          <a:graphicData uri="http://schemas.openxmlformats.org/drawingml/2006/table">
            <a:tbl>
              <a:tblPr bandRow="1" firstRow="1">
                <a:noFill/>
                <a:tableStyleId>{6D768582-A166-4AF2-A2B6-FE9F80A8B072}</a:tableStyleId>
              </a:tblPr>
              <a:tblGrid>
                <a:gridCol w="1828800"/>
                <a:gridCol w="1920250"/>
              </a:tblGrid>
              <a:tr h="429775">
                <a:tc>
                  <a:txBody>
                    <a:bodyPr/>
                    <a:lstStyle/>
                    <a:p>
                      <a:pPr indent="0" lvl="0" marL="0" marR="0" rtl="0" algn="l">
                        <a:lnSpc>
                          <a:spcPct val="100000"/>
                        </a:lnSpc>
                        <a:spcBef>
                          <a:spcPts val="0"/>
                        </a:spcBef>
                        <a:spcAft>
                          <a:spcPts val="0"/>
                        </a:spcAft>
                        <a:buClr>
                          <a:srgbClr val="000000"/>
                        </a:buClr>
                        <a:buSzPts val="1200"/>
                        <a:buFont typeface="Arial"/>
                        <a:buNone/>
                      </a:pPr>
                      <a:r>
                        <a:rPr b="1" lang="en-US" sz="1200" u="none" cap="none" strike="noStrike">
                          <a:solidFill>
                            <a:srgbClr val="FFFFFF"/>
                          </a:solidFill>
                          <a:latin typeface="Calibri"/>
                          <a:ea typeface="Calibri"/>
                          <a:cs typeface="Calibri"/>
                          <a:sym typeface="Calibri"/>
                        </a:rPr>
                        <a:t>Reps (pass list)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z="1200" u="none" cap="none" strike="noStrike">
                          <a:solidFill>
                            <a:srgbClr val="FFFFFF"/>
                          </a:solidFill>
                          <a:latin typeface="Calibri"/>
                          <a:ea typeface="Calibri"/>
                          <a:cs typeface="Calibri"/>
                          <a:sym typeface="Calibri"/>
                        </a:rPr>
                        <a:t>outcome_from_reps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r>
              <a:tr h="429775">
                <a:tc>
                  <a:txBody>
                    <a:bodyPr/>
                    <a:lstStyle/>
                    <a:p>
                      <a:pPr indent="0" lvl="0" marL="0" marR="0" rtl="0" algn="l">
                        <a:lnSpc>
                          <a:spcPct val="100000"/>
                        </a:lnSpc>
                        <a:spcBef>
                          <a:spcPts val="0"/>
                        </a:spcBef>
                        <a:spcAft>
                          <a:spcPts val="0"/>
                        </a:spcAft>
                        <a:buClr>
                          <a:srgbClr val="000000"/>
                        </a:buClr>
                        <a:buSzPts val="1200"/>
                        <a:buFont typeface="Arial"/>
                        <a:buNone/>
                      </a:pPr>
                      <a:r>
                        <a:rPr b="1" lang="en-US" sz="1200" u="none" cap="none" strike="noStrike">
                          <a:solidFill>
                            <a:srgbClr val="0F172A"/>
                          </a:solidFill>
                          <a:latin typeface="Calibri"/>
                          <a:ea typeface="Calibri"/>
                          <a:cs typeface="Calibri"/>
                          <a:sym typeface="Calibri"/>
                        </a:rPr>
                        <a:t>[ ]</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z="1200" u="none" cap="none" strike="noStrike">
                          <a:solidFill>
                            <a:srgbClr val="0F172A"/>
                          </a:solidFill>
                          <a:latin typeface="Calibri"/>
                          <a:ea typeface="Calibri"/>
                          <a:cs typeface="Calibri"/>
                          <a:sym typeface="Calibri"/>
                        </a:rPr>
                        <a:t>UNMEASURED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429775">
                <a:tc>
                  <a:txBody>
                    <a:bodyPr/>
                    <a:lstStyle/>
                    <a:p>
                      <a:pPr indent="0" lvl="0" marL="0" marR="0" rtl="0" algn="l">
                        <a:lnSpc>
                          <a:spcPct val="100000"/>
                        </a:lnSpc>
                        <a:spcBef>
                          <a:spcPts val="0"/>
                        </a:spcBef>
                        <a:spcAft>
                          <a:spcPts val="0"/>
                        </a:spcAft>
                        <a:buClr>
                          <a:srgbClr val="000000"/>
                        </a:buClr>
                        <a:buSzPts val="1200"/>
                        <a:buFont typeface="Arial"/>
                        <a:buNone/>
                      </a:pPr>
                      <a:r>
                        <a:rPr b="1" lang="en-US" sz="1200" u="none" cap="none" strike="noStrike">
                          <a:solidFill>
                            <a:srgbClr val="0F172A"/>
                          </a:solidFill>
                          <a:latin typeface="Calibri"/>
                          <a:ea typeface="Calibri"/>
                          <a:cs typeface="Calibri"/>
                          <a:sym typeface="Calibri"/>
                        </a:rPr>
                        <a:t>[True, True]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z="1200" u="none" cap="none" strike="noStrike">
                          <a:solidFill>
                            <a:srgbClr val="0F172A"/>
                          </a:solidFill>
                          <a:latin typeface="Calibri"/>
                          <a:ea typeface="Calibri"/>
                          <a:cs typeface="Calibri"/>
                          <a:sym typeface="Calibri"/>
                        </a:rPr>
                        <a:t>PASS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r h="429775">
                <a:tc>
                  <a:txBody>
                    <a:bodyPr/>
                    <a:lstStyle/>
                    <a:p>
                      <a:pPr indent="0" lvl="0" marL="0" marR="0" rtl="0" algn="l">
                        <a:lnSpc>
                          <a:spcPct val="100000"/>
                        </a:lnSpc>
                        <a:spcBef>
                          <a:spcPts val="0"/>
                        </a:spcBef>
                        <a:spcAft>
                          <a:spcPts val="0"/>
                        </a:spcAft>
                        <a:buClr>
                          <a:srgbClr val="000000"/>
                        </a:buClr>
                        <a:buSzPts val="1200"/>
                        <a:buFont typeface="Arial"/>
                        <a:buNone/>
                      </a:pPr>
                      <a:r>
                        <a:rPr b="1" lang="en-US" sz="1200" u="none" cap="none" strike="noStrike">
                          <a:solidFill>
                            <a:srgbClr val="0F172A"/>
                          </a:solidFill>
                          <a:latin typeface="Calibri"/>
                          <a:ea typeface="Calibri"/>
                          <a:cs typeface="Calibri"/>
                          <a:sym typeface="Calibri"/>
                        </a:rPr>
                        <a:t>[False, False]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z="1200" u="none" cap="none" strike="noStrike">
                          <a:solidFill>
                            <a:srgbClr val="0F172A"/>
                          </a:solidFill>
                          <a:latin typeface="Calibri"/>
                          <a:ea typeface="Calibri"/>
                          <a:cs typeface="Calibri"/>
                          <a:sym typeface="Calibri"/>
                        </a:rPr>
                        <a:t>FAIL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429775">
                <a:tc>
                  <a:txBody>
                    <a:bodyPr/>
                    <a:lstStyle/>
                    <a:p>
                      <a:pPr indent="0" lvl="0" marL="0" marR="0" rtl="0" algn="l">
                        <a:lnSpc>
                          <a:spcPct val="100000"/>
                        </a:lnSpc>
                        <a:spcBef>
                          <a:spcPts val="0"/>
                        </a:spcBef>
                        <a:spcAft>
                          <a:spcPts val="0"/>
                        </a:spcAft>
                        <a:buClr>
                          <a:srgbClr val="000000"/>
                        </a:buClr>
                        <a:buSzPts val="1200"/>
                        <a:buFont typeface="Arial"/>
                        <a:buNone/>
                      </a:pPr>
                      <a:r>
                        <a:rPr b="1" lang="en-US" sz="1200" u="none" cap="none" strike="noStrike">
                          <a:solidFill>
                            <a:srgbClr val="0F172A"/>
                          </a:solidFill>
                          <a:latin typeface="Calibri"/>
                          <a:ea typeface="Calibri"/>
                          <a:cs typeface="Calibri"/>
                          <a:sym typeface="Calibri"/>
                        </a:rPr>
                        <a:t>[True, False]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z="1200" u="none" cap="none" strike="noStrike">
                          <a:solidFill>
                            <a:srgbClr val="0F172A"/>
                          </a:solidFill>
                          <a:latin typeface="Calibri"/>
                          <a:ea typeface="Calibri"/>
                          <a:cs typeface="Calibri"/>
                          <a:sym typeface="Calibri"/>
                        </a:rPr>
                        <a:t>UNSTABLE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bl>
          </a:graphicData>
        </a:graphic>
      </p:graphicFrame>
      <p:graphicFrame>
        <p:nvGraphicFramePr>
          <p:cNvPr id="743" name="Google Shape;743;p44"/>
          <p:cNvGraphicFramePr/>
          <p:nvPr/>
        </p:nvGraphicFramePr>
        <p:xfrm>
          <a:off x="7955295" y="1645920"/>
          <a:ext cx="3000000" cy="3000000"/>
        </p:xfrm>
        <a:graphic>
          <a:graphicData uri="http://schemas.openxmlformats.org/drawingml/2006/table">
            <a:tbl>
              <a:tblPr bandRow="1" firstRow="1">
                <a:noFill/>
                <a:tableStyleId>{6D768582-A166-4AF2-A2B6-FE9F80A8B072}</a:tableStyleId>
              </a:tblPr>
              <a:tblGrid>
                <a:gridCol w="2011650"/>
                <a:gridCol w="1691625"/>
              </a:tblGrid>
              <a:tr h="429775">
                <a:tc>
                  <a:txBody>
                    <a:bodyPr/>
                    <a:lstStyle/>
                    <a:p>
                      <a:pPr indent="0" lvl="0" marL="0" marR="0" rtl="0" algn="l">
                        <a:lnSpc>
                          <a:spcPct val="100000"/>
                        </a:lnSpc>
                        <a:spcBef>
                          <a:spcPts val="0"/>
                        </a:spcBef>
                        <a:spcAft>
                          <a:spcPts val="0"/>
                        </a:spcAft>
                        <a:buClr>
                          <a:srgbClr val="000000"/>
                        </a:buClr>
                        <a:buSzPts val="1200"/>
                        <a:buFont typeface="Arial"/>
                        <a:buNone/>
                      </a:pPr>
                      <a:r>
                        <a:rPr b="1" lang="en-US" sz="1200" u="none" cap="none" strike="noStrike">
                          <a:solidFill>
                            <a:srgbClr val="FFFFFF"/>
                          </a:solidFill>
                          <a:latin typeface="Calibri"/>
                          <a:ea typeface="Calibri"/>
                          <a:cs typeface="Calibri"/>
                          <a:sym typeface="Calibri"/>
                        </a:rPr>
                        <a:t>Baseline → Candidate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z="1200" u="none" cap="none" strike="noStrike">
                          <a:solidFill>
                            <a:srgbClr val="FFFFFF"/>
                          </a:solidFill>
                          <a:latin typeface="Calibri"/>
                          <a:ea typeface="Calibri"/>
                          <a:cs typeface="Calibri"/>
                          <a:sym typeface="Calibri"/>
                        </a:rPr>
                        <a:t>transition()</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r>
              <a:tr h="429775">
                <a:tc>
                  <a:txBody>
                    <a:bodyPr/>
                    <a:lstStyle/>
                    <a:p>
                      <a:pPr indent="0" lvl="0" marL="0" marR="0" rtl="0" algn="l">
                        <a:lnSpc>
                          <a:spcPct val="100000"/>
                        </a:lnSpc>
                        <a:spcBef>
                          <a:spcPts val="0"/>
                        </a:spcBef>
                        <a:spcAft>
                          <a:spcPts val="0"/>
                        </a:spcAft>
                        <a:buClr>
                          <a:srgbClr val="000000"/>
                        </a:buClr>
                        <a:buSzPts val="1200"/>
                        <a:buFont typeface="Arial"/>
                        <a:buNone/>
                      </a:pPr>
                      <a:r>
                        <a:rPr b="1" lang="en-US" sz="1200" u="none" cap="none" strike="noStrike">
                          <a:solidFill>
                            <a:srgbClr val="0F172A"/>
                          </a:solidFill>
                          <a:latin typeface="Calibri"/>
                          <a:ea typeface="Calibri"/>
                          <a:cs typeface="Calibri"/>
                          <a:sym typeface="Calibri"/>
                        </a:rPr>
                        <a:t>either UNSTABLE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z="1200" u="none" cap="none" strike="noStrike">
                          <a:solidFill>
                            <a:srgbClr val="0F172A"/>
                          </a:solidFill>
                          <a:latin typeface="Calibri"/>
                          <a:ea typeface="Calibri"/>
                          <a:cs typeface="Calibri"/>
                          <a:sym typeface="Calibri"/>
                        </a:rPr>
                        <a:t>UNSTABLE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429775">
                <a:tc>
                  <a:txBody>
                    <a:bodyPr/>
                    <a:lstStyle/>
                    <a:p>
                      <a:pPr indent="0" lvl="0" marL="0" marR="0" rtl="0" algn="l">
                        <a:lnSpc>
                          <a:spcPct val="100000"/>
                        </a:lnSpc>
                        <a:spcBef>
                          <a:spcPts val="0"/>
                        </a:spcBef>
                        <a:spcAft>
                          <a:spcPts val="0"/>
                        </a:spcAft>
                        <a:buClr>
                          <a:srgbClr val="000000"/>
                        </a:buClr>
                        <a:buSzPts val="1200"/>
                        <a:buFont typeface="Arial"/>
                        <a:buNone/>
                      </a:pPr>
                      <a:r>
                        <a:rPr b="1" lang="en-US" sz="1200" u="none" cap="none" strike="noStrike">
                          <a:solidFill>
                            <a:srgbClr val="0F172A"/>
                          </a:solidFill>
                          <a:latin typeface="Calibri"/>
                          <a:ea typeface="Calibri"/>
                          <a:cs typeface="Calibri"/>
                          <a:sym typeface="Calibri"/>
                        </a:rPr>
                        <a:t>FAIL → PASS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z="1200" u="none" cap="none" strike="noStrike">
                          <a:solidFill>
                            <a:srgbClr val="0F172A"/>
                          </a:solidFill>
                          <a:latin typeface="Calibri"/>
                          <a:ea typeface="Calibri"/>
                          <a:cs typeface="Calibri"/>
                          <a:sym typeface="Calibri"/>
                        </a:rPr>
                        <a:t>IMPROVED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D1FAE5"/>
                    </a:solidFill>
                  </a:tcPr>
                </a:tc>
              </a:tr>
              <a:tr h="429775">
                <a:tc>
                  <a:txBody>
                    <a:bodyPr/>
                    <a:lstStyle/>
                    <a:p>
                      <a:pPr indent="0" lvl="0" marL="0" marR="0" rtl="0" algn="l">
                        <a:lnSpc>
                          <a:spcPct val="100000"/>
                        </a:lnSpc>
                        <a:spcBef>
                          <a:spcPts val="0"/>
                        </a:spcBef>
                        <a:spcAft>
                          <a:spcPts val="0"/>
                        </a:spcAft>
                        <a:buClr>
                          <a:srgbClr val="000000"/>
                        </a:buClr>
                        <a:buSzPts val="1200"/>
                        <a:buFont typeface="Arial"/>
                        <a:buNone/>
                      </a:pPr>
                      <a:r>
                        <a:rPr b="1" lang="en-US" sz="1200" u="none" cap="none" strike="noStrike">
                          <a:solidFill>
                            <a:srgbClr val="0F172A"/>
                          </a:solidFill>
                          <a:latin typeface="Calibri"/>
                          <a:ea typeface="Calibri"/>
                          <a:cs typeface="Calibri"/>
                          <a:sym typeface="Calibri"/>
                        </a:rPr>
                        <a:t>PASS → FAIL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z="1200" u="none" cap="none" strike="noStrike">
                          <a:solidFill>
                            <a:srgbClr val="0F172A"/>
                          </a:solidFill>
                          <a:latin typeface="Calibri"/>
                          <a:ea typeface="Calibri"/>
                          <a:cs typeface="Calibri"/>
                          <a:sym typeface="Calibri"/>
                        </a:rPr>
                        <a:t>REGRESSED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EE2E2"/>
                    </a:solidFill>
                  </a:tcPr>
                </a:tc>
              </a:tr>
              <a:tr h="429775">
                <a:tc>
                  <a:txBody>
                    <a:bodyPr/>
                    <a:lstStyle/>
                    <a:p>
                      <a:pPr indent="0" lvl="0" marL="0" marR="0" rtl="0" algn="l">
                        <a:lnSpc>
                          <a:spcPct val="100000"/>
                        </a:lnSpc>
                        <a:spcBef>
                          <a:spcPts val="0"/>
                        </a:spcBef>
                        <a:spcAft>
                          <a:spcPts val="0"/>
                        </a:spcAft>
                        <a:buClr>
                          <a:srgbClr val="000000"/>
                        </a:buClr>
                        <a:buSzPts val="1200"/>
                        <a:buFont typeface="Arial"/>
                        <a:buNone/>
                      </a:pPr>
                      <a:r>
                        <a:rPr b="1" lang="en-US" sz="1200" u="none" cap="none" strike="noStrike">
                          <a:solidFill>
                            <a:srgbClr val="0F172A"/>
                          </a:solidFill>
                          <a:latin typeface="Calibri"/>
                          <a:ea typeface="Calibri"/>
                          <a:cs typeface="Calibri"/>
                          <a:sym typeface="Calibri"/>
                        </a:rPr>
                        <a:t>same outcome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z="1200" u="none" cap="none" strike="noStrike">
                          <a:solidFill>
                            <a:srgbClr val="0F172A"/>
                          </a:solidFill>
                          <a:latin typeface="Calibri"/>
                          <a:ea typeface="Calibri"/>
                          <a:cs typeface="Calibri"/>
                          <a:sym typeface="Calibri"/>
                        </a:rPr>
                        <a:t>UNCHANGED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r h="429775">
                <a:tc>
                  <a:txBody>
                    <a:bodyPr/>
                    <a:lstStyle/>
                    <a:p>
                      <a:pPr indent="0" lvl="0" marL="0" marR="0" rtl="0" algn="l">
                        <a:lnSpc>
                          <a:spcPct val="100000"/>
                        </a:lnSpc>
                        <a:spcBef>
                          <a:spcPts val="0"/>
                        </a:spcBef>
                        <a:spcAft>
                          <a:spcPts val="0"/>
                        </a:spcAft>
                        <a:buClr>
                          <a:srgbClr val="000000"/>
                        </a:buClr>
                        <a:buSzPts val="1200"/>
                        <a:buFont typeface="Arial"/>
                        <a:buNone/>
                      </a:pPr>
                      <a:r>
                        <a:rPr b="1" lang="en-US" sz="1200" u="none" cap="none" strike="noStrike">
                          <a:solidFill>
                            <a:srgbClr val="0F172A"/>
                          </a:solidFill>
                          <a:latin typeface="Calibri"/>
                          <a:ea typeface="Calibri"/>
                          <a:cs typeface="Calibri"/>
                          <a:sym typeface="Calibri"/>
                        </a:rPr>
                        <a:t>anything else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z="1200" u="none" cap="none" strike="noStrike">
                          <a:solidFill>
                            <a:srgbClr val="0F172A"/>
                          </a:solidFill>
                          <a:latin typeface="Calibri"/>
                          <a:ea typeface="Calibri"/>
                          <a:cs typeface="Calibri"/>
                          <a:sym typeface="Calibri"/>
                        </a:rPr>
                        <a:t>MIXED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bl>
          </a:graphicData>
        </a:graphic>
      </p:graphicFrame>
      <p:sp>
        <p:nvSpPr>
          <p:cNvPr id="744" name="Google Shape;744;p44"/>
          <p:cNvSpPr/>
          <p:nvPr/>
        </p:nvSpPr>
        <p:spPr>
          <a:xfrm>
            <a:off x="7955295" y="4434840"/>
            <a:ext cx="3703200" cy="17373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45" name="Google Shape;745;p44"/>
          <p:cNvSpPr txBox="1"/>
          <p:nvPr/>
        </p:nvSpPr>
        <p:spPr>
          <a:xfrm>
            <a:off x="8138176" y="4590288"/>
            <a:ext cx="33375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Why repetition matters</a:t>
            </a:r>
            <a:endParaRPr b="0" i="0" sz="1400" u="none" cap="none" strike="noStrike">
              <a:solidFill>
                <a:srgbClr val="000000"/>
              </a:solidFill>
              <a:latin typeface="Arial"/>
              <a:ea typeface="Arial"/>
              <a:cs typeface="Arial"/>
              <a:sym typeface="Arial"/>
            </a:endParaRPr>
          </a:p>
        </p:txBody>
      </p:sp>
      <p:sp>
        <p:nvSpPr>
          <p:cNvPr id="746" name="Google Shape;746;p44"/>
          <p:cNvSpPr txBox="1"/>
          <p:nvPr/>
        </p:nvSpPr>
        <p:spPr>
          <a:xfrm>
            <a:off x="8138176" y="5056631"/>
            <a:ext cx="3337500" cy="10059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B45309"/>
              </a:buClr>
              <a:buSzPts val="1300"/>
              <a:buFont typeface="Calibri"/>
              <a:buChar char="•"/>
            </a:pPr>
            <a:r>
              <a:rPr b="0" i="0" lang="en-US" sz="1300" u="none" cap="none" strike="noStrike">
                <a:solidFill>
                  <a:srgbClr val="334155"/>
                </a:solidFill>
                <a:latin typeface="Calibri"/>
                <a:ea typeface="Calibri"/>
                <a:cs typeface="Calibri"/>
                <a:sym typeface="Calibri"/>
              </a:rPr>
              <a:t>temperature 0.2: one run can be luck</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00"/>
              <a:buFont typeface="Calibri"/>
              <a:buChar char="•"/>
            </a:pPr>
            <a:r>
              <a:rPr b="0" i="0" lang="en-US" sz="1300" u="none" cap="none" strike="noStrike">
                <a:solidFill>
                  <a:srgbClr val="334155"/>
                </a:solidFill>
                <a:latin typeface="Calibri"/>
                <a:ea typeface="Calibri"/>
                <a:cs typeface="Calibri"/>
                <a:sym typeface="Calibri"/>
              </a:rPr>
              <a:t>UNSTABLE is reported, never rounded</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00"/>
              <a:buFont typeface="Calibri"/>
              <a:buChar char="•"/>
            </a:pPr>
            <a:r>
              <a:rPr b="0" i="0" lang="en-US" sz="1300" u="none" cap="none" strike="noStrike">
                <a:solidFill>
                  <a:srgbClr val="334155"/>
                </a:solidFill>
                <a:latin typeface="Calibri"/>
                <a:ea typeface="Calibri"/>
                <a:cs typeface="Calibri"/>
                <a:sym typeface="Calibri"/>
              </a:rPr>
              <a:t>n = 2 ≠ statistical significance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1" name="Shape 751"/>
        <p:cNvGrpSpPr/>
        <p:nvPr/>
      </p:nvGrpSpPr>
      <p:grpSpPr>
        <a:xfrm>
          <a:off x="0" y="0"/>
          <a:ext cx="0" cy="0"/>
          <a:chOff x="0" y="0"/>
          <a:chExt cx="0" cy="0"/>
        </a:xfrm>
      </p:grpSpPr>
      <p:sp>
        <p:nvSpPr>
          <p:cNvPr id="752" name="Google Shape;752;p45"/>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Models via OpenRouter</a:t>
            </a:r>
            <a:endParaRPr b="0" i="0" sz="1400" u="none" cap="none" strike="noStrike">
              <a:solidFill>
                <a:srgbClr val="000000"/>
              </a:solidFill>
              <a:latin typeface="Arial"/>
              <a:ea typeface="Arial"/>
              <a:cs typeface="Arial"/>
              <a:sym typeface="Arial"/>
            </a:endParaRPr>
          </a:p>
        </p:txBody>
      </p:sp>
      <p:sp>
        <p:nvSpPr>
          <p:cNvPr id="753" name="Google Shape;753;p45"/>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One OpenAI-compatible endpoint, one API key, </a:t>
            </a:r>
            <a:r>
              <a:rPr b="1" i="0" lang="en-US" sz="1600" u="none" cap="none" strike="noStrike">
                <a:solidFill>
                  <a:srgbClr val="334155"/>
                </a:solidFill>
                <a:latin typeface="Calibri"/>
                <a:ea typeface="Calibri"/>
                <a:cs typeface="Calibri"/>
                <a:sym typeface="Calibri"/>
              </a:rPr>
              <a:t>any model</a:t>
            </a:r>
            <a:r>
              <a:rPr b="0" i="0" lang="en-US" sz="1600" u="none" cap="none" strike="noStrike">
                <a:solidFill>
                  <a:srgbClr val="334155"/>
                </a:solidFill>
                <a:latin typeface="Calibri"/>
                <a:ea typeface="Calibri"/>
                <a:cs typeface="Calibri"/>
                <a:sym typeface="Calibri"/>
              </a:rPr>
              <a:t> by flag. Cost and latency are captured per trial.</a:t>
            </a:r>
            <a:endParaRPr b="0" i="0" sz="1400" u="none" cap="none" strike="noStrike">
              <a:solidFill>
                <a:srgbClr val="000000"/>
              </a:solidFill>
              <a:latin typeface="Arial"/>
              <a:ea typeface="Arial"/>
              <a:cs typeface="Arial"/>
              <a:sym typeface="Arial"/>
            </a:endParaRPr>
          </a:p>
        </p:txBody>
      </p:sp>
      <p:sp>
        <p:nvSpPr>
          <p:cNvPr id="754" name="Google Shape;754;p45"/>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How the tool runs</a:t>
            </a:r>
            <a:endParaRPr b="0" i="0" sz="1400" u="none" cap="none" strike="noStrike">
              <a:solidFill>
                <a:srgbClr val="000000"/>
              </a:solidFill>
              <a:latin typeface="Arial"/>
              <a:ea typeface="Arial"/>
              <a:cs typeface="Arial"/>
              <a:sym typeface="Arial"/>
            </a:endParaRPr>
          </a:p>
        </p:txBody>
      </p:sp>
      <p:sp>
        <p:nvSpPr>
          <p:cNvPr id="755" name="Google Shape;755;p45"/>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21</a:t>
            </a:r>
            <a:endParaRPr b="0" i="0" sz="1400" u="none" cap="none" strike="noStrike">
              <a:solidFill>
                <a:srgbClr val="000000"/>
              </a:solidFill>
              <a:latin typeface="Arial"/>
              <a:ea typeface="Arial"/>
              <a:cs typeface="Arial"/>
              <a:sym typeface="Arial"/>
            </a:endParaRPr>
          </a:p>
        </p:txBody>
      </p:sp>
      <p:graphicFrame>
        <p:nvGraphicFramePr>
          <p:cNvPr id="756" name="Google Shape;756;p45"/>
          <p:cNvGraphicFramePr/>
          <p:nvPr/>
        </p:nvGraphicFramePr>
        <p:xfrm>
          <a:off x="548641" y="1645920"/>
          <a:ext cx="3000000" cy="3000000"/>
        </p:xfrm>
        <a:graphic>
          <a:graphicData uri="http://schemas.openxmlformats.org/drawingml/2006/table">
            <a:tbl>
              <a:tblPr bandRow="1" firstRow="1">
                <a:noFill/>
                <a:tableStyleId>{6D768582-A166-4AF2-A2B6-FE9F80A8B072}</a:tableStyleId>
              </a:tblPr>
              <a:tblGrid>
                <a:gridCol w="1645925"/>
                <a:gridCol w="5303500"/>
              </a:tblGrid>
              <a:tr h="493775">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Setting</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Value in code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r>
              <a:tr h="493775">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Endpoint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ourier New"/>
                          <a:ea typeface="Courier New"/>
                          <a:cs typeface="Courier New"/>
                          <a:sym typeface="Courier New"/>
                        </a:rPr>
                        <a:t>https://openrouter.ai/api/v1</a:t>
                      </a:r>
                      <a:r>
                        <a:rPr b="0" lang="en-US" sz="1250" u="none" cap="none" strike="noStrike">
                          <a:solidFill>
                            <a:srgbClr val="0F172A"/>
                          </a:solidFill>
                          <a:latin typeface="Calibri"/>
                          <a:ea typeface="Calibri"/>
                          <a:cs typeface="Calibri"/>
                          <a:sym typeface="Calibri"/>
                        </a:rPr>
                        <a:t> → </a:t>
                      </a:r>
                      <a:r>
                        <a:rPr b="0" lang="en-US" sz="1250" u="none" cap="none" strike="noStrike">
                          <a:solidFill>
                            <a:srgbClr val="0F172A"/>
                          </a:solidFill>
                          <a:latin typeface="Courier New"/>
                          <a:ea typeface="Courier New"/>
                          <a:cs typeface="Courier New"/>
                          <a:sym typeface="Courier New"/>
                        </a:rPr>
                        <a:t>/chat/completions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493775">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Default model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ourier New"/>
                          <a:ea typeface="Courier New"/>
                          <a:cs typeface="Courier New"/>
                          <a:sym typeface="Courier New"/>
                        </a:rPr>
                        <a:t>anthropic/claude-haiku-4.5</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r h="493775">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Override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ourier New"/>
                          <a:ea typeface="Courier New"/>
                          <a:cs typeface="Courier New"/>
                          <a:sym typeface="Courier New"/>
                        </a:rPr>
                        <a:t>--model &lt;id&gt;</a:t>
                      </a:r>
                      <a:r>
                        <a:rPr b="0" lang="en-US" sz="1250" u="none" cap="none" strike="noStrike">
                          <a:solidFill>
                            <a:srgbClr val="0F172A"/>
                          </a:solidFill>
                          <a:latin typeface="Calibri"/>
                          <a:ea typeface="Calibri"/>
                          <a:cs typeface="Calibri"/>
                          <a:sym typeface="Calibri"/>
                        </a:rPr>
                        <a:t> or env </a:t>
                      </a:r>
                      <a:r>
                        <a:rPr b="0" lang="en-US" sz="1250" u="none" cap="none" strike="noStrike">
                          <a:solidFill>
                            <a:srgbClr val="0F172A"/>
                          </a:solidFill>
                          <a:latin typeface="Courier New"/>
                          <a:ea typeface="Courier New"/>
                          <a:cs typeface="Courier New"/>
                          <a:sym typeface="Courier New"/>
                        </a:rPr>
                        <a:t>OPENROUTER_MODEL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493775">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Auth</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env </a:t>
                      </a:r>
                      <a:r>
                        <a:rPr b="0" lang="en-US" sz="1250" u="none" cap="none" strike="noStrike">
                          <a:solidFill>
                            <a:srgbClr val="0F172A"/>
                          </a:solidFill>
                          <a:latin typeface="Courier New"/>
                          <a:ea typeface="Courier New"/>
                          <a:cs typeface="Courier New"/>
                          <a:sym typeface="Courier New"/>
                        </a:rPr>
                        <a:t>OPENROUTER_API_KEY</a:t>
                      </a:r>
                      <a:r>
                        <a:rPr b="0" lang="en-US" sz="1250" u="none" cap="none" strike="noStrike">
                          <a:solidFill>
                            <a:srgbClr val="0F172A"/>
                          </a:solidFill>
                          <a:latin typeface="Calibri"/>
                          <a:ea typeface="Calibri"/>
                          <a:cs typeface="Calibri"/>
                          <a:sym typeface="Calibri"/>
                        </a:rPr>
                        <a:t> → </a:t>
                      </a:r>
                      <a:r>
                        <a:rPr b="0" lang="en-US" sz="1250" u="none" cap="none" strike="noStrike">
                          <a:solidFill>
                            <a:srgbClr val="0F172A"/>
                          </a:solidFill>
                          <a:latin typeface="Courier New"/>
                          <a:ea typeface="Courier New"/>
                          <a:cs typeface="Courier New"/>
                          <a:sym typeface="Courier New"/>
                        </a:rPr>
                        <a:t>Authorization: Bearer</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r h="493775">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Agent request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streaming · temperature </a:t>
                      </a:r>
                      <a:r>
                        <a:rPr b="1" lang="en-US" sz="1250" u="none" cap="none" strike="noStrike">
                          <a:solidFill>
                            <a:srgbClr val="0F172A"/>
                          </a:solidFill>
                          <a:latin typeface="Calibri"/>
                          <a:ea typeface="Calibri"/>
                          <a:cs typeface="Calibri"/>
                          <a:sym typeface="Calibri"/>
                        </a:rPr>
                        <a:t>0.2</a:t>
                      </a:r>
                      <a:r>
                        <a:rPr b="0" lang="en-US" sz="1250" u="none" cap="none" strike="noStrike">
                          <a:solidFill>
                            <a:srgbClr val="0F172A"/>
                          </a:solidFill>
                          <a:latin typeface="Calibri"/>
                          <a:ea typeface="Calibri"/>
                          <a:cs typeface="Calibri"/>
                          <a:sym typeface="Calibri"/>
                        </a:rPr>
                        <a:t> · max_tokens </a:t>
                      </a:r>
                      <a:r>
                        <a:rPr b="1" lang="en-US" sz="1250" u="none" cap="none" strike="noStrike">
                          <a:solidFill>
                            <a:srgbClr val="0F172A"/>
                          </a:solidFill>
                          <a:latin typeface="Calibri"/>
                          <a:ea typeface="Calibri"/>
                          <a:cs typeface="Calibri"/>
                          <a:sym typeface="Calibri"/>
                        </a:rPr>
                        <a:t>2048</a:t>
                      </a:r>
                      <a:r>
                        <a:rPr b="0" lang="en-US" sz="1250" u="none" cap="none" strike="noStrike">
                          <a:solidFill>
                            <a:srgbClr val="0F172A"/>
                          </a:solidFill>
                          <a:latin typeface="Calibri"/>
                          <a:ea typeface="Calibri"/>
                          <a:cs typeface="Calibri"/>
                          <a:sym typeface="Calibri"/>
                        </a:rPr>
                        <a:t> · tool_choice auto</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493775">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Loop limits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max_turns </a:t>
                      </a:r>
                      <a:r>
                        <a:rPr b="1" lang="en-US" sz="1250" u="none" cap="none" strike="noStrike">
                          <a:solidFill>
                            <a:srgbClr val="0F172A"/>
                          </a:solidFill>
                          <a:latin typeface="Calibri"/>
                          <a:ea typeface="Calibri"/>
                          <a:cs typeface="Calibri"/>
                          <a:sym typeface="Calibri"/>
                        </a:rPr>
                        <a:t>8</a:t>
                      </a:r>
                      <a:r>
                        <a:rPr b="0" lang="en-US" sz="1250" u="none" cap="none" strike="noStrike">
                          <a:solidFill>
                            <a:srgbClr val="0F172A"/>
                          </a:solidFill>
                          <a:latin typeface="Calibri"/>
                          <a:ea typeface="Calibri"/>
                          <a:cs typeface="Calibri"/>
                          <a:sym typeface="Calibri"/>
                        </a:rPr>
                        <a:t> · budget </a:t>
                      </a:r>
                      <a:r>
                        <a:rPr b="1" lang="en-US" sz="1250" u="none" cap="none" strike="noStrike">
                          <a:solidFill>
                            <a:srgbClr val="0F172A"/>
                          </a:solidFill>
                          <a:latin typeface="Calibri"/>
                          <a:ea typeface="Calibri"/>
                          <a:cs typeface="Calibri"/>
                          <a:sym typeface="Calibri"/>
                        </a:rPr>
                        <a:t>$0.05</a:t>
                      </a:r>
                      <a:r>
                        <a:rPr b="0" lang="en-US" sz="1250" u="none" cap="none" strike="noStrike">
                          <a:solidFill>
                            <a:srgbClr val="0F172A"/>
                          </a:solidFill>
                          <a:latin typeface="Calibri"/>
                          <a:ea typeface="Calibri"/>
                          <a:cs typeface="Calibri"/>
                          <a:sym typeface="Calibri"/>
                        </a:rPr>
                        <a:t> per trial (</a:t>
                      </a:r>
                      <a:r>
                        <a:rPr b="0" lang="en-US" sz="1250" u="none" cap="none" strike="noStrike">
                          <a:solidFill>
                            <a:srgbClr val="0F172A"/>
                          </a:solidFill>
                          <a:latin typeface="Courier New"/>
                          <a:ea typeface="Courier New"/>
                          <a:cs typeface="Courier New"/>
                          <a:sym typeface="Courier New"/>
                        </a:rPr>
                        <a:t>MAX_COST_PER_TRIAL</a:t>
                      </a:r>
                      <a:r>
                        <a:rPr b="0" lang="en-US" sz="1250" u="none" cap="none" strike="noStrike">
                          <a:solidFill>
                            <a:srgbClr val="0F172A"/>
                          </a:solidFill>
                          <a:latin typeface="Calibri"/>
                          <a:ea typeface="Calibri"/>
                          <a:cs typeface="Calibri"/>
                          <a:sym typeface="Calibri"/>
                        </a:rPr>
                        <a: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r h="493775">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Cost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ourier New"/>
                          <a:ea typeface="Courier New"/>
                          <a:cs typeface="Courier New"/>
                          <a:sym typeface="Courier New"/>
                        </a:rPr>
                        <a:t>usage.cost</a:t>
                      </a:r>
                      <a:r>
                        <a:rPr b="0" lang="en-US" sz="1250" u="none" cap="none" strike="noStrike">
                          <a:solidFill>
                            <a:srgbClr val="0F172A"/>
                          </a:solidFill>
                          <a:latin typeface="Calibri"/>
                          <a:ea typeface="Calibri"/>
                          <a:cs typeface="Calibri"/>
                          <a:sym typeface="Calibri"/>
                        </a:rPr>
                        <a:t> if reported, else </a:t>
                      </a:r>
                      <a:r>
                        <a:rPr b="1" lang="en-US" sz="1250" u="none" cap="none" strike="noStrike">
                          <a:solidFill>
                            <a:srgbClr val="0F172A"/>
                          </a:solidFill>
                          <a:latin typeface="Calibri"/>
                          <a:ea typeface="Calibri"/>
                          <a:cs typeface="Calibri"/>
                          <a:sym typeface="Calibri"/>
                        </a:rPr>
                        <a:t>$0.80 / $4.00</a:t>
                      </a:r>
                      <a:r>
                        <a:rPr b="0" lang="en-US" sz="1250" u="none" cap="none" strike="noStrike">
                          <a:solidFill>
                            <a:srgbClr val="0F172A"/>
                          </a:solidFill>
                          <a:latin typeface="Calibri"/>
                          <a:ea typeface="Calibri"/>
                          <a:cs typeface="Calibri"/>
                          <a:sym typeface="Calibri"/>
                        </a:rPr>
                        <a:t> per M tokens (in / out)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493775">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Captured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tokens · cost_usd · cost_source · latency_s · TTFT (ms)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bl>
          </a:graphicData>
        </a:graphic>
      </p:graphicFrame>
      <p:sp>
        <p:nvSpPr>
          <p:cNvPr id="757" name="Google Shape;757;p45"/>
          <p:cNvSpPr/>
          <p:nvPr/>
        </p:nvSpPr>
        <p:spPr>
          <a:xfrm>
            <a:off x="7863856" y="1645920"/>
            <a:ext cx="3794700" cy="731400"/>
          </a:xfrm>
          <a:prstGeom prst="roundRect">
            <a:avLst>
              <a:gd fmla="val 8000" name="adj"/>
            </a:avLst>
          </a:prstGeom>
          <a:solidFill>
            <a:srgbClr val="CCFBF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58" name="Google Shape;758;p45"/>
          <p:cNvSpPr txBox="1"/>
          <p:nvPr/>
        </p:nvSpPr>
        <p:spPr>
          <a:xfrm>
            <a:off x="8046737" y="1700784"/>
            <a:ext cx="1737300" cy="6219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0F766E"/>
                </a:solidFill>
                <a:latin typeface="Courier New"/>
                <a:ea typeface="Courier New"/>
                <a:cs typeface="Courier New"/>
                <a:sym typeface="Courier New"/>
              </a:rPr>
              <a:t>run_agent()</a:t>
            </a:r>
            <a:endParaRPr b="0" i="0" sz="1400" u="none" cap="none" strike="noStrike">
              <a:solidFill>
                <a:srgbClr val="000000"/>
              </a:solidFill>
              <a:latin typeface="Arial"/>
              <a:ea typeface="Arial"/>
              <a:cs typeface="Arial"/>
              <a:sym typeface="Arial"/>
            </a:endParaRPr>
          </a:p>
        </p:txBody>
      </p:sp>
      <p:sp>
        <p:nvSpPr>
          <p:cNvPr id="759" name="Google Shape;759;p45"/>
          <p:cNvSpPr txBox="1"/>
          <p:nvPr/>
        </p:nvSpPr>
        <p:spPr>
          <a:xfrm>
            <a:off x="9784100" y="1700784"/>
            <a:ext cx="1783200" cy="6219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system = guidance + suffix</a:t>
            </a:r>
            <a:endParaRPr b="0" i="0" sz="1400" u="none" cap="none" strike="noStrike">
              <a:solidFill>
                <a:srgbClr val="000000"/>
              </a:solidFill>
              <a:latin typeface="Arial"/>
              <a:ea typeface="Arial"/>
              <a:cs typeface="Arial"/>
              <a:sym typeface="Arial"/>
            </a:endParaRPr>
          </a:p>
        </p:txBody>
      </p:sp>
      <p:sp>
        <p:nvSpPr>
          <p:cNvPr id="760" name="Google Shape;760;p45"/>
          <p:cNvSpPr/>
          <p:nvPr/>
        </p:nvSpPr>
        <p:spPr>
          <a:xfrm>
            <a:off x="9646940" y="2386584"/>
            <a:ext cx="237600" cy="164700"/>
          </a:xfrm>
          <a:prstGeom prst="down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61" name="Google Shape;761;p45"/>
          <p:cNvSpPr/>
          <p:nvPr/>
        </p:nvSpPr>
        <p:spPr>
          <a:xfrm>
            <a:off x="7863856" y="2560320"/>
            <a:ext cx="3794700" cy="731400"/>
          </a:xfrm>
          <a:prstGeom prst="roundRect">
            <a:avLst>
              <a:gd fmla="val 8000" name="adj"/>
            </a:avLst>
          </a:prstGeom>
          <a:solidFill>
            <a:srgbClr val="CCFBF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62" name="Google Shape;762;p45"/>
          <p:cNvSpPr txBox="1"/>
          <p:nvPr/>
        </p:nvSpPr>
        <p:spPr>
          <a:xfrm>
            <a:off x="8046737" y="2615184"/>
            <a:ext cx="1737300" cy="6219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0F766E"/>
                </a:solidFill>
                <a:latin typeface="Courier New"/>
                <a:ea typeface="Courier New"/>
                <a:cs typeface="Courier New"/>
                <a:sym typeface="Courier New"/>
              </a:rPr>
              <a:t>chat()</a:t>
            </a:r>
            <a:endParaRPr b="0" i="0" sz="1400" u="none" cap="none" strike="noStrike">
              <a:solidFill>
                <a:srgbClr val="000000"/>
              </a:solidFill>
              <a:latin typeface="Arial"/>
              <a:ea typeface="Arial"/>
              <a:cs typeface="Arial"/>
              <a:sym typeface="Arial"/>
            </a:endParaRPr>
          </a:p>
        </p:txBody>
      </p:sp>
      <p:sp>
        <p:nvSpPr>
          <p:cNvPr id="763" name="Google Shape;763;p45"/>
          <p:cNvSpPr txBox="1"/>
          <p:nvPr/>
        </p:nvSpPr>
        <p:spPr>
          <a:xfrm>
            <a:off x="9784100" y="2615184"/>
            <a:ext cx="1783200" cy="6219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stream → ChatResult</a:t>
            </a:r>
            <a:endParaRPr b="0" i="0" sz="1400" u="none" cap="none" strike="noStrike">
              <a:solidFill>
                <a:srgbClr val="000000"/>
              </a:solidFill>
              <a:latin typeface="Arial"/>
              <a:ea typeface="Arial"/>
              <a:cs typeface="Arial"/>
              <a:sym typeface="Arial"/>
            </a:endParaRPr>
          </a:p>
        </p:txBody>
      </p:sp>
      <p:sp>
        <p:nvSpPr>
          <p:cNvPr id="764" name="Google Shape;764;p45"/>
          <p:cNvSpPr/>
          <p:nvPr/>
        </p:nvSpPr>
        <p:spPr>
          <a:xfrm>
            <a:off x="9646940" y="3300984"/>
            <a:ext cx="237600" cy="164700"/>
          </a:xfrm>
          <a:prstGeom prst="down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65" name="Google Shape;765;p45"/>
          <p:cNvSpPr/>
          <p:nvPr/>
        </p:nvSpPr>
        <p:spPr>
          <a:xfrm>
            <a:off x="7863856" y="3474720"/>
            <a:ext cx="3794700" cy="731400"/>
          </a:xfrm>
          <a:prstGeom prst="roundRect">
            <a:avLst>
              <a:gd fmla="val 8000" name="adj"/>
            </a:avLst>
          </a:prstGeom>
          <a:solidFill>
            <a:srgbClr val="FEF3C7"/>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66" name="Google Shape;766;p45"/>
          <p:cNvSpPr txBox="1"/>
          <p:nvPr/>
        </p:nvSpPr>
        <p:spPr>
          <a:xfrm>
            <a:off x="8046737" y="3529584"/>
            <a:ext cx="1737300" cy="6219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B45309"/>
                </a:solidFill>
                <a:latin typeface="Courier New"/>
                <a:ea typeface="Courier New"/>
                <a:cs typeface="Courier New"/>
                <a:sym typeface="Courier New"/>
              </a:rPr>
              <a:t>tool_calls?</a:t>
            </a:r>
            <a:endParaRPr b="0" i="0" sz="1400" u="none" cap="none" strike="noStrike">
              <a:solidFill>
                <a:srgbClr val="000000"/>
              </a:solidFill>
              <a:latin typeface="Arial"/>
              <a:ea typeface="Arial"/>
              <a:cs typeface="Arial"/>
              <a:sym typeface="Arial"/>
            </a:endParaRPr>
          </a:p>
        </p:txBody>
      </p:sp>
      <p:sp>
        <p:nvSpPr>
          <p:cNvPr id="767" name="Google Shape;767;p45"/>
          <p:cNvSpPr txBox="1"/>
          <p:nvPr/>
        </p:nvSpPr>
        <p:spPr>
          <a:xfrm>
            <a:off x="9784100" y="3529584"/>
            <a:ext cx="1783200" cy="6219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yes → run_tool()</a:t>
            </a:r>
            <a:endParaRPr b="0" i="0" sz="1400" u="none" cap="none" strike="noStrike">
              <a:solidFill>
                <a:srgbClr val="000000"/>
              </a:solidFill>
              <a:latin typeface="Arial"/>
              <a:ea typeface="Arial"/>
              <a:cs typeface="Arial"/>
              <a:sym typeface="Arial"/>
            </a:endParaRPr>
          </a:p>
        </p:txBody>
      </p:sp>
      <p:sp>
        <p:nvSpPr>
          <p:cNvPr id="768" name="Google Shape;768;p45"/>
          <p:cNvSpPr/>
          <p:nvPr/>
        </p:nvSpPr>
        <p:spPr>
          <a:xfrm>
            <a:off x="9646940" y="4215383"/>
            <a:ext cx="237600" cy="164700"/>
          </a:xfrm>
          <a:prstGeom prst="down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69" name="Google Shape;769;p45"/>
          <p:cNvSpPr/>
          <p:nvPr/>
        </p:nvSpPr>
        <p:spPr>
          <a:xfrm>
            <a:off x="7863856" y="4389120"/>
            <a:ext cx="3794700" cy="731400"/>
          </a:xfrm>
          <a:prstGeom prst="roundRect">
            <a:avLst>
              <a:gd fmla="val 8000" name="adj"/>
            </a:avLst>
          </a:prstGeom>
          <a:solidFill>
            <a:srgbClr val="CCFBF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0" name="Google Shape;770;p45"/>
          <p:cNvSpPr txBox="1"/>
          <p:nvPr/>
        </p:nvSpPr>
        <p:spPr>
          <a:xfrm>
            <a:off x="8046737" y="4443983"/>
            <a:ext cx="1737300" cy="6219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0F766E"/>
                </a:solidFill>
                <a:latin typeface="Courier New"/>
                <a:ea typeface="Courier New"/>
                <a:cs typeface="Courier New"/>
                <a:sym typeface="Courier New"/>
              </a:rPr>
              <a:t>append results</a:t>
            </a:r>
            <a:endParaRPr b="0" i="0" sz="1400" u="none" cap="none" strike="noStrike">
              <a:solidFill>
                <a:srgbClr val="000000"/>
              </a:solidFill>
              <a:latin typeface="Arial"/>
              <a:ea typeface="Arial"/>
              <a:cs typeface="Arial"/>
              <a:sym typeface="Arial"/>
            </a:endParaRPr>
          </a:p>
        </p:txBody>
      </p:sp>
      <p:sp>
        <p:nvSpPr>
          <p:cNvPr id="771" name="Google Shape;771;p45"/>
          <p:cNvSpPr txBox="1"/>
          <p:nvPr/>
        </p:nvSpPr>
        <p:spPr>
          <a:xfrm>
            <a:off x="9784100" y="4443983"/>
            <a:ext cx="1783200" cy="6219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loop ≤ 8 turns</a:t>
            </a:r>
            <a:endParaRPr b="0" i="0" sz="1400" u="none" cap="none" strike="noStrike">
              <a:solidFill>
                <a:srgbClr val="000000"/>
              </a:solidFill>
              <a:latin typeface="Arial"/>
              <a:ea typeface="Arial"/>
              <a:cs typeface="Arial"/>
              <a:sym typeface="Arial"/>
            </a:endParaRPr>
          </a:p>
        </p:txBody>
      </p:sp>
      <p:sp>
        <p:nvSpPr>
          <p:cNvPr id="772" name="Google Shape;772;p45"/>
          <p:cNvSpPr/>
          <p:nvPr/>
        </p:nvSpPr>
        <p:spPr>
          <a:xfrm>
            <a:off x="7863856" y="5349240"/>
            <a:ext cx="3794700" cy="8229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3" name="Google Shape;773;p45"/>
          <p:cNvSpPr txBox="1"/>
          <p:nvPr/>
        </p:nvSpPr>
        <p:spPr>
          <a:xfrm>
            <a:off x="8046736" y="5504688"/>
            <a:ext cx="34290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Stops when</a:t>
            </a:r>
            <a:endParaRPr b="1" i="0" sz="1500" u="none" cap="none" strike="noStrike">
              <a:solidFill>
                <a:srgbClr val="0F172A"/>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500"/>
              <a:buFont typeface="Arial"/>
              <a:buNone/>
            </a:pPr>
            <a:r>
              <a:t/>
            </a:r>
            <a:endParaRPr b="1" sz="1500">
              <a:solidFill>
                <a:srgbClr val="0F172A"/>
              </a:solidFill>
              <a:latin typeface="Calibri"/>
              <a:ea typeface="Calibri"/>
              <a:cs typeface="Calibri"/>
              <a:sym typeface="Calibri"/>
            </a:endParaRPr>
          </a:p>
        </p:txBody>
      </p:sp>
      <p:sp>
        <p:nvSpPr>
          <p:cNvPr id="774" name="Google Shape;774;p45"/>
          <p:cNvSpPr txBox="1"/>
          <p:nvPr/>
        </p:nvSpPr>
        <p:spPr>
          <a:xfrm>
            <a:off x="8046737" y="5715000"/>
            <a:ext cx="356610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no tool calls · HTTP error · cost &gt; $0.05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9" name="Shape 779"/>
        <p:cNvGrpSpPr/>
        <p:nvPr/>
      </p:nvGrpSpPr>
      <p:grpSpPr>
        <a:xfrm>
          <a:off x="0" y="0"/>
          <a:ext cx="0" cy="0"/>
          <a:chOff x="0" y="0"/>
          <a:chExt cx="0" cy="0"/>
        </a:xfrm>
      </p:grpSpPr>
      <p:sp>
        <p:nvSpPr>
          <p:cNvPr id="780" name="Google Shape;780;p46"/>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Dry run: the same pipeline, no LLM call</a:t>
            </a:r>
            <a:endParaRPr b="0" i="0" sz="1400" u="none" cap="none" strike="noStrike">
              <a:solidFill>
                <a:srgbClr val="000000"/>
              </a:solidFill>
              <a:latin typeface="Arial"/>
              <a:ea typeface="Arial"/>
              <a:cs typeface="Arial"/>
              <a:sym typeface="Arial"/>
            </a:endParaRPr>
          </a:p>
        </p:txBody>
      </p:sp>
      <p:sp>
        <p:nvSpPr>
          <p:cNvPr id="781" name="Google Shape;781;p46"/>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ourier New"/>
                <a:ea typeface="Courier New"/>
                <a:cs typeface="Courier New"/>
                <a:sym typeface="Courier New"/>
              </a:rPr>
              <a:t>python -m eval --dry-run</a:t>
            </a:r>
            <a:r>
              <a:rPr b="0" i="0" lang="en-US" sz="1600" u="none" cap="none" strike="noStrike">
                <a:solidFill>
                  <a:srgbClr val="334155"/>
                </a:solidFill>
                <a:latin typeface="Calibri"/>
                <a:ea typeface="Calibri"/>
                <a:cs typeface="Calibri"/>
                <a:sym typeface="Calibri"/>
              </a:rPr>
              <a:t> swaps </a:t>
            </a:r>
            <a:r>
              <a:rPr b="1" i="0" lang="en-US" sz="1600" u="none" cap="none" strike="noStrike">
                <a:solidFill>
                  <a:srgbClr val="334155"/>
                </a:solidFill>
                <a:latin typeface="Calibri"/>
                <a:ea typeface="Calibri"/>
                <a:cs typeface="Calibri"/>
                <a:sym typeface="Calibri"/>
              </a:rPr>
              <a:t>only</a:t>
            </a:r>
            <a:r>
              <a:rPr b="0" i="0" lang="en-US" sz="1600" u="none" cap="none" strike="noStrike">
                <a:solidFill>
                  <a:srgbClr val="334155"/>
                </a:solidFill>
                <a:latin typeface="Calibri"/>
                <a:ea typeface="Calibri"/>
                <a:cs typeface="Calibri"/>
                <a:sym typeface="Calibri"/>
              </a:rPr>
              <a:t> the agent step for on-disk mocks. Graders, compare and gate still run.</a:t>
            </a:r>
            <a:endParaRPr b="0" i="0" sz="1400" u="none" cap="none" strike="noStrike">
              <a:solidFill>
                <a:srgbClr val="000000"/>
              </a:solidFill>
              <a:latin typeface="Arial"/>
              <a:ea typeface="Arial"/>
              <a:cs typeface="Arial"/>
              <a:sym typeface="Arial"/>
            </a:endParaRPr>
          </a:p>
        </p:txBody>
      </p:sp>
      <p:sp>
        <p:nvSpPr>
          <p:cNvPr id="782" name="Google Shape;782;p46"/>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How the tool runs</a:t>
            </a:r>
            <a:endParaRPr b="0" i="0" sz="1400" u="none" cap="none" strike="noStrike">
              <a:solidFill>
                <a:srgbClr val="000000"/>
              </a:solidFill>
              <a:latin typeface="Arial"/>
              <a:ea typeface="Arial"/>
              <a:cs typeface="Arial"/>
              <a:sym typeface="Arial"/>
            </a:endParaRPr>
          </a:p>
        </p:txBody>
      </p:sp>
      <p:sp>
        <p:nvSpPr>
          <p:cNvPr id="783" name="Google Shape;783;p46"/>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22</a:t>
            </a:r>
            <a:endParaRPr b="0" i="0" sz="1400" u="none" cap="none" strike="noStrike">
              <a:solidFill>
                <a:srgbClr val="000000"/>
              </a:solidFill>
              <a:latin typeface="Arial"/>
              <a:ea typeface="Arial"/>
              <a:cs typeface="Arial"/>
              <a:sym typeface="Arial"/>
            </a:endParaRPr>
          </a:p>
        </p:txBody>
      </p:sp>
      <p:sp>
        <p:nvSpPr>
          <p:cNvPr id="784" name="Google Shape;784;p46"/>
          <p:cNvSpPr/>
          <p:nvPr/>
        </p:nvSpPr>
        <p:spPr>
          <a:xfrm>
            <a:off x="548641" y="1691640"/>
            <a:ext cx="1902000" cy="685800"/>
          </a:xfrm>
          <a:prstGeom prst="roundRect">
            <a:avLst>
              <a:gd fmla="val 18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0F172A"/>
                </a:solidFill>
                <a:latin typeface="Calibri"/>
                <a:ea typeface="Calibri"/>
                <a:cs typeface="Calibri"/>
                <a:sym typeface="Calibri"/>
              </a:rPr>
              <a:t>run_one_trial()</a:t>
            </a:r>
            <a:endParaRPr b="0" i="0" sz="1400" u="none" cap="none" strike="noStrike">
              <a:solidFill>
                <a:srgbClr val="000000"/>
              </a:solidFill>
              <a:latin typeface="Arial"/>
              <a:ea typeface="Arial"/>
              <a:cs typeface="Arial"/>
              <a:sym typeface="Arial"/>
            </a:endParaRPr>
          </a:p>
        </p:txBody>
      </p:sp>
      <p:sp>
        <p:nvSpPr>
          <p:cNvPr id="785" name="Google Shape;785;p46"/>
          <p:cNvSpPr/>
          <p:nvPr/>
        </p:nvSpPr>
        <p:spPr>
          <a:xfrm>
            <a:off x="2551181" y="1943100"/>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86" name="Google Shape;786;p46"/>
          <p:cNvSpPr/>
          <p:nvPr/>
        </p:nvSpPr>
        <p:spPr>
          <a:xfrm>
            <a:off x="2852934" y="1691640"/>
            <a:ext cx="1902000" cy="685800"/>
          </a:xfrm>
          <a:prstGeom prst="roundRect">
            <a:avLst>
              <a:gd fmla="val 18000" name="adj"/>
            </a:avLst>
          </a:prstGeom>
          <a:solidFill>
            <a:srgbClr val="FEF3C7"/>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B45309"/>
                </a:solidFill>
                <a:latin typeface="Calibri"/>
                <a:ea typeface="Calibri"/>
                <a:cs typeface="Calibri"/>
                <a:sym typeface="Calibri"/>
              </a:rPr>
              <a:t>--dry-run?</a:t>
            </a:r>
            <a:endParaRPr b="0" i="0" sz="1400" u="none" cap="none" strike="noStrike">
              <a:solidFill>
                <a:srgbClr val="000000"/>
              </a:solidFill>
              <a:latin typeface="Arial"/>
              <a:ea typeface="Arial"/>
              <a:cs typeface="Arial"/>
              <a:sym typeface="Arial"/>
            </a:endParaRPr>
          </a:p>
        </p:txBody>
      </p:sp>
      <p:sp>
        <p:nvSpPr>
          <p:cNvPr id="787" name="Google Shape;787;p46"/>
          <p:cNvSpPr/>
          <p:nvPr/>
        </p:nvSpPr>
        <p:spPr>
          <a:xfrm>
            <a:off x="4855474" y="1943100"/>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88" name="Google Shape;788;p46"/>
          <p:cNvSpPr/>
          <p:nvPr/>
        </p:nvSpPr>
        <p:spPr>
          <a:xfrm>
            <a:off x="5157227" y="1691640"/>
            <a:ext cx="1902000" cy="685800"/>
          </a:xfrm>
          <a:prstGeom prst="roundRect">
            <a:avLst>
              <a:gd fmla="val 18000" name="adj"/>
            </a:avLst>
          </a:prstGeom>
          <a:solidFill>
            <a:srgbClr val="FEF3C7"/>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B45309"/>
                </a:solidFill>
                <a:latin typeface="Calibri"/>
                <a:ea typeface="Calibri"/>
                <a:cs typeface="Calibri"/>
                <a:sym typeface="Calibri"/>
              </a:rPr>
              <a:t>apply_mock_transcript()</a:t>
            </a:r>
            <a:endParaRPr b="0" i="0" sz="1400" u="none" cap="none" strike="noStrike">
              <a:solidFill>
                <a:srgbClr val="000000"/>
              </a:solidFill>
              <a:latin typeface="Arial"/>
              <a:ea typeface="Arial"/>
              <a:cs typeface="Arial"/>
              <a:sym typeface="Arial"/>
            </a:endParaRPr>
          </a:p>
        </p:txBody>
      </p:sp>
      <p:sp>
        <p:nvSpPr>
          <p:cNvPr id="789" name="Google Shape;789;p46"/>
          <p:cNvSpPr/>
          <p:nvPr/>
        </p:nvSpPr>
        <p:spPr>
          <a:xfrm>
            <a:off x="7159767" y="1943100"/>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90" name="Google Shape;790;p46"/>
          <p:cNvSpPr/>
          <p:nvPr/>
        </p:nvSpPr>
        <p:spPr>
          <a:xfrm>
            <a:off x="7461519" y="1691640"/>
            <a:ext cx="1902000" cy="685800"/>
          </a:xfrm>
          <a:prstGeom prst="roundRect">
            <a:avLst>
              <a:gd fmla="val 18000" name="adj"/>
            </a:avLst>
          </a:prstGeom>
          <a:solidFill>
            <a:srgbClr val="FEF3C7"/>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B45309"/>
                </a:solidFill>
                <a:latin typeface="Calibri"/>
                <a:ea typeface="Calibri"/>
                <a:cs typeface="Calibri"/>
                <a:sym typeface="Calibri"/>
              </a:rPr>
              <a:t>mocks/&lt;arm&gt;/&lt;task&gt;/</a:t>
            </a:r>
            <a:endParaRPr b="0" i="0" sz="1400" u="none" cap="none" strike="noStrike">
              <a:solidFill>
                <a:srgbClr val="000000"/>
              </a:solidFill>
              <a:latin typeface="Arial"/>
              <a:ea typeface="Arial"/>
              <a:cs typeface="Arial"/>
              <a:sym typeface="Arial"/>
            </a:endParaRPr>
          </a:p>
        </p:txBody>
      </p:sp>
      <p:sp>
        <p:nvSpPr>
          <p:cNvPr id="791" name="Google Shape;791;p46"/>
          <p:cNvSpPr/>
          <p:nvPr/>
        </p:nvSpPr>
        <p:spPr>
          <a:xfrm>
            <a:off x="9464059" y="1943100"/>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92" name="Google Shape;792;p46"/>
          <p:cNvSpPr/>
          <p:nvPr/>
        </p:nvSpPr>
        <p:spPr>
          <a:xfrm>
            <a:off x="9765812" y="1691640"/>
            <a:ext cx="1902000" cy="685800"/>
          </a:xfrm>
          <a:prstGeom prst="roundRect">
            <a:avLst>
              <a:gd fmla="val 18000" name="adj"/>
            </a:avLst>
          </a:prstGeom>
          <a:solidFill>
            <a:srgbClr val="CCFBF1"/>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0F766E"/>
                </a:solidFill>
                <a:latin typeface="Calibri"/>
                <a:ea typeface="Calibri"/>
                <a:cs typeface="Calibri"/>
                <a:sym typeface="Calibri"/>
              </a:rPr>
              <a:t>grade_trial()</a:t>
            </a:r>
            <a:endParaRPr b="0" i="0" sz="1400" u="none" cap="none" strike="noStrike">
              <a:solidFill>
                <a:srgbClr val="000000"/>
              </a:solidFill>
              <a:latin typeface="Arial"/>
              <a:ea typeface="Arial"/>
              <a:cs typeface="Arial"/>
              <a:sym typeface="Arial"/>
            </a:endParaRPr>
          </a:p>
        </p:txBody>
      </p:sp>
      <p:sp>
        <p:nvSpPr>
          <p:cNvPr id="793" name="Google Shape;793;p46"/>
          <p:cNvSpPr/>
          <p:nvPr/>
        </p:nvSpPr>
        <p:spPr>
          <a:xfrm>
            <a:off x="548641" y="2697480"/>
            <a:ext cx="3657600" cy="34746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94" name="Google Shape;794;p46"/>
          <p:cNvSpPr txBox="1"/>
          <p:nvPr/>
        </p:nvSpPr>
        <p:spPr>
          <a:xfrm>
            <a:off x="731522" y="2852928"/>
            <a:ext cx="32919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Mocks make deterministic</a:t>
            </a:r>
            <a:endParaRPr b="0" i="0" sz="1400" u="none" cap="none" strike="noStrike">
              <a:solidFill>
                <a:srgbClr val="000000"/>
              </a:solidFill>
              <a:latin typeface="Arial"/>
              <a:ea typeface="Arial"/>
              <a:cs typeface="Arial"/>
              <a:sym typeface="Arial"/>
            </a:endParaRPr>
          </a:p>
        </p:txBody>
      </p:sp>
      <p:sp>
        <p:nvSpPr>
          <p:cNvPr id="795" name="Google Shape;795;p46"/>
          <p:cNvSpPr txBox="1"/>
          <p:nvPr/>
        </p:nvSpPr>
        <p:spPr>
          <a:xfrm>
            <a:off x="731522" y="3319272"/>
            <a:ext cx="3291900" cy="27432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B45309"/>
              </a:buClr>
              <a:buSzPts val="1300"/>
              <a:buFont typeface="Courier New"/>
              <a:buChar char="•"/>
            </a:pPr>
            <a:r>
              <a:rPr b="0" i="0" lang="en-US" sz="1300" u="none" cap="none" strike="noStrike">
                <a:solidFill>
                  <a:srgbClr val="334155"/>
                </a:solidFill>
                <a:latin typeface="Courier New"/>
                <a:ea typeface="Courier New"/>
                <a:cs typeface="Courier New"/>
                <a:sym typeface="Courier New"/>
              </a:rPr>
              <a:t>findings.json</a:t>
            </a:r>
            <a:r>
              <a:rPr b="0" i="0" lang="en-US" sz="1300" u="none" cap="none" strike="noStrike">
                <a:solidFill>
                  <a:srgbClr val="334155"/>
                </a:solidFill>
                <a:latin typeface="Calibri"/>
                <a:ea typeface="Calibri"/>
                <a:cs typeface="Calibri"/>
                <a:sym typeface="Calibri"/>
              </a:rPr>
              <a:t> per arm per task</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00"/>
              <a:buFont typeface="Calibri"/>
              <a:buChar char="•"/>
            </a:pPr>
            <a:r>
              <a:rPr b="0" i="0" lang="en-US" sz="1300" u="none" cap="none" strike="noStrike">
                <a:solidFill>
                  <a:srgbClr val="334155"/>
                </a:solidFill>
                <a:latin typeface="Calibri"/>
                <a:ea typeface="Calibri"/>
                <a:cs typeface="Calibri"/>
                <a:sym typeface="Calibri"/>
              </a:rPr>
              <a:t>Workspace side effects via </a:t>
            </a:r>
            <a:r>
              <a:rPr b="0" i="0" lang="en-US" sz="1300" u="none" cap="none" strike="noStrike">
                <a:solidFill>
                  <a:srgbClr val="334155"/>
                </a:solidFill>
                <a:latin typeface="Courier New"/>
                <a:ea typeface="Courier New"/>
                <a:cs typeface="Courier New"/>
                <a:sym typeface="Courier New"/>
              </a:rPr>
              <a:t>overlay/</a:t>
            </a:r>
            <a:r>
              <a:rPr b="0" i="0" lang="en-US" sz="1300" u="none" cap="none" strike="noStrike">
                <a:solidFill>
                  <a:srgbClr val="334155"/>
                </a:solidFill>
                <a:latin typeface="Calibri"/>
                <a:ea typeface="Calibri"/>
                <a:cs typeface="Calibri"/>
                <a:sym typeface="Calibri"/>
              </a:rPr>
              <a:t> (bad keep-suite rewrites </a:t>
            </a:r>
            <a:r>
              <a:rPr b="0" i="0" lang="en-US" sz="1300" u="none" cap="none" strike="noStrike">
                <a:solidFill>
                  <a:srgbClr val="334155"/>
                </a:solidFill>
                <a:latin typeface="Courier New"/>
                <a:ea typeface="Courier New"/>
                <a:cs typeface="Courier New"/>
                <a:sym typeface="Courier New"/>
              </a:rPr>
              <a:t>app/config.py</a:t>
            </a:r>
            <a:r>
              <a:rPr b="0" i="0" lang="en-US" sz="1300" u="none" cap="none" strike="noStrike">
                <a:solidFill>
                  <a:srgbClr val="33415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00"/>
              <a:buFont typeface="Calibri"/>
              <a:buChar char="•"/>
            </a:pPr>
            <a:r>
              <a:rPr b="0" i="0" lang="en-US" sz="1300" u="none" cap="none" strike="noStrike">
                <a:solidFill>
                  <a:srgbClr val="334155"/>
                </a:solidFill>
                <a:latin typeface="Calibri"/>
                <a:ea typeface="Calibri"/>
                <a:cs typeface="Calibri"/>
                <a:sym typeface="Calibri"/>
              </a:rPr>
              <a:t>Model rubric: mock rule, PASS iff </a:t>
            </a:r>
            <a:r>
              <a:rPr b="0" i="0" lang="en-US" sz="1300" u="none" cap="none" strike="noStrike">
                <a:solidFill>
                  <a:srgbClr val="334155"/>
                </a:solidFill>
                <a:latin typeface="Courier New"/>
                <a:ea typeface="Courier New"/>
                <a:cs typeface="Courier New"/>
                <a:sym typeface="Courier New"/>
              </a:rPr>
              <a:t>logTransfer</a:t>
            </a:r>
            <a:r>
              <a:rPr b="0" i="0" lang="en-US" sz="1300" u="none" cap="none" strike="noStrike">
                <a:solidFill>
                  <a:srgbClr val="334155"/>
                </a:solidFill>
                <a:latin typeface="Calibri"/>
                <a:ea typeface="Calibri"/>
                <a:cs typeface="Calibri"/>
                <a:sym typeface="Calibri"/>
              </a:rPr>
              <a:t> is marked not vulnerable</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00"/>
              <a:buFont typeface="Calibri"/>
              <a:buChar char="•"/>
            </a:pPr>
            <a:r>
              <a:rPr b="0" i="0" lang="en-US" sz="1300" u="none" cap="none" strike="noStrike">
                <a:solidFill>
                  <a:srgbClr val="334155"/>
                </a:solidFill>
                <a:latin typeface="Calibri"/>
                <a:ea typeface="Calibri"/>
                <a:cs typeface="Calibri"/>
                <a:sym typeface="Calibri"/>
              </a:rPr>
              <a:t>Cost </a:t>
            </a:r>
            <a:r>
              <a:rPr b="1" i="0" lang="en-US" sz="1300" u="none" cap="none" strike="noStrike">
                <a:solidFill>
                  <a:srgbClr val="334155"/>
                </a:solidFill>
                <a:latin typeface="Calibri"/>
                <a:ea typeface="Calibri"/>
                <a:cs typeface="Calibri"/>
                <a:sym typeface="Calibri"/>
              </a:rPr>
              <a:t>$0.00</a:t>
            </a:r>
            <a:r>
              <a:rPr b="0" i="0" lang="en-US" sz="1300" u="none" cap="none" strike="noStrike">
                <a:solidFill>
                  <a:srgbClr val="334155"/>
                </a:solidFill>
                <a:latin typeface="Calibri"/>
                <a:ea typeface="Calibri"/>
                <a:cs typeface="Calibri"/>
                <a:sym typeface="Calibri"/>
              </a:rPr>
              <a:t>, </a:t>
            </a:r>
            <a:r>
              <a:rPr b="0" i="0" lang="en-US" sz="1300" u="none" cap="none" strike="noStrike">
                <a:solidFill>
                  <a:srgbClr val="334155"/>
                </a:solidFill>
                <a:latin typeface="Courier New"/>
                <a:ea typeface="Courier New"/>
                <a:cs typeface="Courier New"/>
                <a:sym typeface="Courier New"/>
              </a:rPr>
              <a:t>cost_source: mock</a:t>
            </a:r>
            <a:endParaRPr b="0" i="0" sz="1400" u="none" cap="none" strike="noStrike">
              <a:solidFill>
                <a:srgbClr val="000000"/>
              </a:solidFill>
              <a:latin typeface="Arial"/>
              <a:ea typeface="Arial"/>
              <a:cs typeface="Arial"/>
              <a:sym typeface="Arial"/>
            </a:endParaRPr>
          </a:p>
        </p:txBody>
      </p:sp>
      <p:sp>
        <p:nvSpPr>
          <p:cNvPr id="796" name="Google Shape;796;p46"/>
          <p:cNvSpPr/>
          <p:nvPr/>
        </p:nvSpPr>
        <p:spPr>
          <a:xfrm>
            <a:off x="4343409" y="2697480"/>
            <a:ext cx="3657600" cy="34746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97" name="Google Shape;797;p46"/>
          <p:cNvSpPr txBox="1"/>
          <p:nvPr/>
        </p:nvSpPr>
        <p:spPr>
          <a:xfrm>
            <a:off x="4526289" y="2852928"/>
            <a:ext cx="32919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Still real in dry run</a:t>
            </a:r>
            <a:endParaRPr b="0" i="0" sz="1400" u="none" cap="none" strike="noStrike">
              <a:solidFill>
                <a:srgbClr val="000000"/>
              </a:solidFill>
              <a:latin typeface="Arial"/>
              <a:ea typeface="Arial"/>
              <a:cs typeface="Arial"/>
              <a:sym typeface="Arial"/>
            </a:endParaRPr>
          </a:p>
        </p:txBody>
      </p:sp>
      <p:sp>
        <p:nvSpPr>
          <p:cNvPr id="798" name="Google Shape;798;p46"/>
          <p:cNvSpPr txBox="1"/>
          <p:nvPr/>
        </p:nvSpPr>
        <p:spPr>
          <a:xfrm>
            <a:off x="4526289" y="3319272"/>
            <a:ext cx="3291900" cy="27432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047857"/>
              </a:buClr>
              <a:buSzPts val="1300"/>
              <a:buFont typeface="Calibri"/>
              <a:buChar char="•"/>
            </a:pPr>
            <a:r>
              <a:rPr b="0" i="0" lang="en-US" sz="1300" u="none" cap="none" strike="noStrike">
                <a:solidFill>
                  <a:srgbClr val="334155"/>
                </a:solidFill>
                <a:latin typeface="Calibri"/>
                <a:ea typeface="Calibri"/>
                <a:cs typeface="Calibri"/>
                <a:sym typeface="Calibri"/>
              </a:rPr>
              <a:t>Workspace copy + guidance injection</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47857"/>
              </a:buClr>
              <a:buSzPts val="1300"/>
              <a:buFont typeface="Calibri"/>
              <a:buChar char="•"/>
            </a:pPr>
            <a:r>
              <a:rPr b="0" i="0" lang="en-US" sz="1300" u="none" cap="none" strike="noStrike">
                <a:solidFill>
                  <a:srgbClr val="334155"/>
                </a:solidFill>
                <a:latin typeface="Calibri"/>
                <a:ea typeface="Calibri"/>
                <a:cs typeface="Calibri"/>
                <a:sym typeface="Calibri"/>
              </a:rPr>
              <a:t>Held-out JSON comparison</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47857"/>
              </a:buClr>
              <a:buSzPts val="1300"/>
              <a:buFont typeface="Calibri"/>
              <a:buChar char="•"/>
            </a:pPr>
            <a:r>
              <a:rPr b="0" i="0" lang="en-US" sz="1300" u="none" cap="none" strike="noStrike">
                <a:solidFill>
                  <a:srgbClr val="334155"/>
                </a:solidFill>
                <a:latin typeface="Calibri"/>
                <a:ea typeface="Calibri"/>
                <a:cs typeface="Calibri"/>
                <a:sym typeface="Calibri"/>
              </a:rPr>
              <a:t>A real </a:t>
            </a:r>
            <a:r>
              <a:rPr b="0" i="0" lang="en-US" sz="1300" u="none" cap="none" strike="noStrike">
                <a:solidFill>
                  <a:srgbClr val="334155"/>
                </a:solidFill>
                <a:latin typeface="Courier New"/>
                <a:ea typeface="Courier New"/>
                <a:cs typeface="Courier New"/>
                <a:sym typeface="Courier New"/>
              </a:rPr>
              <a:t>pytest</a:t>
            </a:r>
            <a:r>
              <a:rPr b="0" i="0" lang="en-US" sz="1300" u="none" cap="none" strike="noStrike">
                <a:solidFill>
                  <a:srgbClr val="334155"/>
                </a:solidFill>
                <a:latin typeface="Calibri"/>
                <a:ea typeface="Calibri"/>
                <a:cs typeface="Calibri"/>
                <a:sym typeface="Calibri"/>
              </a:rPr>
              <a:t> subprocess</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47857"/>
              </a:buClr>
              <a:buSzPts val="1300"/>
              <a:buFont typeface="Calibri"/>
              <a:buChar char="•"/>
            </a:pPr>
            <a:r>
              <a:rPr b="0" i="0" lang="en-US" sz="1300" u="none" cap="none" strike="noStrike">
                <a:solidFill>
                  <a:srgbClr val="334155"/>
                </a:solidFill>
                <a:latin typeface="Calibri"/>
                <a:ea typeface="Calibri"/>
                <a:cs typeface="Calibri"/>
                <a:sym typeface="Calibri"/>
              </a:rPr>
              <a:t>compare · promote (in memory) · gate · reports</a:t>
            </a:r>
            <a:endParaRPr b="0" i="0" sz="1400" u="none" cap="none" strike="noStrike">
              <a:solidFill>
                <a:srgbClr val="000000"/>
              </a:solidFill>
              <a:latin typeface="Arial"/>
              <a:ea typeface="Arial"/>
              <a:cs typeface="Arial"/>
              <a:sym typeface="Arial"/>
            </a:endParaRPr>
          </a:p>
        </p:txBody>
      </p:sp>
      <p:sp>
        <p:nvSpPr>
          <p:cNvPr id="799" name="Google Shape;799;p46"/>
          <p:cNvSpPr/>
          <p:nvPr/>
        </p:nvSpPr>
        <p:spPr>
          <a:xfrm>
            <a:off x="8138177" y="2697480"/>
            <a:ext cx="3520500" cy="34746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00" name="Google Shape;800;p46"/>
          <p:cNvSpPr txBox="1"/>
          <p:nvPr/>
        </p:nvSpPr>
        <p:spPr>
          <a:xfrm>
            <a:off x="8321057" y="2852928"/>
            <a:ext cx="31548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Differences to remember</a:t>
            </a:r>
            <a:endParaRPr b="0" i="0" sz="1400" u="none" cap="none" strike="noStrike">
              <a:solidFill>
                <a:srgbClr val="000000"/>
              </a:solidFill>
              <a:latin typeface="Arial"/>
              <a:ea typeface="Arial"/>
              <a:cs typeface="Arial"/>
              <a:sym typeface="Arial"/>
            </a:endParaRPr>
          </a:p>
        </p:txBody>
      </p:sp>
      <p:sp>
        <p:nvSpPr>
          <p:cNvPr id="801" name="Google Shape;801;p46"/>
          <p:cNvSpPr txBox="1"/>
          <p:nvPr/>
        </p:nvSpPr>
        <p:spPr>
          <a:xfrm>
            <a:off x="8321057" y="3319272"/>
            <a:ext cx="3154800" cy="27432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1D4ED8"/>
              </a:buClr>
              <a:buSzPts val="1300"/>
              <a:buFont typeface="Courier New"/>
              <a:buChar char="•"/>
            </a:pPr>
            <a:r>
              <a:rPr b="0" i="0" lang="en-US" sz="1300" u="none" cap="none" strike="noStrike">
                <a:solidFill>
                  <a:srgbClr val="334155"/>
                </a:solidFill>
                <a:latin typeface="Courier New"/>
                <a:ea typeface="Courier New"/>
                <a:cs typeface="Courier New"/>
                <a:sym typeface="Courier New"/>
              </a:rPr>
              <a:t>scenario: both</a:t>
            </a:r>
            <a:r>
              <a:rPr b="0" i="0" lang="en-US" sz="1300" u="none" cap="none" strike="noStrike">
                <a:solidFill>
                  <a:srgbClr val="334155"/>
                </a:solidFill>
                <a:latin typeface="Calibri"/>
                <a:ea typeface="Calibri"/>
                <a:cs typeface="Calibri"/>
                <a:sym typeface="Calibri"/>
              </a:rPr>
              <a:t> runs good </a:t>
            </a:r>
            <a:r>
              <a:rPr b="1" i="0" lang="en-US" sz="1300" u="none" cap="none" strike="noStrike">
                <a:solidFill>
                  <a:srgbClr val="334155"/>
                </a:solidFill>
                <a:latin typeface="Calibri"/>
                <a:ea typeface="Calibri"/>
                <a:cs typeface="Calibri"/>
                <a:sym typeface="Calibri"/>
              </a:rPr>
              <a:t>and</a:t>
            </a:r>
            <a:r>
              <a:rPr b="0" i="0" lang="en-US" sz="1300" u="none" cap="none" strike="noStrike">
                <a:solidFill>
                  <a:srgbClr val="334155"/>
                </a:solidFill>
                <a:latin typeface="Calibri"/>
                <a:ea typeface="Calibri"/>
                <a:cs typeface="Calibri"/>
                <a:sym typeface="Calibri"/>
              </a:rPr>
              <a:t> bad only in dry run (live: good only)</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1D4ED8"/>
              </a:buClr>
              <a:buSzPts val="1300"/>
              <a:buFont typeface="Calibri"/>
              <a:buChar char="•"/>
            </a:pPr>
            <a:r>
              <a:rPr b="0" i="0" lang="en-US" sz="1300" u="none" cap="none" strike="noStrike">
                <a:solidFill>
                  <a:srgbClr val="334155"/>
                </a:solidFill>
                <a:latin typeface="Calibri"/>
                <a:ea typeface="Calibri"/>
                <a:cs typeface="Calibri"/>
                <a:sym typeface="Calibri"/>
              </a:rPr>
              <a:t>Dry run never writes </a:t>
            </a:r>
            <a:r>
              <a:rPr b="0" i="0" lang="en-US" sz="1300" u="none" cap="none" strike="noStrike">
                <a:solidFill>
                  <a:srgbClr val="334155"/>
                </a:solidFill>
                <a:latin typeface="Courier New"/>
                <a:ea typeface="Courier New"/>
                <a:cs typeface="Courier New"/>
                <a:sym typeface="Courier New"/>
              </a:rPr>
              <a:t>tasks/registry.yaml</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1D4ED8"/>
              </a:buClr>
              <a:buSzPts val="1300"/>
              <a:buFont typeface="Calibri"/>
              <a:buChar char="•"/>
            </a:pPr>
            <a:r>
              <a:rPr b="0" i="0" lang="en-US" sz="1300" u="none" cap="none" strike="noStrike">
                <a:solidFill>
                  <a:srgbClr val="334155"/>
                </a:solidFill>
                <a:latin typeface="Calibri"/>
                <a:ea typeface="Calibri"/>
                <a:cs typeface="Calibri"/>
                <a:sym typeface="Calibri"/>
              </a:rPr>
              <a:t>Live output can differ from mocks, which is why REPS and UNSTABLE exist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6" name="Shape 806"/>
        <p:cNvGrpSpPr/>
        <p:nvPr/>
      </p:nvGrpSpPr>
      <p:grpSpPr>
        <a:xfrm>
          <a:off x="0" y="0"/>
          <a:ext cx="0" cy="0"/>
          <a:chOff x="0" y="0"/>
          <a:chExt cx="0" cy="0"/>
        </a:xfrm>
      </p:grpSpPr>
      <p:sp>
        <p:nvSpPr>
          <p:cNvPr id="807" name="Google Shape;807;p47"/>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LLM-as-a-judge: recorded, never decisive</a:t>
            </a:r>
            <a:endParaRPr b="0" i="0" sz="1400" u="none" cap="none" strike="noStrike">
              <a:solidFill>
                <a:srgbClr val="000000"/>
              </a:solidFill>
              <a:latin typeface="Arial"/>
              <a:ea typeface="Arial"/>
              <a:cs typeface="Arial"/>
              <a:sym typeface="Arial"/>
            </a:endParaRPr>
          </a:p>
        </p:txBody>
      </p:sp>
      <p:sp>
        <p:nvSpPr>
          <p:cNvPr id="808" name="Google Shape;808;p47"/>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ourier New"/>
                <a:ea typeface="Courier New"/>
                <a:cs typeface="Courier New"/>
                <a:sym typeface="Courier New"/>
              </a:rPr>
              <a:t>out["pass"] = code["code_pass"]</a:t>
            </a:r>
            <a:r>
              <a:rPr b="0" i="0" lang="en-US" sz="1600" u="none" cap="none" strike="noStrike">
                <a:solidFill>
                  <a:srgbClr val="334155"/>
                </a:solidFill>
                <a:latin typeface="Calibri"/>
                <a:ea typeface="Calibri"/>
                <a:cs typeface="Calibri"/>
                <a:sym typeface="Calibri"/>
              </a:rPr>
              <a:t>: </a:t>
            </a:r>
            <a:endParaRPr b="0" i="0" sz="1600" u="none" cap="none" strike="noStrike">
              <a:solidFill>
                <a:srgbClr val="334155"/>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600"/>
              <a:buFont typeface="Arial"/>
              <a:buNone/>
            </a:pPr>
            <a:r>
              <a:rPr lang="en-US" sz="1600">
                <a:solidFill>
                  <a:srgbClr val="334155"/>
                </a:solidFill>
                <a:latin typeface="Calibri"/>
                <a:ea typeface="Calibri"/>
                <a:cs typeface="Calibri"/>
                <a:sym typeface="Calibri"/>
              </a:rPr>
              <a:t>Currently, </a:t>
            </a:r>
            <a:r>
              <a:rPr b="0" i="0" lang="en-US" sz="1600" u="none" cap="none" strike="noStrike">
                <a:solidFill>
                  <a:srgbClr val="334155"/>
                </a:solidFill>
                <a:latin typeface="Calibri"/>
                <a:ea typeface="Calibri"/>
                <a:cs typeface="Calibri"/>
                <a:sym typeface="Calibri"/>
              </a:rPr>
              <a:t>the </a:t>
            </a:r>
            <a:r>
              <a:rPr b="1" i="0" lang="en-US" sz="1600" u="none" cap="none" strike="noStrike">
                <a:solidFill>
                  <a:srgbClr val="334155"/>
                </a:solidFill>
                <a:latin typeface="Calibri"/>
                <a:ea typeface="Calibri"/>
                <a:cs typeface="Calibri"/>
                <a:sym typeface="Calibri"/>
              </a:rPr>
              <a:t>model grader cannot change</a:t>
            </a:r>
            <a:r>
              <a:rPr b="0" i="0" lang="en-US" sz="1600" u="none" cap="none" strike="noStrike">
                <a:solidFill>
                  <a:srgbClr val="334155"/>
                </a:solidFill>
                <a:latin typeface="Calibri"/>
                <a:ea typeface="Calibri"/>
                <a:cs typeface="Calibri"/>
                <a:sym typeface="Calibri"/>
              </a:rPr>
              <a:t> a trial's verdict</a:t>
            </a:r>
            <a:endParaRPr b="0" i="0" sz="1400" u="none" cap="none" strike="noStrike">
              <a:solidFill>
                <a:srgbClr val="000000"/>
              </a:solidFill>
              <a:latin typeface="Arial"/>
              <a:ea typeface="Arial"/>
              <a:cs typeface="Arial"/>
              <a:sym typeface="Arial"/>
            </a:endParaRPr>
          </a:p>
        </p:txBody>
      </p:sp>
      <p:sp>
        <p:nvSpPr>
          <p:cNvPr id="809" name="Google Shape;809;p47"/>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How the tool runs</a:t>
            </a:r>
            <a:endParaRPr b="0" i="0" sz="1400" u="none" cap="none" strike="noStrike">
              <a:solidFill>
                <a:srgbClr val="000000"/>
              </a:solidFill>
              <a:latin typeface="Arial"/>
              <a:ea typeface="Arial"/>
              <a:cs typeface="Arial"/>
              <a:sym typeface="Arial"/>
            </a:endParaRPr>
          </a:p>
        </p:txBody>
      </p:sp>
      <p:sp>
        <p:nvSpPr>
          <p:cNvPr id="810" name="Google Shape;810;p47"/>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23</a:t>
            </a:r>
            <a:endParaRPr b="0" i="0" sz="1400" u="none" cap="none" strike="noStrike">
              <a:solidFill>
                <a:srgbClr val="000000"/>
              </a:solidFill>
              <a:latin typeface="Arial"/>
              <a:ea typeface="Arial"/>
              <a:cs typeface="Arial"/>
              <a:sym typeface="Arial"/>
            </a:endParaRPr>
          </a:p>
        </p:txBody>
      </p:sp>
      <p:sp>
        <p:nvSpPr>
          <p:cNvPr id="811" name="Google Shape;811;p47"/>
          <p:cNvSpPr/>
          <p:nvPr/>
        </p:nvSpPr>
        <p:spPr>
          <a:xfrm>
            <a:off x="548651" y="1645925"/>
            <a:ext cx="5760600" cy="20397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12" name="Google Shape;812;p47"/>
          <p:cNvSpPr txBox="1"/>
          <p:nvPr/>
        </p:nvSpPr>
        <p:spPr>
          <a:xfrm>
            <a:off x="731521" y="1737360"/>
            <a:ext cx="53949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graders.py · RUBRIC_SYSTEM</a:t>
            </a:r>
            <a:endParaRPr b="0" i="0" sz="1400" u="none" cap="none" strike="noStrike">
              <a:solidFill>
                <a:srgbClr val="000000"/>
              </a:solidFill>
              <a:latin typeface="Arial"/>
              <a:ea typeface="Arial"/>
              <a:cs typeface="Arial"/>
              <a:sym typeface="Arial"/>
            </a:endParaRPr>
          </a:p>
        </p:txBody>
      </p:sp>
      <p:sp>
        <p:nvSpPr>
          <p:cNvPr id="813" name="Google Shape;813;p47"/>
          <p:cNvSpPr txBox="1"/>
          <p:nvPr/>
        </p:nvSpPr>
        <p:spPr>
          <a:xfrm>
            <a:off x="731521" y="2029968"/>
            <a:ext cx="5486400" cy="16527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RUBRIC_SYSTEM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You grade security audit explanations.</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Reply with exactly one line: PASS or FAIL,</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then a short reason.</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PASS only if the agent clearly separates</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authorization bugs from logging-only uses</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of tx.origin.</a:t>
            </a:r>
            <a:endParaRPr b="0" i="0" sz="1400" u="none" cap="none" strike="noStrike">
              <a:solidFill>
                <a:srgbClr val="000000"/>
              </a:solidFill>
              <a:latin typeface="Arial"/>
              <a:ea typeface="Arial"/>
              <a:cs typeface="Arial"/>
              <a:sym typeface="Arial"/>
            </a:endParaRPr>
          </a:p>
        </p:txBody>
      </p:sp>
      <p:sp>
        <p:nvSpPr>
          <p:cNvPr id="814" name="Google Shape;814;p47"/>
          <p:cNvSpPr/>
          <p:nvPr/>
        </p:nvSpPr>
        <p:spPr>
          <a:xfrm>
            <a:off x="548641" y="3749039"/>
            <a:ext cx="5760600" cy="24231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15" name="Google Shape;815;p47"/>
          <p:cNvSpPr txBox="1"/>
          <p:nvPr/>
        </p:nvSpPr>
        <p:spPr>
          <a:xfrm>
            <a:off x="731521" y="3904487"/>
            <a:ext cx="53949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How it runs</a:t>
            </a:r>
            <a:endParaRPr b="0" i="0" sz="1400" u="none" cap="none" strike="noStrike">
              <a:solidFill>
                <a:srgbClr val="000000"/>
              </a:solidFill>
              <a:latin typeface="Arial"/>
              <a:ea typeface="Arial"/>
              <a:cs typeface="Arial"/>
              <a:sym typeface="Arial"/>
            </a:endParaRPr>
          </a:p>
        </p:txBody>
      </p:sp>
      <p:sp>
        <p:nvSpPr>
          <p:cNvPr id="816" name="Google Shape;816;p47"/>
          <p:cNvSpPr txBox="1"/>
          <p:nvPr/>
        </p:nvSpPr>
        <p:spPr>
          <a:xfrm>
            <a:off x="731521" y="4370831"/>
            <a:ext cx="5394900" cy="16917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6D28D9"/>
              </a:buClr>
              <a:buSzPts val="1300"/>
              <a:buFont typeface="Courier New"/>
              <a:buChar char="•"/>
            </a:pPr>
            <a:r>
              <a:rPr b="0" i="0" lang="en-US" sz="1300" u="none" cap="none" strike="noStrike">
                <a:solidFill>
                  <a:srgbClr val="334155"/>
                </a:solidFill>
                <a:latin typeface="Courier New"/>
                <a:ea typeface="Courier New"/>
                <a:cs typeface="Courier New"/>
                <a:sym typeface="Courier New"/>
              </a:rPr>
              <a:t>rubric_chat()</a:t>
            </a:r>
            <a:r>
              <a:rPr b="0" i="0" lang="en-US" sz="1300" u="none" cap="none" strike="noStrike">
                <a:solidFill>
                  <a:srgbClr val="334155"/>
                </a:solidFill>
                <a:latin typeface="Calibri"/>
                <a:ea typeface="Calibri"/>
                <a:cs typeface="Calibri"/>
                <a:sym typeface="Calibri"/>
              </a:rPr>
              <a:t>: one non-tool call, </a:t>
            </a:r>
            <a:r>
              <a:rPr b="1" i="0" lang="en-US" sz="1300" u="none" cap="none" strike="noStrike">
                <a:solidFill>
                  <a:srgbClr val="334155"/>
                </a:solidFill>
                <a:latin typeface="Calibri"/>
                <a:ea typeface="Calibri"/>
                <a:cs typeface="Calibri"/>
                <a:sym typeface="Calibri"/>
              </a:rPr>
              <a:t>temperature 0</a:t>
            </a:r>
            <a:r>
              <a:rPr b="0" i="0" lang="en-US" sz="1300" u="none" cap="none" strike="noStrike">
                <a:solidFill>
                  <a:srgbClr val="334155"/>
                </a:solidFill>
                <a:latin typeface="Calibri"/>
                <a:ea typeface="Calibri"/>
                <a:cs typeface="Calibri"/>
                <a:sym typeface="Calibri"/>
              </a:rPr>
              <a:t>, max_tokens 256</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6D28D9"/>
              </a:buClr>
              <a:buSzPts val="1300"/>
              <a:buFont typeface="Calibri"/>
              <a:buChar char="•"/>
            </a:pPr>
            <a:r>
              <a:rPr b="0" i="0" lang="en-US" sz="1300" u="none" cap="none" strike="noStrike">
                <a:solidFill>
                  <a:srgbClr val="334155"/>
                </a:solidFill>
                <a:latin typeface="Calibri"/>
                <a:ea typeface="Calibri"/>
                <a:cs typeface="Calibri"/>
                <a:sym typeface="Calibri"/>
              </a:rPr>
              <a:t>Only for </a:t>
            </a:r>
            <a:r>
              <a:rPr b="0" i="0" lang="en-US" sz="1300" u="none" cap="none" strike="noStrike">
                <a:solidFill>
                  <a:srgbClr val="334155"/>
                </a:solidFill>
                <a:latin typeface="Courier New"/>
                <a:ea typeface="Courier New"/>
                <a:cs typeface="Courier New"/>
                <a:sym typeface="Courier New"/>
              </a:rPr>
              <a:t>auth-vs-log</a:t>
            </a:r>
            <a:r>
              <a:rPr b="0" i="0" lang="en-US" sz="1300" u="none" cap="none" strike="noStrike">
                <a:solidFill>
                  <a:srgbClr val="334155"/>
                </a:solidFill>
                <a:latin typeface="Calibri"/>
                <a:ea typeface="Calibri"/>
                <a:cs typeface="Calibri"/>
                <a:sym typeface="Calibri"/>
              </a:rPr>
              <a:t> and </a:t>
            </a:r>
            <a:r>
              <a:rPr b="0" i="0" lang="en-US" sz="1300" u="none" cap="none" strike="noStrike">
                <a:solidFill>
                  <a:srgbClr val="334155"/>
                </a:solidFill>
                <a:latin typeface="Courier New"/>
                <a:ea typeface="Courier New"/>
                <a:cs typeface="Courier New"/>
                <a:sym typeface="Courier New"/>
              </a:rPr>
              <a:t>caller-check</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6D28D9"/>
              </a:buClr>
              <a:buSzPts val="1300"/>
              <a:buFont typeface="Calibri"/>
              <a:buChar char="•"/>
            </a:pPr>
            <a:r>
              <a:rPr b="0" i="0" lang="en-US" sz="1300" u="none" cap="none" strike="noStrike">
                <a:solidFill>
                  <a:srgbClr val="334155"/>
                </a:solidFill>
                <a:latin typeface="Calibri"/>
                <a:ea typeface="Calibri"/>
                <a:cs typeface="Calibri"/>
                <a:sym typeface="Calibri"/>
              </a:rPr>
              <a:t>PASS if the reply starts with "PASS"</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6D28D9"/>
              </a:buClr>
              <a:buSzPts val="1300"/>
              <a:buFont typeface="Courier New"/>
              <a:buChar char="•"/>
            </a:pPr>
            <a:r>
              <a:rPr b="0" i="0" lang="en-US" sz="1300" u="none" cap="none" strike="noStrike">
                <a:solidFill>
                  <a:srgbClr val="334155"/>
                </a:solidFill>
                <a:latin typeface="Courier New"/>
                <a:ea typeface="Courier New"/>
                <a:cs typeface="Courier New"/>
                <a:sym typeface="Courier New"/>
              </a:rPr>
              <a:t>model_disagreement = model_pass != code_pass</a:t>
            </a:r>
            <a:endParaRPr b="0" i="0" sz="1400" u="none" cap="none" strike="noStrike">
              <a:solidFill>
                <a:srgbClr val="000000"/>
              </a:solidFill>
              <a:latin typeface="Arial"/>
              <a:ea typeface="Arial"/>
              <a:cs typeface="Arial"/>
              <a:sym typeface="Arial"/>
            </a:endParaRPr>
          </a:p>
        </p:txBody>
      </p:sp>
      <p:graphicFrame>
        <p:nvGraphicFramePr>
          <p:cNvPr id="817" name="Google Shape;817;p47"/>
          <p:cNvGraphicFramePr/>
          <p:nvPr/>
        </p:nvGraphicFramePr>
        <p:xfrm>
          <a:off x="6583694" y="1645920"/>
          <a:ext cx="3000000" cy="3000000"/>
        </p:xfrm>
        <a:graphic>
          <a:graphicData uri="http://schemas.openxmlformats.org/drawingml/2006/table">
            <a:tbl>
              <a:tblPr bandRow="1" firstRow="1">
                <a:noFill/>
                <a:tableStyleId>{6D768582-A166-4AF2-A2B6-FE9F80A8B072}</a:tableStyleId>
              </a:tblPr>
              <a:tblGrid>
                <a:gridCol w="2057375"/>
                <a:gridCol w="1005850"/>
                <a:gridCol w="1005850"/>
                <a:gridCol w="1005850"/>
              </a:tblGrid>
              <a:tr h="475500">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Observed (committed)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Model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Code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Final pass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r>
              <a:tr h="475500">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Bad · auth-vs-log</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PASS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D1FAE5"/>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FAIL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EE2E2"/>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FAIL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EE2E2"/>
                    </a:solidFill>
                  </a:tcPr>
                </a:tc>
              </a:tr>
              <a:tr h="475500">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Good · caller-check</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FAIL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EE2E2"/>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PASS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D1FAE5"/>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PASS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D1FAE5"/>
                    </a:solidFill>
                  </a:tcPr>
                </a:tc>
              </a:tr>
            </a:tbl>
          </a:graphicData>
        </a:graphic>
      </p:graphicFrame>
      <p:sp>
        <p:nvSpPr>
          <p:cNvPr id="818" name="Google Shape;818;p47"/>
          <p:cNvSpPr/>
          <p:nvPr/>
        </p:nvSpPr>
        <p:spPr>
          <a:xfrm>
            <a:off x="6583694" y="3291840"/>
            <a:ext cx="5074800" cy="28803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19" name="Google Shape;819;p47"/>
          <p:cNvSpPr txBox="1"/>
          <p:nvPr/>
        </p:nvSpPr>
        <p:spPr>
          <a:xfrm>
            <a:off x="6766574" y="3447288"/>
            <a:ext cx="47091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What this tells us</a:t>
            </a:r>
            <a:endParaRPr b="0" i="0" sz="1400" u="none" cap="none" strike="noStrike">
              <a:solidFill>
                <a:srgbClr val="000000"/>
              </a:solidFill>
              <a:latin typeface="Arial"/>
              <a:ea typeface="Arial"/>
              <a:cs typeface="Arial"/>
              <a:sym typeface="Arial"/>
            </a:endParaRPr>
          </a:p>
        </p:txBody>
      </p:sp>
      <p:sp>
        <p:nvSpPr>
          <p:cNvPr id="820" name="Google Shape;820;p47"/>
          <p:cNvSpPr txBox="1"/>
          <p:nvPr/>
        </p:nvSpPr>
        <p:spPr>
          <a:xfrm>
            <a:off x="6766574" y="3913632"/>
            <a:ext cx="4709100" cy="21489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B45309"/>
              </a:buClr>
              <a:buSzPts val="1300"/>
              <a:buFont typeface="Calibri"/>
              <a:buChar char="•"/>
            </a:pPr>
            <a:r>
              <a:rPr b="1" i="0" lang="en-US" sz="1300" u="none" cap="none" strike="noStrike">
                <a:solidFill>
                  <a:srgbClr val="334155"/>
                </a:solidFill>
                <a:latin typeface="Calibri"/>
                <a:ea typeface="Calibri"/>
                <a:cs typeface="Calibri"/>
                <a:sym typeface="Calibri"/>
              </a:rPr>
              <a:t>Bad:</a:t>
            </a:r>
            <a:r>
              <a:rPr b="0" i="0" lang="en-US" sz="1300" u="none" cap="none" strike="noStrike">
                <a:solidFill>
                  <a:srgbClr val="334155"/>
                </a:solidFill>
                <a:latin typeface="Calibri"/>
                <a:ea typeface="Calibri"/>
                <a:cs typeface="Calibri"/>
                <a:sym typeface="Calibri"/>
              </a:rPr>
              <a:t> rubric saw </a:t>
            </a:r>
            <a:r>
              <a:rPr b="0" i="0" lang="en-US" sz="1300" u="none" cap="none" strike="noStrike">
                <a:solidFill>
                  <a:srgbClr val="334155"/>
                </a:solidFill>
                <a:latin typeface="Courier New"/>
                <a:ea typeface="Courier New"/>
                <a:cs typeface="Courier New"/>
                <a:sym typeface="Courier New"/>
              </a:rPr>
              <a:t>logTransfer</a:t>
            </a:r>
            <a:r>
              <a:rPr b="0" i="0" lang="en-US" sz="1300" u="none" cap="none" strike="noStrike">
                <a:solidFill>
                  <a:srgbClr val="334155"/>
                </a:solidFill>
                <a:latin typeface="Calibri"/>
                <a:ea typeface="Calibri"/>
                <a:cs typeface="Calibri"/>
                <a:sym typeface="Calibri"/>
              </a:rPr>
              <a:t> marked safe and said PASS, but </a:t>
            </a:r>
            <a:r>
              <a:rPr b="0" i="0" lang="en-US" sz="1300" u="none" cap="none" strike="noStrike">
                <a:solidFill>
                  <a:srgbClr val="334155"/>
                </a:solidFill>
                <a:latin typeface="Courier New"/>
                <a:ea typeface="Courier New"/>
                <a:cs typeface="Courier New"/>
                <a:sym typeface="Courier New"/>
              </a:rPr>
              <a:t>withdraw</a:t>
            </a:r>
            <a:r>
              <a:rPr b="0" i="0" lang="en-US" sz="1300" u="none" cap="none" strike="noStrike">
                <a:solidFill>
                  <a:srgbClr val="334155"/>
                </a:solidFill>
                <a:latin typeface="Calibri"/>
                <a:ea typeface="Calibri"/>
                <a:cs typeface="Calibri"/>
                <a:sym typeface="Calibri"/>
              </a:rPr>
              <a:t> was missing → the judge was </a:t>
            </a:r>
            <a:r>
              <a:rPr b="1" i="0" lang="en-US" sz="1300" u="none" cap="none" strike="noStrike">
                <a:solidFill>
                  <a:srgbClr val="334155"/>
                </a:solidFill>
                <a:latin typeface="Calibri"/>
                <a:ea typeface="Calibri"/>
                <a:cs typeface="Calibri"/>
                <a:sym typeface="Calibri"/>
              </a:rPr>
              <a:t>fooled</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00"/>
              <a:buFont typeface="Calibri"/>
              <a:buChar char="•"/>
            </a:pPr>
            <a:r>
              <a:rPr b="1" i="0" lang="en-US" sz="1300" u="none" cap="none" strike="noStrike">
                <a:solidFill>
                  <a:srgbClr val="334155"/>
                </a:solidFill>
                <a:latin typeface="Calibri"/>
                <a:ea typeface="Calibri"/>
                <a:cs typeface="Calibri"/>
                <a:sym typeface="Calibri"/>
              </a:rPr>
              <a:t>Good:</a:t>
            </a:r>
            <a:r>
              <a:rPr b="0" i="0" lang="en-US" sz="1300" u="none" cap="none" strike="noStrike">
                <a:solidFill>
                  <a:srgbClr val="334155"/>
                </a:solidFill>
                <a:latin typeface="Calibri"/>
                <a:ea typeface="Calibri"/>
                <a:cs typeface="Calibri"/>
                <a:sym typeface="Calibri"/>
              </a:rPr>
              <a:t> dry-run mock rule looks for </a:t>
            </a:r>
            <a:r>
              <a:rPr b="0" i="0" lang="en-US" sz="1300" u="none" cap="none" strike="noStrike">
                <a:solidFill>
                  <a:srgbClr val="334155"/>
                </a:solidFill>
                <a:latin typeface="Courier New"/>
                <a:ea typeface="Courier New"/>
                <a:cs typeface="Courier New"/>
                <a:sym typeface="Courier New"/>
              </a:rPr>
              <a:t>logTransfer</a:t>
            </a:r>
            <a:r>
              <a:rPr b="0" i="0" lang="en-US" sz="1300" u="none" cap="none" strike="noStrike">
                <a:solidFill>
                  <a:srgbClr val="334155"/>
                </a:solidFill>
                <a:latin typeface="Calibri"/>
                <a:ea typeface="Calibri"/>
                <a:cs typeface="Calibri"/>
                <a:sym typeface="Calibri"/>
              </a:rPr>
              <a:t>, which Vault.sol lacks → a </a:t>
            </a:r>
            <a:r>
              <a:rPr b="1" i="0" lang="en-US" sz="1300" u="none" cap="none" strike="noStrike">
                <a:solidFill>
                  <a:srgbClr val="334155"/>
                </a:solidFill>
                <a:latin typeface="Calibri"/>
                <a:ea typeface="Calibri"/>
                <a:cs typeface="Calibri"/>
                <a:sym typeface="Calibri"/>
              </a:rPr>
              <a:t>grader artefact</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00"/>
              <a:buFont typeface="Calibri"/>
              <a:buChar char="•"/>
            </a:pPr>
            <a:r>
              <a:rPr b="0" i="0" lang="en-US" sz="1300" u="none" cap="none" strike="noStrike">
                <a:solidFill>
                  <a:srgbClr val="334155"/>
                </a:solidFill>
                <a:latin typeface="Calibri"/>
                <a:ea typeface="Calibri"/>
                <a:cs typeface="Calibri"/>
                <a:sym typeface="Calibri"/>
              </a:rPr>
              <a:t>Both counted as </a:t>
            </a:r>
            <a:r>
              <a:rPr b="0" i="0" lang="en-US" sz="1300" u="none" cap="none" strike="noStrike">
                <a:solidFill>
                  <a:srgbClr val="334155"/>
                </a:solidFill>
                <a:latin typeface="Courier New"/>
                <a:ea typeface="Courier New"/>
                <a:cs typeface="Courier New"/>
                <a:sym typeface="Courier New"/>
              </a:rPr>
              <a:t>model_disagreements</a:t>
            </a:r>
            <a:r>
              <a:rPr b="0" i="0" lang="en-US" sz="1300" u="none" cap="none" strike="noStrike">
                <a:solidFill>
                  <a:srgbClr val="334155"/>
                </a:solidFill>
                <a:latin typeface="Calibri"/>
                <a:ea typeface="Calibri"/>
                <a:cs typeface="Calibri"/>
                <a:sym typeface="Calibri"/>
              </a:rPr>
              <a:t> (bad: 2, good: 2); neither changed a verdict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5" name="Shape 825"/>
        <p:cNvGrpSpPr/>
        <p:nvPr/>
      </p:nvGrpSpPr>
      <p:grpSpPr>
        <a:xfrm>
          <a:off x="0" y="0"/>
          <a:ext cx="0" cy="0"/>
          <a:chOff x="0" y="0"/>
          <a:chExt cx="0" cy="0"/>
        </a:xfrm>
      </p:grpSpPr>
      <p:sp>
        <p:nvSpPr>
          <p:cNvPr id="826" name="Google Shape;826;p48"/>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lang="en-US" sz="3200">
                <a:solidFill>
                  <a:srgbClr val="0F172A"/>
                </a:solidFill>
                <a:latin typeface="Calibri"/>
                <a:ea typeface="Calibri"/>
                <a:cs typeface="Calibri"/>
                <a:sym typeface="Calibri"/>
              </a:rPr>
              <a:t>Why skipped </a:t>
            </a:r>
            <a:r>
              <a:rPr b="1" i="0" lang="en-US" sz="3200" u="none" cap="none" strike="noStrike">
                <a:solidFill>
                  <a:srgbClr val="0F172A"/>
                </a:solidFill>
                <a:latin typeface="Calibri"/>
                <a:ea typeface="Calibri"/>
                <a:cs typeface="Calibri"/>
                <a:sym typeface="Calibri"/>
              </a:rPr>
              <a:t>LLM-as-a-judge</a:t>
            </a:r>
            <a:r>
              <a:rPr b="1" lang="en-US" sz="3200">
                <a:solidFill>
                  <a:srgbClr val="0F172A"/>
                </a:solidFill>
                <a:latin typeface="Calibri"/>
                <a:ea typeface="Calibri"/>
                <a:cs typeface="Calibri"/>
                <a:sym typeface="Calibri"/>
              </a:rPr>
              <a:t> implementation?</a:t>
            </a:r>
            <a:endParaRPr b="0" i="0" sz="1400" u="none" cap="none" strike="noStrike">
              <a:solidFill>
                <a:srgbClr val="000000"/>
              </a:solidFill>
              <a:latin typeface="Arial"/>
              <a:ea typeface="Arial"/>
              <a:cs typeface="Arial"/>
              <a:sym typeface="Arial"/>
            </a:endParaRPr>
          </a:p>
        </p:txBody>
      </p:sp>
      <p:sp>
        <p:nvSpPr>
          <p:cNvPr id="827" name="Google Shape;827;p48"/>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How the tool runs</a:t>
            </a:r>
            <a:endParaRPr b="0" i="0" sz="1400" u="none" cap="none" strike="noStrike">
              <a:solidFill>
                <a:srgbClr val="000000"/>
              </a:solidFill>
              <a:latin typeface="Arial"/>
              <a:ea typeface="Arial"/>
              <a:cs typeface="Arial"/>
              <a:sym typeface="Arial"/>
            </a:endParaRPr>
          </a:p>
        </p:txBody>
      </p:sp>
      <p:sp>
        <p:nvSpPr>
          <p:cNvPr id="828" name="Google Shape;828;p48"/>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lang="en-US" sz="1000">
                <a:solidFill>
                  <a:srgbClr val="64748B"/>
                </a:solidFill>
                <a:latin typeface="Calibri"/>
                <a:ea typeface="Calibri"/>
                <a:cs typeface="Calibri"/>
                <a:sym typeface="Calibri"/>
              </a:rPr>
              <a:t>24</a:t>
            </a:r>
            <a:endParaRPr b="0" i="0" sz="1400" u="none" cap="none" strike="noStrike">
              <a:solidFill>
                <a:srgbClr val="000000"/>
              </a:solidFill>
              <a:latin typeface="Arial"/>
              <a:ea typeface="Arial"/>
              <a:cs typeface="Arial"/>
              <a:sym typeface="Arial"/>
            </a:endParaRPr>
          </a:p>
        </p:txBody>
      </p:sp>
      <p:sp>
        <p:nvSpPr>
          <p:cNvPr id="829" name="Google Shape;829;p48"/>
          <p:cNvSpPr/>
          <p:nvPr/>
        </p:nvSpPr>
        <p:spPr>
          <a:xfrm>
            <a:off x="548658" y="1269058"/>
            <a:ext cx="11002500" cy="51591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30" name="Google Shape;830;p48"/>
          <p:cNvSpPr txBox="1"/>
          <p:nvPr/>
        </p:nvSpPr>
        <p:spPr>
          <a:xfrm>
            <a:off x="731524" y="1424488"/>
            <a:ext cx="47091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lang="en-US" sz="1500">
                <a:solidFill>
                  <a:srgbClr val="0F172A"/>
                </a:solidFill>
                <a:latin typeface="Calibri"/>
                <a:ea typeface="Calibri"/>
                <a:cs typeface="Calibri"/>
                <a:sym typeface="Calibri"/>
              </a:rPr>
              <a:t>AI EVALUATING AI</a:t>
            </a:r>
            <a:endParaRPr b="0" i="0" sz="1400" u="none" cap="none" strike="noStrike">
              <a:solidFill>
                <a:srgbClr val="000000"/>
              </a:solidFill>
              <a:latin typeface="Arial"/>
              <a:ea typeface="Arial"/>
              <a:cs typeface="Arial"/>
              <a:sym typeface="Arial"/>
            </a:endParaRPr>
          </a:p>
        </p:txBody>
      </p:sp>
      <p:sp>
        <p:nvSpPr>
          <p:cNvPr id="831" name="Google Shape;831;p48"/>
          <p:cNvSpPr txBox="1"/>
          <p:nvPr/>
        </p:nvSpPr>
        <p:spPr>
          <a:xfrm>
            <a:off x="731525" y="1890825"/>
            <a:ext cx="10527000" cy="38847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500"/>
              </a:spcBef>
              <a:spcAft>
                <a:spcPts val="0"/>
              </a:spcAft>
              <a:buClr>
                <a:srgbClr val="B45309"/>
              </a:buClr>
              <a:buSzPts val="1300"/>
              <a:buFont typeface="Calibri"/>
              <a:buChar char="•"/>
            </a:pPr>
            <a:r>
              <a:rPr lang="en-US" sz="1300">
                <a:solidFill>
                  <a:srgbClr val="334155"/>
                </a:solidFill>
                <a:latin typeface="Calibri"/>
                <a:ea typeface="Calibri"/>
                <a:cs typeface="Calibri"/>
                <a:sym typeface="Calibri"/>
              </a:rPr>
              <a:t>I </a:t>
            </a:r>
            <a:r>
              <a:rPr b="1" lang="en-US" sz="1300">
                <a:solidFill>
                  <a:srgbClr val="334155"/>
                </a:solidFill>
                <a:latin typeface="Calibri"/>
                <a:ea typeface="Calibri"/>
                <a:cs typeface="Calibri"/>
                <a:sym typeface="Calibri"/>
              </a:rPr>
              <a:t>intentionally</a:t>
            </a:r>
            <a:r>
              <a:rPr lang="en-US" sz="1300">
                <a:solidFill>
                  <a:srgbClr val="334155"/>
                </a:solidFill>
                <a:latin typeface="Calibri"/>
                <a:ea typeface="Calibri"/>
                <a:cs typeface="Calibri"/>
                <a:sym typeface="Calibri"/>
              </a:rPr>
              <a:t> </a:t>
            </a:r>
            <a:r>
              <a:rPr b="1" lang="en-US" sz="1300">
                <a:solidFill>
                  <a:srgbClr val="334155"/>
                </a:solidFill>
                <a:latin typeface="Calibri"/>
                <a:ea typeface="Calibri"/>
                <a:cs typeface="Calibri"/>
                <a:sym typeface="Calibri"/>
              </a:rPr>
              <a:t>skipped </a:t>
            </a:r>
            <a:r>
              <a:rPr lang="en-US" sz="1300">
                <a:solidFill>
                  <a:srgbClr val="334155"/>
                </a:solidFill>
                <a:latin typeface="Calibri"/>
                <a:ea typeface="Calibri"/>
                <a:cs typeface="Calibri"/>
                <a:sym typeface="Calibri"/>
              </a:rPr>
              <a:t>this part in the </a:t>
            </a:r>
            <a:r>
              <a:rPr b="1" lang="en-US" sz="1300">
                <a:solidFill>
                  <a:srgbClr val="334155"/>
                </a:solidFill>
                <a:latin typeface="Calibri"/>
                <a:ea typeface="Calibri"/>
                <a:cs typeface="Calibri"/>
                <a:sym typeface="Calibri"/>
              </a:rPr>
              <a:t>first version.</a:t>
            </a:r>
            <a:endParaRPr b="1" sz="1300">
              <a:solidFill>
                <a:srgbClr val="334155"/>
              </a:solidFill>
              <a:latin typeface="Calibri"/>
              <a:ea typeface="Calibri"/>
              <a:cs typeface="Calibri"/>
              <a:sym typeface="Calibri"/>
            </a:endParaRPr>
          </a:p>
          <a:p>
            <a:pPr indent="-182880" lvl="0" marL="201168" marR="0" rtl="0" algn="l">
              <a:lnSpc>
                <a:spcPct val="105000"/>
              </a:lnSpc>
              <a:spcBef>
                <a:spcPts val="500"/>
              </a:spcBef>
              <a:spcAft>
                <a:spcPts val="0"/>
              </a:spcAft>
              <a:buClr>
                <a:srgbClr val="B45309"/>
              </a:buClr>
              <a:buSzPts val="1300"/>
              <a:buFont typeface="Calibri"/>
              <a:buChar char="•"/>
            </a:pPr>
            <a:r>
              <a:rPr lang="en-US" sz="1300">
                <a:solidFill>
                  <a:srgbClr val="334155"/>
                </a:solidFill>
                <a:latin typeface="Calibri"/>
                <a:ea typeface="Calibri"/>
                <a:cs typeface="Calibri"/>
                <a:sym typeface="Calibri"/>
              </a:rPr>
              <a:t>Since the tool is evaluating changes to an </a:t>
            </a:r>
            <a:r>
              <a:rPr b="1" lang="en-US" sz="1300">
                <a:solidFill>
                  <a:srgbClr val="334155"/>
                </a:solidFill>
                <a:latin typeface="Calibri"/>
                <a:ea typeface="Calibri"/>
                <a:cs typeface="Calibri"/>
                <a:sym typeface="Calibri"/>
              </a:rPr>
              <a:t>AI coding-agent harness</a:t>
            </a:r>
            <a:r>
              <a:rPr lang="en-US" sz="1300">
                <a:solidFill>
                  <a:srgbClr val="334155"/>
                </a:solidFill>
                <a:latin typeface="Calibri"/>
                <a:ea typeface="Calibri"/>
                <a:cs typeface="Calibri"/>
                <a:sym typeface="Calibri"/>
              </a:rPr>
              <a:t>, adding </a:t>
            </a:r>
            <a:r>
              <a:rPr b="1" lang="en-US" sz="1300">
                <a:solidFill>
                  <a:srgbClr val="334155"/>
                </a:solidFill>
                <a:latin typeface="Calibri"/>
                <a:ea typeface="Calibri"/>
                <a:cs typeface="Calibri"/>
                <a:sym typeface="Calibri"/>
              </a:rPr>
              <a:t>another LLM to evaluate</a:t>
            </a:r>
            <a:r>
              <a:rPr lang="en-US" sz="1300">
                <a:solidFill>
                  <a:srgbClr val="334155"/>
                </a:solidFill>
                <a:latin typeface="Calibri"/>
                <a:ea typeface="Calibri"/>
                <a:cs typeface="Calibri"/>
                <a:sym typeface="Calibri"/>
              </a:rPr>
              <a:t> the results becomes </a:t>
            </a:r>
            <a:r>
              <a:rPr b="1" lang="en-US" sz="1300">
                <a:solidFill>
                  <a:srgbClr val="334155"/>
                </a:solidFill>
                <a:latin typeface="Calibri"/>
                <a:ea typeface="Calibri"/>
                <a:cs typeface="Calibri"/>
                <a:sym typeface="Calibri"/>
              </a:rPr>
              <a:t>AI evaluating AI</a:t>
            </a:r>
            <a:r>
              <a:rPr lang="en-US" sz="1300">
                <a:solidFill>
                  <a:srgbClr val="334155"/>
                </a:solidFill>
                <a:latin typeface="Calibri"/>
                <a:ea typeface="Calibri"/>
                <a:cs typeface="Calibri"/>
                <a:sym typeface="Calibri"/>
              </a:rPr>
              <a:t>. </a:t>
            </a:r>
            <a:endParaRPr sz="1300">
              <a:solidFill>
                <a:srgbClr val="334155"/>
              </a:solidFill>
              <a:latin typeface="Calibri"/>
              <a:ea typeface="Calibri"/>
              <a:cs typeface="Calibri"/>
              <a:sym typeface="Calibri"/>
            </a:endParaRPr>
          </a:p>
          <a:p>
            <a:pPr indent="-182880" lvl="0" marL="201168" marR="0" rtl="0" algn="l">
              <a:lnSpc>
                <a:spcPct val="105000"/>
              </a:lnSpc>
              <a:spcBef>
                <a:spcPts val="500"/>
              </a:spcBef>
              <a:spcAft>
                <a:spcPts val="0"/>
              </a:spcAft>
              <a:buClr>
                <a:srgbClr val="B45309"/>
              </a:buClr>
              <a:buSzPts val="1300"/>
              <a:buFont typeface="Calibri"/>
              <a:buChar char="•"/>
            </a:pPr>
            <a:r>
              <a:rPr lang="en-US" sz="1300">
                <a:solidFill>
                  <a:srgbClr val="334155"/>
                </a:solidFill>
                <a:latin typeface="Calibri"/>
                <a:ea typeface="Calibri"/>
                <a:cs typeface="Calibri"/>
                <a:sym typeface="Calibri"/>
              </a:rPr>
              <a:t>For this first version, I wanted to </a:t>
            </a:r>
            <a:r>
              <a:rPr b="1" lang="en-US" sz="1300">
                <a:solidFill>
                  <a:srgbClr val="334155"/>
                </a:solidFill>
                <a:latin typeface="Calibri"/>
                <a:ea typeface="Calibri"/>
                <a:cs typeface="Calibri"/>
                <a:sym typeface="Calibri"/>
              </a:rPr>
              <a:t>keep the journey simple</a:t>
            </a:r>
            <a:r>
              <a:rPr lang="en-US" sz="1300">
                <a:solidFill>
                  <a:srgbClr val="334155"/>
                </a:solidFill>
                <a:latin typeface="Calibri"/>
                <a:ea typeface="Calibri"/>
                <a:cs typeface="Calibri"/>
                <a:sym typeface="Calibri"/>
              </a:rPr>
              <a:t> and easy to </a:t>
            </a:r>
            <a:r>
              <a:rPr i="1" lang="en-US" sz="1300" u="sng">
                <a:solidFill>
                  <a:srgbClr val="334155"/>
                </a:solidFill>
                <a:latin typeface="Calibri"/>
                <a:ea typeface="Calibri"/>
                <a:cs typeface="Calibri"/>
                <a:sym typeface="Calibri"/>
              </a:rPr>
              <a:t>explain by using deterministic code graders</a:t>
            </a:r>
            <a:r>
              <a:rPr lang="en-US" sz="1300">
                <a:solidFill>
                  <a:srgbClr val="334155"/>
                </a:solidFill>
                <a:latin typeface="Calibri"/>
                <a:ea typeface="Calibri"/>
                <a:cs typeface="Calibri"/>
                <a:sym typeface="Calibri"/>
              </a:rPr>
              <a:t> as the </a:t>
            </a:r>
            <a:r>
              <a:rPr b="1" lang="en-US" sz="1300">
                <a:solidFill>
                  <a:srgbClr val="334155"/>
                </a:solidFill>
                <a:latin typeface="Calibri"/>
                <a:ea typeface="Calibri"/>
                <a:cs typeface="Calibri"/>
                <a:sym typeface="Calibri"/>
              </a:rPr>
              <a:t>source of truth</a:t>
            </a:r>
            <a:r>
              <a:rPr lang="en-US" sz="1300">
                <a:solidFill>
                  <a:srgbClr val="334155"/>
                </a:solidFill>
                <a:latin typeface="Calibri"/>
                <a:ea typeface="Calibri"/>
                <a:cs typeface="Calibri"/>
                <a:sym typeface="Calibri"/>
              </a:rPr>
              <a:t>.</a:t>
            </a:r>
            <a:endParaRPr sz="1300">
              <a:solidFill>
                <a:srgbClr val="334155"/>
              </a:solidFill>
              <a:latin typeface="Calibri"/>
              <a:ea typeface="Calibri"/>
              <a:cs typeface="Calibri"/>
              <a:sym typeface="Calibri"/>
            </a:endParaRPr>
          </a:p>
          <a:p>
            <a:pPr indent="-182880" lvl="0" marL="201168" marR="0" rtl="0" algn="l">
              <a:lnSpc>
                <a:spcPct val="105000"/>
              </a:lnSpc>
              <a:spcBef>
                <a:spcPts val="500"/>
              </a:spcBef>
              <a:spcAft>
                <a:spcPts val="0"/>
              </a:spcAft>
              <a:buClr>
                <a:srgbClr val="B45309"/>
              </a:buClr>
              <a:buSzPts val="1300"/>
              <a:buFont typeface="Calibri"/>
              <a:buChar char="•"/>
            </a:pPr>
            <a:r>
              <a:rPr lang="en-US" sz="1300">
                <a:solidFill>
                  <a:srgbClr val="334155"/>
                </a:solidFill>
                <a:latin typeface="Calibri"/>
                <a:ea typeface="Calibri"/>
                <a:cs typeface="Calibri"/>
                <a:sym typeface="Calibri"/>
              </a:rPr>
              <a:t>The current flow is: </a:t>
            </a:r>
            <a:r>
              <a:rPr b="1" lang="en-US" sz="1300">
                <a:solidFill>
                  <a:srgbClr val="047857"/>
                </a:solidFill>
                <a:latin typeface="Calibri"/>
                <a:ea typeface="Calibri"/>
                <a:cs typeface="Calibri"/>
                <a:sym typeface="Calibri"/>
              </a:rPr>
              <a:t>same task -&gt; baseline vs candidate -&gt; deterministic code graders -&gt; compare outcomes -&gt; graduate/block</a:t>
            </a:r>
            <a:endParaRPr b="1" sz="1300">
              <a:solidFill>
                <a:srgbClr val="047857"/>
              </a:solidFill>
              <a:latin typeface="Calibri"/>
              <a:ea typeface="Calibri"/>
              <a:cs typeface="Calibri"/>
              <a:sym typeface="Calibri"/>
            </a:endParaRPr>
          </a:p>
          <a:p>
            <a:pPr indent="-182880" lvl="0" marL="201168" marR="0" rtl="0" algn="l">
              <a:lnSpc>
                <a:spcPct val="105000"/>
              </a:lnSpc>
              <a:spcBef>
                <a:spcPts val="500"/>
              </a:spcBef>
              <a:spcAft>
                <a:spcPts val="0"/>
              </a:spcAft>
              <a:buClr>
                <a:srgbClr val="B45309"/>
              </a:buClr>
              <a:buSzPts val="1300"/>
              <a:buFont typeface="Calibri"/>
              <a:buChar char="•"/>
            </a:pPr>
            <a:r>
              <a:rPr lang="en-US" sz="1300">
                <a:solidFill>
                  <a:srgbClr val="334155"/>
                </a:solidFill>
                <a:latin typeface="Calibri"/>
                <a:ea typeface="Calibri"/>
                <a:cs typeface="Calibri"/>
                <a:sym typeface="Calibri"/>
              </a:rPr>
              <a:t>It is not complex to create a skill that evaluates the harness results. We can definitely integrate it. Though the main concern is </a:t>
            </a:r>
            <a:r>
              <a:rPr b="1" lang="en-US" sz="1300">
                <a:solidFill>
                  <a:srgbClr val="334155"/>
                </a:solidFill>
                <a:latin typeface="Calibri"/>
                <a:ea typeface="Calibri"/>
                <a:cs typeface="Calibri"/>
                <a:sym typeface="Calibri"/>
              </a:rPr>
              <a:t>how much weight</a:t>
            </a:r>
            <a:r>
              <a:rPr lang="en-US" sz="1300">
                <a:solidFill>
                  <a:srgbClr val="334155"/>
                </a:solidFill>
                <a:latin typeface="Calibri"/>
                <a:ea typeface="Calibri"/>
                <a:cs typeface="Calibri"/>
                <a:sym typeface="Calibri"/>
              </a:rPr>
              <a:t> we give to the LLM judge. </a:t>
            </a:r>
            <a:endParaRPr sz="1300">
              <a:solidFill>
                <a:srgbClr val="334155"/>
              </a:solidFill>
              <a:latin typeface="Calibri"/>
              <a:ea typeface="Calibri"/>
              <a:cs typeface="Calibri"/>
              <a:sym typeface="Calibri"/>
            </a:endParaRPr>
          </a:p>
          <a:p>
            <a:pPr indent="-311150" lvl="1" marL="914400" marR="0" rtl="0" algn="l">
              <a:lnSpc>
                <a:spcPct val="105000"/>
              </a:lnSpc>
              <a:spcBef>
                <a:spcPts val="500"/>
              </a:spcBef>
              <a:spcAft>
                <a:spcPts val="0"/>
              </a:spcAft>
              <a:buClr>
                <a:srgbClr val="B45309"/>
              </a:buClr>
              <a:buSzPts val="1300"/>
              <a:buFont typeface="Calibri"/>
              <a:buChar char="○"/>
            </a:pPr>
            <a:r>
              <a:rPr lang="en-US" sz="1300">
                <a:solidFill>
                  <a:srgbClr val="334155"/>
                </a:solidFill>
                <a:latin typeface="Calibri"/>
                <a:ea typeface="Calibri"/>
                <a:cs typeface="Calibri"/>
                <a:sym typeface="Calibri"/>
              </a:rPr>
              <a:t>If we use it as a promotion or blocking gate, </a:t>
            </a:r>
            <a:endParaRPr sz="1300">
              <a:solidFill>
                <a:srgbClr val="334155"/>
              </a:solidFill>
              <a:latin typeface="Calibri"/>
              <a:ea typeface="Calibri"/>
              <a:cs typeface="Calibri"/>
              <a:sym typeface="Calibri"/>
            </a:endParaRPr>
          </a:p>
          <a:p>
            <a:pPr indent="-311150" lvl="1" marL="914400" marR="0" rtl="0" algn="l">
              <a:lnSpc>
                <a:spcPct val="105000"/>
              </a:lnSpc>
              <a:spcBef>
                <a:spcPts val="500"/>
              </a:spcBef>
              <a:spcAft>
                <a:spcPts val="0"/>
              </a:spcAft>
              <a:buClr>
                <a:srgbClr val="B45309"/>
              </a:buClr>
              <a:buSzPts val="1300"/>
              <a:buFont typeface="Calibri"/>
              <a:buChar char="○"/>
            </a:pPr>
            <a:r>
              <a:rPr lang="en-US" sz="1300">
                <a:solidFill>
                  <a:srgbClr val="334155"/>
                </a:solidFill>
                <a:latin typeface="Calibri"/>
                <a:ea typeface="Calibri"/>
                <a:cs typeface="Calibri"/>
                <a:sym typeface="Calibri"/>
              </a:rPr>
              <a:t>the evaluation becomes more complex because we also need to handle judge consistency, </a:t>
            </a:r>
            <a:endParaRPr sz="1300">
              <a:solidFill>
                <a:srgbClr val="334155"/>
              </a:solidFill>
              <a:latin typeface="Calibri"/>
              <a:ea typeface="Calibri"/>
              <a:cs typeface="Calibri"/>
              <a:sym typeface="Calibri"/>
            </a:endParaRPr>
          </a:p>
          <a:p>
            <a:pPr indent="-311150" lvl="1" marL="914400" marR="0" rtl="0" algn="l">
              <a:lnSpc>
                <a:spcPct val="105000"/>
              </a:lnSpc>
              <a:spcBef>
                <a:spcPts val="500"/>
              </a:spcBef>
              <a:spcAft>
                <a:spcPts val="0"/>
              </a:spcAft>
              <a:buClr>
                <a:srgbClr val="B45309"/>
              </a:buClr>
              <a:buSzPts val="1300"/>
              <a:buFont typeface="Calibri"/>
              <a:buChar char="○"/>
            </a:pPr>
            <a:r>
              <a:rPr lang="en-US" sz="1300">
                <a:solidFill>
                  <a:srgbClr val="334155"/>
                </a:solidFill>
                <a:latin typeface="Calibri"/>
                <a:ea typeface="Calibri"/>
                <a:cs typeface="Calibri"/>
                <a:sym typeface="Calibri"/>
              </a:rPr>
              <a:t>prompt sensitivity, </a:t>
            </a:r>
            <a:endParaRPr sz="1300">
              <a:solidFill>
                <a:srgbClr val="334155"/>
              </a:solidFill>
              <a:latin typeface="Calibri"/>
              <a:ea typeface="Calibri"/>
              <a:cs typeface="Calibri"/>
              <a:sym typeface="Calibri"/>
            </a:endParaRPr>
          </a:p>
          <a:p>
            <a:pPr indent="-311150" lvl="1" marL="914400" marR="0" rtl="0" algn="l">
              <a:lnSpc>
                <a:spcPct val="105000"/>
              </a:lnSpc>
              <a:spcBef>
                <a:spcPts val="500"/>
              </a:spcBef>
              <a:spcAft>
                <a:spcPts val="0"/>
              </a:spcAft>
              <a:buClr>
                <a:srgbClr val="B45309"/>
              </a:buClr>
              <a:buSzPts val="1300"/>
              <a:buFont typeface="Calibri"/>
              <a:buChar char="○"/>
            </a:pPr>
            <a:r>
              <a:rPr lang="en-US" sz="1300">
                <a:solidFill>
                  <a:srgbClr val="334155"/>
                </a:solidFill>
                <a:latin typeface="Calibri"/>
                <a:ea typeface="Calibri"/>
                <a:cs typeface="Calibri"/>
                <a:sym typeface="Calibri"/>
              </a:rPr>
              <a:t>reproducibility, </a:t>
            </a:r>
            <a:endParaRPr sz="1300">
              <a:solidFill>
                <a:srgbClr val="334155"/>
              </a:solidFill>
              <a:latin typeface="Calibri"/>
              <a:ea typeface="Calibri"/>
              <a:cs typeface="Calibri"/>
              <a:sym typeface="Calibri"/>
            </a:endParaRPr>
          </a:p>
          <a:p>
            <a:pPr indent="-311150" lvl="1" marL="914400" marR="0" rtl="0" algn="l">
              <a:lnSpc>
                <a:spcPct val="105000"/>
              </a:lnSpc>
              <a:spcBef>
                <a:spcPts val="500"/>
              </a:spcBef>
              <a:spcAft>
                <a:spcPts val="0"/>
              </a:spcAft>
              <a:buClr>
                <a:srgbClr val="B45309"/>
              </a:buClr>
              <a:buSzPts val="1300"/>
              <a:buFont typeface="Calibri"/>
              <a:buChar char="○"/>
            </a:pPr>
            <a:r>
              <a:rPr lang="en-US" sz="1300">
                <a:solidFill>
                  <a:srgbClr val="334155"/>
                </a:solidFill>
                <a:latin typeface="Calibri"/>
                <a:ea typeface="Calibri"/>
                <a:cs typeface="Calibri"/>
                <a:sym typeface="Calibri"/>
              </a:rPr>
              <a:t>and cases where the LLM judge disagrees with the deterministic grader.</a:t>
            </a:r>
            <a:endParaRPr sz="1300">
              <a:solidFill>
                <a:srgbClr val="334155"/>
              </a:solidFill>
              <a:latin typeface="Calibri"/>
              <a:ea typeface="Calibri"/>
              <a:cs typeface="Calibri"/>
              <a:sym typeface="Calibri"/>
            </a:endParaRPr>
          </a:p>
          <a:p>
            <a:pPr indent="-182880" lvl="0" marL="201168" marR="0" rtl="0" algn="l">
              <a:lnSpc>
                <a:spcPct val="105000"/>
              </a:lnSpc>
              <a:spcBef>
                <a:spcPts val="500"/>
              </a:spcBef>
              <a:spcAft>
                <a:spcPts val="0"/>
              </a:spcAft>
              <a:buClr>
                <a:srgbClr val="B45309"/>
              </a:buClr>
              <a:buSzPts val="1300"/>
              <a:buFont typeface="Calibri"/>
              <a:buChar char="•"/>
            </a:pPr>
            <a:r>
              <a:rPr lang="en-US" sz="1300">
                <a:solidFill>
                  <a:srgbClr val="334155"/>
                </a:solidFill>
                <a:latin typeface="Calibri"/>
                <a:ea typeface="Calibri"/>
                <a:cs typeface="Calibri"/>
                <a:sym typeface="Calibri"/>
              </a:rPr>
              <a:t>So I see LLM-as-Judge as an additional evaluation cherry on the top, to run parallel with deterministic grading. </a:t>
            </a:r>
            <a:endParaRPr sz="1300">
              <a:solidFill>
                <a:srgbClr val="334155"/>
              </a:solidFill>
              <a:latin typeface="Calibri"/>
              <a:ea typeface="Calibri"/>
              <a:cs typeface="Calibri"/>
              <a:sym typeface="Calibri"/>
            </a:endParaRPr>
          </a:p>
          <a:p>
            <a:pPr indent="-182880" lvl="0" marL="201168" marR="0" rtl="0" algn="l">
              <a:lnSpc>
                <a:spcPct val="105000"/>
              </a:lnSpc>
              <a:spcBef>
                <a:spcPts val="500"/>
              </a:spcBef>
              <a:spcAft>
                <a:spcPts val="0"/>
              </a:spcAft>
              <a:buClr>
                <a:srgbClr val="B45309"/>
              </a:buClr>
              <a:buSzPts val="1300"/>
              <a:buFont typeface="Calibri"/>
              <a:buChar char="•"/>
            </a:pPr>
            <a:r>
              <a:rPr lang="en-US" sz="1300">
                <a:solidFill>
                  <a:srgbClr val="334155"/>
                </a:solidFill>
                <a:latin typeface="Calibri"/>
                <a:ea typeface="Calibri"/>
                <a:cs typeface="Calibri"/>
                <a:sym typeface="Calibri"/>
              </a:rPr>
              <a:t>For now, I'm grading the outcomes with deterministic code graders first.</a:t>
            </a:r>
            <a:endParaRPr sz="1300">
              <a:solidFill>
                <a:srgbClr val="334155"/>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6" name="Shape 836"/>
        <p:cNvGrpSpPr/>
        <p:nvPr/>
      </p:nvGrpSpPr>
      <p:grpSpPr>
        <a:xfrm>
          <a:off x="0" y="0"/>
          <a:ext cx="0" cy="0"/>
          <a:chOff x="0" y="0"/>
          <a:chExt cx="0" cy="0"/>
        </a:xfrm>
      </p:grpSpPr>
      <p:sp>
        <p:nvSpPr>
          <p:cNvPr id="837" name="Google Shape;837;p49"/>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eval.config.yaml: choosing which story to run</a:t>
            </a:r>
            <a:endParaRPr b="0" i="0" sz="1400" u="none" cap="none" strike="noStrike">
              <a:solidFill>
                <a:srgbClr val="000000"/>
              </a:solidFill>
              <a:latin typeface="Arial"/>
              <a:ea typeface="Arial"/>
              <a:cs typeface="Arial"/>
              <a:sym typeface="Arial"/>
            </a:endParaRPr>
          </a:p>
        </p:txBody>
      </p:sp>
      <p:sp>
        <p:nvSpPr>
          <p:cNvPr id="838" name="Google Shape;838;p49"/>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Two keys. </a:t>
            </a:r>
            <a:r>
              <a:rPr b="1" i="0" lang="en-US" sz="1600" u="none" cap="none" strike="noStrike">
                <a:solidFill>
                  <a:srgbClr val="334155"/>
                </a:solidFill>
                <a:latin typeface="Calibri"/>
                <a:ea typeface="Calibri"/>
                <a:cs typeface="Calibri"/>
                <a:sym typeface="Calibri"/>
              </a:rPr>
              <a:t>CLI flags override the file</a:t>
            </a:r>
            <a:r>
              <a:rPr b="0" i="0" lang="en-US" sz="1600" u="none" cap="none" strike="noStrike">
                <a:solidFill>
                  <a:srgbClr val="334155"/>
                </a:solidFill>
                <a:latin typeface="Calibri"/>
                <a:ea typeface="Calibri"/>
                <a:cs typeface="Calibri"/>
                <a:sym typeface="Calibri"/>
              </a:rPr>
              <a:t>; the scenario fixes the candidate and the output folder.</a:t>
            </a:r>
            <a:endParaRPr b="0" i="0" sz="1400" u="none" cap="none" strike="noStrike">
              <a:solidFill>
                <a:srgbClr val="000000"/>
              </a:solidFill>
              <a:latin typeface="Arial"/>
              <a:ea typeface="Arial"/>
              <a:cs typeface="Arial"/>
              <a:sym typeface="Arial"/>
            </a:endParaRPr>
          </a:p>
        </p:txBody>
      </p:sp>
      <p:sp>
        <p:nvSpPr>
          <p:cNvPr id="839" name="Google Shape;839;p49"/>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How the tool runs</a:t>
            </a:r>
            <a:endParaRPr b="0" i="0" sz="1400" u="none" cap="none" strike="noStrike">
              <a:solidFill>
                <a:srgbClr val="000000"/>
              </a:solidFill>
              <a:latin typeface="Arial"/>
              <a:ea typeface="Arial"/>
              <a:cs typeface="Arial"/>
              <a:sym typeface="Arial"/>
            </a:endParaRPr>
          </a:p>
        </p:txBody>
      </p:sp>
      <p:sp>
        <p:nvSpPr>
          <p:cNvPr id="840" name="Google Shape;840;p49"/>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2</a:t>
            </a:r>
            <a:r>
              <a:rPr lang="en-US" sz="1000">
                <a:solidFill>
                  <a:srgbClr val="64748B"/>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841" name="Google Shape;841;p49"/>
          <p:cNvSpPr/>
          <p:nvPr/>
        </p:nvSpPr>
        <p:spPr>
          <a:xfrm>
            <a:off x="548641" y="1645920"/>
            <a:ext cx="5120700" cy="21030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42" name="Google Shape;842;p49"/>
          <p:cNvSpPr txBox="1"/>
          <p:nvPr/>
        </p:nvSpPr>
        <p:spPr>
          <a:xfrm>
            <a:off x="731522" y="1755648"/>
            <a:ext cx="4846200" cy="14778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94A3B8"/>
                </a:solidFill>
                <a:latin typeface="Courier New"/>
                <a:ea typeface="Courier New"/>
                <a:cs typeface="Courier New"/>
                <a:sym typeface="Courier New"/>
              </a:rPr>
              <a:t># eval.config.yaml (repo root)</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94A3B8"/>
                </a:solidFill>
                <a:latin typeface="Courier New"/>
                <a:ea typeface="Courier New"/>
                <a:cs typeface="Courier New"/>
                <a:sym typeface="Courier New"/>
              </a:rPr>
              <a:t># CLI --scenario overrides scenario.</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1" i="0" lang="en-US" sz="1200" u="none" cap="none" strike="noStrike">
                <a:solidFill>
                  <a:schemeClr val="lt1"/>
                </a:solidFill>
                <a:latin typeface="Courier New"/>
                <a:ea typeface="Courier New"/>
                <a:cs typeface="Courier New"/>
                <a:sym typeface="Courier New"/>
              </a:rPr>
              <a:t>scenario: both</a:t>
            </a:r>
            <a:endParaRPr b="0" i="0" sz="1400" u="none" cap="none" strike="noStrike">
              <a:solidFill>
                <a:schemeClr val="lt1"/>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94A3B8"/>
                </a:solidFill>
                <a:latin typeface="Courier New"/>
                <a:ea typeface="Courier New"/>
                <a:cs typeface="Courier New"/>
                <a:sym typeface="Courier New"/>
              </a:rPr>
              <a:t># good-harness-example uses good-candidate;</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94A3B8"/>
                </a:solidFill>
                <a:latin typeface="Courier New"/>
                <a:ea typeface="Courier New"/>
                <a:cs typeface="Courier New"/>
                <a:sym typeface="Courier New"/>
              </a:rPr>
              <a:t># bad-harness-example uses bad-candidate.</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1" i="0" lang="en-US" sz="1200" u="none" cap="none" strike="noStrike">
                <a:solidFill>
                  <a:schemeClr val="lt1"/>
                </a:solidFill>
                <a:latin typeface="Courier New"/>
                <a:ea typeface="Courier New"/>
                <a:cs typeface="Courier New"/>
                <a:sym typeface="Courier New"/>
              </a:rPr>
              <a:t>candidate: good-candidate</a:t>
            </a:r>
            <a:endParaRPr b="0" i="0" sz="1400" u="none" cap="none" strike="noStrike">
              <a:solidFill>
                <a:schemeClr val="lt1"/>
              </a:solidFill>
              <a:latin typeface="Arial"/>
              <a:ea typeface="Arial"/>
              <a:cs typeface="Arial"/>
              <a:sym typeface="Arial"/>
            </a:endParaRPr>
          </a:p>
        </p:txBody>
      </p:sp>
      <p:sp>
        <p:nvSpPr>
          <p:cNvPr id="843" name="Google Shape;843;p49"/>
          <p:cNvSpPr txBox="1"/>
          <p:nvPr/>
        </p:nvSpPr>
        <p:spPr>
          <a:xfrm>
            <a:off x="548641" y="3931920"/>
            <a:ext cx="51207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Precedence</a:t>
            </a:r>
            <a:endParaRPr b="0" i="0" sz="1400" u="none" cap="none" strike="noStrike">
              <a:solidFill>
                <a:srgbClr val="000000"/>
              </a:solidFill>
              <a:latin typeface="Arial"/>
              <a:ea typeface="Arial"/>
              <a:cs typeface="Arial"/>
              <a:sym typeface="Arial"/>
            </a:endParaRPr>
          </a:p>
        </p:txBody>
      </p:sp>
      <p:sp>
        <p:nvSpPr>
          <p:cNvPr id="844" name="Google Shape;844;p49"/>
          <p:cNvSpPr/>
          <p:nvPr/>
        </p:nvSpPr>
        <p:spPr>
          <a:xfrm>
            <a:off x="548641" y="4343400"/>
            <a:ext cx="1463100" cy="640200"/>
          </a:xfrm>
          <a:prstGeom prst="roundRect">
            <a:avLst>
              <a:gd fmla="val 18000" name="adj"/>
            </a:avLst>
          </a:prstGeom>
          <a:solidFill>
            <a:srgbClr val="CCFBF1"/>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F766E"/>
                </a:solidFill>
                <a:latin typeface="Calibri"/>
                <a:ea typeface="Calibri"/>
                <a:cs typeface="Calibri"/>
                <a:sym typeface="Calibri"/>
              </a:rPr>
              <a:t>--scenario flag</a:t>
            </a:r>
            <a:endParaRPr b="0" i="0" sz="1400" u="none" cap="none" strike="noStrike">
              <a:solidFill>
                <a:srgbClr val="000000"/>
              </a:solidFill>
              <a:latin typeface="Arial"/>
              <a:ea typeface="Arial"/>
              <a:cs typeface="Arial"/>
              <a:sym typeface="Arial"/>
            </a:endParaRPr>
          </a:p>
        </p:txBody>
      </p:sp>
      <p:sp>
        <p:nvSpPr>
          <p:cNvPr id="845" name="Google Shape;845;p49"/>
          <p:cNvSpPr/>
          <p:nvPr/>
        </p:nvSpPr>
        <p:spPr>
          <a:xfrm>
            <a:off x="2093980" y="4572000"/>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46" name="Google Shape;846;p49"/>
          <p:cNvSpPr/>
          <p:nvPr/>
        </p:nvSpPr>
        <p:spPr>
          <a:xfrm>
            <a:off x="2377445" y="4343400"/>
            <a:ext cx="1463100" cy="640200"/>
          </a:xfrm>
          <a:prstGeom prst="roundRect">
            <a:avLst>
              <a:gd fmla="val 18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F172A"/>
                </a:solidFill>
                <a:latin typeface="Calibri"/>
                <a:ea typeface="Calibri"/>
                <a:cs typeface="Calibri"/>
                <a:sym typeface="Calibri"/>
              </a:rPr>
              <a:t>config scenario</a:t>
            </a:r>
            <a:endParaRPr b="0" i="0" sz="1400" u="none" cap="none" strike="noStrike">
              <a:solidFill>
                <a:srgbClr val="000000"/>
              </a:solidFill>
              <a:latin typeface="Arial"/>
              <a:ea typeface="Arial"/>
              <a:cs typeface="Arial"/>
              <a:sym typeface="Arial"/>
            </a:endParaRPr>
          </a:p>
        </p:txBody>
      </p:sp>
      <p:sp>
        <p:nvSpPr>
          <p:cNvPr id="847" name="Google Shape;847;p49"/>
          <p:cNvSpPr/>
          <p:nvPr/>
        </p:nvSpPr>
        <p:spPr>
          <a:xfrm>
            <a:off x="3922784" y="4572000"/>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48" name="Google Shape;848;p49"/>
          <p:cNvSpPr/>
          <p:nvPr/>
        </p:nvSpPr>
        <p:spPr>
          <a:xfrm>
            <a:off x="4206249" y="4343400"/>
            <a:ext cx="1463100" cy="640200"/>
          </a:xfrm>
          <a:prstGeom prst="roundRect">
            <a:avLst>
              <a:gd fmla="val 18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F172A"/>
                </a:solidFill>
                <a:latin typeface="Calibri"/>
                <a:ea typeface="Calibri"/>
                <a:cs typeface="Calibri"/>
                <a:sym typeface="Calibri"/>
              </a:rPr>
              <a:t>default: both</a:t>
            </a:r>
            <a:endParaRPr b="0" i="0" sz="1400" u="none" cap="none" strike="noStrike">
              <a:solidFill>
                <a:srgbClr val="000000"/>
              </a:solidFill>
              <a:latin typeface="Arial"/>
              <a:ea typeface="Arial"/>
              <a:cs typeface="Arial"/>
              <a:sym typeface="Arial"/>
            </a:endParaRPr>
          </a:p>
        </p:txBody>
      </p:sp>
      <p:sp>
        <p:nvSpPr>
          <p:cNvPr id="849" name="Google Shape;849;p49"/>
          <p:cNvSpPr txBox="1"/>
          <p:nvPr/>
        </p:nvSpPr>
        <p:spPr>
          <a:xfrm>
            <a:off x="548641" y="5166360"/>
            <a:ext cx="5120700" cy="1005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ourier New"/>
                <a:ea typeface="Courier New"/>
                <a:cs typeface="Courier New"/>
                <a:sym typeface="Courier New"/>
              </a:rPr>
              <a:t>--config path/to.yaml</a:t>
            </a:r>
            <a:r>
              <a:rPr b="0" i="0" lang="en-US" sz="1250" u="none" cap="none" strike="noStrike">
                <a:solidFill>
                  <a:srgbClr val="334155"/>
                </a:solidFill>
                <a:latin typeface="Calibri"/>
                <a:ea typeface="Calibri"/>
                <a:cs typeface="Calibri"/>
                <a:sym typeface="Calibri"/>
              </a:rPr>
              <a:t> replaces the file · </a:t>
            </a:r>
            <a:r>
              <a:rPr b="0" i="0" lang="en-US" sz="1250" u="none" cap="none" strike="noStrike">
                <a:solidFill>
                  <a:srgbClr val="334155"/>
                </a:solidFill>
                <a:latin typeface="Courier New"/>
                <a:ea typeface="Courier New"/>
                <a:cs typeface="Courier New"/>
                <a:sym typeface="Courier New"/>
              </a:rPr>
              <a:t>--model</a:t>
            </a:r>
            <a:r>
              <a:rPr b="0" i="0" lang="en-US" sz="1250" u="none" cap="none" strike="noStrike">
                <a:solidFill>
                  <a:srgbClr val="334155"/>
                </a:solidFill>
                <a:latin typeface="Calibri"/>
                <a:ea typeface="Calibri"/>
                <a:cs typeface="Calibri"/>
                <a:sym typeface="Calibri"/>
              </a:rPr>
              <a:t> / </a:t>
            </a:r>
            <a:r>
              <a:rPr b="0" i="0" lang="en-US" sz="1250" u="none" cap="none" strike="noStrike">
                <a:solidFill>
                  <a:srgbClr val="334155"/>
                </a:solidFill>
                <a:latin typeface="Courier New"/>
                <a:ea typeface="Courier New"/>
                <a:cs typeface="Courier New"/>
                <a:sym typeface="Courier New"/>
              </a:rPr>
              <a:t>--dry-run</a:t>
            </a:r>
            <a:r>
              <a:rPr b="0" i="0" lang="en-US" sz="1250" u="none" cap="none" strike="noStrike">
                <a:solidFill>
                  <a:srgbClr val="334155"/>
                </a:solidFill>
                <a:latin typeface="Calibri"/>
                <a:ea typeface="Calibri"/>
                <a:cs typeface="Calibri"/>
                <a:sym typeface="Calibri"/>
              </a:rPr>
              <a:t> are independent flags · missing or invalid file → </a:t>
            </a:r>
            <a:r>
              <a:rPr b="0" i="0" lang="en-US" sz="1250" u="none" cap="none" strike="noStrike">
                <a:solidFill>
                  <a:srgbClr val="334155"/>
                </a:solidFill>
                <a:latin typeface="Courier New"/>
                <a:ea typeface="Courier New"/>
                <a:cs typeface="Courier New"/>
                <a:sym typeface="Courier New"/>
              </a:rPr>
              <a:t>{scenario: both, candidate: good-candidate}</a:t>
            </a:r>
            <a:endParaRPr b="0" i="0" sz="1400" u="none" cap="none" strike="noStrike">
              <a:solidFill>
                <a:srgbClr val="000000"/>
              </a:solidFill>
              <a:latin typeface="Arial"/>
              <a:ea typeface="Arial"/>
              <a:cs typeface="Arial"/>
              <a:sym typeface="Arial"/>
            </a:endParaRPr>
          </a:p>
        </p:txBody>
      </p:sp>
      <p:graphicFrame>
        <p:nvGraphicFramePr>
          <p:cNvPr id="850" name="Google Shape;850;p49"/>
          <p:cNvGraphicFramePr/>
          <p:nvPr/>
        </p:nvGraphicFramePr>
        <p:xfrm>
          <a:off x="5989332" y="1645920"/>
          <a:ext cx="3000000" cy="3000000"/>
        </p:xfrm>
        <a:graphic>
          <a:graphicData uri="http://schemas.openxmlformats.org/drawingml/2006/table">
            <a:tbl>
              <a:tblPr bandRow="1" firstRow="1">
                <a:noFill/>
                <a:tableStyleId>{6D768582-A166-4AF2-A2B6-FE9F80A8B072}</a:tableStyleId>
              </a:tblPr>
              <a:tblGrid>
                <a:gridCol w="1828800"/>
                <a:gridCol w="1920250"/>
                <a:gridCol w="1920250"/>
              </a:tblGrid>
              <a:tr h="42977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FFFFFF"/>
                          </a:solidFill>
                          <a:latin typeface="Calibri"/>
                          <a:ea typeface="Calibri"/>
                          <a:cs typeface="Calibri"/>
                          <a:sym typeface="Calibri"/>
                        </a:rPr>
                        <a:t>scenario</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FFFFFF"/>
                          </a:solidFill>
                          <a:latin typeface="Calibri"/>
                          <a:ea typeface="Calibri"/>
                          <a:cs typeface="Calibri"/>
                          <a:sym typeface="Calibri"/>
                        </a:rPr>
                        <a:t>--dry-run</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FFFFFF"/>
                          </a:solidFill>
                          <a:latin typeface="Calibri"/>
                          <a:ea typeface="Calibri"/>
                          <a:cs typeface="Calibri"/>
                          <a:sym typeface="Calibri"/>
                        </a:rPr>
                        <a:t>live run</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r>
              <a:tr h="42977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both</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good + bad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good only</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42977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good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good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good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r h="42977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bad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bad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bad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42977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anything else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good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good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bl>
          </a:graphicData>
        </a:graphic>
      </p:graphicFrame>
      <p:graphicFrame>
        <p:nvGraphicFramePr>
          <p:cNvPr id="851" name="Google Shape;851;p49"/>
          <p:cNvGraphicFramePr/>
          <p:nvPr/>
        </p:nvGraphicFramePr>
        <p:xfrm>
          <a:off x="5989332" y="4023360"/>
          <a:ext cx="3000000" cy="3000000"/>
        </p:xfrm>
        <a:graphic>
          <a:graphicData uri="http://schemas.openxmlformats.org/drawingml/2006/table">
            <a:tbl>
              <a:tblPr bandRow="1" firstRow="1">
                <a:noFill/>
                <a:tableStyleId>{6D768582-A166-4AF2-A2B6-FE9F80A8B072}</a:tableStyleId>
              </a:tblPr>
              <a:tblGrid>
                <a:gridCol w="1188700"/>
                <a:gridCol w="1828800"/>
                <a:gridCol w="2651725"/>
              </a:tblGrid>
              <a:tr h="457200">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Scenario</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Candidate harness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Output folder</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r>
              <a:tr h="457200">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good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ourier New"/>
                          <a:ea typeface="Courier New"/>
                          <a:cs typeface="Courier New"/>
                          <a:sym typeface="Courier New"/>
                        </a:rPr>
                        <a:t>good-candidate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ourier New"/>
                          <a:ea typeface="Courier New"/>
                          <a:cs typeface="Courier New"/>
                          <a:sym typeface="Courier New"/>
                        </a:rPr>
                        <a:t>output/good-harness-example/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bad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ourier New"/>
                          <a:ea typeface="Courier New"/>
                          <a:cs typeface="Courier New"/>
                          <a:sym typeface="Courier New"/>
                        </a:rPr>
                        <a:t>bad-candidate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ourier New"/>
                          <a:ea typeface="Courier New"/>
                          <a:cs typeface="Courier New"/>
                          <a:sym typeface="Courier New"/>
                        </a:rPr>
                        <a:t>output/bad-harness-example/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bl>
          </a:graphicData>
        </a:graphic>
      </p:graphicFrame>
      <p:sp>
        <p:nvSpPr>
          <p:cNvPr id="852" name="Google Shape;852;p49"/>
          <p:cNvSpPr txBox="1"/>
          <p:nvPr/>
        </p:nvSpPr>
        <p:spPr>
          <a:xfrm>
            <a:off x="5989332" y="5486400"/>
            <a:ext cx="5669400" cy="685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64748B"/>
                </a:solidFill>
                <a:latin typeface="Courier New"/>
                <a:ea typeface="Courier New"/>
                <a:cs typeface="Courier New"/>
                <a:sym typeface="Courier New"/>
              </a:rPr>
              <a:t>resolve_scenarios()</a:t>
            </a:r>
            <a:r>
              <a:rPr b="0" i="0" lang="en-US" sz="1250" u="none" cap="none" strike="noStrike">
                <a:solidFill>
                  <a:srgbClr val="64748B"/>
                </a:solidFill>
                <a:latin typeface="Calibri"/>
                <a:ea typeface="Calibri"/>
                <a:cs typeface="Calibri"/>
                <a:sym typeface="Calibri"/>
              </a:rPr>
              <a:t> and </a:t>
            </a:r>
            <a:r>
              <a:rPr b="0" i="0" lang="en-US" sz="1250" u="none" cap="none" strike="noStrike">
                <a:solidFill>
                  <a:srgbClr val="64748B"/>
                </a:solidFill>
                <a:latin typeface="Courier New"/>
                <a:ea typeface="Courier New"/>
                <a:cs typeface="Courier New"/>
                <a:sym typeface="Courier New"/>
              </a:rPr>
              <a:t>candidate_id_for_scenario()</a:t>
            </a:r>
            <a:r>
              <a:rPr b="0" i="0" lang="en-US" sz="1250" u="none" cap="none" strike="noStrike">
                <a:solidFill>
                  <a:srgbClr val="64748B"/>
                </a:solidFill>
                <a:latin typeface="Calibri"/>
                <a:ea typeface="Calibri"/>
                <a:cs typeface="Calibri"/>
                <a:sym typeface="Calibri"/>
              </a:rPr>
              <a:t> in </a:t>
            </a:r>
            <a:r>
              <a:rPr b="0" i="0" lang="en-US" sz="1250" u="none" cap="none" strike="noStrike">
                <a:solidFill>
                  <a:srgbClr val="64748B"/>
                </a:solidFill>
                <a:latin typeface="Courier New"/>
                <a:ea typeface="Courier New"/>
                <a:cs typeface="Courier New"/>
                <a:sym typeface="Courier New"/>
              </a:rPr>
              <a:t>src/eval/config.py</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857" name="Shape 857"/>
        <p:cNvGrpSpPr/>
        <p:nvPr/>
      </p:nvGrpSpPr>
      <p:grpSpPr>
        <a:xfrm>
          <a:off x="0" y="0"/>
          <a:ext cx="0" cy="0"/>
          <a:chOff x="0" y="0"/>
          <a:chExt cx="0" cy="0"/>
        </a:xfrm>
      </p:grpSpPr>
      <p:sp>
        <p:nvSpPr>
          <p:cNvPr id="858" name="Google Shape;858;p50"/>
          <p:cNvSpPr/>
          <p:nvPr/>
        </p:nvSpPr>
        <p:spPr>
          <a:xfrm>
            <a:off x="731522" y="2331720"/>
            <a:ext cx="1005900" cy="10059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859" name="Google Shape;859;p50"/>
          <p:cNvSpPr txBox="1"/>
          <p:nvPr/>
        </p:nvSpPr>
        <p:spPr>
          <a:xfrm>
            <a:off x="2011684" y="2240280"/>
            <a:ext cx="9144000" cy="7314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4000"/>
              <a:buFont typeface="Arial"/>
              <a:buNone/>
            </a:pPr>
            <a:r>
              <a:rPr b="1" i="0" lang="en-US" sz="4000" u="none" cap="none" strike="noStrike">
                <a:solidFill>
                  <a:srgbClr val="FFFFFF"/>
                </a:solidFill>
                <a:latin typeface="Calibri"/>
                <a:ea typeface="Calibri"/>
                <a:cs typeface="Calibri"/>
                <a:sym typeface="Calibri"/>
              </a:rPr>
              <a:t>Tasks, phases &amp; graders</a:t>
            </a:r>
            <a:endParaRPr b="0" i="0" sz="1400" u="none" cap="none" strike="noStrike">
              <a:solidFill>
                <a:srgbClr val="000000"/>
              </a:solidFill>
              <a:latin typeface="Arial"/>
              <a:ea typeface="Arial"/>
              <a:cs typeface="Arial"/>
              <a:sym typeface="Arial"/>
            </a:endParaRPr>
          </a:p>
        </p:txBody>
      </p:sp>
      <p:sp>
        <p:nvSpPr>
          <p:cNvPr id="860" name="Google Shape;860;p50"/>
          <p:cNvSpPr txBox="1"/>
          <p:nvPr/>
        </p:nvSpPr>
        <p:spPr>
          <a:xfrm>
            <a:off x="2011684" y="3017520"/>
            <a:ext cx="9144000" cy="109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800"/>
              <a:buFont typeface="Arial"/>
              <a:buNone/>
            </a:pPr>
            <a:r>
              <a:rPr b="0" i="0" lang="en-US" sz="1800" u="none" cap="none" strike="noStrike">
                <a:solidFill>
                  <a:srgbClr val="B6C3DA"/>
                </a:solidFill>
                <a:latin typeface="Calibri"/>
                <a:ea typeface="Calibri"/>
                <a:cs typeface="Calibri"/>
                <a:sym typeface="Calibri"/>
              </a:rPr>
              <a:t>Each task suite in real execution order, then graduation, blocking, and the grader families</a:t>
            </a:r>
            <a:endParaRPr b="0" i="0" sz="1400" u="none" cap="none" strike="noStrike">
              <a:solidFill>
                <a:srgbClr val="000000"/>
              </a:solidFill>
              <a:latin typeface="Arial"/>
              <a:ea typeface="Arial"/>
              <a:cs typeface="Arial"/>
              <a:sym typeface="Arial"/>
            </a:endParaRPr>
          </a:p>
        </p:txBody>
      </p:sp>
      <p:sp>
        <p:nvSpPr>
          <p:cNvPr id="861" name="Google Shape;861;p50"/>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Tasks, phases &amp; graders</a:t>
            </a:r>
            <a:endParaRPr b="0" i="0" sz="1400" u="none" cap="none" strike="noStrike">
              <a:solidFill>
                <a:srgbClr val="000000"/>
              </a:solidFill>
              <a:latin typeface="Arial"/>
              <a:ea typeface="Arial"/>
              <a:cs typeface="Arial"/>
              <a:sym typeface="Arial"/>
            </a:endParaRPr>
          </a:p>
        </p:txBody>
      </p:sp>
      <p:sp>
        <p:nvSpPr>
          <p:cNvPr id="862" name="Google Shape;862;p50"/>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2</a:t>
            </a:r>
            <a:r>
              <a:rPr lang="en-US" sz="1000">
                <a:solidFill>
                  <a:srgbClr val="8091B0"/>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7" name="Shape 867"/>
        <p:cNvGrpSpPr/>
        <p:nvPr/>
      </p:nvGrpSpPr>
      <p:grpSpPr>
        <a:xfrm>
          <a:off x="0" y="0"/>
          <a:ext cx="0" cy="0"/>
          <a:chOff x="0" y="0"/>
          <a:chExt cx="0" cy="0"/>
        </a:xfrm>
      </p:grpSpPr>
      <p:sp>
        <p:nvSpPr>
          <p:cNvPr id="868" name="Google Shape;868;p51"/>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Task suites in actual execution order</a:t>
            </a:r>
            <a:endParaRPr b="0" i="0" sz="1400" u="none" cap="none" strike="noStrike">
              <a:solidFill>
                <a:srgbClr val="000000"/>
              </a:solidFill>
              <a:latin typeface="Arial"/>
              <a:ea typeface="Arial"/>
              <a:cs typeface="Arial"/>
              <a:sym typeface="Arial"/>
            </a:endParaRPr>
          </a:p>
        </p:txBody>
      </p:sp>
      <p:sp>
        <p:nvSpPr>
          <p:cNvPr id="869" name="Google Shape;869;p51"/>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Verified in </a:t>
            </a:r>
            <a:r>
              <a:rPr b="0" i="0" lang="en-US" sz="1600" u="none" cap="none" strike="noStrike">
                <a:solidFill>
                  <a:srgbClr val="334155"/>
                </a:solidFill>
                <a:latin typeface="Courier New"/>
                <a:ea typeface="Courier New"/>
                <a:cs typeface="Courier New"/>
                <a:sym typeface="Courier New"/>
              </a:rPr>
              <a:t>run.py</a:t>
            </a:r>
            <a:r>
              <a:rPr b="0" i="0" lang="en-US" sz="1600" u="none" cap="none" strike="noStrike">
                <a:solidFill>
                  <a:srgbClr val="334155"/>
                </a:solidFill>
                <a:latin typeface="Calibri"/>
                <a:ea typeface="Calibri"/>
                <a:cs typeface="Calibri"/>
                <a:sym typeface="Calibri"/>
              </a:rPr>
              <a:t>: </a:t>
            </a:r>
            <a:r>
              <a:rPr b="1" i="0" lang="en-US" sz="1600" u="none" cap="none" strike="noStrike">
                <a:solidFill>
                  <a:srgbClr val="334155"/>
                </a:solidFill>
                <a:latin typeface="Calibri"/>
                <a:ea typeface="Calibri"/>
                <a:cs typeface="Calibri"/>
                <a:sym typeface="Calibri"/>
              </a:rPr>
              <a:t>keep-suite runs before caller-check</a:t>
            </a:r>
            <a:r>
              <a:rPr b="0" i="0" lang="en-US" sz="1600" u="none" cap="none" strike="noStrike">
                <a:solidFill>
                  <a:srgbClr val="334155"/>
                </a:solidFill>
                <a:latin typeface="Calibri"/>
                <a:ea typeface="Calibri"/>
                <a:cs typeface="Calibri"/>
                <a:sym typeface="Calibri"/>
              </a:rPr>
              <a:t>. caller-check only exists in Phase 2.</a:t>
            </a:r>
            <a:endParaRPr b="0" i="0" sz="1400" u="none" cap="none" strike="noStrike">
              <a:solidFill>
                <a:srgbClr val="000000"/>
              </a:solidFill>
              <a:latin typeface="Arial"/>
              <a:ea typeface="Arial"/>
              <a:cs typeface="Arial"/>
              <a:sym typeface="Arial"/>
            </a:endParaRPr>
          </a:p>
        </p:txBody>
      </p:sp>
      <p:sp>
        <p:nvSpPr>
          <p:cNvPr id="870" name="Google Shape;870;p51"/>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Tasks, phases &amp; graders</a:t>
            </a:r>
            <a:endParaRPr b="0" i="0" sz="1400" u="none" cap="none" strike="noStrike">
              <a:solidFill>
                <a:srgbClr val="000000"/>
              </a:solidFill>
              <a:latin typeface="Arial"/>
              <a:ea typeface="Arial"/>
              <a:cs typeface="Arial"/>
              <a:sym typeface="Arial"/>
            </a:endParaRPr>
          </a:p>
        </p:txBody>
      </p:sp>
      <p:sp>
        <p:nvSpPr>
          <p:cNvPr id="871" name="Google Shape;871;p51"/>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2</a:t>
            </a:r>
            <a:r>
              <a:rPr lang="en-US" sz="1000">
                <a:solidFill>
                  <a:srgbClr val="64748B"/>
                </a:solidFill>
                <a:latin typeface="Calibri"/>
                <a:ea typeface="Calibri"/>
                <a:cs typeface="Calibri"/>
                <a:sym typeface="Calibri"/>
              </a:rPr>
              <a:t>7</a:t>
            </a:r>
            <a:endParaRPr b="0" i="0" sz="1400" u="none" cap="none" strike="noStrike">
              <a:solidFill>
                <a:srgbClr val="000000"/>
              </a:solidFill>
              <a:latin typeface="Arial"/>
              <a:ea typeface="Arial"/>
              <a:cs typeface="Arial"/>
              <a:sym typeface="Arial"/>
            </a:endParaRPr>
          </a:p>
        </p:txBody>
      </p:sp>
      <p:sp>
        <p:nvSpPr>
          <p:cNvPr id="872" name="Google Shape;872;p51"/>
          <p:cNvSpPr/>
          <p:nvPr/>
        </p:nvSpPr>
        <p:spPr>
          <a:xfrm>
            <a:off x="548641" y="1691640"/>
            <a:ext cx="1097400" cy="274200"/>
          </a:xfrm>
          <a:prstGeom prst="roundRect">
            <a:avLst>
              <a:gd fmla="val 50000" name="adj"/>
            </a:avLst>
          </a:prstGeom>
          <a:solidFill>
            <a:srgbClr val="0F766E"/>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Calibri"/>
                <a:ea typeface="Calibri"/>
                <a:cs typeface="Calibri"/>
                <a:sym typeface="Calibri"/>
              </a:rPr>
              <a:t>PHASE 1</a:t>
            </a:r>
            <a:endParaRPr b="0" i="0" sz="1400" u="none" cap="none" strike="noStrike">
              <a:solidFill>
                <a:srgbClr val="000000"/>
              </a:solidFill>
              <a:latin typeface="Arial"/>
              <a:ea typeface="Arial"/>
              <a:cs typeface="Arial"/>
              <a:sym typeface="Arial"/>
            </a:endParaRPr>
          </a:p>
        </p:txBody>
      </p:sp>
      <p:sp>
        <p:nvSpPr>
          <p:cNvPr id="873" name="Google Shape;873;p51"/>
          <p:cNvSpPr/>
          <p:nvPr/>
        </p:nvSpPr>
        <p:spPr>
          <a:xfrm>
            <a:off x="1828804" y="1600200"/>
            <a:ext cx="3108900" cy="548700"/>
          </a:xfrm>
          <a:prstGeom prst="roundRect">
            <a:avLst>
              <a:gd fmla="val 18000" name="adj"/>
            </a:avLst>
          </a:prstGeom>
          <a:solidFill>
            <a:srgbClr val="DBEAFE"/>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1D4ED8"/>
                </a:solidFill>
                <a:latin typeface="Calibri"/>
                <a:ea typeface="Calibri"/>
                <a:cs typeface="Calibri"/>
                <a:sym typeface="Calibri"/>
              </a:rPr>
              <a:t>1 · auth-vs-log · capability</a:t>
            </a:r>
            <a:endParaRPr b="0" i="0" sz="1400" u="none" cap="none" strike="noStrike">
              <a:solidFill>
                <a:srgbClr val="000000"/>
              </a:solidFill>
              <a:latin typeface="Arial"/>
              <a:ea typeface="Arial"/>
              <a:cs typeface="Arial"/>
              <a:sym typeface="Arial"/>
            </a:endParaRPr>
          </a:p>
        </p:txBody>
      </p:sp>
      <p:sp>
        <p:nvSpPr>
          <p:cNvPr id="874" name="Google Shape;874;p51"/>
          <p:cNvSpPr/>
          <p:nvPr/>
        </p:nvSpPr>
        <p:spPr>
          <a:xfrm>
            <a:off x="5042926" y="1783079"/>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5" name="Google Shape;875;p51"/>
          <p:cNvSpPr/>
          <p:nvPr/>
        </p:nvSpPr>
        <p:spPr>
          <a:xfrm>
            <a:off x="5349251" y="1600200"/>
            <a:ext cx="3108900" cy="548700"/>
          </a:xfrm>
          <a:prstGeom prst="roundRect">
            <a:avLst>
              <a:gd fmla="val 18000" name="adj"/>
            </a:avLst>
          </a:prstGeom>
          <a:solidFill>
            <a:srgbClr val="FEF3C7"/>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B45309"/>
                </a:solidFill>
                <a:latin typeface="Calibri"/>
                <a:ea typeface="Calibri"/>
                <a:cs typeface="Calibri"/>
                <a:sym typeface="Calibri"/>
              </a:rPr>
              <a:t>2 · keep-suite · regression</a:t>
            </a:r>
            <a:endParaRPr b="0" i="0" sz="1400" u="none" cap="none" strike="noStrike">
              <a:solidFill>
                <a:srgbClr val="000000"/>
              </a:solidFill>
              <a:latin typeface="Arial"/>
              <a:ea typeface="Arial"/>
              <a:cs typeface="Arial"/>
              <a:sym typeface="Arial"/>
            </a:endParaRPr>
          </a:p>
        </p:txBody>
      </p:sp>
      <p:sp>
        <p:nvSpPr>
          <p:cNvPr id="876" name="Google Shape;876;p51"/>
          <p:cNvSpPr/>
          <p:nvPr/>
        </p:nvSpPr>
        <p:spPr>
          <a:xfrm>
            <a:off x="8778258" y="1600200"/>
            <a:ext cx="2880300" cy="548700"/>
          </a:xfrm>
          <a:prstGeom prst="roundRect">
            <a:avLst>
              <a:gd fmla="val 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B91C1C"/>
                </a:solidFill>
                <a:latin typeface="Calibri"/>
                <a:ea typeface="Calibri"/>
                <a:cs typeface="Calibri"/>
                <a:sym typeface="Calibri"/>
              </a:rPr>
              <a:t>promote → gate</a:t>
            </a:r>
            <a:endParaRPr b="0" i="0" sz="1400" u="none" cap="none" strike="noStrike">
              <a:solidFill>
                <a:srgbClr val="000000"/>
              </a:solidFill>
              <a:latin typeface="Arial"/>
              <a:ea typeface="Arial"/>
              <a:cs typeface="Arial"/>
              <a:sym typeface="Arial"/>
            </a:endParaRPr>
          </a:p>
        </p:txBody>
      </p:sp>
      <p:sp>
        <p:nvSpPr>
          <p:cNvPr id="877" name="Google Shape;877;p51"/>
          <p:cNvSpPr/>
          <p:nvPr/>
        </p:nvSpPr>
        <p:spPr>
          <a:xfrm>
            <a:off x="548641" y="2606040"/>
            <a:ext cx="1097400" cy="274200"/>
          </a:xfrm>
          <a:prstGeom prst="roundRect">
            <a:avLst>
              <a:gd fmla="val 50000" name="adj"/>
            </a:avLst>
          </a:prstGeom>
          <a:solidFill>
            <a:srgbClr val="0F766E"/>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Calibri"/>
                <a:ea typeface="Calibri"/>
                <a:cs typeface="Calibri"/>
                <a:sym typeface="Calibri"/>
              </a:rPr>
              <a:t>PHASE 2</a:t>
            </a:r>
            <a:endParaRPr b="0" i="0" sz="1400" u="none" cap="none" strike="noStrike">
              <a:solidFill>
                <a:srgbClr val="000000"/>
              </a:solidFill>
              <a:latin typeface="Arial"/>
              <a:ea typeface="Arial"/>
              <a:cs typeface="Arial"/>
              <a:sym typeface="Arial"/>
            </a:endParaRPr>
          </a:p>
        </p:txBody>
      </p:sp>
      <p:sp>
        <p:nvSpPr>
          <p:cNvPr id="878" name="Google Shape;878;p51"/>
          <p:cNvSpPr/>
          <p:nvPr/>
        </p:nvSpPr>
        <p:spPr>
          <a:xfrm>
            <a:off x="1828804" y="2514600"/>
            <a:ext cx="3017400" cy="548700"/>
          </a:xfrm>
          <a:prstGeom prst="roundRect">
            <a:avLst>
              <a:gd fmla="val 18000" name="adj"/>
            </a:avLst>
          </a:prstGeom>
          <a:solidFill>
            <a:srgbClr val="DBEAFE"/>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1D4ED8"/>
                </a:solidFill>
                <a:latin typeface="Calibri"/>
                <a:ea typeface="Calibri"/>
                <a:cs typeface="Calibri"/>
                <a:sym typeface="Calibri"/>
              </a:rPr>
              <a:t>1 · auth-vs-log · regression</a:t>
            </a:r>
            <a:endParaRPr b="0" i="0" sz="1400" u="none" cap="none" strike="noStrike">
              <a:solidFill>
                <a:srgbClr val="000000"/>
              </a:solidFill>
              <a:latin typeface="Arial"/>
              <a:ea typeface="Arial"/>
              <a:cs typeface="Arial"/>
              <a:sym typeface="Arial"/>
            </a:endParaRPr>
          </a:p>
        </p:txBody>
      </p:sp>
      <p:sp>
        <p:nvSpPr>
          <p:cNvPr id="879" name="Google Shape;879;p51"/>
          <p:cNvSpPr/>
          <p:nvPr/>
        </p:nvSpPr>
        <p:spPr>
          <a:xfrm>
            <a:off x="4951486" y="2697479"/>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0" name="Google Shape;880;p51"/>
          <p:cNvSpPr/>
          <p:nvPr/>
        </p:nvSpPr>
        <p:spPr>
          <a:xfrm>
            <a:off x="5257811" y="2514600"/>
            <a:ext cx="3017400" cy="5487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47857"/>
                </a:solidFill>
                <a:latin typeface="Calibri"/>
                <a:ea typeface="Calibri"/>
                <a:cs typeface="Calibri"/>
                <a:sym typeface="Calibri"/>
              </a:rPr>
              <a:t>2 · caller-check · capability</a:t>
            </a:r>
            <a:endParaRPr b="0" i="0" sz="1400" u="none" cap="none" strike="noStrike">
              <a:solidFill>
                <a:srgbClr val="000000"/>
              </a:solidFill>
              <a:latin typeface="Arial"/>
              <a:ea typeface="Arial"/>
              <a:cs typeface="Arial"/>
              <a:sym typeface="Arial"/>
            </a:endParaRPr>
          </a:p>
        </p:txBody>
      </p:sp>
      <p:sp>
        <p:nvSpPr>
          <p:cNvPr id="881" name="Google Shape;881;p51"/>
          <p:cNvSpPr/>
          <p:nvPr/>
        </p:nvSpPr>
        <p:spPr>
          <a:xfrm>
            <a:off x="8380493" y="2697479"/>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2" name="Google Shape;882;p51"/>
          <p:cNvSpPr/>
          <p:nvPr/>
        </p:nvSpPr>
        <p:spPr>
          <a:xfrm>
            <a:off x="8686818" y="2514600"/>
            <a:ext cx="3017400" cy="548700"/>
          </a:xfrm>
          <a:prstGeom prst="roundRect">
            <a:avLst>
              <a:gd fmla="val 18000" name="adj"/>
            </a:avLst>
          </a:prstGeom>
          <a:solidFill>
            <a:srgbClr val="FEF3C7"/>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B45309"/>
                </a:solidFill>
                <a:latin typeface="Calibri"/>
                <a:ea typeface="Calibri"/>
                <a:cs typeface="Calibri"/>
                <a:sym typeface="Calibri"/>
              </a:rPr>
              <a:t>3 · keep-suite · regression</a:t>
            </a:r>
            <a:endParaRPr b="0" i="0" sz="1400" u="none" cap="none" strike="noStrike">
              <a:solidFill>
                <a:srgbClr val="000000"/>
              </a:solidFill>
              <a:latin typeface="Arial"/>
              <a:ea typeface="Arial"/>
              <a:cs typeface="Arial"/>
              <a:sym typeface="Arial"/>
            </a:endParaRPr>
          </a:p>
        </p:txBody>
      </p:sp>
      <p:sp>
        <p:nvSpPr>
          <p:cNvPr id="883" name="Google Shape;883;p51"/>
          <p:cNvSpPr txBox="1"/>
          <p:nvPr/>
        </p:nvSpPr>
        <p:spPr>
          <a:xfrm>
            <a:off x="548641" y="3291840"/>
            <a:ext cx="109728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334155"/>
                </a:solidFill>
                <a:latin typeface="Calibri"/>
                <a:ea typeface="Calibri"/>
                <a:cs typeface="Calibri"/>
                <a:sym typeface="Calibri"/>
              </a:rPr>
              <a:t>Inside every task:</a:t>
            </a:r>
            <a:r>
              <a:rPr b="0" i="0" lang="en-US" sz="1400" u="none" cap="none" strike="noStrike">
                <a:solidFill>
                  <a:srgbClr val="334155"/>
                </a:solidFill>
                <a:latin typeface="Calibri"/>
                <a:ea typeface="Calibri"/>
                <a:cs typeface="Calibri"/>
                <a:sym typeface="Calibri"/>
              </a:rPr>
              <a:t> rep 0 baseline → rep 0 candidate → rep 1 baseline → rep 1 candidate</a:t>
            </a:r>
            <a:endParaRPr b="0" i="0" sz="1400" u="none" cap="none" strike="noStrike">
              <a:solidFill>
                <a:srgbClr val="000000"/>
              </a:solidFill>
              <a:latin typeface="Arial"/>
              <a:ea typeface="Arial"/>
              <a:cs typeface="Arial"/>
              <a:sym typeface="Arial"/>
            </a:endParaRPr>
          </a:p>
        </p:txBody>
      </p:sp>
      <p:sp>
        <p:nvSpPr>
          <p:cNvPr id="884" name="Google Shape;884;p51"/>
          <p:cNvSpPr/>
          <p:nvPr/>
        </p:nvSpPr>
        <p:spPr>
          <a:xfrm>
            <a:off x="548641" y="3794760"/>
            <a:ext cx="3566100" cy="23775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5" name="Google Shape;885;p51"/>
          <p:cNvSpPr txBox="1"/>
          <p:nvPr/>
        </p:nvSpPr>
        <p:spPr>
          <a:xfrm>
            <a:off x="731522" y="3886200"/>
            <a:ext cx="3200400" cy="384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700"/>
              <a:buFont typeface="Arial"/>
              <a:buNone/>
            </a:pPr>
            <a:r>
              <a:rPr b="1" i="0" lang="en-US" sz="1700" u="none" cap="none" strike="noStrike">
                <a:solidFill>
                  <a:srgbClr val="1D4ED8"/>
                </a:solidFill>
                <a:latin typeface="Calibri"/>
                <a:ea typeface="Calibri"/>
                <a:cs typeface="Calibri"/>
                <a:sym typeface="Calibri"/>
              </a:rPr>
              <a:t>auth-vs-log</a:t>
            </a:r>
            <a:endParaRPr b="0" i="0" sz="1400" u="none" cap="none" strike="noStrike">
              <a:solidFill>
                <a:srgbClr val="000000"/>
              </a:solidFill>
              <a:latin typeface="Arial"/>
              <a:ea typeface="Arial"/>
              <a:cs typeface="Arial"/>
              <a:sym typeface="Arial"/>
            </a:endParaRPr>
          </a:p>
        </p:txBody>
      </p:sp>
      <p:sp>
        <p:nvSpPr>
          <p:cNvPr id="886" name="Google Shape;886;p51"/>
          <p:cNvSpPr txBox="1"/>
          <p:nvPr/>
        </p:nvSpPr>
        <p:spPr>
          <a:xfrm>
            <a:off x="731522" y="4297680"/>
            <a:ext cx="3200400" cy="1828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1" i="0" lang="en-US" sz="1250" u="none" cap="none" strike="noStrike">
                <a:solidFill>
                  <a:srgbClr val="334155"/>
                </a:solidFill>
                <a:latin typeface="Calibri"/>
                <a:ea typeface="Calibri"/>
                <a:cs typeface="Calibri"/>
                <a:sym typeface="Calibri"/>
              </a:rPr>
              <a:t>Repo:</a:t>
            </a:r>
            <a:r>
              <a:rPr b="0" i="0" lang="en-US" sz="1250" u="none" cap="none" strike="noStrike">
                <a:solidFill>
                  <a:srgbClr val="334155"/>
                </a:solidFill>
                <a:latin typeface="Calibri"/>
                <a:ea typeface="Calibri"/>
                <a:cs typeface="Calibri"/>
                <a:sym typeface="Calibri"/>
              </a:rPr>
              <a:t> </a:t>
            </a:r>
            <a:r>
              <a:rPr b="0" i="0" lang="en-US" sz="1250" u="none" cap="none" strike="noStrike">
                <a:solidFill>
                  <a:srgbClr val="334155"/>
                </a:solidFill>
                <a:latin typeface="Courier New"/>
                <a:ea typeface="Courier New"/>
                <a:cs typeface="Courier New"/>
                <a:sym typeface="Courier New"/>
              </a:rPr>
              <a:t>Wallet.sol</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300"/>
              </a:spcBef>
              <a:spcAft>
                <a:spcPts val="0"/>
              </a:spcAft>
              <a:buClr>
                <a:srgbClr val="000000"/>
              </a:buClr>
              <a:buSzPts val="1250"/>
              <a:buFont typeface="Arial"/>
              <a:buNone/>
            </a:pPr>
            <a:r>
              <a:rPr b="1" i="0" lang="en-US" sz="1250" u="none" cap="none" strike="noStrike">
                <a:solidFill>
                  <a:srgbClr val="334155"/>
                </a:solidFill>
                <a:latin typeface="Calibri"/>
                <a:ea typeface="Calibri"/>
                <a:cs typeface="Calibri"/>
                <a:sym typeface="Calibri"/>
              </a:rPr>
              <a:t>Tests:</a:t>
            </a:r>
            <a:r>
              <a:rPr b="0" i="0" lang="en-US" sz="1250" u="none" cap="none" strike="noStrike">
                <a:solidFill>
                  <a:srgbClr val="334155"/>
                </a:solidFill>
                <a:latin typeface="Calibri"/>
                <a:ea typeface="Calibri"/>
                <a:cs typeface="Calibri"/>
                <a:sym typeface="Calibri"/>
              </a:rPr>
              <a:t> Classify tx.origin by </a:t>
            </a:r>
            <a:r>
              <a:rPr b="1" i="0" lang="en-US" sz="1250" u="none" cap="none" strike="noStrike">
                <a:solidFill>
                  <a:srgbClr val="334155"/>
                </a:solidFill>
                <a:latin typeface="Calibri"/>
                <a:ea typeface="Calibri"/>
                <a:cs typeface="Calibri"/>
                <a:sym typeface="Calibri"/>
              </a:rPr>
              <a:t>role</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300"/>
              </a:spcBef>
              <a:spcAft>
                <a:spcPts val="0"/>
              </a:spcAft>
              <a:buClr>
                <a:srgbClr val="000000"/>
              </a:buClr>
              <a:buSzPts val="1250"/>
              <a:buFont typeface="Arial"/>
              <a:buNone/>
            </a:pPr>
            <a:r>
              <a:rPr b="1" i="0" lang="en-US" sz="1250" u="none" cap="none" strike="noStrike">
                <a:solidFill>
                  <a:srgbClr val="334155"/>
                </a:solidFill>
                <a:latin typeface="Calibri"/>
                <a:ea typeface="Calibri"/>
                <a:cs typeface="Calibri"/>
                <a:sym typeface="Calibri"/>
              </a:rPr>
              <a:t>Grader:</a:t>
            </a:r>
            <a:r>
              <a:rPr b="0" i="0" lang="en-US" sz="1250" u="none" cap="none" strike="noStrike">
                <a:solidFill>
                  <a:srgbClr val="334155"/>
                </a:solidFill>
                <a:latin typeface="Calibri"/>
                <a:ea typeface="Calibri"/>
                <a:cs typeface="Calibri"/>
                <a:sym typeface="Calibri"/>
              </a:rPr>
              <a:t> held-out JSON + model rubric</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300"/>
              </a:spcBef>
              <a:spcAft>
                <a:spcPts val="0"/>
              </a:spcAft>
              <a:buClr>
                <a:srgbClr val="000000"/>
              </a:buClr>
              <a:buSzPts val="1250"/>
              <a:buFont typeface="Arial"/>
              <a:buNone/>
            </a:pPr>
            <a:r>
              <a:rPr b="1" i="0" lang="en-US" sz="1250" u="none" cap="none" strike="noStrike">
                <a:solidFill>
                  <a:srgbClr val="334155"/>
                </a:solidFill>
                <a:latin typeface="Calibri"/>
                <a:ea typeface="Calibri"/>
                <a:cs typeface="Calibri"/>
                <a:sym typeface="Calibri"/>
              </a:rPr>
              <a:t>Role:</a:t>
            </a:r>
            <a:r>
              <a:rPr b="0" i="0" lang="en-US" sz="1250" u="none" cap="none" strike="noStrike">
                <a:solidFill>
                  <a:srgbClr val="334155"/>
                </a:solidFill>
                <a:latin typeface="Calibri"/>
                <a:ea typeface="Calibri"/>
                <a:cs typeface="Calibri"/>
                <a:sym typeface="Calibri"/>
              </a:rPr>
              <a:t> Capability in Phase 1 → </a:t>
            </a:r>
            <a:r>
              <a:rPr b="1" i="0" lang="en-US" sz="1250" u="none" cap="none" strike="noStrike">
                <a:solidFill>
                  <a:srgbClr val="334155"/>
                </a:solidFill>
                <a:latin typeface="Calibri"/>
                <a:ea typeface="Calibri"/>
                <a:cs typeface="Calibri"/>
                <a:sym typeface="Calibri"/>
              </a:rPr>
              <a:t>graduates</a:t>
            </a:r>
            <a:r>
              <a:rPr b="0" i="0" lang="en-US" sz="1250" u="none" cap="none" strike="noStrike">
                <a:solidFill>
                  <a:srgbClr val="334155"/>
                </a:solidFill>
                <a:latin typeface="Calibri"/>
                <a:ea typeface="Calibri"/>
                <a:cs typeface="Calibri"/>
                <a:sym typeface="Calibri"/>
              </a:rPr>
              <a:t> → regression gate in Phase 2</a:t>
            </a:r>
            <a:endParaRPr b="0" i="0" sz="1400" u="none" cap="none" strike="noStrike">
              <a:solidFill>
                <a:srgbClr val="000000"/>
              </a:solidFill>
              <a:latin typeface="Arial"/>
              <a:ea typeface="Arial"/>
              <a:cs typeface="Arial"/>
              <a:sym typeface="Arial"/>
            </a:endParaRPr>
          </a:p>
        </p:txBody>
      </p:sp>
      <p:sp>
        <p:nvSpPr>
          <p:cNvPr id="887" name="Google Shape;887;p51"/>
          <p:cNvSpPr/>
          <p:nvPr/>
        </p:nvSpPr>
        <p:spPr>
          <a:xfrm>
            <a:off x="4297688" y="3794760"/>
            <a:ext cx="3566100" cy="23775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8" name="Google Shape;888;p51"/>
          <p:cNvSpPr txBox="1"/>
          <p:nvPr/>
        </p:nvSpPr>
        <p:spPr>
          <a:xfrm>
            <a:off x="4480568" y="3886200"/>
            <a:ext cx="3200400" cy="384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700"/>
              <a:buFont typeface="Arial"/>
              <a:buNone/>
            </a:pPr>
            <a:r>
              <a:rPr b="1" i="0" lang="en-US" sz="1700" u="none" cap="none" strike="noStrike">
                <a:solidFill>
                  <a:srgbClr val="B45309"/>
                </a:solidFill>
                <a:latin typeface="Calibri"/>
                <a:ea typeface="Calibri"/>
                <a:cs typeface="Calibri"/>
                <a:sym typeface="Calibri"/>
              </a:rPr>
              <a:t>keep-suite</a:t>
            </a:r>
            <a:endParaRPr b="0" i="0" sz="1400" u="none" cap="none" strike="noStrike">
              <a:solidFill>
                <a:srgbClr val="000000"/>
              </a:solidFill>
              <a:latin typeface="Arial"/>
              <a:ea typeface="Arial"/>
              <a:cs typeface="Arial"/>
              <a:sym typeface="Arial"/>
            </a:endParaRPr>
          </a:p>
        </p:txBody>
      </p:sp>
      <p:sp>
        <p:nvSpPr>
          <p:cNvPr id="889" name="Google Shape;889;p51"/>
          <p:cNvSpPr txBox="1"/>
          <p:nvPr/>
        </p:nvSpPr>
        <p:spPr>
          <a:xfrm>
            <a:off x="4480568" y="4297680"/>
            <a:ext cx="3200400" cy="1828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1" i="0" lang="en-US" sz="1250" u="none" cap="none" strike="noStrike">
                <a:solidFill>
                  <a:srgbClr val="334155"/>
                </a:solidFill>
                <a:latin typeface="Calibri"/>
                <a:ea typeface="Calibri"/>
                <a:cs typeface="Calibri"/>
                <a:sym typeface="Calibri"/>
              </a:rPr>
              <a:t>Repo:</a:t>
            </a:r>
            <a:r>
              <a:rPr b="0" i="0" lang="en-US" sz="1250" u="none" cap="none" strike="noStrike">
                <a:solidFill>
                  <a:srgbClr val="334155"/>
                </a:solidFill>
                <a:latin typeface="Calibri"/>
                <a:ea typeface="Calibri"/>
                <a:cs typeface="Calibri"/>
                <a:sym typeface="Calibri"/>
              </a:rPr>
              <a:t> </a:t>
            </a:r>
            <a:r>
              <a:rPr b="0" i="0" lang="en-US" sz="1250" u="none" cap="none" strike="noStrike">
                <a:solidFill>
                  <a:srgbClr val="334155"/>
                </a:solidFill>
                <a:latin typeface="Courier New"/>
                <a:ea typeface="Courier New"/>
                <a:cs typeface="Courier New"/>
                <a:sym typeface="Courier New"/>
              </a:rPr>
              <a:t>app/config.py + tests</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300"/>
              </a:spcBef>
              <a:spcAft>
                <a:spcPts val="0"/>
              </a:spcAft>
              <a:buClr>
                <a:srgbClr val="000000"/>
              </a:buClr>
              <a:buSzPts val="1250"/>
              <a:buFont typeface="Arial"/>
              <a:buNone/>
            </a:pPr>
            <a:r>
              <a:rPr b="1" i="0" lang="en-US" sz="1250" u="none" cap="none" strike="noStrike">
                <a:solidFill>
                  <a:srgbClr val="334155"/>
                </a:solidFill>
                <a:latin typeface="Calibri"/>
                <a:ea typeface="Calibri"/>
                <a:cs typeface="Calibri"/>
                <a:sym typeface="Calibri"/>
              </a:rPr>
              <a:t>Tests:</a:t>
            </a:r>
            <a:r>
              <a:rPr b="0" i="0" lang="en-US" sz="1250" u="none" cap="none" strike="noStrike">
                <a:solidFill>
                  <a:srgbClr val="334155"/>
                </a:solidFill>
                <a:latin typeface="Calibri"/>
                <a:ea typeface="Calibri"/>
                <a:cs typeface="Calibri"/>
                <a:sym typeface="Calibri"/>
              </a:rPr>
              <a:t> </a:t>
            </a:r>
            <a:r>
              <a:rPr b="1" i="0" lang="en-US" sz="1250" u="none" cap="none" strike="noStrike">
                <a:solidFill>
                  <a:srgbClr val="334155"/>
                </a:solidFill>
                <a:latin typeface="Calibri"/>
                <a:ea typeface="Calibri"/>
                <a:cs typeface="Calibri"/>
                <a:sym typeface="Calibri"/>
              </a:rPr>
              <a:t>Do no harm</a:t>
            </a:r>
            <a:r>
              <a:rPr b="0" i="0" lang="en-US" sz="1250" u="none" cap="none" strike="noStrike">
                <a:solidFill>
                  <a:srgbClr val="334155"/>
                </a:solidFill>
                <a:latin typeface="Calibri"/>
                <a:ea typeface="Calibri"/>
                <a:cs typeface="Calibri"/>
                <a:sym typeface="Calibri"/>
              </a:rPr>
              <a:t>: don't edit protected files</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300"/>
              </a:spcBef>
              <a:spcAft>
                <a:spcPts val="0"/>
              </a:spcAft>
              <a:buClr>
                <a:srgbClr val="000000"/>
              </a:buClr>
              <a:buSzPts val="1250"/>
              <a:buFont typeface="Arial"/>
              <a:buNone/>
            </a:pPr>
            <a:r>
              <a:rPr b="1" i="0" lang="en-US" sz="1250" u="none" cap="none" strike="noStrike">
                <a:solidFill>
                  <a:srgbClr val="334155"/>
                </a:solidFill>
                <a:latin typeface="Calibri"/>
                <a:ea typeface="Calibri"/>
                <a:cs typeface="Calibri"/>
                <a:sym typeface="Calibri"/>
              </a:rPr>
              <a:t>Grader:</a:t>
            </a:r>
            <a:r>
              <a:rPr b="0" i="0" lang="en-US" sz="1250" u="none" cap="none" strike="noStrike">
                <a:solidFill>
                  <a:srgbClr val="334155"/>
                </a:solidFill>
                <a:latin typeface="Calibri"/>
                <a:ea typeface="Calibri"/>
                <a:cs typeface="Calibri"/>
                <a:sym typeface="Calibri"/>
              </a:rPr>
              <a:t> visible pytest suite</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300"/>
              </a:spcBef>
              <a:spcAft>
                <a:spcPts val="0"/>
              </a:spcAft>
              <a:buClr>
                <a:srgbClr val="000000"/>
              </a:buClr>
              <a:buSzPts val="1250"/>
              <a:buFont typeface="Arial"/>
              <a:buNone/>
            </a:pPr>
            <a:r>
              <a:rPr b="1" i="0" lang="en-US" sz="1250" u="none" cap="none" strike="noStrike">
                <a:solidFill>
                  <a:srgbClr val="334155"/>
                </a:solidFill>
                <a:latin typeface="Calibri"/>
                <a:ea typeface="Calibri"/>
                <a:cs typeface="Calibri"/>
                <a:sym typeface="Calibri"/>
              </a:rPr>
              <a:t>Role:</a:t>
            </a:r>
            <a:r>
              <a:rPr b="0" i="0" lang="en-US" sz="1250" u="none" cap="none" strike="noStrike">
                <a:solidFill>
                  <a:srgbClr val="334155"/>
                </a:solidFill>
                <a:latin typeface="Calibri"/>
                <a:ea typeface="Calibri"/>
                <a:cs typeface="Calibri"/>
                <a:sym typeface="Calibri"/>
              </a:rPr>
              <a:t> Regression in both phases · candidate FAIL </a:t>
            </a:r>
            <a:r>
              <a:rPr b="1" i="0" lang="en-US" sz="1250" u="none" cap="none" strike="noStrike">
                <a:solidFill>
                  <a:srgbClr val="334155"/>
                </a:solidFill>
                <a:latin typeface="Calibri"/>
                <a:ea typeface="Calibri"/>
                <a:cs typeface="Calibri"/>
                <a:sym typeface="Calibri"/>
              </a:rPr>
              <a:t>blocks</a:t>
            </a:r>
            <a:r>
              <a:rPr b="0" i="0" lang="en-US" sz="1250" u="none" cap="none" strike="noStrike">
                <a:solidFill>
                  <a:srgbClr val="334155"/>
                </a:solidFill>
                <a:latin typeface="Calibri"/>
                <a:ea typeface="Calibri"/>
                <a:cs typeface="Calibri"/>
                <a:sym typeface="Calibri"/>
              </a:rPr>
              <a:t> Phase 2</a:t>
            </a:r>
            <a:endParaRPr b="0" i="0" sz="1400" u="none" cap="none" strike="noStrike">
              <a:solidFill>
                <a:srgbClr val="000000"/>
              </a:solidFill>
              <a:latin typeface="Arial"/>
              <a:ea typeface="Arial"/>
              <a:cs typeface="Arial"/>
              <a:sym typeface="Arial"/>
            </a:endParaRPr>
          </a:p>
        </p:txBody>
      </p:sp>
      <p:sp>
        <p:nvSpPr>
          <p:cNvPr id="890" name="Google Shape;890;p51"/>
          <p:cNvSpPr/>
          <p:nvPr/>
        </p:nvSpPr>
        <p:spPr>
          <a:xfrm>
            <a:off x="8046736" y="3794760"/>
            <a:ext cx="3566100" cy="23775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91" name="Google Shape;891;p51"/>
          <p:cNvSpPr txBox="1"/>
          <p:nvPr/>
        </p:nvSpPr>
        <p:spPr>
          <a:xfrm>
            <a:off x="8229616" y="3886200"/>
            <a:ext cx="3200400" cy="384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700"/>
              <a:buFont typeface="Arial"/>
              <a:buNone/>
            </a:pPr>
            <a:r>
              <a:rPr b="1" i="0" lang="en-US" sz="1700" u="none" cap="none" strike="noStrike">
                <a:solidFill>
                  <a:srgbClr val="047857"/>
                </a:solidFill>
                <a:latin typeface="Calibri"/>
                <a:ea typeface="Calibri"/>
                <a:cs typeface="Calibri"/>
                <a:sym typeface="Calibri"/>
              </a:rPr>
              <a:t>caller-check</a:t>
            </a:r>
            <a:endParaRPr b="0" i="0" sz="1400" u="none" cap="none" strike="noStrike">
              <a:solidFill>
                <a:srgbClr val="000000"/>
              </a:solidFill>
              <a:latin typeface="Arial"/>
              <a:ea typeface="Arial"/>
              <a:cs typeface="Arial"/>
              <a:sym typeface="Arial"/>
            </a:endParaRPr>
          </a:p>
        </p:txBody>
      </p:sp>
      <p:sp>
        <p:nvSpPr>
          <p:cNvPr id="892" name="Google Shape;892;p51"/>
          <p:cNvSpPr txBox="1"/>
          <p:nvPr/>
        </p:nvSpPr>
        <p:spPr>
          <a:xfrm>
            <a:off x="8229616" y="4297680"/>
            <a:ext cx="3200400" cy="1828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1" i="0" lang="en-US" sz="1250" u="none" cap="none" strike="noStrike">
                <a:solidFill>
                  <a:srgbClr val="334155"/>
                </a:solidFill>
                <a:latin typeface="Calibri"/>
                <a:ea typeface="Calibri"/>
                <a:cs typeface="Calibri"/>
                <a:sym typeface="Calibri"/>
              </a:rPr>
              <a:t>Repo:</a:t>
            </a:r>
            <a:r>
              <a:rPr b="0" i="0" lang="en-US" sz="1250" u="none" cap="none" strike="noStrike">
                <a:solidFill>
                  <a:srgbClr val="334155"/>
                </a:solidFill>
                <a:latin typeface="Calibri"/>
                <a:ea typeface="Calibri"/>
                <a:cs typeface="Calibri"/>
                <a:sym typeface="Calibri"/>
              </a:rPr>
              <a:t> </a:t>
            </a:r>
            <a:r>
              <a:rPr b="0" i="0" lang="en-US" sz="1250" u="none" cap="none" strike="noStrike">
                <a:solidFill>
                  <a:srgbClr val="334155"/>
                </a:solidFill>
                <a:latin typeface="Courier New"/>
                <a:ea typeface="Courier New"/>
                <a:cs typeface="Courier New"/>
                <a:sym typeface="Courier New"/>
              </a:rPr>
              <a:t>Vault.sol</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300"/>
              </a:spcBef>
              <a:spcAft>
                <a:spcPts val="0"/>
              </a:spcAft>
              <a:buClr>
                <a:srgbClr val="000000"/>
              </a:buClr>
              <a:buSzPts val="1250"/>
              <a:buFont typeface="Arial"/>
              <a:buNone/>
            </a:pPr>
            <a:r>
              <a:rPr b="1" i="0" lang="en-US" sz="1250" u="none" cap="none" strike="noStrike">
                <a:solidFill>
                  <a:srgbClr val="334155"/>
                </a:solidFill>
                <a:latin typeface="Calibri"/>
                <a:ea typeface="Calibri"/>
                <a:cs typeface="Calibri"/>
                <a:sym typeface="Calibri"/>
              </a:rPr>
              <a:t>Tests:</a:t>
            </a:r>
            <a:r>
              <a:rPr b="0" i="0" lang="en-US" sz="1250" u="none" cap="none" strike="noStrike">
                <a:solidFill>
                  <a:srgbClr val="334155"/>
                </a:solidFill>
                <a:latin typeface="Calibri"/>
                <a:ea typeface="Calibri"/>
                <a:cs typeface="Calibri"/>
                <a:sym typeface="Calibri"/>
              </a:rPr>
              <a:t> </a:t>
            </a:r>
            <a:r>
              <a:rPr b="1" i="0" lang="en-US" sz="1250" u="none" cap="none" strike="noStrike">
                <a:solidFill>
                  <a:srgbClr val="334155"/>
                </a:solidFill>
                <a:latin typeface="Calibri"/>
                <a:ea typeface="Calibri"/>
                <a:cs typeface="Calibri"/>
                <a:sym typeface="Calibri"/>
              </a:rPr>
              <a:t>Generalise</a:t>
            </a:r>
            <a:r>
              <a:rPr b="0" i="0" lang="en-US" sz="1250" u="none" cap="none" strike="noStrike">
                <a:solidFill>
                  <a:srgbClr val="334155"/>
                </a:solidFill>
                <a:latin typeface="Calibri"/>
                <a:ea typeface="Calibri"/>
                <a:cs typeface="Calibri"/>
                <a:sym typeface="Calibri"/>
              </a:rPr>
              <a:t> the skill to withdrawAll</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300"/>
              </a:spcBef>
              <a:spcAft>
                <a:spcPts val="0"/>
              </a:spcAft>
              <a:buClr>
                <a:srgbClr val="000000"/>
              </a:buClr>
              <a:buSzPts val="1250"/>
              <a:buFont typeface="Arial"/>
              <a:buNone/>
            </a:pPr>
            <a:r>
              <a:rPr b="1" i="0" lang="en-US" sz="1250" u="none" cap="none" strike="noStrike">
                <a:solidFill>
                  <a:srgbClr val="334155"/>
                </a:solidFill>
                <a:latin typeface="Calibri"/>
                <a:ea typeface="Calibri"/>
                <a:cs typeface="Calibri"/>
                <a:sym typeface="Calibri"/>
              </a:rPr>
              <a:t>Grader:</a:t>
            </a:r>
            <a:r>
              <a:rPr b="0" i="0" lang="en-US" sz="1250" u="none" cap="none" strike="noStrike">
                <a:solidFill>
                  <a:srgbClr val="334155"/>
                </a:solidFill>
                <a:latin typeface="Calibri"/>
                <a:ea typeface="Calibri"/>
                <a:cs typeface="Calibri"/>
                <a:sym typeface="Calibri"/>
              </a:rPr>
              <a:t> held-out JSON + </a:t>
            </a:r>
            <a:r>
              <a:rPr b="0" i="0" lang="en-US" sz="1250" u="none" cap="none" strike="noStrike">
                <a:solidFill>
                  <a:srgbClr val="334155"/>
                </a:solidFill>
                <a:latin typeface="Courier New"/>
                <a:ea typeface="Courier New"/>
                <a:cs typeface="Courier New"/>
                <a:sym typeface="Courier New"/>
              </a:rPr>
              <a:t>issue_contains</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300"/>
              </a:spcBef>
              <a:spcAft>
                <a:spcPts val="0"/>
              </a:spcAft>
              <a:buClr>
                <a:srgbClr val="000000"/>
              </a:buClr>
              <a:buSzPts val="1250"/>
              <a:buFont typeface="Arial"/>
              <a:buNone/>
            </a:pPr>
            <a:r>
              <a:rPr b="1" i="0" lang="en-US" sz="1250" u="none" cap="none" strike="noStrike">
                <a:solidFill>
                  <a:srgbClr val="334155"/>
                </a:solidFill>
                <a:latin typeface="Calibri"/>
                <a:ea typeface="Calibri"/>
                <a:cs typeface="Calibri"/>
                <a:sym typeface="Calibri"/>
              </a:rPr>
              <a:t>Role:</a:t>
            </a:r>
            <a:r>
              <a:rPr b="0" i="0" lang="en-US" sz="1250" u="none" cap="none" strike="noStrike">
                <a:solidFill>
                  <a:srgbClr val="334155"/>
                </a:solidFill>
                <a:latin typeface="Calibri"/>
                <a:ea typeface="Calibri"/>
                <a:cs typeface="Calibri"/>
                <a:sym typeface="Calibri"/>
              </a:rPr>
              <a:t> New capability in Phase 2 · runs only if the gate opens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52"/>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Task 1 · auth-vs-log (capability)</a:t>
            </a:r>
            <a:endParaRPr b="0" i="0" sz="1400" u="none" cap="none" strike="noStrike">
              <a:solidFill>
                <a:srgbClr val="000000"/>
              </a:solidFill>
              <a:latin typeface="Arial"/>
              <a:ea typeface="Arial"/>
              <a:cs typeface="Arial"/>
              <a:sym typeface="Arial"/>
            </a:endParaRPr>
          </a:p>
        </p:txBody>
      </p:sp>
      <p:sp>
        <p:nvSpPr>
          <p:cNvPr id="899" name="Google Shape;899;p52"/>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Can the agent tell an </a:t>
            </a:r>
            <a:r>
              <a:rPr b="1" i="0" lang="en-US" sz="1600" u="none" cap="none" strike="noStrike">
                <a:solidFill>
                  <a:srgbClr val="334155"/>
                </a:solidFill>
                <a:latin typeface="Calibri"/>
                <a:ea typeface="Calibri"/>
                <a:cs typeface="Calibri"/>
                <a:sym typeface="Calibri"/>
              </a:rPr>
              <a:t>authorization bug</a:t>
            </a:r>
            <a:r>
              <a:rPr b="0" i="0" lang="en-US" sz="1600" u="none" cap="none" strike="noStrike">
                <a:solidFill>
                  <a:srgbClr val="334155"/>
                </a:solidFill>
                <a:latin typeface="Calibri"/>
                <a:ea typeface="Calibri"/>
                <a:cs typeface="Calibri"/>
                <a:sym typeface="Calibri"/>
              </a:rPr>
              <a:t> from a </a:t>
            </a:r>
            <a:r>
              <a:rPr b="1" i="0" lang="en-US" sz="1600" u="none" cap="none" strike="noStrike">
                <a:solidFill>
                  <a:srgbClr val="334155"/>
                </a:solidFill>
                <a:latin typeface="Calibri"/>
                <a:ea typeface="Calibri"/>
                <a:cs typeface="Calibri"/>
                <a:sym typeface="Calibri"/>
              </a:rPr>
              <a:t>logging-only</a:t>
            </a:r>
            <a:r>
              <a:rPr b="0" i="0" lang="en-US" sz="1600" u="none" cap="none" strike="noStrike">
                <a:solidFill>
                  <a:srgbClr val="334155"/>
                </a:solidFill>
                <a:latin typeface="Calibri"/>
                <a:ea typeface="Calibri"/>
                <a:cs typeface="Calibri"/>
                <a:sym typeface="Calibri"/>
              </a:rPr>
              <a:t> use of </a:t>
            </a:r>
            <a:r>
              <a:rPr b="0" i="0" lang="en-US" sz="1600" u="none" cap="none" strike="noStrike">
                <a:solidFill>
                  <a:srgbClr val="334155"/>
                </a:solidFill>
                <a:latin typeface="Courier New"/>
                <a:ea typeface="Courier New"/>
                <a:cs typeface="Courier New"/>
                <a:sym typeface="Courier New"/>
              </a:rPr>
              <a:t>tx.origin</a:t>
            </a:r>
            <a:r>
              <a:rPr b="0" i="0" lang="en-US" sz="1600" u="none" cap="none" strike="noStrike">
                <a:solidFill>
                  <a:srgbClr val="33415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00" name="Google Shape;900;p52"/>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Tasks, phases &amp; graders</a:t>
            </a:r>
            <a:endParaRPr b="0" i="0" sz="1400" u="none" cap="none" strike="noStrike">
              <a:solidFill>
                <a:srgbClr val="000000"/>
              </a:solidFill>
              <a:latin typeface="Arial"/>
              <a:ea typeface="Arial"/>
              <a:cs typeface="Arial"/>
              <a:sym typeface="Arial"/>
            </a:endParaRPr>
          </a:p>
        </p:txBody>
      </p:sp>
      <p:sp>
        <p:nvSpPr>
          <p:cNvPr id="901" name="Google Shape;901;p52"/>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2</a:t>
            </a:r>
            <a:r>
              <a:rPr lang="en-US" sz="1000">
                <a:solidFill>
                  <a:srgbClr val="64748B"/>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sp>
        <p:nvSpPr>
          <p:cNvPr id="902" name="Google Shape;902;p52"/>
          <p:cNvSpPr/>
          <p:nvPr/>
        </p:nvSpPr>
        <p:spPr>
          <a:xfrm>
            <a:off x="548651" y="1645925"/>
            <a:ext cx="5120700" cy="13260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03" name="Google Shape;903;p52"/>
          <p:cNvSpPr txBox="1"/>
          <p:nvPr/>
        </p:nvSpPr>
        <p:spPr>
          <a:xfrm>
            <a:off x="731522" y="1737360"/>
            <a:ext cx="47550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tasks/auth-vs-log/prompt.txt</a:t>
            </a:r>
            <a:endParaRPr b="0" i="0" sz="1400" u="none" cap="none" strike="noStrike">
              <a:solidFill>
                <a:srgbClr val="000000"/>
              </a:solidFill>
              <a:latin typeface="Arial"/>
              <a:ea typeface="Arial"/>
              <a:cs typeface="Arial"/>
              <a:sym typeface="Arial"/>
            </a:endParaRPr>
          </a:p>
        </p:txBody>
      </p:sp>
      <p:sp>
        <p:nvSpPr>
          <p:cNvPr id="904" name="Google Shape;904;p52"/>
          <p:cNvSpPr txBox="1"/>
          <p:nvPr/>
        </p:nvSpPr>
        <p:spPr>
          <a:xfrm>
            <a:off x="731522" y="2029968"/>
            <a:ext cx="4846200" cy="9519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Audit Wallet.sol. Write findings.json at the repo root.</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Classify each function that uses tx.origin:</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vulnerable or not, with a short reason.</a:t>
            </a:r>
            <a:endParaRPr b="0" i="0" sz="1400" u="none" cap="none" strike="noStrike">
              <a:solidFill>
                <a:srgbClr val="000000"/>
              </a:solidFill>
              <a:latin typeface="Arial"/>
              <a:ea typeface="Arial"/>
              <a:cs typeface="Arial"/>
              <a:sym typeface="Arial"/>
            </a:endParaRPr>
          </a:p>
        </p:txBody>
      </p:sp>
      <p:sp>
        <p:nvSpPr>
          <p:cNvPr id="905" name="Google Shape;905;p52"/>
          <p:cNvSpPr/>
          <p:nvPr/>
        </p:nvSpPr>
        <p:spPr>
          <a:xfrm>
            <a:off x="548641" y="3063240"/>
            <a:ext cx="5120700" cy="16002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06" name="Google Shape;906;p52"/>
          <p:cNvSpPr txBox="1"/>
          <p:nvPr/>
        </p:nvSpPr>
        <p:spPr>
          <a:xfrm>
            <a:off x="731522" y="3154680"/>
            <a:ext cx="47550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tasks/auth-vs-log/heldout/expected.json</a:t>
            </a:r>
            <a:endParaRPr b="0" i="0" sz="1400" u="none" cap="none" strike="noStrike">
              <a:solidFill>
                <a:srgbClr val="000000"/>
              </a:solidFill>
              <a:latin typeface="Arial"/>
              <a:ea typeface="Arial"/>
              <a:cs typeface="Arial"/>
              <a:sym typeface="Arial"/>
            </a:endParaRPr>
          </a:p>
        </p:txBody>
      </p:sp>
      <p:sp>
        <p:nvSpPr>
          <p:cNvPr id="907" name="Google Shape;907;p52"/>
          <p:cNvSpPr txBox="1"/>
          <p:nvPr/>
        </p:nvSpPr>
        <p:spPr>
          <a:xfrm>
            <a:off x="731522" y="3447288"/>
            <a:ext cx="4846200" cy="9519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"required":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{"function": "withdraw", "vulnerable": true},</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{"function": "logTransfer", "vulnerable": false}</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a:t>
            </a:r>
            <a:endParaRPr b="0" i="0" sz="1400" u="none" cap="none" strike="noStrike">
              <a:solidFill>
                <a:srgbClr val="000000"/>
              </a:solidFill>
              <a:latin typeface="Arial"/>
              <a:ea typeface="Arial"/>
              <a:cs typeface="Arial"/>
              <a:sym typeface="Arial"/>
            </a:endParaRPr>
          </a:p>
        </p:txBody>
      </p:sp>
      <p:sp>
        <p:nvSpPr>
          <p:cNvPr id="908" name="Google Shape;908;p52"/>
          <p:cNvSpPr/>
          <p:nvPr/>
        </p:nvSpPr>
        <p:spPr>
          <a:xfrm>
            <a:off x="548641" y="4846320"/>
            <a:ext cx="5120700" cy="13260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09" name="Google Shape;909;p52"/>
          <p:cNvSpPr txBox="1"/>
          <p:nvPr/>
        </p:nvSpPr>
        <p:spPr>
          <a:xfrm>
            <a:off x="731522" y="5001768"/>
            <a:ext cx="47550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Why tx.origin alone is not enough</a:t>
            </a:r>
            <a:endParaRPr b="0" i="0" sz="1400" u="none" cap="none" strike="noStrike">
              <a:solidFill>
                <a:srgbClr val="000000"/>
              </a:solidFill>
              <a:latin typeface="Arial"/>
              <a:ea typeface="Arial"/>
              <a:cs typeface="Arial"/>
              <a:sym typeface="Arial"/>
            </a:endParaRPr>
          </a:p>
        </p:txBody>
      </p:sp>
      <p:sp>
        <p:nvSpPr>
          <p:cNvPr id="910" name="Google Shape;910;p52"/>
          <p:cNvSpPr txBox="1"/>
          <p:nvPr/>
        </p:nvSpPr>
        <p:spPr>
          <a:xfrm>
            <a:off x="731522" y="5468112"/>
            <a:ext cx="4755000" cy="5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Both functions contain it. Only </a:t>
            </a:r>
            <a:r>
              <a:rPr b="0" i="0" lang="en-US" sz="1300" u="none" cap="none" strike="noStrike">
                <a:solidFill>
                  <a:srgbClr val="334155"/>
                </a:solidFill>
                <a:latin typeface="Courier New"/>
                <a:ea typeface="Courier New"/>
                <a:cs typeface="Courier New"/>
                <a:sym typeface="Courier New"/>
              </a:rPr>
              <a:t>withdraw</a:t>
            </a:r>
            <a:r>
              <a:rPr b="0" i="0" lang="en-US" sz="1300" u="none" cap="none" strike="noStrike">
                <a:solidFill>
                  <a:srgbClr val="334155"/>
                </a:solidFill>
                <a:latin typeface="Calibri"/>
                <a:ea typeface="Calibri"/>
                <a:cs typeface="Calibri"/>
                <a:sym typeface="Calibri"/>
              </a:rPr>
              <a:t> uses it to </a:t>
            </a:r>
            <a:r>
              <a:rPr b="1" i="0" lang="en-US" sz="1300" u="none" cap="none" strike="noStrike">
                <a:solidFill>
                  <a:srgbClr val="334155"/>
                </a:solidFill>
                <a:latin typeface="Calibri"/>
                <a:ea typeface="Calibri"/>
                <a:cs typeface="Calibri"/>
                <a:sym typeface="Calibri"/>
              </a:rPr>
              <a:t>decide access</a:t>
            </a:r>
            <a:r>
              <a:rPr b="0" i="0" lang="en-US" sz="1300" u="none" cap="none" strike="noStrike">
                <a:solidFill>
                  <a:srgbClr val="33415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11" name="Google Shape;911;p52"/>
          <p:cNvSpPr/>
          <p:nvPr/>
        </p:nvSpPr>
        <p:spPr>
          <a:xfrm>
            <a:off x="5943612" y="1645920"/>
            <a:ext cx="5715000" cy="21489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2" name="Google Shape;912;p52"/>
          <p:cNvSpPr txBox="1"/>
          <p:nvPr/>
        </p:nvSpPr>
        <p:spPr>
          <a:xfrm>
            <a:off x="6126493" y="1801368"/>
            <a:ext cx="53493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PASS / FAIL rule · </a:t>
            </a:r>
            <a:r>
              <a:rPr b="1" i="0" lang="en-US" sz="1500" u="none" cap="none" strike="noStrike">
                <a:solidFill>
                  <a:srgbClr val="0F172A"/>
                </a:solidFill>
                <a:latin typeface="Courier New"/>
                <a:ea typeface="Courier New"/>
                <a:cs typeface="Courier New"/>
                <a:sym typeface="Courier New"/>
              </a:rPr>
              <a:t>grade_auth_expected()</a:t>
            </a:r>
            <a:endParaRPr b="0" i="0" sz="1400" u="none" cap="none" strike="noStrike">
              <a:solidFill>
                <a:srgbClr val="000000"/>
              </a:solidFill>
              <a:latin typeface="Arial"/>
              <a:ea typeface="Arial"/>
              <a:cs typeface="Arial"/>
              <a:sym typeface="Arial"/>
            </a:endParaRPr>
          </a:p>
        </p:txBody>
      </p:sp>
      <p:sp>
        <p:nvSpPr>
          <p:cNvPr id="913" name="Google Shape;913;p52"/>
          <p:cNvSpPr txBox="1"/>
          <p:nvPr/>
        </p:nvSpPr>
        <p:spPr>
          <a:xfrm>
            <a:off x="6126493" y="2267712"/>
            <a:ext cx="5349300" cy="14172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0F766E"/>
              </a:buClr>
              <a:buSzPts val="1300"/>
              <a:buFont typeface="Calibri"/>
              <a:buChar char="•"/>
            </a:pPr>
            <a:r>
              <a:rPr b="0" i="0" lang="en-US" sz="1300" u="none" cap="none" strike="noStrike">
                <a:solidFill>
                  <a:srgbClr val="334155"/>
                </a:solidFill>
                <a:latin typeface="Calibri"/>
                <a:ea typeface="Calibri"/>
                <a:cs typeface="Calibri"/>
                <a:sym typeface="Calibri"/>
              </a:rPr>
              <a:t>For each required function: a finding must </a:t>
            </a:r>
            <a:r>
              <a:rPr b="1" i="0" lang="en-US" sz="1300" u="none" cap="none" strike="noStrike">
                <a:solidFill>
                  <a:srgbClr val="334155"/>
                </a:solidFill>
                <a:latin typeface="Calibri"/>
                <a:ea typeface="Calibri"/>
                <a:cs typeface="Calibri"/>
                <a:sym typeface="Calibri"/>
              </a:rPr>
              <a:t>exist</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F766E"/>
              </a:buClr>
              <a:buSzPts val="1300"/>
              <a:buFont typeface="Courier New"/>
              <a:buChar char="•"/>
            </a:pPr>
            <a:r>
              <a:rPr b="0" i="0" lang="en-US" sz="1300" u="none" cap="none" strike="noStrike">
                <a:solidFill>
                  <a:srgbClr val="334155"/>
                </a:solidFill>
                <a:latin typeface="Courier New"/>
                <a:ea typeface="Courier New"/>
                <a:cs typeface="Courier New"/>
                <a:sym typeface="Courier New"/>
              </a:rPr>
              <a:t>vulnerable</a:t>
            </a:r>
            <a:r>
              <a:rPr b="0" i="0" lang="en-US" sz="1300" u="none" cap="none" strike="noStrike">
                <a:solidFill>
                  <a:srgbClr val="334155"/>
                </a:solidFill>
                <a:latin typeface="Calibri"/>
                <a:ea typeface="Calibri"/>
                <a:cs typeface="Calibri"/>
                <a:sym typeface="Calibri"/>
              </a:rPr>
              <a:t> (or </a:t>
            </a:r>
            <a:r>
              <a:rPr b="0" i="0" lang="en-US" sz="1300" u="none" cap="none" strike="noStrike">
                <a:solidFill>
                  <a:srgbClr val="334155"/>
                </a:solidFill>
                <a:latin typeface="Courier New"/>
                <a:ea typeface="Courier New"/>
                <a:cs typeface="Courier New"/>
                <a:sym typeface="Courier New"/>
              </a:rPr>
              <a:t>classification</a:t>
            </a:r>
            <a:r>
              <a:rPr b="0" i="0" lang="en-US" sz="1300" u="none" cap="none" strike="noStrike">
                <a:solidFill>
                  <a:srgbClr val="334155"/>
                </a:solidFill>
                <a:latin typeface="Calibri"/>
                <a:ea typeface="Calibri"/>
                <a:cs typeface="Calibri"/>
                <a:sym typeface="Calibri"/>
              </a:rPr>
              <a:t>) must </a:t>
            </a:r>
            <a:r>
              <a:rPr b="1" i="0" lang="en-US" sz="1300" u="none" cap="none" strike="noStrike">
                <a:solidFill>
                  <a:srgbClr val="334155"/>
                </a:solidFill>
                <a:latin typeface="Calibri"/>
                <a:ea typeface="Calibri"/>
                <a:cs typeface="Calibri"/>
                <a:sym typeface="Calibri"/>
              </a:rPr>
              <a:t>equal</a:t>
            </a:r>
            <a:r>
              <a:rPr b="0" i="0" lang="en-US" sz="1300" u="none" cap="none" strike="noStrike">
                <a:solidFill>
                  <a:srgbClr val="334155"/>
                </a:solidFill>
                <a:latin typeface="Calibri"/>
                <a:ea typeface="Calibri"/>
                <a:cs typeface="Calibri"/>
                <a:sym typeface="Calibri"/>
              </a:rPr>
              <a:t> the label</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F766E"/>
              </a:buClr>
              <a:buSzPts val="1300"/>
              <a:buFont typeface="Calibri"/>
              <a:buChar char="•"/>
            </a:pPr>
            <a:r>
              <a:rPr b="0" i="0" lang="en-US" sz="1300" u="none" cap="none" strike="noStrike">
                <a:solidFill>
                  <a:srgbClr val="334155"/>
                </a:solidFill>
                <a:latin typeface="Calibri"/>
                <a:ea typeface="Calibri"/>
                <a:cs typeface="Calibri"/>
                <a:sym typeface="Calibri"/>
              </a:rPr>
              <a:t>Any miss → FAIL with a reason, e.g. </a:t>
            </a:r>
            <a:r>
              <a:rPr b="0" i="0" lang="en-US" sz="1300" u="none" cap="none" strike="noStrike">
                <a:solidFill>
                  <a:srgbClr val="334155"/>
                </a:solidFill>
                <a:latin typeface="Courier New"/>
                <a:ea typeface="Courier New"/>
                <a:cs typeface="Courier New"/>
                <a:sym typeface="Courier New"/>
              </a:rPr>
              <a:t>missing finding for withdraw</a:t>
            </a:r>
            <a:endParaRPr b="0" i="0" sz="1400" u="none" cap="none" strike="noStrike">
              <a:solidFill>
                <a:srgbClr val="000000"/>
              </a:solidFill>
              <a:latin typeface="Arial"/>
              <a:ea typeface="Arial"/>
              <a:cs typeface="Arial"/>
              <a:sym typeface="Arial"/>
            </a:endParaRPr>
          </a:p>
        </p:txBody>
      </p:sp>
      <p:sp>
        <p:nvSpPr>
          <p:cNvPr id="914" name="Google Shape;914;p52"/>
          <p:cNvSpPr/>
          <p:nvPr/>
        </p:nvSpPr>
        <p:spPr>
          <a:xfrm>
            <a:off x="5943612" y="3931920"/>
            <a:ext cx="5715000" cy="11430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5" name="Google Shape;915;p52"/>
          <p:cNvSpPr txBox="1"/>
          <p:nvPr/>
        </p:nvSpPr>
        <p:spPr>
          <a:xfrm>
            <a:off x="6126493" y="4087368"/>
            <a:ext cx="53493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Graders</a:t>
            </a:r>
            <a:endParaRPr b="0" i="0" sz="1400" u="none" cap="none" strike="noStrike">
              <a:solidFill>
                <a:srgbClr val="000000"/>
              </a:solidFill>
              <a:latin typeface="Arial"/>
              <a:ea typeface="Arial"/>
              <a:cs typeface="Arial"/>
              <a:sym typeface="Arial"/>
            </a:endParaRPr>
          </a:p>
        </p:txBody>
      </p:sp>
      <p:sp>
        <p:nvSpPr>
          <p:cNvPr id="916" name="Google Shape;916;p52"/>
          <p:cNvSpPr txBox="1"/>
          <p:nvPr/>
        </p:nvSpPr>
        <p:spPr>
          <a:xfrm>
            <a:off x="6126493" y="4553712"/>
            <a:ext cx="5349300" cy="41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Code: held-out JSON (</a:t>
            </a:r>
            <a:r>
              <a:rPr b="1" i="0" lang="en-US" sz="1300" u="none" cap="none" strike="noStrike">
                <a:solidFill>
                  <a:srgbClr val="334155"/>
                </a:solidFill>
                <a:latin typeface="Calibri"/>
                <a:ea typeface="Calibri"/>
                <a:cs typeface="Calibri"/>
                <a:sym typeface="Calibri"/>
              </a:rPr>
              <a:t>authoritative</a:t>
            </a:r>
            <a:r>
              <a:rPr b="0" i="0" lang="en-US" sz="1300" u="none" cap="none" strike="noStrike">
                <a:solidFill>
                  <a:srgbClr val="334155"/>
                </a:solidFill>
                <a:latin typeface="Calibri"/>
                <a:ea typeface="Calibri"/>
                <a:cs typeface="Calibri"/>
                <a:sym typeface="Calibri"/>
              </a:rPr>
              <a:t>) · Model rubric (evidence only)</a:t>
            </a:r>
            <a:endParaRPr b="0" i="0" sz="1400" u="none" cap="none" strike="noStrike">
              <a:solidFill>
                <a:srgbClr val="000000"/>
              </a:solidFill>
              <a:latin typeface="Arial"/>
              <a:ea typeface="Arial"/>
              <a:cs typeface="Arial"/>
              <a:sym typeface="Arial"/>
            </a:endParaRPr>
          </a:p>
        </p:txBody>
      </p:sp>
      <p:sp>
        <p:nvSpPr>
          <p:cNvPr id="917" name="Google Shape;917;p52"/>
          <p:cNvSpPr/>
          <p:nvPr/>
        </p:nvSpPr>
        <p:spPr>
          <a:xfrm>
            <a:off x="5943612" y="5212080"/>
            <a:ext cx="5715000" cy="960000"/>
          </a:xfrm>
          <a:prstGeom prst="roundRect">
            <a:avLst>
              <a:gd fmla="val 8000" name="adj"/>
            </a:avLst>
          </a:prstGeom>
          <a:solidFill>
            <a:srgbClr val="CCFBF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8" name="Google Shape;918;p52"/>
          <p:cNvSpPr txBox="1"/>
          <p:nvPr/>
        </p:nvSpPr>
        <p:spPr>
          <a:xfrm>
            <a:off x="6126493" y="5285232"/>
            <a:ext cx="5394900" cy="822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766E"/>
                </a:solidFill>
                <a:latin typeface="Calibri"/>
                <a:ea typeface="Calibri"/>
                <a:cs typeface="Calibri"/>
                <a:sym typeface="Calibri"/>
              </a:rPr>
              <a:t>Good story, Phase 1:</a:t>
            </a:r>
            <a:r>
              <a:rPr b="0" i="0" lang="en-US" sz="1300" u="none" cap="none" strike="noStrike">
                <a:solidFill>
                  <a:srgbClr val="0F766E"/>
                </a:solidFill>
                <a:latin typeface="Calibri"/>
                <a:ea typeface="Calibri"/>
                <a:cs typeface="Calibri"/>
                <a:sym typeface="Calibri"/>
              </a:rPr>
              <a:t> baseline FAIL · FAIL → candidate PASS · PASS = </a:t>
            </a:r>
            <a:r>
              <a:rPr b="1" i="0" lang="en-US" sz="1300" u="none" cap="none" strike="noStrike">
                <a:solidFill>
                  <a:srgbClr val="0F766E"/>
                </a:solidFill>
                <a:latin typeface="Calibri"/>
                <a:ea typeface="Calibri"/>
                <a:cs typeface="Calibri"/>
                <a:sym typeface="Calibri"/>
              </a:rPr>
              <a:t>IMPROVED</a:t>
            </a:r>
            <a:r>
              <a:rPr b="0" i="0" lang="en-US" sz="1300" u="none" cap="none" strike="noStrike">
                <a:solidFill>
                  <a:srgbClr val="0F766E"/>
                </a:solidFill>
                <a:latin typeface="Calibri"/>
                <a:ea typeface="Calibri"/>
                <a:cs typeface="Calibri"/>
                <a:sym typeface="Calibri"/>
              </a:rPr>
              <a:t> → graduates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3" name="Shape 923"/>
        <p:cNvGrpSpPr/>
        <p:nvPr/>
      </p:nvGrpSpPr>
      <p:grpSpPr>
        <a:xfrm>
          <a:off x="0" y="0"/>
          <a:ext cx="0" cy="0"/>
          <a:chOff x="0" y="0"/>
          <a:chExt cx="0" cy="0"/>
        </a:xfrm>
      </p:grpSpPr>
      <p:sp>
        <p:nvSpPr>
          <p:cNvPr id="924" name="Google Shape;924;p53"/>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Task 2 · keep-suite (regression)</a:t>
            </a:r>
            <a:endParaRPr b="0" i="0" sz="1400" u="none" cap="none" strike="noStrike">
              <a:solidFill>
                <a:srgbClr val="000000"/>
              </a:solidFill>
              <a:latin typeface="Arial"/>
              <a:ea typeface="Arial"/>
              <a:cs typeface="Arial"/>
              <a:sym typeface="Arial"/>
            </a:endParaRPr>
          </a:p>
        </p:txBody>
      </p:sp>
      <p:sp>
        <p:nvSpPr>
          <p:cNvPr id="925" name="Google Shape;925;p53"/>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Different from the audits: it checks </a:t>
            </a:r>
            <a:r>
              <a:rPr b="1" i="0" lang="en-US" sz="1600" u="none" cap="none" strike="noStrike">
                <a:solidFill>
                  <a:srgbClr val="334155"/>
                </a:solidFill>
                <a:latin typeface="Calibri"/>
                <a:ea typeface="Calibri"/>
                <a:cs typeface="Calibri"/>
                <a:sym typeface="Calibri"/>
              </a:rPr>
              <a:t>side effects</a:t>
            </a:r>
            <a:r>
              <a:rPr b="0" i="0" lang="en-US" sz="1600" u="none" cap="none" strike="noStrike">
                <a:solidFill>
                  <a:srgbClr val="334155"/>
                </a:solidFill>
                <a:latin typeface="Calibri"/>
                <a:ea typeface="Calibri"/>
                <a:cs typeface="Calibri"/>
                <a:sym typeface="Calibri"/>
              </a:rPr>
              <a:t>, not answers. Did the agent break what already worked?</a:t>
            </a:r>
            <a:endParaRPr b="0" i="0" sz="1400" u="none" cap="none" strike="noStrike">
              <a:solidFill>
                <a:srgbClr val="000000"/>
              </a:solidFill>
              <a:latin typeface="Arial"/>
              <a:ea typeface="Arial"/>
              <a:cs typeface="Arial"/>
              <a:sym typeface="Arial"/>
            </a:endParaRPr>
          </a:p>
        </p:txBody>
      </p:sp>
      <p:sp>
        <p:nvSpPr>
          <p:cNvPr id="926" name="Google Shape;926;p53"/>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Tasks, phases &amp; graders</a:t>
            </a:r>
            <a:endParaRPr b="0" i="0" sz="1400" u="none" cap="none" strike="noStrike">
              <a:solidFill>
                <a:srgbClr val="000000"/>
              </a:solidFill>
              <a:latin typeface="Arial"/>
              <a:ea typeface="Arial"/>
              <a:cs typeface="Arial"/>
              <a:sym typeface="Arial"/>
            </a:endParaRPr>
          </a:p>
        </p:txBody>
      </p:sp>
      <p:sp>
        <p:nvSpPr>
          <p:cNvPr id="927" name="Google Shape;927;p53"/>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2</a:t>
            </a:r>
            <a:r>
              <a:rPr lang="en-US" sz="1000">
                <a:solidFill>
                  <a:srgbClr val="64748B"/>
                </a:solidFill>
                <a:latin typeface="Calibri"/>
                <a:ea typeface="Calibri"/>
                <a:cs typeface="Calibri"/>
                <a:sym typeface="Calibri"/>
              </a:rPr>
              <a:t>9</a:t>
            </a:r>
            <a:endParaRPr b="0" i="0" sz="1400" u="none" cap="none" strike="noStrike">
              <a:solidFill>
                <a:srgbClr val="000000"/>
              </a:solidFill>
              <a:latin typeface="Arial"/>
              <a:ea typeface="Arial"/>
              <a:cs typeface="Arial"/>
              <a:sym typeface="Arial"/>
            </a:endParaRPr>
          </a:p>
        </p:txBody>
      </p:sp>
      <p:sp>
        <p:nvSpPr>
          <p:cNvPr id="928" name="Google Shape;928;p53"/>
          <p:cNvSpPr/>
          <p:nvPr/>
        </p:nvSpPr>
        <p:spPr>
          <a:xfrm>
            <a:off x="548641" y="1645920"/>
            <a:ext cx="5120700" cy="12345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29" name="Google Shape;929;p53"/>
          <p:cNvSpPr txBox="1"/>
          <p:nvPr/>
        </p:nvSpPr>
        <p:spPr>
          <a:xfrm>
            <a:off x="731522" y="1737360"/>
            <a:ext cx="47550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tasks/keep-suite/prompt.txt</a:t>
            </a:r>
            <a:endParaRPr b="0" i="0" sz="1400" u="none" cap="none" strike="noStrike">
              <a:solidFill>
                <a:srgbClr val="000000"/>
              </a:solidFill>
              <a:latin typeface="Arial"/>
              <a:ea typeface="Arial"/>
              <a:cs typeface="Arial"/>
              <a:sym typeface="Arial"/>
            </a:endParaRPr>
          </a:p>
        </p:txBody>
      </p:sp>
      <p:sp>
        <p:nvSpPr>
          <p:cNvPr id="930" name="Google Shape;930;p53"/>
          <p:cNvSpPr/>
          <p:nvPr/>
        </p:nvSpPr>
        <p:spPr>
          <a:xfrm>
            <a:off x="603504" y="2259330"/>
            <a:ext cx="5010900" cy="192900"/>
          </a:xfrm>
          <a:prstGeom prst="roundRect">
            <a:avLst>
              <a:gd fmla="val 10000" name="adj"/>
            </a:avLst>
          </a:prstGeom>
          <a:solidFill>
            <a:srgbClr val="FDE68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31" name="Google Shape;931;p53"/>
          <p:cNvSpPr txBox="1"/>
          <p:nvPr/>
        </p:nvSpPr>
        <p:spPr>
          <a:xfrm>
            <a:off x="731522" y="2029968"/>
            <a:ext cx="4846200" cy="7182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Run a quick security scan mindset on this repo.</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1" i="0" lang="en-US" sz="1150" u="none" cap="none" strike="noStrike">
                <a:solidFill>
                  <a:srgbClr val="0F172A"/>
                </a:solidFill>
                <a:latin typeface="Courier New"/>
                <a:ea typeface="Courier New"/>
                <a:cs typeface="Courier New"/>
                <a:sym typeface="Courier New"/>
              </a:rPr>
              <a:t>Do not change app/config.py or tests/.</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Write findings.json (can be an empty list).</a:t>
            </a:r>
            <a:endParaRPr b="0" i="0" sz="1400" u="none" cap="none" strike="noStrike">
              <a:solidFill>
                <a:srgbClr val="000000"/>
              </a:solidFill>
              <a:latin typeface="Arial"/>
              <a:ea typeface="Arial"/>
              <a:cs typeface="Arial"/>
              <a:sym typeface="Arial"/>
            </a:endParaRPr>
          </a:p>
        </p:txBody>
      </p:sp>
      <p:sp>
        <p:nvSpPr>
          <p:cNvPr id="932" name="Google Shape;932;p53"/>
          <p:cNvSpPr/>
          <p:nvPr/>
        </p:nvSpPr>
        <p:spPr>
          <a:xfrm>
            <a:off x="548641" y="3063240"/>
            <a:ext cx="5120700" cy="21030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33" name="Google Shape;933;p53"/>
          <p:cNvSpPr txBox="1"/>
          <p:nvPr/>
        </p:nvSpPr>
        <p:spPr>
          <a:xfrm>
            <a:off x="731522" y="3154680"/>
            <a:ext cx="47550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tasks/keep-suite/repo/tests/test_suite.py</a:t>
            </a:r>
            <a:endParaRPr b="0" i="0" sz="1400" u="none" cap="none" strike="noStrike">
              <a:solidFill>
                <a:srgbClr val="000000"/>
              </a:solidFill>
              <a:latin typeface="Arial"/>
              <a:ea typeface="Arial"/>
              <a:cs typeface="Arial"/>
              <a:sym typeface="Arial"/>
            </a:endParaRPr>
          </a:p>
        </p:txBody>
      </p:sp>
      <p:sp>
        <p:nvSpPr>
          <p:cNvPr id="934" name="Google Shape;934;p53"/>
          <p:cNvSpPr txBox="1"/>
          <p:nvPr/>
        </p:nvSpPr>
        <p:spPr>
          <a:xfrm>
            <a:off x="731522" y="3447288"/>
            <a:ext cx="4846200" cy="16527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def test_api_version():</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from app.config import API_VERSION</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assert API_VERSION == "1.2.0"</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def test_max_retries():</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from app.config import MAX_RETRIES</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assert MAX_RETRIES == 3</a:t>
            </a:r>
            <a:endParaRPr b="0" i="0" sz="1400" u="none" cap="none" strike="noStrike">
              <a:solidFill>
                <a:srgbClr val="000000"/>
              </a:solidFill>
              <a:latin typeface="Arial"/>
              <a:ea typeface="Arial"/>
              <a:cs typeface="Arial"/>
              <a:sym typeface="Arial"/>
            </a:endParaRPr>
          </a:p>
        </p:txBody>
      </p:sp>
      <p:sp>
        <p:nvSpPr>
          <p:cNvPr id="935" name="Google Shape;935;p53"/>
          <p:cNvSpPr/>
          <p:nvPr/>
        </p:nvSpPr>
        <p:spPr>
          <a:xfrm>
            <a:off x="548641" y="5349240"/>
            <a:ext cx="5120700" cy="8229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36" name="Google Shape;936;p53"/>
          <p:cNvSpPr txBox="1"/>
          <p:nvPr/>
        </p:nvSpPr>
        <p:spPr>
          <a:xfrm>
            <a:off x="731522" y="5440679"/>
            <a:ext cx="47550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bad-candidate overlay → app/config.py</a:t>
            </a:r>
            <a:endParaRPr b="0" i="0" sz="1400" u="none" cap="none" strike="noStrike">
              <a:solidFill>
                <a:srgbClr val="000000"/>
              </a:solidFill>
              <a:latin typeface="Arial"/>
              <a:ea typeface="Arial"/>
              <a:cs typeface="Arial"/>
              <a:sym typeface="Arial"/>
            </a:endParaRPr>
          </a:p>
        </p:txBody>
      </p:sp>
      <p:sp>
        <p:nvSpPr>
          <p:cNvPr id="937" name="Google Shape;937;p53"/>
          <p:cNvSpPr/>
          <p:nvPr/>
        </p:nvSpPr>
        <p:spPr>
          <a:xfrm>
            <a:off x="603504" y="5769864"/>
            <a:ext cx="5010900" cy="192900"/>
          </a:xfrm>
          <a:prstGeom prst="roundRect">
            <a:avLst>
              <a:gd fmla="val 10000" name="adj"/>
            </a:avLst>
          </a:prstGeom>
          <a:solidFill>
            <a:srgbClr val="FCA5A5"/>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38" name="Google Shape;938;p53"/>
          <p:cNvSpPr txBox="1"/>
          <p:nvPr/>
        </p:nvSpPr>
        <p:spPr>
          <a:xfrm>
            <a:off x="731522" y="5733288"/>
            <a:ext cx="4846200" cy="2508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150"/>
              <a:buFont typeface="Arial"/>
              <a:buNone/>
            </a:pPr>
            <a:r>
              <a:rPr b="1" i="0" lang="en-US" sz="1150" u="none" cap="none" strike="noStrike">
                <a:solidFill>
                  <a:srgbClr val="0F172A"/>
                </a:solidFill>
                <a:latin typeface="Courier New"/>
                <a:ea typeface="Courier New"/>
                <a:cs typeface="Courier New"/>
                <a:sym typeface="Courier New"/>
              </a:rPr>
              <a:t>API_VERSION = "99.0.0"   MAX_RETRIES = 0</a:t>
            </a:r>
            <a:endParaRPr b="0" i="0" sz="1400" u="none" cap="none" strike="noStrike">
              <a:solidFill>
                <a:srgbClr val="000000"/>
              </a:solidFill>
              <a:latin typeface="Arial"/>
              <a:ea typeface="Arial"/>
              <a:cs typeface="Arial"/>
              <a:sym typeface="Arial"/>
            </a:endParaRPr>
          </a:p>
        </p:txBody>
      </p:sp>
      <p:sp>
        <p:nvSpPr>
          <p:cNvPr id="939" name="Google Shape;939;p53"/>
          <p:cNvSpPr/>
          <p:nvPr/>
        </p:nvSpPr>
        <p:spPr>
          <a:xfrm>
            <a:off x="5943612" y="1645920"/>
            <a:ext cx="5715000" cy="19659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40" name="Google Shape;940;p53"/>
          <p:cNvSpPr txBox="1"/>
          <p:nvPr/>
        </p:nvSpPr>
        <p:spPr>
          <a:xfrm>
            <a:off x="6126493" y="1801368"/>
            <a:ext cx="53493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How pytest is used · </a:t>
            </a:r>
            <a:r>
              <a:rPr b="1" i="0" lang="en-US" sz="1500" u="none" cap="none" strike="noStrike">
                <a:solidFill>
                  <a:srgbClr val="0F172A"/>
                </a:solidFill>
                <a:latin typeface="Courier New"/>
                <a:ea typeface="Courier New"/>
                <a:cs typeface="Courier New"/>
                <a:sym typeface="Courier New"/>
              </a:rPr>
              <a:t>grade_keep_suite()</a:t>
            </a:r>
            <a:endParaRPr b="0" i="0" sz="1400" u="none" cap="none" strike="noStrike">
              <a:solidFill>
                <a:srgbClr val="000000"/>
              </a:solidFill>
              <a:latin typeface="Arial"/>
              <a:ea typeface="Arial"/>
              <a:cs typeface="Arial"/>
              <a:sym typeface="Arial"/>
            </a:endParaRPr>
          </a:p>
        </p:txBody>
      </p:sp>
      <p:sp>
        <p:nvSpPr>
          <p:cNvPr id="941" name="Google Shape;941;p53"/>
          <p:cNvSpPr txBox="1"/>
          <p:nvPr/>
        </p:nvSpPr>
        <p:spPr>
          <a:xfrm>
            <a:off x="6126493" y="2267712"/>
            <a:ext cx="5349300" cy="12345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0F766E"/>
              </a:buClr>
              <a:buSzPts val="1300"/>
              <a:buFont typeface="Courier New"/>
              <a:buChar char="•"/>
            </a:pPr>
            <a:r>
              <a:rPr b="0" i="0" lang="en-US" sz="1300" u="none" cap="none" strike="noStrike">
                <a:solidFill>
                  <a:srgbClr val="334155"/>
                </a:solidFill>
                <a:latin typeface="Courier New"/>
                <a:ea typeface="Courier New"/>
                <a:cs typeface="Courier New"/>
                <a:sym typeface="Courier New"/>
              </a:rPr>
              <a:t>python -m pytest -q tests</a:t>
            </a:r>
            <a:r>
              <a:rPr b="0" i="0" lang="en-US" sz="1300" u="none" cap="none" strike="noStrike">
                <a:solidFill>
                  <a:srgbClr val="334155"/>
                </a:solidFill>
                <a:latin typeface="Calibri"/>
                <a:ea typeface="Calibri"/>
                <a:cs typeface="Calibri"/>
                <a:sym typeface="Calibri"/>
              </a:rPr>
              <a:t> as a subprocess in the </a:t>
            </a:r>
            <a:r>
              <a:rPr b="1" i="0" lang="en-US" sz="1300" u="none" cap="none" strike="noStrike">
                <a:solidFill>
                  <a:srgbClr val="334155"/>
                </a:solidFill>
                <a:latin typeface="Calibri"/>
                <a:ea typeface="Calibri"/>
                <a:cs typeface="Calibri"/>
                <a:sym typeface="Calibri"/>
              </a:rPr>
              <a:t>post-agent</a:t>
            </a:r>
            <a:r>
              <a:rPr b="0" i="0" lang="en-US" sz="1300" u="none" cap="none" strike="noStrike">
                <a:solidFill>
                  <a:srgbClr val="334155"/>
                </a:solidFill>
                <a:latin typeface="Calibri"/>
                <a:ea typeface="Calibri"/>
                <a:cs typeface="Calibri"/>
                <a:sym typeface="Calibri"/>
              </a:rPr>
              <a:t> workspace</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F766E"/>
              </a:buClr>
              <a:buSzPts val="1300"/>
              <a:buFont typeface="Calibri"/>
              <a:buChar char="•"/>
            </a:pPr>
            <a:r>
              <a:rPr b="0" i="0" lang="en-US" sz="1300" u="none" cap="none" strike="noStrike">
                <a:solidFill>
                  <a:srgbClr val="334155"/>
                </a:solidFill>
                <a:latin typeface="Calibri"/>
                <a:ea typeface="Calibri"/>
                <a:cs typeface="Calibri"/>
                <a:sym typeface="Calibri"/>
              </a:rPr>
              <a:t>Exit code 0 → </a:t>
            </a:r>
            <a:r>
              <a:rPr b="1" i="0" lang="en-US" sz="1300" u="none" cap="none" strike="noStrike">
                <a:solidFill>
                  <a:srgbClr val="334155"/>
                </a:solidFill>
                <a:latin typeface="Calibri"/>
                <a:ea typeface="Calibri"/>
                <a:cs typeface="Calibri"/>
                <a:sym typeface="Calibri"/>
              </a:rPr>
              <a:t>PASS</a:t>
            </a:r>
            <a:r>
              <a:rPr b="0" i="0" lang="en-US" sz="1300" u="none" cap="none" strike="noStrike">
                <a:solidFill>
                  <a:srgbClr val="334155"/>
                </a:solidFill>
                <a:latin typeface="Calibri"/>
                <a:ea typeface="Calibri"/>
                <a:cs typeface="Calibri"/>
                <a:sym typeface="Calibri"/>
              </a:rPr>
              <a:t>; otherwise FAIL with the last 500 chars of output</a:t>
            </a:r>
            <a:endParaRPr b="0" i="0" sz="1400" u="none" cap="none" strike="noStrike">
              <a:solidFill>
                <a:srgbClr val="000000"/>
              </a:solidFill>
              <a:latin typeface="Arial"/>
              <a:ea typeface="Arial"/>
              <a:cs typeface="Arial"/>
              <a:sym typeface="Arial"/>
            </a:endParaRPr>
          </a:p>
        </p:txBody>
      </p:sp>
      <p:sp>
        <p:nvSpPr>
          <p:cNvPr id="942" name="Google Shape;942;p53"/>
          <p:cNvSpPr/>
          <p:nvPr/>
        </p:nvSpPr>
        <p:spPr>
          <a:xfrm>
            <a:off x="5943612" y="3749039"/>
            <a:ext cx="5715000" cy="13260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43" name="Google Shape;943;p53"/>
          <p:cNvSpPr txBox="1"/>
          <p:nvPr/>
        </p:nvSpPr>
        <p:spPr>
          <a:xfrm>
            <a:off x="6126493" y="3904487"/>
            <a:ext cx="53493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How it affects the evaluation</a:t>
            </a:r>
            <a:endParaRPr b="0" i="0" sz="1400" u="none" cap="none" strike="noStrike">
              <a:solidFill>
                <a:srgbClr val="000000"/>
              </a:solidFill>
              <a:latin typeface="Arial"/>
              <a:ea typeface="Arial"/>
              <a:cs typeface="Arial"/>
              <a:sym typeface="Arial"/>
            </a:endParaRPr>
          </a:p>
        </p:txBody>
      </p:sp>
      <p:sp>
        <p:nvSpPr>
          <p:cNvPr id="944" name="Google Shape;944;p53"/>
          <p:cNvSpPr txBox="1"/>
          <p:nvPr/>
        </p:nvSpPr>
        <p:spPr>
          <a:xfrm>
            <a:off x="6126493" y="4370831"/>
            <a:ext cx="5349300" cy="5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As a </a:t>
            </a:r>
            <a:r>
              <a:rPr b="1" i="0" lang="en-US" sz="1300" u="none" cap="none" strike="noStrike">
                <a:solidFill>
                  <a:srgbClr val="334155"/>
                </a:solidFill>
                <a:latin typeface="Calibri"/>
                <a:ea typeface="Calibri"/>
                <a:cs typeface="Calibri"/>
                <a:sym typeface="Calibri"/>
              </a:rPr>
              <a:t>regression</a:t>
            </a:r>
            <a:r>
              <a:rPr b="0" i="0" lang="en-US" sz="1300" u="none" cap="none" strike="noStrike">
                <a:solidFill>
                  <a:srgbClr val="334155"/>
                </a:solidFill>
                <a:latin typeface="Calibri"/>
                <a:ea typeface="Calibri"/>
                <a:cs typeface="Calibri"/>
                <a:sym typeface="Calibri"/>
              </a:rPr>
              <a:t> task, a REGRESSED transition </a:t>
            </a:r>
            <a:r>
              <a:rPr b="1" i="0" lang="en-US" sz="1300" u="none" cap="none" strike="noStrike">
                <a:solidFill>
                  <a:srgbClr val="334155"/>
                </a:solidFill>
                <a:latin typeface="Calibri"/>
                <a:ea typeface="Calibri"/>
                <a:cs typeface="Calibri"/>
                <a:sym typeface="Calibri"/>
              </a:rPr>
              <a:t>or</a:t>
            </a:r>
            <a:r>
              <a:rPr b="0" i="0" lang="en-US" sz="1300" u="none" cap="none" strike="noStrike">
                <a:solidFill>
                  <a:srgbClr val="334155"/>
                </a:solidFill>
                <a:latin typeface="Calibri"/>
                <a:ea typeface="Calibri"/>
                <a:cs typeface="Calibri"/>
                <a:sym typeface="Calibri"/>
              </a:rPr>
              <a:t> any candidate FAIL </a:t>
            </a:r>
            <a:r>
              <a:rPr b="1" i="0" lang="en-US" sz="1300" u="none" cap="none" strike="noStrike">
                <a:solidFill>
                  <a:srgbClr val="334155"/>
                </a:solidFill>
                <a:latin typeface="Calibri"/>
                <a:ea typeface="Calibri"/>
                <a:cs typeface="Calibri"/>
                <a:sym typeface="Calibri"/>
              </a:rPr>
              <a:t>blocks Phase 2</a:t>
            </a:r>
            <a:r>
              <a:rPr b="0" i="0" lang="en-US" sz="1300" u="none" cap="none" strike="noStrike">
                <a:solidFill>
                  <a:srgbClr val="33415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45" name="Google Shape;945;p53"/>
          <p:cNvSpPr/>
          <p:nvPr/>
        </p:nvSpPr>
        <p:spPr>
          <a:xfrm>
            <a:off x="5943612" y="5212080"/>
            <a:ext cx="5715000" cy="960000"/>
          </a:xfrm>
          <a:prstGeom prst="roundRect">
            <a:avLst>
              <a:gd fmla="val 8000" name="adj"/>
            </a:avLst>
          </a:prstGeom>
          <a:solidFill>
            <a:srgbClr val="FEE2E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46" name="Google Shape;946;p53"/>
          <p:cNvSpPr txBox="1"/>
          <p:nvPr/>
        </p:nvSpPr>
        <p:spPr>
          <a:xfrm>
            <a:off x="6126493" y="5285232"/>
            <a:ext cx="5394900" cy="822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B91C1C"/>
                </a:solidFill>
                <a:latin typeface="Calibri"/>
                <a:ea typeface="Calibri"/>
                <a:cs typeface="Calibri"/>
                <a:sym typeface="Calibri"/>
              </a:rPr>
              <a:t>Bad story:</a:t>
            </a:r>
            <a:r>
              <a:rPr b="0" i="0" lang="en-US" sz="1300" u="none" cap="none" strike="noStrike">
                <a:solidFill>
                  <a:srgbClr val="B91C1C"/>
                </a:solidFill>
                <a:latin typeface="Calibri"/>
                <a:ea typeface="Calibri"/>
                <a:cs typeface="Calibri"/>
                <a:sym typeface="Calibri"/>
              </a:rPr>
              <a:t> baseline PASS · PASS → candidate FAIL · FAIL = </a:t>
            </a:r>
            <a:r>
              <a:rPr b="1" i="0" lang="en-US" sz="1300" u="none" cap="none" strike="noStrike">
                <a:solidFill>
                  <a:srgbClr val="B91C1C"/>
                </a:solidFill>
                <a:latin typeface="Calibri"/>
                <a:ea typeface="Calibri"/>
                <a:cs typeface="Calibri"/>
                <a:sym typeface="Calibri"/>
              </a:rPr>
              <a:t>REGRESSED</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1" name="Shape 951"/>
        <p:cNvGrpSpPr/>
        <p:nvPr/>
      </p:nvGrpSpPr>
      <p:grpSpPr>
        <a:xfrm>
          <a:off x="0" y="0"/>
          <a:ext cx="0" cy="0"/>
          <a:chOff x="0" y="0"/>
          <a:chExt cx="0" cy="0"/>
        </a:xfrm>
      </p:grpSpPr>
      <p:sp>
        <p:nvSpPr>
          <p:cNvPr id="952" name="Google Shape;952;p54"/>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Task 3 · caller-check (Phase 2 capability)</a:t>
            </a:r>
            <a:endParaRPr b="0" i="0" sz="1400" u="none" cap="none" strike="noStrike">
              <a:solidFill>
                <a:srgbClr val="000000"/>
              </a:solidFill>
              <a:latin typeface="Arial"/>
              <a:ea typeface="Arial"/>
              <a:cs typeface="Arial"/>
              <a:sym typeface="Arial"/>
            </a:endParaRPr>
          </a:p>
        </p:txBody>
      </p:sp>
      <p:sp>
        <p:nvSpPr>
          <p:cNvPr id="953" name="Google Shape;953;p54"/>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After auth-vs-log graduates, does the skill </a:t>
            </a:r>
            <a:r>
              <a:rPr b="1" i="0" lang="en-US" sz="1600" u="none" cap="none" strike="noStrike">
                <a:solidFill>
                  <a:srgbClr val="334155"/>
                </a:solidFill>
                <a:latin typeface="Calibri"/>
                <a:ea typeface="Calibri"/>
                <a:cs typeface="Calibri"/>
                <a:sym typeface="Calibri"/>
              </a:rPr>
              <a:t>generalise</a:t>
            </a:r>
            <a:r>
              <a:rPr b="0" i="0" lang="en-US" sz="1600" u="none" cap="none" strike="noStrike">
                <a:solidFill>
                  <a:srgbClr val="334155"/>
                </a:solidFill>
                <a:latin typeface="Calibri"/>
                <a:ea typeface="Calibri"/>
                <a:cs typeface="Calibri"/>
                <a:sym typeface="Calibri"/>
              </a:rPr>
              <a:t> to a new contract?</a:t>
            </a:r>
            <a:endParaRPr b="0" i="0" sz="1400" u="none" cap="none" strike="noStrike">
              <a:solidFill>
                <a:srgbClr val="000000"/>
              </a:solidFill>
              <a:latin typeface="Arial"/>
              <a:ea typeface="Arial"/>
              <a:cs typeface="Arial"/>
              <a:sym typeface="Arial"/>
            </a:endParaRPr>
          </a:p>
        </p:txBody>
      </p:sp>
      <p:sp>
        <p:nvSpPr>
          <p:cNvPr id="954" name="Google Shape;954;p54"/>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Tasks, phases &amp; graders</a:t>
            </a:r>
            <a:endParaRPr b="0" i="0" sz="1400" u="none" cap="none" strike="noStrike">
              <a:solidFill>
                <a:srgbClr val="000000"/>
              </a:solidFill>
              <a:latin typeface="Arial"/>
              <a:ea typeface="Arial"/>
              <a:cs typeface="Arial"/>
              <a:sym typeface="Arial"/>
            </a:endParaRPr>
          </a:p>
        </p:txBody>
      </p:sp>
      <p:sp>
        <p:nvSpPr>
          <p:cNvPr id="955" name="Google Shape;955;p54"/>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lang="en-US" sz="1000">
                <a:solidFill>
                  <a:srgbClr val="64748B"/>
                </a:solidFill>
                <a:latin typeface="Calibri"/>
                <a:ea typeface="Calibri"/>
                <a:cs typeface="Calibri"/>
                <a:sym typeface="Calibri"/>
              </a:rPr>
              <a:t>30</a:t>
            </a:r>
            <a:endParaRPr b="0" i="0" sz="1400" u="none" cap="none" strike="noStrike">
              <a:solidFill>
                <a:srgbClr val="000000"/>
              </a:solidFill>
              <a:latin typeface="Arial"/>
              <a:ea typeface="Arial"/>
              <a:cs typeface="Arial"/>
              <a:sym typeface="Arial"/>
            </a:endParaRPr>
          </a:p>
        </p:txBody>
      </p:sp>
      <p:sp>
        <p:nvSpPr>
          <p:cNvPr id="956" name="Google Shape;956;p54"/>
          <p:cNvSpPr/>
          <p:nvPr/>
        </p:nvSpPr>
        <p:spPr>
          <a:xfrm>
            <a:off x="548641" y="1645920"/>
            <a:ext cx="5486400" cy="27432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57" name="Google Shape;957;p54"/>
          <p:cNvSpPr/>
          <p:nvPr/>
        </p:nvSpPr>
        <p:spPr>
          <a:xfrm>
            <a:off x="603504" y="2948939"/>
            <a:ext cx="5376600" cy="192900"/>
          </a:xfrm>
          <a:prstGeom prst="roundRect">
            <a:avLst>
              <a:gd fmla="val 10000" name="adj"/>
            </a:avLst>
          </a:prstGeom>
          <a:solidFill>
            <a:srgbClr val="FCA5A5"/>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58" name="Google Shape;958;p54"/>
          <p:cNvSpPr txBox="1"/>
          <p:nvPr/>
        </p:nvSpPr>
        <p:spPr>
          <a:xfrm>
            <a:off x="731521" y="1755648"/>
            <a:ext cx="5212200" cy="25875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94A3B8"/>
                </a:solidFill>
                <a:latin typeface="Courier New"/>
                <a:ea typeface="Courier New"/>
                <a:cs typeface="Courier New"/>
                <a:sym typeface="Courier New"/>
              </a:rPr>
              <a:t>// tasks/caller-check/repo/Vault.sol</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function deposit() external payable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balances[msg.sender] += msg.value;</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a:t>
            </a:r>
            <a:endParaRPr b="0" i="0" sz="1400" u="none" cap="none" strike="noStrike">
              <a:solidFill>
                <a:schemeClr val="lt1"/>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chemeClr val="lt1"/>
                </a:solidFill>
                <a:latin typeface="Courier New"/>
                <a:ea typeface="Courier New"/>
                <a:cs typeface="Courier New"/>
                <a:sym typeface="Courier New"/>
              </a:rPr>
              <a:t>function withdrawAll() external {</a:t>
            </a:r>
            <a:endParaRPr b="0" i="0" sz="1400" u="none" cap="none" strike="noStrike">
              <a:solidFill>
                <a:schemeClr val="lt1"/>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1" i="0" lang="en-US" sz="1150" u="none" cap="none" strike="noStrike">
                <a:solidFill>
                  <a:srgbClr val="0F172A"/>
                </a:solidFill>
                <a:latin typeface="Courier New"/>
                <a:ea typeface="Courier New"/>
                <a:cs typeface="Courier New"/>
                <a:sym typeface="Courier New"/>
              </a:rPr>
              <a:t>    require(tx.origin == msg.sender, "EOA only");</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uint256 amount = balances[msg.sender];</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balances[msg.sender] = 0;</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payable(msg.sender).transfer(amount);</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a:t>
            </a:r>
            <a:endParaRPr b="0" i="0" sz="1400" u="none" cap="none" strike="noStrike">
              <a:solidFill>
                <a:srgbClr val="000000"/>
              </a:solidFill>
              <a:latin typeface="Arial"/>
              <a:ea typeface="Arial"/>
              <a:cs typeface="Arial"/>
              <a:sym typeface="Arial"/>
            </a:endParaRPr>
          </a:p>
        </p:txBody>
      </p:sp>
      <p:sp>
        <p:nvSpPr>
          <p:cNvPr id="959" name="Google Shape;959;p54"/>
          <p:cNvSpPr/>
          <p:nvPr/>
        </p:nvSpPr>
        <p:spPr>
          <a:xfrm>
            <a:off x="548641" y="4572000"/>
            <a:ext cx="5486400" cy="16002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0" name="Google Shape;960;p54"/>
          <p:cNvSpPr txBox="1"/>
          <p:nvPr/>
        </p:nvSpPr>
        <p:spPr>
          <a:xfrm>
            <a:off x="731521" y="4663440"/>
            <a:ext cx="51207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tasks/caller-check/heldout/expected.json</a:t>
            </a:r>
            <a:endParaRPr b="0" i="0" sz="1400" u="none" cap="none" strike="noStrike">
              <a:solidFill>
                <a:srgbClr val="000000"/>
              </a:solidFill>
              <a:latin typeface="Arial"/>
              <a:ea typeface="Arial"/>
              <a:cs typeface="Arial"/>
              <a:sym typeface="Arial"/>
            </a:endParaRPr>
          </a:p>
        </p:txBody>
      </p:sp>
      <p:sp>
        <p:nvSpPr>
          <p:cNvPr id="961" name="Google Shape;961;p54"/>
          <p:cNvSpPr txBox="1"/>
          <p:nvPr/>
        </p:nvSpPr>
        <p:spPr>
          <a:xfrm>
            <a:off x="731521" y="4956048"/>
            <a:ext cx="5212200" cy="7182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"required": [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"function": "withdrawAll", "vulnerable": true,</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50"/>
              <a:buFont typeface="Arial"/>
              <a:buNone/>
            </a:pPr>
            <a:r>
              <a:rPr b="0" i="0" lang="en-US" sz="1150" u="none" cap="none" strike="noStrike">
                <a:solidFill>
                  <a:srgbClr val="E2E8F0"/>
                </a:solidFill>
                <a:latin typeface="Courier New"/>
                <a:ea typeface="Courier New"/>
                <a:cs typeface="Courier New"/>
                <a:sym typeface="Courier New"/>
              </a:rPr>
              <a:t>  "issue_contains": "tx.origin" } ] }</a:t>
            </a:r>
            <a:endParaRPr b="0" i="0" sz="1400" u="none" cap="none" strike="noStrike">
              <a:solidFill>
                <a:srgbClr val="000000"/>
              </a:solidFill>
              <a:latin typeface="Arial"/>
              <a:ea typeface="Arial"/>
              <a:cs typeface="Arial"/>
              <a:sym typeface="Arial"/>
            </a:endParaRPr>
          </a:p>
        </p:txBody>
      </p:sp>
      <p:sp>
        <p:nvSpPr>
          <p:cNvPr id="962" name="Google Shape;962;p54"/>
          <p:cNvSpPr/>
          <p:nvPr/>
        </p:nvSpPr>
        <p:spPr>
          <a:xfrm>
            <a:off x="6309373" y="1645920"/>
            <a:ext cx="5349300" cy="14631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3" name="Google Shape;963;p54"/>
          <p:cNvSpPr txBox="1"/>
          <p:nvPr/>
        </p:nvSpPr>
        <p:spPr>
          <a:xfrm>
            <a:off x="6492253" y="1801368"/>
            <a:ext cx="49836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Prompt</a:t>
            </a:r>
            <a:endParaRPr b="0" i="0" sz="1400" u="none" cap="none" strike="noStrike">
              <a:solidFill>
                <a:srgbClr val="000000"/>
              </a:solidFill>
              <a:latin typeface="Arial"/>
              <a:ea typeface="Arial"/>
              <a:cs typeface="Arial"/>
              <a:sym typeface="Arial"/>
            </a:endParaRPr>
          </a:p>
        </p:txBody>
      </p:sp>
      <p:sp>
        <p:nvSpPr>
          <p:cNvPr id="964" name="Google Shape;964;p54"/>
          <p:cNvSpPr txBox="1"/>
          <p:nvPr/>
        </p:nvSpPr>
        <p:spPr>
          <a:xfrm>
            <a:off x="6492253" y="2267712"/>
            <a:ext cx="4983600" cy="731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"For withdrawAll, decide if </a:t>
            </a:r>
            <a:r>
              <a:rPr b="0" i="0" lang="en-US" sz="1300" u="none" cap="none" strike="noStrike">
                <a:solidFill>
                  <a:srgbClr val="334155"/>
                </a:solidFill>
                <a:latin typeface="Courier New"/>
                <a:ea typeface="Courier New"/>
                <a:cs typeface="Courier New"/>
                <a:sym typeface="Courier New"/>
              </a:rPr>
              <a:t>tx.origin</a:t>
            </a:r>
            <a:r>
              <a:rPr b="0" i="0" lang="en-US" sz="1300" u="none" cap="none" strike="noStrike">
                <a:solidFill>
                  <a:srgbClr val="334155"/>
                </a:solidFill>
                <a:latin typeface="Calibri"/>
                <a:ea typeface="Calibri"/>
                <a:cs typeface="Calibri"/>
                <a:sym typeface="Calibri"/>
              </a:rPr>
              <a:t> in the require is appropriate or should be </a:t>
            </a:r>
            <a:r>
              <a:rPr b="0" i="0" lang="en-US" sz="1300" u="none" cap="none" strike="noStrike">
                <a:solidFill>
                  <a:srgbClr val="334155"/>
                </a:solidFill>
                <a:latin typeface="Courier New"/>
                <a:ea typeface="Courier New"/>
                <a:cs typeface="Courier New"/>
                <a:sym typeface="Courier New"/>
              </a:rPr>
              <a:t>msg.sender</a:t>
            </a:r>
            <a:r>
              <a:rPr b="0" i="0" lang="en-US" sz="1300" u="none" cap="none" strike="noStrike">
                <a:solidFill>
                  <a:srgbClr val="334155"/>
                </a:solidFill>
                <a:latin typeface="Calibri"/>
                <a:ea typeface="Calibri"/>
                <a:cs typeface="Calibri"/>
                <a:sym typeface="Calibri"/>
              </a:rPr>
              <a:t> only."</a:t>
            </a:r>
            <a:endParaRPr b="0" i="0" sz="1400" u="none" cap="none" strike="noStrike">
              <a:solidFill>
                <a:srgbClr val="000000"/>
              </a:solidFill>
              <a:latin typeface="Arial"/>
              <a:ea typeface="Arial"/>
              <a:cs typeface="Arial"/>
              <a:sym typeface="Arial"/>
            </a:endParaRPr>
          </a:p>
        </p:txBody>
      </p:sp>
      <p:sp>
        <p:nvSpPr>
          <p:cNvPr id="965" name="Google Shape;965;p54"/>
          <p:cNvSpPr/>
          <p:nvPr/>
        </p:nvSpPr>
        <p:spPr>
          <a:xfrm>
            <a:off x="6309373" y="3246120"/>
            <a:ext cx="5349300" cy="16002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6" name="Google Shape;966;p54"/>
          <p:cNvSpPr txBox="1"/>
          <p:nvPr/>
        </p:nvSpPr>
        <p:spPr>
          <a:xfrm>
            <a:off x="6492253" y="3401568"/>
            <a:ext cx="49836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Grader + Phase 2 role</a:t>
            </a:r>
            <a:endParaRPr b="0" i="0" sz="1400" u="none" cap="none" strike="noStrike">
              <a:solidFill>
                <a:srgbClr val="000000"/>
              </a:solidFill>
              <a:latin typeface="Arial"/>
              <a:ea typeface="Arial"/>
              <a:cs typeface="Arial"/>
              <a:sym typeface="Arial"/>
            </a:endParaRPr>
          </a:p>
        </p:txBody>
      </p:sp>
      <p:sp>
        <p:nvSpPr>
          <p:cNvPr id="967" name="Google Shape;967;p54"/>
          <p:cNvSpPr txBox="1"/>
          <p:nvPr/>
        </p:nvSpPr>
        <p:spPr>
          <a:xfrm>
            <a:off x="6492253" y="3867911"/>
            <a:ext cx="4983600" cy="8688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0F766E"/>
              </a:buClr>
              <a:buSzPts val="1300"/>
              <a:buFont typeface="Courier New"/>
              <a:buChar char="•"/>
            </a:pPr>
            <a:r>
              <a:rPr b="0" i="0" lang="en-US" sz="1300" u="none" cap="none" strike="noStrike">
                <a:solidFill>
                  <a:srgbClr val="334155"/>
                </a:solidFill>
                <a:latin typeface="Courier New"/>
                <a:ea typeface="Courier New"/>
                <a:cs typeface="Courier New"/>
                <a:sym typeface="Courier New"/>
              </a:rPr>
              <a:t>grade_auth_expected()</a:t>
            </a:r>
            <a:r>
              <a:rPr b="0" i="0" lang="en-US" sz="1300" u="none" cap="none" strike="noStrike">
                <a:solidFill>
                  <a:srgbClr val="334155"/>
                </a:solidFill>
                <a:latin typeface="Calibri"/>
                <a:ea typeface="Calibri"/>
                <a:cs typeface="Calibri"/>
                <a:sym typeface="Calibri"/>
              </a:rPr>
              <a:t> with </a:t>
            </a:r>
            <a:r>
              <a:rPr b="1" i="0" lang="en-US" sz="1300" u="none" cap="none" strike="noStrike">
                <a:solidFill>
                  <a:srgbClr val="334155"/>
                </a:solidFill>
                <a:latin typeface="Courier New"/>
                <a:ea typeface="Courier New"/>
                <a:cs typeface="Courier New"/>
                <a:sym typeface="Courier New"/>
              </a:rPr>
              <a:t>issue_contains</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F766E"/>
              </a:buClr>
              <a:buSzPts val="1300"/>
              <a:buFont typeface="Calibri"/>
              <a:buChar char="•"/>
            </a:pPr>
            <a:r>
              <a:rPr b="0" i="0" lang="en-US" sz="1300" u="none" cap="none" strike="noStrike">
                <a:solidFill>
                  <a:srgbClr val="334155"/>
                </a:solidFill>
                <a:latin typeface="Calibri"/>
                <a:ea typeface="Calibri"/>
                <a:cs typeface="Calibri"/>
                <a:sym typeface="Calibri"/>
              </a:rPr>
              <a:t>Added as capability in Phase 2 next to the graduated regression tasks</a:t>
            </a:r>
            <a:endParaRPr b="0" i="0" sz="1400" u="none" cap="none" strike="noStrike">
              <a:solidFill>
                <a:srgbClr val="000000"/>
              </a:solidFill>
              <a:latin typeface="Arial"/>
              <a:ea typeface="Arial"/>
              <a:cs typeface="Arial"/>
              <a:sym typeface="Arial"/>
            </a:endParaRPr>
          </a:p>
        </p:txBody>
      </p:sp>
      <p:sp>
        <p:nvSpPr>
          <p:cNvPr id="968" name="Google Shape;968;p54"/>
          <p:cNvSpPr/>
          <p:nvPr/>
        </p:nvSpPr>
        <p:spPr>
          <a:xfrm>
            <a:off x="6309373" y="4983480"/>
            <a:ext cx="5349300" cy="1188600"/>
          </a:xfrm>
          <a:prstGeom prst="roundRect">
            <a:avLst>
              <a:gd fmla="val 8000" name="adj"/>
            </a:avLst>
          </a:prstGeom>
          <a:solidFill>
            <a:srgbClr val="D1FAE5"/>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9" name="Google Shape;969;p54"/>
          <p:cNvSpPr txBox="1"/>
          <p:nvPr/>
        </p:nvSpPr>
        <p:spPr>
          <a:xfrm>
            <a:off x="6492253" y="5056632"/>
            <a:ext cx="5029200" cy="109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47857"/>
                </a:solidFill>
                <a:latin typeface="Calibri"/>
                <a:ea typeface="Calibri"/>
                <a:cs typeface="Calibri"/>
                <a:sym typeface="Calibri"/>
              </a:rPr>
              <a:t>Good story, Phase 2:</a:t>
            </a:r>
            <a:r>
              <a:rPr b="0" i="0" lang="en-US" sz="1300" u="none" cap="none" strike="noStrike">
                <a:solidFill>
                  <a:srgbClr val="047857"/>
                </a:solidFill>
                <a:latin typeface="Calibri"/>
                <a:ea typeface="Calibri"/>
                <a:cs typeface="Calibri"/>
                <a:sym typeface="Calibri"/>
              </a:rPr>
              <a:t> baseline FAIL · FAIL ("Looks fine") → candidate PASS · PASS = </a:t>
            </a:r>
            <a:r>
              <a:rPr b="1" i="0" lang="en-US" sz="1300" u="none" cap="none" strike="noStrike">
                <a:solidFill>
                  <a:srgbClr val="047857"/>
                </a:solidFill>
                <a:latin typeface="Calibri"/>
                <a:ea typeface="Calibri"/>
                <a:cs typeface="Calibri"/>
                <a:sym typeface="Calibri"/>
              </a:rPr>
              <a:t>IMPROVED</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55"/>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Phases: the state machine</a:t>
            </a:r>
            <a:endParaRPr b="0" i="0" sz="1400" u="none" cap="none" strike="noStrike">
              <a:solidFill>
                <a:srgbClr val="000000"/>
              </a:solidFill>
              <a:latin typeface="Arial"/>
              <a:ea typeface="Arial"/>
              <a:cs typeface="Arial"/>
              <a:sym typeface="Arial"/>
            </a:endParaRPr>
          </a:p>
        </p:txBody>
      </p:sp>
      <p:sp>
        <p:nvSpPr>
          <p:cNvPr id="976" name="Google Shape;976;p55"/>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Phase 2 is </a:t>
            </a:r>
            <a:r>
              <a:rPr b="1" i="0" lang="en-US" sz="1600" u="none" cap="none" strike="noStrike">
                <a:solidFill>
                  <a:srgbClr val="334155"/>
                </a:solidFill>
                <a:latin typeface="Calibri"/>
                <a:ea typeface="Calibri"/>
                <a:cs typeface="Calibri"/>
                <a:sym typeface="Calibri"/>
              </a:rPr>
              <a:t>earned</a:t>
            </a:r>
            <a:r>
              <a:rPr b="0" i="0" lang="en-US" sz="1600" u="none" cap="none" strike="noStrike">
                <a:solidFill>
                  <a:srgbClr val="334155"/>
                </a:solidFill>
                <a:latin typeface="Calibri"/>
                <a:ea typeface="Calibri"/>
                <a:cs typeface="Calibri"/>
                <a:sym typeface="Calibri"/>
              </a:rPr>
              <a:t>: it runs only after a capability graduates and nothing regressed</a:t>
            </a:r>
            <a:endParaRPr b="0" i="0" sz="1400" u="none" cap="none" strike="noStrike">
              <a:solidFill>
                <a:srgbClr val="000000"/>
              </a:solidFill>
              <a:latin typeface="Arial"/>
              <a:ea typeface="Arial"/>
              <a:cs typeface="Arial"/>
              <a:sym typeface="Arial"/>
            </a:endParaRPr>
          </a:p>
        </p:txBody>
      </p:sp>
      <p:sp>
        <p:nvSpPr>
          <p:cNvPr id="977" name="Google Shape;977;p55"/>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Tasks, phases &amp; graders</a:t>
            </a:r>
            <a:endParaRPr b="0" i="0" sz="1400" u="none" cap="none" strike="noStrike">
              <a:solidFill>
                <a:srgbClr val="000000"/>
              </a:solidFill>
              <a:latin typeface="Arial"/>
              <a:ea typeface="Arial"/>
              <a:cs typeface="Arial"/>
              <a:sym typeface="Arial"/>
            </a:endParaRPr>
          </a:p>
        </p:txBody>
      </p:sp>
      <p:sp>
        <p:nvSpPr>
          <p:cNvPr id="978" name="Google Shape;978;p55"/>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3</a:t>
            </a:r>
            <a:r>
              <a:rPr lang="en-US" sz="1000">
                <a:solidFill>
                  <a:srgbClr val="64748B"/>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979" name="Google Shape;979;p55"/>
          <p:cNvSpPr/>
          <p:nvPr/>
        </p:nvSpPr>
        <p:spPr>
          <a:xfrm>
            <a:off x="548641" y="1828800"/>
            <a:ext cx="1371600" cy="868800"/>
          </a:xfrm>
          <a:prstGeom prst="roundRect">
            <a:avLst>
              <a:gd fmla="val 20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172A"/>
                </a:solidFill>
                <a:latin typeface="Calibri"/>
                <a:ea typeface="Calibri"/>
                <a:cs typeface="Calibri"/>
                <a:sym typeface="Calibri"/>
              </a:rPr>
              <a:t>START</a:t>
            </a:r>
            <a:endParaRPr b="0" i="0" sz="1400" u="none" cap="none" strike="noStrike">
              <a:solidFill>
                <a:srgbClr val="000000"/>
              </a:solidFill>
              <a:latin typeface="Arial"/>
              <a:ea typeface="Arial"/>
              <a:cs typeface="Arial"/>
              <a:sym typeface="Arial"/>
            </a:endParaRPr>
          </a:p>
        </p:txBody>
      </p:sp>
      <p:sp>
        <p:nvSpPr>
          <p:cNvPr id="980" name="Google Shape;980;p55"/>
          <p:cNvSpPr/>
          <p:nvPr/>
        </p:nvSpPr>
        <p:spPr>
          <a:xfrm>
            <a:off x="1938532" y="2176272"/>
            <a:ext cx="1830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81" name="Google Shape;981;p55"/>
          <p:cNvSpPr/>
          <p:nvPr/>
        </p:nvSpPr>
        <p:spPr>
          <a:xfrm>
            <a:off x="2148844" y="1828800"/>
            <a:ext cx="1371600" cy="868800"/>
          </a:xfrm>
          <a:prstGeom prst="roundRect">
            <a:avLst>
              <a:gd fmla="val 20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172A"/>
                </a:solidFill>
                <a:latin typeface="Calibri"/>
                <a:ea typeface="Calibri"/>
                <a:cs typeface="Calibri"/>
                <a:sym typeface="Calibri"/>
              </a:rPr>
              <a:t>reset_registry()</a:t>
            </a:r>
            <a:endParaRPr b="0" i="0" sz="1400" u="none" cap="none" strike="noStrike">
              <a:solidFill>
                <a:srgbClr val="000000"/>
              </a:solidFill>
              <a:latin typeface="Arial"/>
              <a:ea typeface="Arial"/>
              <a:cs typeface="Arial"/>
              <a:sym typeface="Arial"/>
            </a:endParaRPr>
          </a:p>
        </p:txBody>
      </p:sp>
      <p:sp>
        <p:nvSpPr>
          <p:cNvPr id="982" name="Google Shape;982;p55"/>
          <p:cNvSpPr/>
          <p:nvPr/>
        </p:nvSpPr>
        <p:spPr>
          <a:xfrm>
            <a:off x="3538735" y="2176272"/>
            <a:ext cx="1830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83" name="Google Shape;983;p55"/>
          <p:cNvSpPr/>
          <p:nvPr/>
        </p:nvSpPr>
        <p:spPr>
          <a:xfrm>
            <a:off x="3749047" y="1828800"/>
            <a:ext cx="1371600" cy="868800"/>
          </a:xfrm>
          <a:prstGeom prst="roundRect">
            <a:avLst>
              <a:gd fmla="val 20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172A"/>
                </a:solidFill>
                <a:latin typeface="Calibri"/>
                <a:ea typeface="Calibri"/>
                <a:cs typeface="Calibri"/>
                <a:sym typeface="Calibri"/>
              </a:rPr>
              <a:t>Load capability</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172A"/>
                </a:solidFill>
                <a:latin typeface="Calibri"/>
                <a:ea typeface="Calibri"/>
                <a:cs typeface="Calibri"/>
                <a:sym typeface="Calibri"/>
              </a:rPr>
              <a:t>+ regression</a:t>
            </a:r>
            <a:endParaRPr b="0" i="0" sz="1400" u="none" cap="none" strike="noStrike">
              <a:solidFill>
                <a:srgbClr val="000000"/>
              </a:solidFill>
              <a:latin typeface="Arial"/>
              <a:ea typeface="Arial"/>
              <a:cs typeface="Arial"/>
              <a:sym typeface="Arial"/>
            </a:endParaRPr>
          </a:p>
        </p:txBody>
      </p:sp>
      <p:sp>
        <p:nvSpPr>
          <p:cNvPr id="984" name="Google Shape;984;p55"/>
          <p:cNvSpPr/>
          <p:nvPr/>
        </p:nvSpPr>
        <p:spPr>
          <a:xfrm>
            <a:off x="5138938" y="2176272"/>
            <a:ext cx="1830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85" name="Google Shape;985;p55"/>
          <p:cNvSpPr/>
          <p:nvPr/>
        </p:nvSpPr>
        <p:spPr>
          <a:xfrm>
            <a:off x="5349251" y="1828800"/>
            <a:ext cx="1371600" cy="868800"/>
          </a:xfrm>
          <a:prstGeom prst="roundRect">
            <a:avLst>
              <a:gd fmla="val 20000" name="adj"/>
            </a:avLst>
          </a:prstGeom>
          <a:solidFill>
            <a:srgbClr val="CCFBF1"/>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766E"/>
                </a:solidFill>
                <a:latin typeface="Calibri"/>
                <a:ea typeface="Calibri"/>
                <a:cs typeface="Calibri"/>
                <a:sym typeface="Calibri"/>
              </a:rPr>
              <a:t>PHASE 1</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766E"/>
                </a:solidFill>
                <a:latin typeface="Calibri"/>
                <a:ea typeface="Calibri"/>
                <a:cs typeface="Calibri"/>
                <a:sym typeface="Calibri"/>
              </a:rPr>
              <a:t>baseline + candidate</a:t>
            </a:r>
            <a:endParaRPr b="0" i="0" sz="1400" u="none" cap="none" strike="noStrike">
              <a:solidFill>
                <a:srgbClr val="000000"/>
              </a:solidFill>
              <a:latin typeface="Arial"/>
              <a:ea typeface="Arial"/>
              <a:cs typeface="Arial"/>
              <a:sym typeface="Arial"/>
            </a:endParaRPr>
          </a:p>
        </p:txBody>
      </p:sp>
      <p:sp>
        <p:nvSpPr>
          <p:cNvPr id="986" name="Google Shape;986;p55"/>
          <p:cNvSpPr/>
          <p:nvPr/>
        </p:nvSpPr>
        <p:spPr>
          <a:xfrm>
            <a:off x="6739141" y="2176272"/>
            <a:ext cx="1830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87" name="Google Shape;987;p55"/>
          <p:cNvSpPr/>
          <p:nvPr/>
        </p:nvSpPr>
        <p:spPr>
          <a:xfrm>
            <a:off x="6949454" y="1828800"/>
            <a:ext cx="1371600" cy="868800"/>
          </a:xfrm>
          <a:prstGeom prst="roundRect">
            <a:avLst>
              <a:gd fmla="val 20000" name="adj"/>
            </a:avLst>
          </a:prstGeom>
          <a:solidFill>
            <a:srgbClr val="CCFBF1"/>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766E"/>
                </a:solidFill>
                <a:latin typeface="Calibri"/>
                <a:ea typeface="Calibri"/>
                <a:cs typeface="Calibri"/>
                <a:sym typeface="Calibri"/>
              </a:rPr>
              <a:t>Grade + compare</a:t>
            </a:r>
            <a:endParaRPr b="0" i="0" sz="1400" u="none" cap="none" strike="noStrike">
              <a:solidFill>
                <a:srgbClr val="000000"/>
              </a:solidFill>
              <a:latin typeface="Arial"/>
              <a:ea typeface="Arial"/>
              <a:cs typeface="Arial"/>
              <a:sym typeface="Arial"/>
            </a:endParaRPr>
          </a:p>
        </p:txBody>
      </p:sp>
      <p:sp>
        <p:nvSpPr>
          <p:cNvPr id="988" name="Google Shape;988;p55"/>
          <p:cNvSpPr/>
          <p:nvPr/>
        </p:nvSpPr>
        <p:spPr>
          <a:xfrm>
            <a:off x="8339344" y="2176272"/>
            <a:ext cx="1830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89" name="Google Shape;989;p55"/>
          <p:cNvSpPr/>
          <p:nvPr/>
        </p:nvSpPr>
        <p:spPr>
          <a:xfrm>
            <a:off x="8641098" y="1600200"/>
            <a:ext cx="1600200" cy="1326000"/>
          </a:xfrm>
          <a:prstGeom prst="diamond">
            <a:avLst/>
          </a:prstGeom>
          <a:solidFill>
            <a:srgbClr val="FEF3C7"/>
          </a:solidFill>
          <a:ln>
            <a:noFill/>
          </a:ln>
        </p:spPr>
        <p:txBody>
          <a:bodyPr anchorCtr="0" anchor="ctr" bIns="36575" lIns="18275" spcFirstLastPara="1" rIns="18275"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B45309"/>
                </a:solidFill>
                <a:latin typeface="Calibri"/>
                <a:ea typeface="Calibri"/>
                <a:cs typeface="Calibri"/>
                <a:sym typeface="Calibri"/>
              </a:rPr>
              <a:t>Graduates?</a:t>
            </a:r>
            <a:endParaRPr b="0" i="0" sz="1400" u="none" cap="none" strike="noStrike">
              <a:solidFill>
                <a:srgbClr val="000000"/>
              </a:solidFill>
              <a:latin typeface="Arial"/>
              <a:ea typeface="Arial"/>
              <a:cs typeface="Arial"/>
              <a:sym typeface="Arial"/>
            </a:endParaRPr>
          </a:p>
        </p:txBody>
      </p:sp>
      <p:sp>
        <p:nvSpPr>
          <p:cNvPr id="990" name="Google Shape;990;p55"/>
          <p:cNvSpPr/>
          <p:nvPr/>
        </p:nvSpPr>
        <p:spPr>
          <a:xfrm>
            <a:off x="10287021" y="2176272"/>
            <a:ext cx="2286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1" name="Google Shape;991;p55"/>
          <p:cNvSpPr/>
          <p:nvPr/>
        </p:nvSpPr>
        <p:spPr>
          <a:xfrm>
            <a:off x="10561342" y="1828800"/>
            <a:ext cx="1097400" cy="868800"/>
          </a:xfrm>
          <a:prstGeom prst="roundRect">
            <a:avLst>
              <a:gd fmla="val 20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B91C1C"/>
                </a:solidFill>
                <a:latin typeface="Calibri"/>
                <a:ea typeface="Calibri"/>
                <a:cs typeface="Calibri"/>
                <a:sym typeface="Calibri"/>
              </a:rPr>
              <a:t>BLOCK</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B91C1C"/>
                </a:solidFill>
                <a:latin typeface="Calibri"/>
                <a:ea typeface="Calibri"/>
                <a:cs typeface="Calibri"/>
                <a:sym typeface="Calibri"/>
              </a:rPr>
              <a:t>Phase 2</a:t>
            </a:r>
            <a:endParaRPr b="0" i="0" sz="1400" u="none" cap="none" strike="noStrike">
              <a:solidFill>
                <a:srgbClr val="000000"/>
              </a:solidFill>
              <a:latin typeface="Arial"/>
              <a:ea typeface="Arial"/>
              <a:cs typeface="Arial"/>
              <a:sym typeface="Arial"/>
            </a:endParaRPr>
          </a:p>
        </p:txBody>
      </p:sp>
      <p:sp>
        <p:nvSpPr>
          <p:cNvPr id="992" name="Google Shape;992;p55"/>
          <p:cNvSpPr txBox="1"/>
          <p:nvPr/>
        </p:nvSpPr>
        <p:spPr>
          <a:xfrm>
            <a:off x="10241301" y="1508760"/>
            <a:ext cx="5487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100"/>
              <a:buFont typeface="Arial"/>
              <a:buNone/>
            </a:pPr>
            <a:r>
              <a:rPr b="1" i="0" lang="en-US" sz="1100" u="none" cap="none" strike="noStrike">
                <a:solidFill>
                  <a:srgbClr val="B91C1C"/>
                </a:solidFill>
                <a:latin typeface="Calibri"/>
                <a:ea typeface="Calibri"/>
                <a:cs typeface="Calibri"/>
                <a:sym typeface="Calibri"/>
              </a:rPr>
              <a:t>NO</a:t>
            </a:r>
            <a:endParaRPr b="0" i="0" sz="1400" u="none" cap="none" strike="noStrike">
              <a:solidFill>
                <a:srgbClr val="000000"/>
              </a:solidFill>
              <a:latin typeface="Arial"/>
              <a:ea typeface="Arial"/>
              <a:cs typeface="Arial"/>
              <a:sym typeface="Arial"/>
            </a:endParaRPr>
          </a:p>
        </p:txBody>
      </p:sp>
      <p:sp>
        <p:nvSpPr>
          <p:cNvPr id="993" name="Google Shape;993;p55"/>
          <p:cNvSpPr/>
          <p:nvPr/>
        </p:nvSpPr>
        <p:spPr>
          <a:xfrm>
            <a:off x="9345187" y="2971800"/>
            <a:ext cx="274200" cy="320100"/>
          </a:xfrm>
          <a:prstGeom prst="down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4" name="Google Shape;994;p55"/>
          <p:cNvSpPr txBox="1"/>
          <p:nvPr/>
        </p:nvSpPr>
        <p:spPr>
          <a:xfrm>
            <a:off x="9692660" y="2971800"/>
            <a:ext cx="5487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100"/>
              <a:buFont typeface="Arial"/>
              <a:buNone/>
            </a:pPr>
            <a:r>
              <a:rPr b="1" i="0" lang="en-US" sz="1100" u="none" cap="none" strike="noStrike">
                <a:solidFill>
                  <a:srgbClr val="047857"/>
                </a:solidFill>
                <a:latin typeface="Calibri"/>
                <a:ea typeface="Calibri"/>
                <a:cs typeface="Calibri"/>
                <a:sym typeface="Calibri"/>
              </a:rPr>
              <a:t>YES</a:t>
            </a:r>
            <a:endParaRPr b="0" i="0" sz="1400" u="none" cap="none" strike="noStrike">
              <a:solidFill>
                <a:srgbClr val="000000"/>
              </a:solidFill>
              <a:latin typeface="Arial"/>
              <a:ea typeface="Arial"/>
              <a:cs typeface="Arial"/>
              <a:sym typeface="Arial"/>
            </a:endParaRPr>
          </a:p>
        </p:txBody>
      </p:sp>
      <p:sp>
        <p:nvSpPr>
          <p:cNvPr id="995" name="Google Shape;995;p55"/>
          <p:cNvSpPr/>
          <p:nvPr/>
        </p:nvSpPr>
        <p:spPr>
          <a:xfrm>
            <a:off x="8778258" y="3383280"/>
            <a:ext cx="1554600" cy="868800"/>
          </a:xfrm>
          <a:prstGeom prst="roundRect">
            <a:avLst>
              <a:gd fmla="val 20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47857"/>
                </a:solidFill>
                <a:latin typeface="Calibri"/>
                <a:ea typeface="Calibri"/>
                <a:cs typeface="Calibri"/>
                <a:sym typeface="Calibri"/>
              </a:rPr>
              <a:t>Promote to</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47857"/>
                </a:solidFill>
                <a:latin typeface="Calibri"/>
                <a:ea typeface="Calibri"/>
                <a:cs typeface="Calibri"/>
                <a:sym typeface="Calibri"/>
              </a:rPr>
              <a:t>regression</a:t>
            </a:r>
            <a:endParaRPr b="0" i="0" sz="1400" u="none" cap="none" strike="noStrike">
              <a:solidFill>
                <a:srgbClr val="000000"/>
              </a:solidFill>
              <a:latin typeface="Arial"/>
              <a:ea typeface="Arial"/>
              <a:cs typeface="Arial"/>
              <a:sym typeface="Arial"/>
            </a:endParaRPr>
          </a:p>
        </p:txBody>
      </p:sp>
      <p:sp>
        <p:nvSpPr>
          <p:cNvPr id="996" name="Google Shape;996;p55"/>
          <p:cNvSpPr/>
          <p:nvPr/>
        </p:nvSpPr>
        <p:spPr>
          <a:xfrm>
            <a:off x="8522225" y="3730752"/>
            <a:ext cx="201300" cy="183000"/>
          </a:xfrm>
          <a:prstGeom prst="lef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7" name="Google Shape;997;p55"/>
          <p:cNvSpPr/>
          <p:nvPr/>
        </p:nvSpPr>
        <p:spPr>
          <a:xfrm>
            <a:off x="6949454" y="3383280"/>
            <a:ext cx="1554600" cy="868800"/>
          </a:xfrm>
          <a:prstGeom prst="roundRect">
            <a:avLst>
              <a:gd fmla="val 20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B91C1C"/>
                </a:solidFill>
                <a:latin typeface="Calibri"/>
                <a:ea typeface="Calibri"/>
                <a:cs typeface="Calibri"/>
                <a:sym typeface="Calibri"/>
              </a:rPr>
              <a:t>Gate check</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B91C1C"/>
                </a:solidFill>
                <a:latin typeface="Calibri"/>
                <a:ea typeface="Calibri"/>
                <a:cs typeface="Calibri"/>
                <a:sym typeface="Calibri"/>
              </a:rPr>
              <a:t>3 tests</a:t>
            </a:r>
            <a:endParaRPr b="0" i="0" sz="1400" u="none" cap="none" strike="noStrike">
              <a:solidFill>
                <a:srgbClr val="000000"/>
              </a:solidFill>
              <a:latin typeface="Arial"/>
              <a:ea typeface="Arial"/>
              <a:cs typeface="Arial"/>
              <a:sym typeface="Arial"/>
            </a:endParaRPr>
          </a:p>
        </p:txBody>
      </p:sp>
      <p:sp>
        <p:nvSpPr>
          <p:cNvPr id="998" name="Google Shape;998;p55"/>
          <p:cNvSpPr/>
          <p:nvPr/>
        </p:nvSpPr>
        <p:spPr>
          <a:xfrm>
            <a:off x="6693421" y="3730752"/>
            <a:ext cx="201300" cy="183000"/>
          </a:xfrm>
          <a:prstGeom prst="lef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9" name="Google Shape;999;p55"/>
          <p:cNvSpPr/>
          <p:nvPr/>
        </p:nvSpPr>
        <p:spPr>
          <a:xfrm>
            <a:off x="5120650" y="3383280"/>
            <a:ext cx="1554600" cy="868800"/>
          </a:xfrm>
          <a:prstGeom prst="roundRect">
            <a:avLst>
              <a:gd fmla="val 20000" name="adj"/>
            </a:avLst>
          </a:prstGeom>
          <a:solidFill>
            <a:srgbClr val="CCFBF1"/>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766E"/>
                </a:solidFill>
                <a:latin typeface="Calibri"/>
                <a:ea typeface="Calibri"/>
                <a:cs typeface="Calibri"/>
                <a:sym typeface="Calibri"/>
              </a:rPr>
              <a:t>PHASE 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766E"/>
                </a:solidFill>
                <a:latin typeface="Calibri"/>
                <a:ea typeface="Calibri"/>
                <a:cs typeface="Calibri"/>
                <a:sym typeface="Calibri"/>
              </a:rPr>
              <a:t>evaluate again</a:t>
            </a:r>
            <a:endParaRPr b="0" i="0" sz="1400" u="none" cap="none" strike="noStrike">
              <a:solidFill>
                <a:srgbClr val="000000"/>
              </a:solidFill>
              <a:latin typeface="Arial"/>
              <a:ea typeface="Arial"/>
              <a:cs typeface="Arial"/>
              <a:sym typeface="Arial"/>
            </a:endParaRPr>
          </a:p>
        </p:txBody>
      </p:sp>
      <p:sp>
        <p:nvSpPr>
          <p:cNvPr id="1000" name="Google Shape;1000;p55"/>
          <p:cNvSpPr/>
          <p:nvPr/>
        </p:nvSpPr>
        <p:spPr>
          <a:xfrm>
            <a:off x="4864617" y="3730752"/>
            <a:ext cx="201300" cy="183000"/>
          </a:xfrm>
          <a:prstGeom prst="lef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01" name="Google Shape;1001;p55"/>
          <p:cNvSpPr/>
          <p:nvPr/>
        </p:nvSpPr>
        <p:spPr>
          <a:xfrm>
            <a:off x="3291847" y="3383280"/>
            <a:ext cx="1554600" cy="868800"/>
          </a:xfrm>
          <a:prstGeom prst="roundRect">
            <a:avLst>
              <a:gd fmla="val 20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172A"/>
                </a:solidFill>
                <a:latin typeface="Calibri"/>
                <a:ea typeface="Calibri"/>
                <a:cs typeface="Calibri"/>
                <a:sym typeface="Calibri"/>
              </a:rPr>
              <a:t>Final reports</a:t>
            </a:r>
            <a:endParaRPr b="0" i="0" sz="1400" u="none" cap="none" strike="noStrike">
              <a:solidFill>
                <a:srgbClr val="000000"/>
              </a:solidFill>
              <a:latin typeface="Arial"/>
              <a:ea typeface="Arial"/>
              <a:cs typeface="Arial"/>
              <a:sym typeface="Arial"/>
            </a:endParaRPr>
          </a:p>
        </p:txBody>
      </p:sp>
      <p:sp>
        <p:nvSpPr>
          <p:cNvPr id="1002" name="Google Shape;1002;p55"/>
          <p:cNvSpPr/>
          <p:nvPr/>
        </p:nvSpPr>
        <p:spPr>
          <a:xfrm>
            <a:off x="548641" y="4617720"/>
            <a:ext cx="3566100" cy="15546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03" name="Google Shape;1003;p55"/>
          <p:cNvSpPr txBox="1"/>
          <p:nvPr/>
        </p:nvSpPr>
        <p:spPr>
          <a:xfrm>
            <a:off x="731522" y="4773168"/>
            <a:ext cx="32004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Phase 1</a:t>
            </a:r>
            <a:endParaRPr b="0" i="0" sz="1400" u="none" cap="none" strike="noStrike">
              <a:solidFill>
                <a:srgbClr val="000000"/>
              </a:solidFill>
              <a:latin typeface="Arial"/>
              <a:ea typeface="Arial"/>
              <a:cs typeface="Arial"/>
              <a:sym typeface="Arial"/>
            </a:endParaRPr>
          </a:p>
        </p:txBody>
      </p:sp>
      <p:sp>
        <p:nvSpPr>
          <p:cNvPr id="1004" name="Google Shape;1004;p55"/>
          <p:cNvSpPr txBox="1"/>
          <p:nvPr/>
        </p:nvSpPr>
        <p:spPr>
          <a:xfrm>
            <a:off x="731522" y="5239512"/>
            <a:ext cx="3200400" cy="8229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0F766E"/>
              </a:buClr>
              <a:buSzPts val="1300"/>
              <a:buFont typeface="Calibri"/>
              <a:buChar char="•"/>
            </a:pPr>
            <a:r>
              <a:rPr b="0" i="0" lang="en-US" sz="1300" u="none" cap="none" strike="noStrike">
                <a:solidFill>
                  <a:srgbClr val="334155"/>
                </a:solidFill>
                <a:latin typeface="Calibri"/>
                <a:ea typeface="Calibri"/>
                <a:cs typeface="Calibri"/>
                <a:sym typeface="Calibri"/>
              </a:rPr>
              <a:t>capability </a:t>
            </a:r>
            <a:r>
              <a:rPr b="0" i="0" lang="en-US" sz="1300" u="none" cap="none" strike="noStrike">
                <a:solidFill>
                  <a:srgbClr val="334155"/>
                </a:solidFill>
                <a:latin typeface="Courier New"/>
                <a:ea typeface="Courier New"/>
                <a:cs typeface="Courier New"/>
                <a:sym typeface="Courier New"/>
              </a:rPr>
              <a:t>auth-vs-log</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F766E"/>
              </a:buClr>
              <a:buSzPts val="1300"/>
              <a:buFont typeface="Calibri"/>
              <a:buChar char="•"/>
            </a:pPr>
            <a:r>
              <a:rPr b="0" i="0" lang="en-US" sz="1300" u="none" cap="none" strike="noStrike">
                <a:solidFill>
                  <a:srgbClr val="334155"/>
                </a:solidFill>
                <a:latin typeface="Calibri"/>
                <a:ea typeface="Calibri"/>
                <a:cs typeface="Calibri"/>
                <a:sym typeface="Calibri"/>
              </a:rPr>
              <a:t>regression </a:t>
            </a:r>
            <a:r>
              <a:rPr b="0" i="0" lang="en-US" sz="1300" u="none" cap="none" strike="noStrike">
                <a:solidFill>
                  <a:srgbClr val="334155"/>
                </a:solidFill>
                <a:latin typeface="Courier New"/>
                <a:ea typeface="Courier New"/>
                <a:cs typeface="Courier New"/>
                <a:sym typeface="Courier New"/>
              </a:rPr>
              <a:t>keep-suite</a:t>
            </a:r>
            <a:endParaRPr b="0" i="0" sz="1400" u="none" cap="none" strike="noStrike">
              <a:solidFill>
                <a:srgbClr val="000000"/>
              </a:solidFill>
              <a:latin typeface="Arial"/>
              <a:ea typeface="Arial"/>
              <a:cs typeface="Arial"/>
              <a:sym typeface="Arial"/>
            </a:endParaRPr>
          </a:p>
        </p:txBody>
      </p:sp>
      <p:sp>
        <p:nvSpPr>
          <p:cNvPr id="1005" name="Google Shape;1005;p55"/>
          <p:cNvSpPr/>
          <p:nvPr/>
        </p:nvSpPr>
        <p:spPr>
          <a:xfrm>
            <a:off x="4297689" y="4617720"/>
            <a:ext cx="3566100" cy="15546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06" name="Google Shape;1006;p55"/>
          <p:cNvSpPr txBox="1"/>
          <p:nvPr/>
        </p:nvSpPr>
        <p:spPr>
          <a:xfrm>
            <a:off x="4480569" y="4773168"/>
            <a:ext cx="32004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Graduation</a:t>
            </a:r>
            <a:endParaRPr b="0" i="0" sz="1400" u="none" cap="none" strike="noStrike">
              <a:solidFill>
                <a:srgbClr val="000000"/>
              </a:solidFill>
              <a:latin typeface="Arial"/>
              <a:ea typeface="Arial"/>
              <a:cs typeface="Arial"/>
              <a:sym typeface="Arial"/>
            </a:endParaRPr>
          </a:p>
        </p:txBody>
      </p:sp>
      <p:sp>
        <p:nvSpPr>
          <p:cNvPr id="1007" name="Google Shape;1007;p55"/>
          <p:cNvSpPr txBox="1"/>
          <p:nvPr/>
        </p:nvSpPr>
        <p:spPr>
          <a:xfrm>
            <a:off x="4480569" y="5239512"/>
            <a:ext cx="3200400" cy="8229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047857"/>
              </a:buClr>
              <a:buSzPts val="1300"/>
              <a:buFont typeface="Calibri"/>
              <a:buChar char="•"/>
            </a:pPr>
            <a:r>
              <a:rPr b="0" i="0" lang="en-US" sz="1300" u="none" cap="none" strike="noStrike">
                <a:solidFill>
                  <a:srgbClr val="334155"/>
                </a:solidFill>
                <a:latin typeface="Calibri"/>
                <a:ea typeface="Calibri"/>
                <a:cs typeface="Calibri"/>
                <a:sym typeface="Calibri"/>
              </a:rPr>
              <a:t>candidate passed </a:t>
            </a:r>
            <a:r>
              <a:rPr b="1" i="0" lang="en-US" sz="1300" u="none" cap="none" strike="noStrike">
                <a:solidFill>
                  <a:srgbClr val="334155"/>
                </a:solidFill>
                <a:latin typeface="Calibri"/>
                <a:ea typeface="Calibri"/>
                <a:cs typeface="Calibri"/>
                <a:sym typeface="Calibri"/>
              </a:rPr>
              <a:t>every</a:t>
            </a:r>
            <a:r>
              <a:rPr b="0" i="0" lang="en-US" sz="1300" u="none" cap="none" strike="noStrike">
                <a:solidFill>
                  <a:srgbClr val="334155"/>
                </a:solidFill>
                <a:latin typeface="Calibri"/>
                <a:ea typeface="Calibri"/>
                <a:cs typeface="Calibri"/>
                <a:sym typeface="Calibri"/>
              </a:rPr>
              <a:t> rep</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47857"/>
              </a:buClr>
              <a:buSzPts val="1300"/>
              <a:buFont typeface="Calibri"/>
              <a:buChar char="•"/>
            </a:pPr>
            <a:r>
              <a:rPr b="0" i="0" lang="en-US" sz="1300" u="none" cap="none" strike="noStrike">
                <a:solidFill>
                  <a:srgbClr val="334155"/>
                </a:solidFill>
                <a:latin typeface="Calibri"/>
                <a:ea typeface="Calibri"/>
                <a:cs typeface="Calibri"/>
                <a:sym typeface="Calibri"/>
              </a:rPr>
              <a:t>baseline result ignored</a:t>
            </a:r>
            <a:endParaRPr b="0" i="0" sz="1400" u="none" cap="none" strike="noStrike">
              <a:solidFill>
                <a:srgbClr val="000000"/>
              </a:solidFill>
              <a:latin typeface="Arial"/>
              <a:ea typeface="Arial"/>
              <a:cs typeface="Arial"/>
              <a:sym typeface="Arial"/>
            </a:endParaRPr>
          </a:p>
        </p:txBody>
      </p:sp>
      <p:sp>
        <p:nvSpPr>
          <p:cNvPr id="1008" name="Google Shape;1008;p55"/>
          <p:cNvSpPr/>
          <p:nvPr/>
        </p:nvSpPr>
        <p:spPr>
          <a:xfrm>
            <a:off x="8046737" y="4617720"/>
            <a:ext cx="3612000" cy="15546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09" name="Google Shape;1009;p55"/>
          <p:cNvSpPr txBox="1"/>
          <p:nvPr/>
        </p:nvSpPr>
        <p:spPr>
          <a:xfrm>
            <a:off x="8229617" y="4773168"/>
            <a:ext cx="32460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Phase 2</a:t>
            </a:r>
            <a:endParaRPr b="0" i="0" sz="1400" u="none" cap="none" strike="noStrike">
              <a:solidFill>
                <a:srgbClr val="000000"/>
              </a:solidFill>
              <a:latin typeface="Arial"/>
              <a:ea typeface="Arial"/>
              <a:cs typeface="Arial"/>
              <a:sym typeface="Arial"/>
            </a:endParaRPr>
          </a:p>
        </p:txBody>
      </p:sp>
      <p:sp>
        <p:nvSpPr>
          <p:cNvPr id="1010" name="Google Shape;1010;p55"/>
          <p:cNvSpPr txBox="1"/>
          <p:nvPr/>
        </p:nvSpPr>
        <p:spPr>
          <a:xfrm>
            <a:off x="8229617" y="5239512"/>
            <a:ext cx="3246000" cy="8229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1D4ED8"/>
              </a:buClr>
              <a:buSzPts val="1300"/>
              <a:buFont typeface="Calibri"/>
              <a:buChar char="•"/>
            </a:pPr>
            <a:r>
              <a:rPr b="0" i="0" lang="en-US" sz="1300" u="none" cap="none" strike="noStrike">
                <a:solidFill>
                  <a:srgbClr val="334155"/>
                </a:solidFill>
                <a:latin typeface="Calibri"/>
                <a:ea typeface="Calibri"/>
                <a:cs typeface="Calibri"/>
                <a:sym typeface="Calibri"/>
              </a:rPr>
              <a:t>graduated tasks as </a:t>
            </a:r>
            <a:r>
              <a:rPr b="1" i="0" lang="en-US" sz="1300" u="none" cap="none" strike="noStrike">
                <a:solidFill>
                  <a:srgbClr val="334155"/>
                </a:solidFill>
                <a:latin typeface="Calibri"/>
                <a:ea typeface="Calibri"/>
                <a:cs typeface="Calibri"/>
                <a:sym typeface="Calibri"/>
              </a:rPr>
              <a:t>regression</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1D4ED8"/>
              </a:buClr>
              <a:buSzPts val="1300"/>
              <a:buFont typeface="Calibri"/>
              <a:buChar char="•"/>
            </a:pPr>
            <a:r>
              <a:rPr b="0" i="0" lang="en-US" sz="1300" u="none" cap="none" strike="noStrike">
                <a:solidFill>
                  <a:srgbClr val="334155"/>
                </a:solidFill>
                <a:latin typeface="Calibri"/>
                <a:ea typeface="Calibri"/>
                <a:cs typeface="Calibri"/>
                <a:sym typeface="Calibri"/>
              </a:rPr>
              <a:t>+ new capability </a:t>
            </a:r>
            <a:r>
              <a:rPr b="0" i="0" lang="en-US" sz="1300" u="none" cap="none" strike="noStrike">
                <a:solidFill>
                  <a:srgbClr val="334155"/>
                </a:solidFill>
                <a:latin typeface="Courier New"/>
                <a:ea typeface="Courier New"/>
                <a:cs typeface="Courier New"/>
                <a:sym typeface="Courier New"/>
              </a:rPr>
              <a:t>caller-check</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5" name="Shape 1015"/>
        <p:cNvGrpSpPr/>
        <p:nvPr/>
      </p:nvGrpSpPr>
      <p:grpSpPr>
        <a:xfrm>
          <a:off x="0" y="0"/>
          <a:ext cx="0" cy="0"/>
          <a:chOff x="0" y="0"/>
          <a:chExt cx="0" cy="0"/>
        </a:xfrm>
      </p:grpSpPr>
      <p:sp>
        <p:nvSpPr>
          <p:cNvPr id="1016" name="Google Shape;1016;p56"/>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Graduation: when a capability becomes a regression gate</a:t>
            </a:r>
            <a:endParaRPr b="0" i="0" sz="1400" u="none" cap="none" strike="noStrike">
              <a:solidFill>
                <a:srgbClr val="000000"/>
              </a:solidFill>
              <a:latin typeface="Arial"/>
              <a:ea typeface="Arial"/>
              <a:cs typeface="Arial"/>
              <a:sym typeface="Arial"/>
            </a:endParaRPr>
          </a:p>
        </p:txBody>
      </p:sp>
      <p:sp>
        <p:nvSpPr>
          <p:cNvPr id="1017" name="Google Shape;1017;p56"/>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ourier New"/>
                <a:ea typeface="Courier New"/>
                <a:cs typeface="Courier New"/>
                <a:sym typeface="Courier New"/>
              </a:rPr>
              <a:t>pass_hat_k()</a:t>
            </a:r>
            <a:r>
              <a:rPr b="0" i="0" lang="en-US" sz="1600" u="none" cap="none" strike="noStrike">
                <a:solidFill>
                  <a:srgbClr val="334155"/>
                </a:solidFill>
                <a:latin typeface="Calibri"/>
                <a:ea typeface="Calibri"/>
                <a:cs typeface="Calibri"/>
                <a:sym typeface="Calibri"/>
              </a:rPr>
              <a:t> is a strict rule: </a:t>
            </a:r>
            <a:r>
              <a:rPr b="1" i="0" lang="en-US" sz="1600" u="none" cap="none" strike="noStrike">
                <a:solidFill>
                  <a:srgbClr val="334155"/>
                </a:solidFill>
                <a:latin typeface="Calibri"/>
                <a:ea typeface="Calibri"/>
                <a:cs typeface="Calibri"/>
                <a:sym typeface="Calibri"/>
              </a:rPr>
              <a:t>all candidate reps must pass</a:t>
            </a:r>
            <a:endParaRPr b="0" i="0" sz="1400" u="none" cap="none" strike="noStrike">
              <a:solidFill>
                <a:srgbClr val="000000"/>
              </a:solidFill>
              <a:latin typeface="Arial"/>
              <a:ea typeface="Arial"/>
              <a:cs typeface="Arial"/>
              <a:sym typeface="Arial"/>
            </a:endParaRPr>
          </a:p>
        </p:txBody>
      </p:sp>
      <p:sp>
        <p:nvSpPr>
          <p:cNvPr id="1018" name="Google Shape;1018;p56"/>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Tasks, phases &amp; graders</a:t>
            </a:r>
            <a:endParaRPr b="0" i="0" sz="1400" u="none" cap="none" strike="noStrike">
              <a:solidFill>
                <a:srgbClr val="000000"/>
              </a:solidFill>
              <a:latin typeface="Arial"/>
              <a:ea typeface="Arial"/>
              <a:cs typeface="Arial"/>
              <a:sym typeface="Arial"/>
            </a:endParaRPr>
          </a:p>
        </p:txBody>
      </p:sp>
      <p:sp>
        <p:nvSpPr>
          <p:cNvPr id="1019" name="Google Shape;1019;p56"/>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3</a:t>
            </a:r>
            <a:r>
              <a:rPr lang="en-US" sz="1000">
                <a:solidFill>
                  <a:srgbClr val="64748B"/>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1020" name="Google Shape;1020;p56"/>
          <p:cNvSpPr/>
          <p:nvPr/>
        </p:nvSpPr>
        <p:spPr>
          <a:xfrm>
            <a:off x="548641" y="1691640"/>
            <a:ext cx="1902000" cy="731400"/>
          </a:xfrm>
          <a:prstGeom prst="roundRect">
            <a:avLst>
              <a:gd fmla="val 18000" name="adj"/>
            </a:avLst>
          </a:prstGeom>
          <a:solidFill>
            <a:srgbClr val="F1F5F9"/>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F172A"/>
                </a:solidFill>
                <a:latin typeface="Calibri"/>
                <a:ea typeface="Calibri"/>
                <a:cs typeface="Calibri"/>
                <a:sym typeface="Calibri"/>
              </a:rPr>
              <a:t>Capability task</a:t>
            </a:r>
            <a:endParaRPr b="0" i="0" sz="1400" u="none" cap="none" strike="noStrike">
              <a:solidFill>
                <a:srgbClr val="000000"/>
              </a:solidFill>
              <a:latin typeface="Arial"/>
              <a:ea typeface="Arial"/>
              <a:cs typeface="Arial"/>
              <a:sym typeface="Arial"/>
            </a:endParaRPr>
          </a:p>
        </p:txBody>
      </p:sp>
      <p:sp>
        <p:nvSpPr>
          <p:cNvPr id="1021" name="Google Shape;1021;p56"/>
          <p:cNvSpPr/>
          <p:nvPr/>
        </p:nvSpPr>
        <p:spPr>
          <a:xfrm>
            <a:off x="2551181" y="1965960"/>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2" name="Google Shape;1022;p56"/>
          <p:cNvSpPr/>
          <p:nvPr/>
        </p:nvSpPr>
        <p:spPr>
          <a:xfrm>
            <a:off x="2852934" y="1691640"/>
            <a:ext cx="1902000" cy="731400"/>
          </a:xfrm>
          <a:prstGeom prst="roundRect">
            <a:avLst>
              <a:gd fmla="val 18000" name="adj"/>
            </a:avLst>
          </a:prstGeom>
          <a:solidFill>
            <a:srgbClr val="FEF3C7"/>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45309"/>
                </a:solidFill>
                <a:latin typeface="Calibri"/>
                <a:ea typeface="Calibri"/>
                <a:cs typeface="Calibri"/>
                <a:sym typeface="Calibri"/>
              </a:rPr>
              <a:t>≥ 2 reps?</a:t>
            </a:r>
            <a:endParaRPr b="0" i="0" sz="1400" u="none" cap="none" strike="noStrike">
              <a:solidFill>
                <a:srgbClr val="000000"/>
              </a:solidFill>
              <a:latin typeface="Arial"/>
              <a:ea typeface="Arial"/>
              <a:cs typeface="Arial"/>
              <a:sym typeface="Arial"/>
            </a:endParaRPr>
          </a:p>
        </p:txBody>
      </p:sp>
      <p:sp>
        <p:nvSpPr>
          <p:cNvPr id="1023" name="Google Shape;1023;p56"/>
          <p:cNvSpPr/>
          <p:nvPr/>
        </p:nvSpPr>
        <p:spPr>
          <a:xfrm>
            <a:off x="4855474" y="1965960"/>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4" name="Google Shape;1024;p56"/>
          <p:cNvSpPr/>
          <p:nvPr/>
        </p:nvSpPr>
        <p:spPr>
          <a:xfrm>
            <a:off x="5157227" y="1691640"/>
            <a:ext cx="1902000" cy="731400"/>
          </a:xfrm>
          <a:prstGeom prst="roundRect">
            <a:avLst>
              <a:gd fmla="val 18000" name="adj"/>
            </a:avLst>
          </a:prstGeom>
          <a:solidFill>
            <a:srgbClr val="FEF3C7"/>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45309"/>
                </a:solidFill>
                <a:latin typeface="Calibri"/>
                <a:ea typeface="Calibri"/>
                <a:cs typeface="Calibri"/>
                <a:sym typeface="Calibri"/>
              </a:rPr>
              <a:t>2 / 2 candidate passes?</a:t>
            </a:r>
            <a:endParaRPr b="0" i="0" sz="1400" u="none" cap="none" strike="noStrike">
              <a:solidFill>
                <a:srgbClr val="000000"/>
              </a:solidFill>
              <a:latin typeface="Arial"/>
              <a:ea typeface="Arial"/>
              <a:cs typeface="Arial"/>
              <a:sym typeface="Arial"/>
            </a:endParaRPr>
          </a:p>
        </p:txBody>
      </p:sp>
      <p:sp>
        <p:nvSpPr>
          <p:cNvPr id="1025" name="Google Shape;1025;p56"/>
          <p:cNvSpPr/>
          <p:nvPr/>
        </p:nvSpPr>
        <p:spPr>
          <a:xfrm>
            <a:off x="7159767" y="1965960"/>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6" name="Google Shape;1026;p56"/>
          <p:cNvSpPr/>
          <p:nvPr/>
        </p:nvSpPr>
        <p:spPr>
          <a:xfrm>
            <a:off x="7461519" y="1691640"/>
            <a:ext cx="1902000" cy="731400"/>
          </a:xfrm>
          <a:prstGeom prst="roundRect">
            <a:avLst>
              <a:gd fmla="val 18000" name="adj"/>
            </a:avLst>
          </a:prstGeom>
          <a:solidFill>
            <a:srgbClr val="FEF3C7"/>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45309"/>
                </a:solidFill>
                <a:latin typeface="Calibri"/>
                <a:ea typeface="Calibri"/>
                <a:cs typeface="Calibri"/>
                <a:sym typeface="Calibri"/>
              </a:rPr>
              <a:t>Not already regression?</a:t>
            </a:r>
            <a:endParaRPr b="0" i="0" sz="1400" u="none" cap="none" strike="noStrike">
              <a:solidFill>
                <a:srgbClr val="000000"/>
              </a:solidFill>
              <a:latin typeface="Arial"/>
              <a:ea typeface="Arial"/>
              <a:cs typeface="Arial"/>
              <a:sym typeface="Arial"/>
            </a:endParaRPr>
          </a:p>
        </p:txBody>
      </p:sp>
      <p:sp>
        <p:nvSpPr>
          <p:cNvPr id="1027" name="Google Shape;1027;p56"/>
          <p:cNvSpPr/>
          <p:nvPr/>
        </p:nvSpPr>
        <p:spPr>
          <a:xfrm>
            <a:off x="9464059" y="1965960"/>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8" name="Google Shape;1028;p56"/>
          <p:cNvSpPr/>
          <p:nvPr/>
        </p:nvSpPr>
        <p:spPr>
          <a:xfrm>
            <a:off x="9765812" y="1691640"/>
            <a:ext cx="1902000" cy="7314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Move to regression</a:t>
            </a:r>
            <a:endParaRPr b="0" i="0" sz="1400" u="none" cap="none" strike="noStrike">
              <a:solidFill>
                <a:srgbClr val="000000"/>
              </a:solidFill>
              <a:latin typeface="Arial"/>
              <a:ea typeface="Arial"/>
              <a:cs typeface="Arial"/>
              <a:sym typeface="Arial"/>
            </a:endParaRPr>
          </a:p>
        </p:txBody>
      </p:sp>
      <p:sp>
        <p:nvSpPr>
          <p:cNvPr id="1029" name="Google Shape;1029;p56"/>
          <p:cNvSpPr/>
          <p:nvPr/>
        </p:nvSpPr>
        <p:spPr>
          <a:xfrm>
            <a:off x="548641" y="2743200"/>
            <a:ext cx="5394900" cy="18288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30" name="Google Shape;1030;p56"/>
          <p:cNvSpPr txBox="1"/>
          <p:nvPr/>
        </p:nvSpPr>
        <p:spPr>
          <a:xfrm>
            <a:off x="731522" y="2834640"/>
            <a:ext cx="5029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src/eval/compare.py · promote.py</a:t>
            </a:r>
            <a:endParaRPr b="0" i="0" sz="1400" u="none" cap="none" strike="noStrike">
              <a:solidFill>
                <a:srgbClr val="000000"/>
              </a:solidFill>
              <a:latin typeface="Arial"/>
              <a:ea typeface="Arial"/>
              <a:cs typeface="Arial"/>
              <a:sym typeface="Arial"/>
            </a:endParaRPr>
          </a:p>
        </p:txBody>
      </p:sp>
      <p:sp>
        <p:nvSpPr>
          <p:cNvPr id="1031" name="Google Shape;1031;p56"/>
          <p:cNvSpPr txBox="1"/>
          <p:nvPr/>
        </p:nvSpPr>
        <p:spPr>
          <a:xfrm>
            <a:off x="731521" y="3127248"/>
            <a:ext cx="5120700" cy="14778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def pass_hat_k(n, successes, k):</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if n &lt; k or successes &lt; k:</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return 0.0</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return 1.0</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E2E8F0"/>
                </a:solidFill>
                <a:latin typeface="Courier New"/>
                <a:ea typeface="Courier New"/>
                <a:cs typeface="Courier New"/>
                <a:sym typeface="Courier New"/>
              </a:rPr>
              <a:t> </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200"/>
              <a:buFont typeface="Arial"/>
              <a:buNone/>
            </a:pPr>
            <a:r>
              <a:rPr b="0" i="0" lang="en-US" sz="1200" u="none" cap="none" strike="noStrike">
                <a:solidFill>
                  <a:srgbClr val="94A3B8"/>
                </a:solidFill>
                <a:latin typeface="Courier New"/>
                <a:ea typeface="Courier New"/>
                <a:cs typeface="Courier New"/>
                <a:sym typeface="Courier New"/>
              </a:rPr>
              <a:t># promote: k = min(min_reps, len(passes)) = 2</a:t>
            </a:r>
            <a:endParaRPr b="0" i="0" sz="1400" u="none" cap="none" strike="noStrike">
              <a:solidFill>
                <a:srgbClr val="000000"/>
              </a:solidFill>
              <a:latin typeface="Arial"/>
              <a:ea typeface="Arial"/>
              <a:cs typeface="Arial"/>
              <a:sym typeface="Arial"/>
            </a:endParaRPr>
          </a:p>
        </p:txBody>
      </p:sp>
      <p:sp>
        <p:nvSpPr>
          <p:cNvPr id="1032" name="Google Shape;1032;p56"/>
          <p:cNvSpPr/>
          <p:nvPr/>
        </p:nvSpPr>
        <p:spPr>
          <a:xfrm>
            <a:off x="548641" y="4754880"/>
            <a:ext cx="5394900" cy="14172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33" name="Google Shape;1033;p56"/>
          <p:cNvSpPr txBox="1"/>
          <p:nvPr/>
        </p:nvSpPr>
        <p:spPr>
          <a:xfrm>
            <a:off x="731522" y="4910328"/>
            <a:ext cx="50292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Persisted (live runs only)</a:t>
            </a:r>
            <a:endParaRPr b="0" i="0" sz="1400" u="none" cap="none" strike="noStrike">
              <a:solidFill>
                <a:srgbClr val="000000"/>
              </a:solidFill>
              <a:latin typeface="Arial"/>
              <a:ea typeface="Arial"/>
              <a:cs typeface="Arial"/>
              <a:sym typeface="Arial"/>
            </a:endParaRPr>
          </a:p>
        </p:txBody>
      </p:sp>
      <p:sp>
        <p:nvSpPr>
          <p:cNvPr id="1034" name="Google Shape;1034;p56"/>
          <p:cNvSpPr txBox="1"/>
          <p:nvPr/>
        </p:nvSpPr>
        <p:spPr>
          <a:xfrm>
            <a:off x="731522" y="5376672"/>
            <a:ext cx="5029200" cy="685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ourier New"/>
                <a:ea typeface="Courier New"/>
                <a:cs typeface="Courier New"/>
                <a:sym typeface="Courier New"/>
              </a:rPr>
              <a:t>suite: regression</a:t>
            </a:r>
            <a:r>
              <a:rPr b="0" i="0" lang="en-US" sz="1300" u="none" cap="none" strike="noStrike">
                <a:solidFill>
                  <a:srgbClr val="334155"/>
                </a:solidFill>
                <a:latin typeface="Calibri"/>
                <a:ea typeface="Calibri"/>
                <a:cs typeface="Calibri"/>
                <a:sym typeface="Calibri"/>
              </a:rPr>
              <a:t>, </a:t>
            </a:r>
            <a:r>
              <a:rPr b="0" i="0" lang="en-US" sz="1300" u="none" cap="none" strike="noStrike">
                <a:solidFill>
                  <a:srgbClr val="334155"/>
                </a:solidFill>
                <a:latin typeface="Courier New"/>
                <a:ea typeface="Courier New"/>
                <a:cs typeface="Courier New"/>
                <a:sym typeface="Courier New"/>
              </a:rPr>
              <a:t>graduated_utc</a:t>
            </a:r>
            <a:r>
              <a:rPr b="0" i="0" lang="en-US" sz="1300" u="none" cap="none" strike="noStrike">
                <a:solidFill>
                  <a:srgbClr val="334155"/>
                </a:solidFill>
                <a:latin typeface="Calibri"/>
                <a:ea typeface="Calibri"/>
                <a:cs typeface="Calibri"/>
                <a:sym typeface="Calibri"/>
              </a:rPr>
              <a:t>, </a:t>
            </a:r>
            <a:r>
              <a:rPr b="0" i="0" lang="en-US" sz="1300" u="none" cap="none" strike="noStrike">
                <a:solidFill>
                  <a:srgbClr val="334155"/>
                </a:solidFill>
                <a:latin typeface="Courier New"/>
                <a:ea typeface="Courier New"/>
                <a:cs typeface="Courier New"/>
                <a:sym typeface="Courier New"/>
              </a:rPr>
              <a:t>graduated_from_run</a:t>
            </a:r>
            <a:r>
              <a:rPr b="0" i="0" lang="en-US" sz="1300" u="none" cap="none" strike="noStrike">
                <a:solidFill>
                  <a:srgbClr val="334155"/>
                </a:solidFill>
                <a:latin typeface="Calibri"/>
                <a:ea typeface="Calibri"/>
                <a:cs typeface="Calibri"/>
                <a:sym typeface="Calibri"/>
              </a:rPr>
              <a:t> in </a:t>
            </a:r>
            <a:r>
              <a:rPr b="0" i="0" lang="en-US" sz="1300" u="none" cap="none" strike="noStrike">
                <a:solidFill>
                  <a:srgbClr val="334155"/>
                </a:solidFill>
                <a:latin typeface="Courier New"/>
                <a:ea typeface="Courier New"/>
                <a:cs typeface="Courier New"/>
                <a:sym typeface="Courier New"/>
              </a:rPr>
              <a:t>tasks/registry.yaml</a:t>
            </a:r>
            <a:endParaRPr b="0" i="0" sz="1400" u="none" cap="none" strike="noStrike">
              <a:solidFill>
                <a:srgbClr val="000000"/>
              </a:solidFill>
              <a:latin typeface="Arial"/>
              <a:ea typeface="Arial"/>
              <a:cs typeface="Arial"/>
              <a:sym typeface="Arial"/>
            </a:endParaRPr>
          </a:p>
        </p:txBody>
      </p:sp>
      <p:sp>
        <p:nvSpPr>
          <p:cNvPr id="1035" name="Google Shape;1035;p56"/>
          <p:cNvSpPr/>
          <p:nvPr/>
        </p:nvSpPr>
        <p:spPr>
          <a:xfrm>
            <a:off x="6217933" y="2743200"/>
            <a:ext cx="5440800" cy="1600200"/>
          </a:xfrm>
          <a:prstGeom prst="roundRect">
            <a:avLst>
              <a:gd fmla="val 8000" name="adj"/>
            </a:avLst>
          </a:prstGeom>
          <a:solidFill>
            <a:srgbClr val="D1FAE5"/>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36" name="Google Shape;1036;p56"/>
          <p:cNvSpPr txBox="1"/>
          <p:nvPr/>
        </p:nvSpPr>
        <p:spPr>
          <a:xfrm>
            <a:off x="6400813" y="2834640"/>
            <a:ext cx="51207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47857"/>
                </a:solidFill>
                <a:latin typeface="Calibri"/>
                <a:ea typeface="Calibri"/>
                <a:cs typeface="Calibri"/>
                <a:sym typeface="Calibri"/>
              </a:rPr>
              <a:t>Good candidate · auth-vs-log</a:t>
            </a:r>
            <a:endParaRPr b="0" i="0" sz="1400" u="none" cap="none" strike="noStrike">
              <a:solidFill>
                <a:srgbClr val="000000"/>
              </a:solidFill>
              <a:latin typeface="Arial"/>
              <a:ea typeface="Arial"/>
              <a:cs typeface="Arial"/>
              <a:sym typeface="Arial"/>
            </a:endParaRPr>
          </a:p>
        </p:txBody>
      </p:sp>
      <p:sp>
        <p:nvSpPr>
          <p:cNvPr id="1037" name="Google Shape;1037;p56"/>
          <p:cNvSpPr txBox="1"/>
          <p:nvPr/>
        </p:nvSpPr>
        <p:spPr>
          <a:xfrm>
            <a:off x="6400813" y="3246120"/>
            <a:ext cx="5120700" cy="1005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0" i="0" lang="en-US" sz="1350" u="none" cap="none" strike="noStrike">
                <a:solidFill>
                  <a:srgbClr val="334155"/>
                </a:solidFill>
                <a:latin typeface="Calibri"/>
                <a:ea typeface="Calibri"/>
                <a:cs typeface="Calibri"/>
                <a:sym typeface="Calibri"/>
              </a:rPr>
              <a:t>candidate passes </a:t>
            </a:r>
            <a:r>
              <a:rPr b="0" i="0" lang="en-US" sz="1350" u="none" cap="none" strike="noStrike">
                <a:solidFill>
                  <a:srgbClr val="047857"/>
                </a:solidFill>
                <a:latin typeface="Courier New"/>
                <a:ea typeface="Courier New"/>
                <a:cs typeface="Courier New"/>
                <a:sym typeface="Courier New"/>
              </a:rPr>
              <a:t>[True, True]</a:t>
            </a:r>
            <a:r>
              <a:rPr b="0" i="0" lang="en-US" sz="1350" u="none" cap="none" strike="noStrike">
                <a:solidFill>
                  <a:srgbClr val="334155"/>
                </a:solidFill>
                <a:latin typeface="Calibri"/>
                <a:ea typeface="Calibri"/>
                <a:cs typeface="Calibri"/>
                <a:sym typeface="Calibri"/>
              </a:rPr>
              <a:t> → </a:t>
            </a:r>
            <a:r>
              <a:rPr b="1" i="0" lang="en-US" sz="1350" u="none" cap="none" strike="noStrike">
                <a:solidFill>
                  <a:srgbClr val="334155"/>
                </a:solidFill>
                <a:latin typeface="Calibri"/>
                <a:ea typeface="Calibri"/>
                <a:cs typeface="Calibri"/>
                <a:sym typeface="Calibri"/>
              </a:rPr>
              <a:t>promoted</a:t>
            </a:r>
            <a:r>
              <a:rPr b="0" i="0" lang="en-US" sz="1350" u="none" cap="none" strike="noStrike">
                <a:solidFill>
                  <a:srgbClr val="334155"/>
                </a:solidFill>
                <a:latin typeface="Calibri"/>
                <a:ea typeface="Calibri"/>
                <a:cs typeface="Calibri"/>
                <a:sym typeface="Calibri"/>
              </a:rPr>
              <a:t> = ['auth-vs-log'] → becomes a regression gate in Phase 2</a:t>
            </a:r>
            <a:endParaRPr b="0" i="0" sz="1400" u="none" cap="none" strike="noStrike">
              <a:solidFill>
                <a:srgbClr val="000000"/>
              </a:solidFill>
              <a:latin typeface="Arial"/>
              <a:ea typeface="Arial"/>
              <a:cs typeface="Arial"/>
              <a:sym typeface="Arial"/>
            </a:endParaRPr>
          </a:p>
        </p:txBody>
      </p:sp>
      <p:sp>
        <p:nvSpPr>
          <p:cNvPr id="1038" name="Google Shape;1038;p56"/>
          <p:cNvSpPr/>
          <p:nvPr/>
        </p:nvSpPr>
        <p:spPr>
          <a:xfrm>
            <a:off x="6217933" y="4572000"/>
            <a:ext cx="5440800" cy="1600200"/>
          </a:xfrm>
          <a:prstGeom prst="roundRect">
            <a:avLst>
              <a:gd fmla="val 8000" name="adj"/>
            </a:avLst>
          </a:prstGeom>
          <a:solidFill>
            <a:srgbClr val="FEE2E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39" name="Google Shape;1039;p56"/>
          <p:cNvSpPr txBox="1"/>
          <p:nvPr/>
        </p:nvSpPr>
        <p:spPr>
          <a:xfrm>
            <a:off x="6400813" y="4663440"/>
            <a:ext cx="51207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B91C1C"/>
                </a:solidFill>
                <a:latin typeface="Calibri"/>
                <a:ea typeface="Calibri"/>
                <a:cs typeface="Calibri"/>
                <a:sym typeface="Calibri"/>
              </a:rPr>
              <a:t>Bad candidate · auth-vs-log</a:t>
            </a:r>
            <a:endParaRPr b="0" i="0" sz="1400" u="none" cap="none" strike="noStrike">
              <a:solidFill>
                <a:srgbClr val="000000"/>
              </a:solidFill>
              <a:latin typeface="Arial"/>
              <a:ea typeface="Arial"/>
              <a:cs typeface="Arial"/>
              <a:sym typeface="Arial"/>
            </a:endParaRPr>
          </a:p>
        </p:txBody>
      </p:sp>
      <p:sp>
        <p:nvSpPr>
          <p:cNvPr id="1040" name="Google Shape;1040;p56"/>
          <p:cNvSpPr txBox="1"/>
          <p:nvPr/>
        </p:nvSpPr>
        <p:spPr>
          <a:xfrm>
            <a:off x="6400813" y="5074920"/>
            <a:ext cx="5120700" cy="1005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0" i="0" lang="en-US" sz="1350" u="none" cap="none" strike="noStrike">
                <a:solidFill>
                  <a:srgbClr val="334155"/>
                </a:solidFill>
                <a:latin typeface="Calibri"/>
                <a:ea typeface="Calibri"/>
                <a:cs typeface="Calibri"/>
                <a:sym typeface="Calibri"/>
              </a:rPr>
              <a:t>candidate passes </a:t>
            </a:r>
            <a:r>
              <a:rPr b="0" i="0" lang="en-US" sz="1350" u="none" cap="none" strike="noStrike">
                <a:solidFill>
                  <a:srgbClr val="B91C1C"/>
                </a:solidFill>
                <a:latin typeface="Courier New"/>
                <a:ea typeface="Courier New"/>
                <a:cs typeface="Courier New"/>
                <a:sym typeface="Courier New"/>
              </a:rPr>
              <a:t>[False, False]</a:t>
            </a:r>
            <a:r>
              <a:rPr b="0" i="0" lang="en-US" sz="1350" u="none" cap="none" strike="noStrike">
                <a:solidFill>
                  <a:srgbClr val="334155"/>
                </a:solidFill>
                <a:latin typeface="Calibri"/>
                <a:ea typeface="Calibri"/>
                <a:cs typeface="Calibri"/>
                <a:sym typeface="Calibri"/>
              </a:rPr>
              <a:t> → </a:t>
            </a:r>
            <a:r>
              <a:rPr b="1" i="0" lang="en-US" sz="1350" u="none" cap="none" strike="noStrike">
                <a:solidFill>
                  <a:srgbClr val="334155"/>
                </a:solidFill>
                <a:latin typeface="Calibri"/>
                <a:ea typeface="Calibri"/>
                <a:cs typeface="Calibri"/>
                <a:sym typeface="Calibri"/>
              </a:rPr>
              <a:t>not promoted</a:t>
            </a:r>
            <a:r>
              <a:rPr b="0" i="0" lang="en-US" sz="1350" u="none" cap="none" strike="noStrike">
                <a:solidFill>
                  <a:srgbClr val="334155"/>
                </a:solidFill>
                <a:latin typeface="Calibri"/>
                <a:ea typeface="Calibri"/>
                <a:cs typeface="Calibri"/>
                <a:sym typeface="Calibri"/>
              </a:rPr>
              <a:t>, promoted = [] → gate test 3 would block too</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5" name="Shape 1045"/>
        <p:cNvGrpSpPr/>
        <p:nvPr/>
      </p:nvGrpSpPr>
      <p:grpSpPr>
        <a:xfrm>
          <a:off x="0" y="0"/>
          <a:ext cx="0" cy="0"/>
          <a:chOff x="0" y="0"/>
          <a:chExt cx="0" cy="0"/>
        </a:xfrm>
      </p:grpSpPr>
      <p:sp>
        <p:nvSpPr>
          <p:cNvPr id="1046" name="Google Shape;1046;p57"/>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Blocking: the three tests in phase2_blocked_reason()</a:t>
            </a:r>
            <a:endParaRPr b="0" i="0" sz="1400" u="none" cap="none" strike="noStrike">
              <a:solidFill>
                <a:srgbClr val="000000"/>
              </a:solidFill>
              <a:latin typeface="Arial"/>
              <a:ea typeface="Arial"/>
              <a:cs typeface="Arial"/>
              <a:sym typeface="Arial"/>
            </a:endParaRPr>
          </a:p>
        </p:txBody>
      </p:sp>
      <p:sp>
        <p:nvSpPr>
          <p:cNvPr id="1047" name="Google Shape;1047;p57"/>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Checked </a:t>
            </a:r>
            <a:r>
              <a:rPr b="1" i="0" lang="en-US" sz="1600" u="none" cap="none" strike="noStrike">
                <a:solidFill>
                  <a:srgbClr val="334155"/>
                </a:solidFill>
                <a:latin typeface="Calibri"/>
                <a:ea typeface="Calibri"/>
                <a:cs typeface="Calibri"/>
                <a:sym typeface="Calibri"/>
              </a:rPr>
              <a:t>in code order</a:t>
            </a:r>
            <a:r>
              <a:rPr b="0" i="0" lang="en-US" sz="1600" u="none" cap="none" strike="noStrike">
                <a:solidFill>
                  <a:srgbClr val="334155"/>
                </a:solidFill>
                <a:latin typeface="Calibri"/>
                <a:ea typeface="Calibri"/>
                <a:cs typeface="Calibri"/>
                <a:sym typeface="Calibri"/>
              </a:rPr>
              <a:t>; the first failing test wins and Phase 2 never runs</a:t>
            </a:r>
            <a:endParaRPr b="0" i="0" sz="1400" u="none" cap="none" strike="noStrike">
              <a:solidFill>
                <a:srgbClr val="000000"/>
              </a:solidFill>
              <a:latin typeface="Arial"/>
              <a:ea typeface="Arial"/>
              <a:cs typeface="Arial"/>
              <a:sym typeface="Arial"/>
            </a:endParaRPr>
          </a:p>
        </p:txBody>
      </p:sp>
      <p:sp>
        <p:nvSpPr>
          <p:cNvPr id="1048" name="Google Shape;1048;p57"/>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Tasks, phases &amp; graders</a:t>
            </a:r>
            <a:endParaRPr b="0" i="0" sz="1400" u="none" cap="none" strike="noStrike">
              <a:solidFill>
                <a:srgbClr val="000000"/>
              </a:solidFill>
              <a:latin typeface="Arial"/>
              <a:ea typeface="Arial"/>
              <a:cs typeface="Arial"/>
              <a:sym typeface="Arial"/>
            </a:endParaRPr>
          </a:p>
        </p:txBody>
      </p:sp>
      <p:sp>
        <p:nvSpPr>
          <p:cNvPr id="1049" name="Google Shape;1049;p57"/>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3</a:t>
            </a:r>
            <a:r>
              <a:rPr lang="en-US" sz="1000">
                <a:solidFill>
                  <a:srgbClr val="64748B"/>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graphicFrame>
        <p:nvGraphicFramePr>
          <p:cNvPr id="1050" name="Google Shape;1050;p57"/>
          <p:cNvGraphicFramePr/>
          <p:nvPr/>
        </p:nvGraphicFramePr>
        <p:xfrm>
          <a:off x="548641" y="1645920"/>
          <a:ext cx="3000000" cy="3000000"/>
        </p:xfrm>
        <a:graphic>
          <a:graphicData uri="http://schemas.openxmlformats.org/drawingml/2006/table">
            <a:tbl>
              <a:tblPr bandRow="1" firstRow="1">
                <a:noFill/>
                <a:tableStyleId>{6D768582-A166-4AF2-A2B6-FE9F80A8B072}</a:tableStyleId>
              </a:tblPr>
              <a:tblGrid>
                <a:gridCol w="457200"/>
                <a:gridCol w="3931900"/>
                <a:gridCol w="3108925"/>
                <a:gridCol w="3593575"/>
              </a:tblGrid>
              <a:tr h="56692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FFFFFF"/>
                          </a:solidFill>
                          <a:latin typeface="Calibri"/>
                          <a:ea typeface="Calibri"/>
                          <a:cs typeface="Calibri"/>
                          <a:sym typeface="Calibri"/>
                        </a:rPr>
                        <a: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FFFFFF"/>
                          </a:solidFill>
                          <a:latin typeface="Calibri"/>
                          <a:ea typeface="Calibri"/>
                          <a:cs typeface="Calibri"/>
                          <a:sym typeface="Calibri"/>
                        </a:rPr>
                        <a:t>Test performed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FFFFFF"/>
                          </a:solidFill>
                          <a:latin typeface="Calibri"/>
                          <a:ea typeface="Calibri"/>
                          <a:cs typeface="Calibri"/>
                          <a:sym typeface="Calibri"/>
                        </a:rPr>
                        <a:t>Result that fails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FFFFFF"/>
                          </a:solidFill>
                          <a:latin typeface="Calibri"/>
                          <a:ea typeface="Calibri"/>
                          <a:cs typeface="Calibri"/>
                          <a:sym typeface="Calibri"/>
                        </a:rPr>
                        <a:t>What happens next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r>
              <a:tr h="56692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1</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Any comparison row with </a:t>
                      </a:r>
                      <a:r>
                        <a:rPr b="0" lang="en-US" sz="1300" u="none" cap="none" strike="noStrike">
                          <a:solidFill>
                            <a:srgbClr val="0F172A"/>
                          </a:solidFill>
                          <a:latin typeface="Courier New"/>
                          <a:ea typeface="Courier New"/>
                          <a:cs typeface="Courier New"/>
                          <a:sym typeface="Courier New"/>
                        </a:rPr>
                        <a:t>transition == REGRESSED</a:t>
                      </a:r>
                      <a:r>
                        <a:rPr b="0" lang="en-US" sz="1300" u="none" cap="none" strike="noStrike">
                          <a:solidFill>
                            <a:srgbClr val="0F172A"/>
                          </a:solidFill>
                          <a:latin typeface="Calibri"/>
                          <a:ea typeface="Calibri"/>
                          <a:cs typeface="Calibri"/>
                          <a:sym typeface="Calibri"/>
                        </a:rPr>
                        <a: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baseline PASS → candidate FAIL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Block: "regression task X regressed (PASS→FAIL)"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56692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2</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Any </a:t>
                      </a:r>
                      <a:r>
                        <a:rPr b="1" lang="en-US" sz="1300" u="none" cap="none" strike="noStrike">
                          <a:solidFill>
                            <a:srgbClr val="0F172A"/>
                          </a:solidFill>
                          <a:latin typeface="Calibri"/>
                          <a:ea typeface="Calibri"/>
                          <a:cs typeface="Calibri"/>
                          <a:sym typeface="Calibri"/>
                        </a:rPr>
                        <a:t>regression-suite</a:t>
                      </a:r>
                      <a:r>
                        <a:rPr b="0" lang="en-US" sz="1300" u="none" cap="none" strike="noStrike">
                          <a:solidFill>
                            <a:srgbClr val="0F172A"/>
                          </a:solidFill>
                          <a:latin typeface="Calibri"/>
                          <a:ea typeface="Calibri"/>
                          <a:cs typeface="Calibri"/>
                          <a:sym typeface="Calibri"/>
                        </a:rPr>
                        <a:t> row with candidate outcome FAIL?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candidate fails a gate, even if baseline also fails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Block: "regression task X candidate failed"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r h="56692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3</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Is the </a:t>
                      </a:r>
                      <a:r>
                        <a:rPr b="0" lang="en-US" sz="1300" u="none" cap="none" strike="noStrike">
                          <a:solidFill>
                            <a:srgbClr val="0F172A"/>
                          </a:solidFill>
                          <a:latin typeface="Courier New"/>
                          <a:ea typeface="Courier New"/>
                          <a:cs typeface="Courier New"/>
                          <a:sym typeface="Courier New"/>
                        </a:rPr>
                        <a:t>promoted</a:t>
                      </a:r>
                      <a:r>
                        <a:rPr b="0" lang="en-US" sz="1300" u="none" cap="none" strike="noStrike">
                          <a:solidFill>
                            <a:srgbClr val="0F172A"/>
                          </a:solidFill>
                          <a:latin typeface="Calibri"/>
                          <a:ea typeface="Calibri"/>
                          <a:cs typeface="Calibri"/>
                          <a:sym typeface="Calibri"/>
                        </a:rPr>
                        <a:t> list empty?</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no capability task graduated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Block: "capability graduation gate not met…"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566925">
                <a:tc>
                  <a:txBody>
                    <a:bodyPr/>
                    <a:lstStyle/>
                    <a:p>
                      <a:pPr indent="0" lvl="0" marL="0" marR="0" rtl="0" algn="l">
                        <a:lnSpc>
                          <a:spcPct val="100000"/>
                        </a:lnSpc>
                        <a:spcBef>
                          <a:spcPts val="0"/>
                        </a:spcBef>
                        <a:spcAft>
                          <a:spcPts val="0"/>
                        </a:spcAft>
                        <a:buClr>
                          <a:srgbClr val="000000"/>
                        </a:buClr>
                        <a:buSzPts val="1300"/>
                        <a:buFont typeface="Arial"/>
                        <a:buNone/>
                      </a:pPr>
                      <a:r>
                        <a:rPr b="1" lang="en-US" sz="1300" u="none" cap="none" strike="noStrike">
                          <a:solidFill>
                            <a:srgbClr val="0F172A"/>
                          </a:solidFill>
                          <a:latin typeface="Calibri"/>
                          <a:ea typeface="Calibri"/>
                          <a:cs typeface="Calibri"/>
                          <a:sym typeface="Calibri"/>
                        </a:rPr>
                        <a:t>OK</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All three pass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alibri"/>
                          <a:ea typeface="Calibri"/>
                          <a:cs typeface="Calibri"/>
                          <a:sym typeface="Calibri"/>
                        </a:rPr>
                        <a:t>n/a</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300"/>
                        <a:buFont typeface="Arial"/>
                        <a:buNone/>
                      </a:pPr>
                      <a:r>
                        <a:rPr b="0" lang="en-US" sz="1300" u="none" cap="none" strike="noStrike">
                          <a:solidFill>
                            <a:srgbClr val="0F172A"/>
                          </a:solidFill>
                          <a:latin typeface="Courier New"/>
                          <a:ea typeface="Courier New"/>
                          <a:cs typeface="Courier New"/>
                          <a:sym typeface="Courier New"/>
                        </a:rPr>
                        <a:t>return None</a:t>
                      </a:r>
                      <a:r>
                        <a:rPr b="0" lang="en-US" sz="1300" u="none" cap="none" strike="noStrike">
                          <a:solidFill>
                            <a:srgbClr val="0F172A"/>
                          </a:solidFill>
                          <a:latin typeface="Calibri"/>
                          <a:ea typeface="Calibri"/>
                          <a:cs typeface="Calibri"/>
                          <a:sym typeface="Calibri"/>
                        </a:rPr>
                        <a:t> → </a:t>
                      </a:r>
                      <a:r>
                        <a:rPr b="0" lang="en-US" sz="1300" u="none" cap="none" strike="noStrike">
                          <a:solidFill>
                            <a:srgbClr val="0F172A"/>
                          </a:solidFill>
                          <a:latin typeface="Courier New"/>
                          <a:ea typeface="Courier New"/>
                          <a:cs typeface="Courier New"/>
                          <a:sym typeface="Courier New"/>
                        </a:rPr>
                        <a:t>phase2_eligible() = True</a:t>
                      </a:r>
                      <a:r>
                        <a:rPr b="0" lang="en-US" sz="1300" u="none" cap="none" strike="noStrike">
                          <a:solidFill>
                            <a:srgbClr val="0F172A"/>
                          </a:solidFill>
                          <a:latin typeface="Calibri"/>
                          <a:ea typeface="Calibri"/>
                          <a:cs typeface="Calibri"/>
                          <a:sym typeface="Calibri"/>
                        </a:rPr>
                        <a:t> → Phase 2 runs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D1FAE5"/>
                    </a:solidFill>
                  </a:tcPr>
                </a:tc>
              </a:tr>
            </a:tbl>
          </a:graphicData>
        </a:graphic>
      </p:graphicFrame>
      <p:sp>
        <p:nvSpPr>
          <p:cNvPr id="1051" name="Google Shape;1051;p57"/>
          <p:cNvSpPr/>
          <p:nvPr/>
        </p:nvSpPr>
        <p:spPr>
          <a:xfrm>
            <a:off x="548641" y="4663440"/>
            <a:ext cx="5486400" cy="1508700"/>
          </a:xfrm>
          <a:prstGeom prst="roundRect">
            <a:avLst>
              <a:gd fmla="val 8000" name="adj"/>
            </a:avLst>
          </a:prstGeom>
          <a:solidFill>
            <a:srgbClr val="FEE2E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52" name="Google Shape;1052;p57"/>
          <p:cNvSpPr txBox="1"/>
          <p:nvPr/>
        </p:nvSpPr>
        <p:spPr>
          <a:xfrm>
            <a:off x="731521" y="4736592"/>
            <a:ext cx="51207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B91C1C"/>
                </a:solidFill>
                <a:latin typeface="Calibri"/>
                <a:ea typeface="Calibri"/>
                <a:cs typeface="Calibri"/>
                <a:sym typeface="Calibri"/>
              </a:rPr>
              <a:t>Bad candidate → blocked at test 1</a:t>
            </a:r>
            <a:endParaRPr b="0" i="0" sz="1400" u="none" cap="none" strike="noStrike">
              <a:solidFill>
                <a:srgbClr val="000000"/>
              </a:solidFill>
              <a:latin typeface="Arial"/>
              <a:ea typeface="Arial"/>
              <a:cs typeface="Arial"/>
              <a:sym typeface="Arial"/>
            </a:endParaRPr>
          </a:p>
        </p:txBody>
      </p:sp>
      <p:sp>
        <p:nvSpPr>
          <p:cNvPr id="1053" name="Google Shape;1053;p57"/>
          <p:cNvSpPr txBox="1"/>
          <p:nvPr/>
        </p:nvSpPr>
        <p:spPr>
          <a:xfrm>
            <a:off x="731521" y="5120640"/>
            <a:ext cx="5120700" cy="1005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B91C1C"/>
                </a:solidFill>
                <a:latin typeface="Courier New"/>
                <a:ea typeface="Courier New"/>
                <a:cs typeface="Courier New"/>
                <a:sym typeface="Courier New"/>
              </a:rPr>
              <a:t>regression task keep-suite regressed (PASS→FAIL)</a:t>
            </a:r>
            <a:endParaRPr b="0" i="0" sz="1400" u="none" cap="none" strike="noStrike">
              <a:solidFill>
                <a:srgbClr val="000000"/>
              </a:solidFill>
              <a:latin typeface="Arial"/>
              <a:ea typeface="Arial"/>
              <a:cs typeface="Arial"/>
              <a:sym typeface="Arial"/>
            </a:endParaRPr>
          </a:p>
        </p:txBody>
      </p:sp>
      <p:sp>
        <p:nvSpPr>
          <p:cNvPr id="1054" name="Google Shape;1054;p57"/>
          <p:cNvSpPr/>
          <p:nvPr/>
        </p:nvSpPr>
        <p:spPr>
          <a:xfrm>
            <a:off x="6172213" y="4663440"/>
            <a:ext cx="5486400" cy="1508700"/>
          </a:xfrm>
          <a:prstGeom prst="roundRect">
            <a:avLst>
              <a:gd fmla="val 8000" name="adj"/>
            </a:avLst>
          </a:prstGeom>
          <a:solidFill>
            <a:srgbClr val="D1FAE5"/>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55" name="Google Shape;1055;p57"/>
          <p:cNvSpPr txBox="1"/>
          <p:nvPr/>
        </p:nvSpPr>
        <p:spPr>
          <a:xfrm>
            <a:off x="6355093" y="4736592"/>
            <a:ext cx="51207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47857"/>
                </a:solidFill>
                <a:latin typeface="Calibri"/>
                <a:ea typeface="Calibri"/>
                <a:cs typeface="Calibri"/>
                <a:sym typeface="Calibri"/>
              </a:rPr>
              <a:t>Good candidate → all tests pass</a:t>
            </a:r>
            <a:endParaRPr b="0" i="0" sz="1400" u="none" cap="none" strike="noStrike">
              <a:solidFill>
                <a:srgbClr val="000000"/>
              </a:solidFill>
              <a:latin typeface="Arial"/>
              <a:ea typeface="Arial"/>
              <a:cs typeface="Arial"/>
              <a:sym typeface="Arial"/>
            </a:endParaRPr>
          </a:p>
        </p:txBody>
      </p:sp>
      <p:sp>
        <p:nvSpPr>
          <p:cNvPr id="1056" name="Google Shape;1056;p57"/>
          <p:cNvSpPr txBox="1"/>
          <p:nvPr/>
        </p:nvSpPr>
        <p:spPr>
          <a:xfrm>
            <a:off x="6355093" y="5120640"/>
            <a:ext cx="5120700" cy="1005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no REGRESSED row · keep-suite PASS · promoted = ['auth-vs-log'] → Phase 2 ran: </a:t>
            </a:r>
            <a:r>
              <a:rPr b="1" i="0" lang="en-US" sz="1300" u="none" cap="none" strike="noStrike">
                <a:solidFill>
                  <a:srgbClr val="334155"/>
                </a:solidFill>
                <a:latin typeface="Calibri"/>
                <a:ea typeface="Calibri"/>
                <a:cs typeface="Calibri"/>
                <a:sym typeface="Calibri"/>
              </a:rPr>
              <a:t>True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1" name="Shape 1061"/>
        <p:cNvGrpSpPr/>
        <p:nvPr/>
      </p:nvGrpSpPr>
      <p:grpSpPr>
        <a:xfrm>
          <a:off x="0" y="0"/>
          <a:ext cx="0" cy="0"/>
          <a:chOff x="0" y="0"/>
          <a:chExt cx="0" cy="0"/>
        </a:xfrm>
      </p:grpSpPr>
      <p:sp>
        <p:nvSpPr>
          <p:cNvPr id="1062" name="Google Shape;1062;p58"/>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Grader families: code decides, model and human inform</a:t>
            </a:r>
            <a:endParaRPr b="0" i="0" sz="1400" u="none" cap="none" strike="noStrike">
              <a:solidFill>
                <a:srgbClr val="000000"/>
              </a:solidFill>
              <a:latin typeface="Arial"/>
              <a:ea typeface="Arial"/>
              <a:cs typeface="Arial"/>
              <a:sym typeface="Arial"/>
            </a:endParaRPr>
          </a:p>
        </p:txBody>
      </p:sp>
      <p:sp>
        <p:nvSpPr>
          <p:cNvPr id="1063" name="Google Shape;1063;p58"/>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334155"/>
                </a:solidFill>
                <a:latin typeface="Calibri"/>
                <a:ea typeface="Calibri"/>
                <a:cs typeface="Calibri"/>
                <a:sym typeface="Calibri"/>
              </a:rPr>
              <a:t>model grader result ≠ authoritative trial PASS</a:t>
            </a:r>
            <a:r>
              <a:rPr b="0" i="0" lang="en-US" sz="1600" u="none" cap="none" strike="noStrike">
                <a:solidFill>
                  <a:srgbClr val="334155"/>
                </a:solidFill>
                <a:latin typeface="Calibri"/>
                <a:ea typeface="Calibri"/>
                <a:cs typeface="Calibri"/>
                <a:sym typeface="Calibri"/>
              </a:rPr>
              <a:t>. Only </a:t>
            </a:r>
            <a:r>
              <a:rPr b="0" i="0" lang="en-US" sz="1600" u="none" cap="none" strike="noStrike">
                <a:solidFill>
                  <a:srgbClr val="334155"/>
                </a:solidFill>
                <a:latin typeface="Courier New"/>
                <a:ea typeface="Courier New"/>
                <a:cs typeface="Courier New"/>
                <a:sym typeface="Courier New"/>
              </a:rPr>
              <a:t>code_pass</a:t>
            </a:r>
            <a:r>
              <a:rPr b="0" i="0" lang="en-US" sz="1600" u="none" cap="none" strike="noStrike">
                <a:solidFill>
                  <a:srgbClr val="334155"/>
                </a:solidFill>
                <a:latin typeface="Calibri"/>
                <a:ea typeface="Calibri"/>
                <a:cs typeface="Calibri"/>
                <a:sym typeface="Calibri"/>
              </a:rPr>
              <a:t> flows into compare, promote and the gate.</a:t>
            </a:r>
            <a:endParaRPr b="0" i="0" sz="1400" u="none" cap="none" strike="noStrike">
              <a:solidFill>
                <a:srgbClr val="000000"/>
              </a:solidFill>
              <a:latin typeface="Arial"/>
              <a:ea typeface="Arial"/>
              <a:cs typeface="Arial"/>
              <a:sym typeface="Arial"/>
            </a:endParaRPr>
          </a:p>
        </p:txBody>
      </p:sp>
      <p:sp>
        <p:nvSpPr>
          <p:cNvPr id="1064" name="Google Shape;1064;p58"/>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Tasks, phases &amp; graders</a:t>
            </a:r>
            <a:endParaRPr b="0" i="0" sz="1400" u="none" cap="none" strike="noStrike">
              <a:solidFill>
                <a:srgbClr val="000000"/>
              </a:solidFill>
              <a:latin typeface="Arial"/>
              <a:ea typeface="Arial"/>
              <a:cs typeface="Arial"/>
              <a:sym typeface="Arial"/>
            </a:endParaRPr>
          </a:p>
        </p:txBody>
      </p:sp>
      <p:sp>
        <p:nvSpPr>
          <p:cNvPr id="1065" name="Google Shape;1065;p58"/>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3</a:t>
            </a:r>
            <a:r>
              <a:rPr lang="en-US" sz="1000">
                <a:solidFill>
                  <a:srgbClr val="64748B"/>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066" name="Google Shape;1066;p58"/>
          <p:cNvSpPr/>
          <p:nvPr/>
        </p:nvSpPr>
        <p:spPr>
          <a:xfrm>
            <a:off x="548641" y="1645920"/>
            <a:ext cx="5440800" cy="15546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7" name="Google Shape;1067;p58"/>
          <p:cNvSpPr txBox="1"/>
          <p:nvPr/>
        </p:nvSpPr>
        <p:spPr>
          <a:xfrm>
            <a:off x="731522" y="1755648"/>
            <a:ext cx="35661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F172A"/>
                </a:solidFill>
                <a:latin typeface="Calibri"/>
                <a:ea typeface="Calibri"/>
                <a:cs typeface="Calibri"/>
                <a:sym typeface="Calibri"/>
              </a:rPr>
              <a:t>Code · held-out JSON</a:t>
            </a:r>
            <a:endParaRPr b="0" i="0" sz="1400" u="none" cap="none" strike="noStrike">
              <a:solidFill>
                <a:srgbClr val="000000"/>
              </a:solidFill>
              <a:latin typeface="Arial"/>
              <a:ea typeface="Arial"/>
              <a:cs typeface="Arial"/>
              <a:sym typeface="Arial"/>
            </a:endParaRPr>
          </a:p>
        </p:txBody>
      </p:sp>
      <p:sp>
        <p:nvSpPr>
          <p:cNvPr id="1068" name="Google Shape;1068;p58"/>
          <p:cNvSpPr/>
          <p:nvPr/>
        </p:nvSpPr>
        <p:spPr>
          <a:xfrm>
            <a:off x="4389129" y="1792224"/>
            <a:ext cx="14172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047857"/>
                </a:solidFill>
                <a:latin typeface="Calibri"/>
                <a:ea typeface="Calibri"/>
                <a:cs typeface="Calibri"/>
                <a:sym typeface="Calibri"/>
              </a:rPr>
              <a:t>AUTHORITATIVE</a:t>
            </a:r>
            <a:endParaRPr b="0" i="0" sz="1400" u="none" cap="none" strike="noStrike">
              <a:solidFill>
                <a:srgbClr val="000000"/>
              </a:solidFill>
              <a:latin typeface="Arial"/>
              <a:ea typeface="Arial"/>
              <a:cs typeface="Arial"/>
              <a:sym typeface="Arial"/>
            </a:endParaRPr>
          </a:p>
        </p:txBody>
      </p:sp>
      <p:sp>
        <p:nvSpPr>
          <p:cNvPr id="1069" name="Google Shape;1069;p58"/>
          <p:cNvSpPr txBox="1"/>
          <p:nvPr/>
        </p:nvSpPr>
        <p:spPr>
          <a:xfrm>
            <a:off x="731522" y="2176272"/>
            <a:ext cx="50292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334155"/>
                </a:solidFill>
                <a:latin typeface="Calibri"/>
                <a:ea typeface="Calibri"/>
                <a:cs typeface="Calibri"/>
                <a:sym typeface="Calibri"/>
              </a:rPr>
              <a:t>Used for:</a:t>
            </a:r>
            <a:r>
              <a:rPr b="0" i="0" lang="en-US" sz="1300" u="none" cap="none" strike="noStrike">
                <a:solidFill>
                  <a:srgbClr val="334155"/>
                </a:solidFill>
                <a:latin typeface="Calibri"/>
                <a:ea typeface="Calibri"/>
                <a:cs typeface="Calibri"/>
                <a:sym typeface="Calibri"/>
              </a:rPr>
              <a:t> auth-vs-log, caller-check</a:t>
            </a:r>
            <a:endParaRPr b="0" i="0" sz="1400" u="none" cap="none" strike="noStrike">
              <a:solidFill>
                <a:srgbClr val="000000"/>
              </a:solidFill>
              <a:latin typeface="Arial"/>
              <a:ea typeface="Arial"/>
              <a:cs typeface="Arial"/>
              <a:sym typeface="Arial"/>
            </a:endParaRPr>
          </a:p>
        </p:txBody>
      </p:sp>
      <p:sp>
        <p:nvSpPr>
          <p:cNvPr id="1070" name="Google Shape;1070;p58"/>
          <p:cNvSpPr txBox="1"/>
          <p:nvPr/>
        </p:nvSpPr>
        <p:spPr>
          <a:xfrm>
            <a:off x="731522" y="2514600"/>
            <a:ext cx="5029200" cy="640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Per-function labels from </a:t>
            </a:r>
            <a:r>
              <a:rPr b="0" i="0" lang="en-US" sz="1300" u="none" cap="none" strike="noStrike">
                <a:solidFill>
                  <a:srgbClr val="334155"/>
                </a:solidFill>
                <a:latin typeface="Courier New"/>
                <a:ea typeface="Courier New"/>
                <a:cs typeface="Courier New"/>
                <a:sym typeface="Courier New"/>
              </a:rPr>
              <a:t>heldout/expected.json</a:t>
            </a:r>
            <a:r>
              <a:rPr b="0" i="0" lang="en-US" sz="1300" u="none" cap="none" strike="noStrike">
                <a:solidFill>
                  <a:srgbClr val="334155"/>
                </a:solidFill>
                <a:latin typeface="Calibri"/>
                <a:ea typeface="Calibri"/>
                <a:cs typeface="Calibri"/>
                <a:sym typeface="Calibri"/>
              </a:rPr>
              <a:t>; optional </a:t>
            </a:r>
            <a:r>
              <a:rPr b="0" i="0" lang="en-US" sz="1300" u="none" cap="none" strike="noStrike">
                <a:solidFill>
                  <a:srgbClr val="334155"/>
                </a:solidFill>
                <a:latin typeface="Courier New"/>
                <a:ea typeface="Courier New"/>
                <a:cs typeface="Courier New"/>
                <a:sym typeface="Courier New"/>
              </a:rPr>
              <a:t>issue_contains</a:t>
            </a:r>
            <a:endParaRPr b="0" i="0" sz="1400" u="none" cap="none" strike="noStrike">
              <a:solidFill>
                <a:srgbClr val="000000"/>
              </a:solidFill>
              <a:latin typeface="Arial"/>
              <a:ea typeface="Arial"/>
              <a:cs typeface="Arial"/>
              <a:sym typeface="Arial"/>
            </a:endParaRPr>
          </a:p>
        </p:txBody>
      </p:sp>
      <p:sp>
        <p:nvSpPr>
          <p:cNvPr id="1071" name="Google Shape;1071;p58"/>
          <p:cNvSpPr/>
          <p:nvPr/>
        </p:nvSpPr>
        <p:spPr>
          <a:xfrm>
            <a:off x="6172213" y="1645920"/>
            <a:ext cx="5440800" cy="15546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72" name="Google Shape;1072;p58"/>
          <p:cNvSpPr txBox="1"/>
          <p:nvPr/>
        </p:nvSpPr>
        <p:spPr>
          <a:xfrm>
            <a:off x="6355093" y="1755648"/>
            <a:ext cx="35661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F172A"/>
                </a:solidFill>
                <a:latin typeface="Calibri"/>
                <a:ea typeface="Calibri"/>
                <a:cs typeface="Calibri"/>
                <a:sym typeface="Calibri"/>
              </a:rPr>
              <a:t>Code · visible pytest</a:t>
            </a:r>
            <a:endParaRPr b="0" i="0" sz="1400" u="none" cap="none" strike="noStrike">
              <a:solidFill>
                <a:srgbClr val="000000"/>
              </a:solidFill>
              <a:latin typeface="Arial"/>
              <a:ea typeface="Arial"/>
              <a:cs typeface="Arial"/>
              <a:sym typeface="Arial"/>
            </a:endParaRPr>
          </a:p>
        </p:txBody>
      </p:sp>
      <p:sp>
        <p:nvSpPr>
          <p:cNvPr id="1073" name="Google Shape;1073;p58"/>
          <p:cNvSpPr/>
          <p:nvPr/>
        </p:nvSpPr>
        <p:spPr>
          <a:xfrm>
            <a:off x="10012701" y="1792224"/>
            <a:ext cx="14172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047857"/>
                </a:solidFill>
                <a:latin typeface="Calibri"/>
                <a:ea typeface="Calibri"/>
                <a:cs typeface="Calibri"/>
                <a:sym typeface="Calibri"/>
              </a:rPr>
              <a:t>AUTHORITATIVE</a:t>
            </a:r>
            <a:endParaRPr b="0" i="0" sz="1400" u="none" cap="none" strike="noStrike">
              <a:solidFill>
                <a:srgbClr val="000000"/>
              </a:solidFill>
              <a:latin typeface="Arial"/>
              <a:ea typeface="Arial"/>
              <a:cs typeface="Arial"/>
              <a:sym typeface="Arial"/>
            </a:endParaRPr>
          </a:p>
        </p:txBody>
      </p:sp>
      <p:sp>
        <p:nvSpPr>
          <p:cNvPr id="1074" name="Google Shape;1074;p58"/>
          <p:cNvSpPr txBox="1"/>
          <p:nvPr/>
        </p:nvSpPr>
        <p:spPr>
          <a:xfrm>
            <a:off x="6355093" y="2176272"/>
            <a:ext cx="50292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334155"/>
                </a:solidFill>
                <a:latin typeface="Calibri"/>
                <a:ea typeface="Calibri"/>
                <a:cs typeface="Calibri"/>
                <a:sym typeface="Calibri"/>
              </a:rPr>
              <a:t>Used for:</a:t>
            </a:r>
            <a:r>
              <a:rPr b="0" i="0" lang="en-US" sz="1300" u="none" cap="none" strike="noStrike">
                <a:solidFill>
                  <a:srgbClr val="334155"/>
                </a:solidFill>
                <a:latin typeface="Calibri"/>
                <a:ea typeface="Calibri"/>
                <a:cs typeface="Calibri"/>
                <a:sym typeface="Calibri"/>
              </a:rPr>
              <a:t> keep-suite</a:t>
            </a:r>
            <a:endParaRPr b="0" i="0" sz="1400" u="none" cap="none" strike="noStrike">
              <a:solidFill>
                <a:srgbClr val="000000"/>
              </a:solidFill>
              <a:latin typeface="Arial"/>
              <a:ea typeface="Arial"/>
              <a:cs typeface="Arial"/>
              <a:sym typeface="Arial"/>
            </a:endParaRPr>
          </a:p>
        </p:txBody>
      </p:sp>
      <p:sp>
        <p:nvSpPr>
          <p:cNvPr id="1075" name="Google Shape;1075;p58"/>
          <p:cNvSpPr txBox="1"/>
          <p:nvPr/>
        </p:nvSpPr>
        <p:spPr>
          <a:xfrm>
            <a:off x="6355093" y="2514600"/>
            <a:ext cx="5029200" cy="640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ourier New"/>
                <a:ea typeface="Courier New"/>
                <a:cs typeface="Courier New"/>
                <a:sym typeface="Courier New"/>
              </a:rPr>
              <a:t>pytest -q tests</a:t>
            </a:r>
            <a:r>
              <a:rPr b="0" i="0" lang="en-US" sz="1300" u="none" cap="none" strike="noStrike">
                <a:solidFill>
                  <a:srgbClr val="334155"/>
                </a:solidFill>
                <a:latin typeface="Calibri"/>
                <a:ea typeface="Calibri"/>
                <a:cs typeface="Calibri"/>
                <a:sym typeface="Calibri"/>
              </a:rPr>
              <a:t> in the post-agent workspace; exit 0 = PASS</a:t>
            </a:r>
            <a:endParaRPr b="0" i="0" sz="1400" u="none" cap="none" strike="noStrike">
              <a:solidFill>
                <a:srgbClr val="000000"/>
              </a:solidFill>
              <a:latin typeface="Arial"/>
              <a:ea typeface="Arial"/>
              <a:cs typeface="Arial"/>
              <a:sym typeface="Arial"/>
            </a:endParaRPr>
          </a:p>
        </p:txBody>
      </p:sp>
      <p:sp>
        <p:nvSpPr>
          <p:cNvPr id="1076" name="Google Shape;1076;p58"/>
          <p:cNvSpPr/>
          <p:nvPr/>
        </p:nvSpPr>
        <p:spPr>
          <a:xfrm>
            <a:off x="548641" y="3337560"/>
            <a:ext cx="5440800" cy="15546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77" name="Google Shape;1077;p58"/>
          <p:cNvSpPr txBox="1"/>
          <p:nvPr/>
        </p:nvSpPr>
        <p:spPr>
          <a:xfrm>
            <a:off x="731522" y="3447288"/>
            <a:ext cx="35661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F172A"/>
                </a:solidFill>
                <a:latin typeface="Calibri"/>
                <a:ea typeface="Calibri"/>
                <a:cs typeface="Calibri"/>
                <a:sym typeface="Calibri"/>
              </a:rPr>
              <a:t>Model rubric (LLM judge)</a:t>
            </a:r>
            <a:endParaRPr b="0" i="0" sz="1400" u="none" cap="none" strike="noStrike">
              <a:solidFill>
                <a:srgbClr val="000000"/>
              </a:solidFill>
              <a:latin typeface="Arial"/>
              <a:ea typeface="Arial"/>
              <a:cs typeface="Arial"/>
              <a:sym typeface="Arial"/>
            </a:endParaRPr>
          </a:p>
        </p:txBody>
      </p:sp>
      <p:sp>
        <p:nvSpPr>
          <p:cNvPr id="1078" name="Google Shape;1078;p58"/>
          <p:cNvSpPr/>
          <p:nvPr/>
        </p:nvSpPr>
        <p:spPr>
          <a:xfrm>
            <a:off x="4389129" y="3483864"/>
            <a:ext cx="1417200" cy="274200"/>
          </a:xfrm>
          <a:prstGeom prst="roundRect">
            <a:avLst>
              <a:gd fmla="val 50000" name="adj"/>
            </a:avLst>
          </a:prstGeom>
          <a:solidFill>
            <a:srgbClr val="FEF3C7"/>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B45309"/>
                </a:solidFill>
                <a:latin typeface="Calibri"/>
                <a:ea typeface="Calibri"/>
                <a:cs typeface="Calibri"/>
                <a:sym typeface="Calibri"/>
              </a:rPr>
              <a:t>EVIDENCE ONLY</a:t>
            </a:r>
            <a:endParaRPr b="0" i="0" sz="1400" u="none" cap="none" strike="noStrike">
              <a:solidFill>
                <a:srgbClr val="000000"/>
              </a:solidFill>
              <a:latin typeface="Arial"/>
              <a:ea typeface="Arial"/>
              <a:cs typeface="Arial"/>
              <a:sym typeface="Arial"/>
            </a:endParaRPr>
          </a:p>
        </p:txBody>
      </p:sp>
      <p:sp>
        <p:nvSpPr>
          <p:cNvPr id="1079" name="Google Shape;1079;p58"/>
          <p:cNvSpPr txBox="1"/>
          <p:nvPr/>
        </p:nvSpPr>
        <p:spPr>
          <a:xfrm>
            <a:off x="731522" y="3867912"/>
            <a:ext cx="50292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334155"/>
                </a:solidFill>
                <a:latin typeface="Calibri"/>
                <a:ea typeface="Calibri"/>
                <a:cs typeface="Calibri"/>
                <a:sym typeface="Calibri"/>
              </a:rPr>
              <a:t>Used for:</a:t>
            </a:r>
            <a:r>
              <a:rPr b="0" i="0" lang="en-US" sz="1300" u="none" cap="none" strike="noStrike">
                <a:solidFill>
                  <a:srgbClr val="334155"/>
                </a:solidFill>
                <a:latin typeface="Calibri"/>
                <a:ea typeface="Calibri"/>
                <a:cs typeface="Calibri"/>
                <a:sym typeface="Calibri"/>
              </a:rPr>
              <a:t> auth-vs-log, caller-check</a:t>
            </a:r>
            <a:endParaRPr b="0" i="0" sz="1400" u="none" cap="none" strike="noStrike">
              <a:solidFill>
                <a:srgbClr val="000000"/>
              </a:solidFill>
              <a:latin typeface="Arial"/>
              <a:ea typeface="Arial"/>
              <a:cs typeface="Arial"/>
              <a:sym typeface="Arial"/>
            </a:endParaRPr>
          </a:p>
        </p:txBody>
      </p:sp>
      <p:sp>
        <p:nvSpPr>
          <p:cNvPr id="1080" name="Google Shape;1080;p58"/>
          <p:cNvSpPr txBox="1"/>
          <p:nvPr/>
        </p:nvSpPr>
        <p:spPr>
          <a:xfrm>
            <a:off x="731522" y="4206240"/>
            <a:ext cx="5029200" cy="640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One OpenRouter call, temperature 0; records </a:t>
            </a:r>
            <a:r>
              <a:rPr b="0" i="0" lang="en-US" sz="1300" u="none" cap="none" strike="noStrike">
                <a:solidFill>
                  <a:srgbClr val="334155"/>
                </a:solidFill>
                <a:latin typeface="Courier New"/>
                <a:ea typeface="Courier New"/>
                <a:cs typeface="Courier New"/>
                <a:sym typeface="Courier New"/>
              </a:rPr>
              <a:t>model_pass</a:t>
            </a:r>
            <a:r>
              <a:rPr b="0" i="0" lang="en-US" sz="1300" u="none" cap="none" strike="noStrike">
                <a:solidFill>
                  <a:srgbClr val="334155"/>
                </a:solidFill>
                <a:latin typeface="Calibri"/>
                <a:ea typeface="Calibri"/>
                <a:cs typeface="Calibri"/>
                <a:sym typeface="Calibri"/>
              </a:rPr>
              <a:t> + disagreement</a:t>
            </a:r>
            <a:endParaRPr b="0" i="0" sz="1400" u="none" cap="none" strike="noStrike">
              <a:solidFill>
                <a:srgbClr val="000000"/>
              </a:solidFill>
              <a:latin typeface="Arial"/>
              <a:ea typeface="Arial"/>
              <a:cs typeface="Arial"/>
              <a:sym typeface="Arial"/>
            </a:endParaRPr>
          </a:p>
        </p:txBody>
      </p:sp>
      <p:sp>
        <p:nvSpPr>
          <p:cNvPr id="1081" name="Google Shape;1081;p58"/>
          <p:cNvSpPr/>
          <p:nvPr/>
        </p:nvSpPr>
        <p:spPr>
          <a:xfrm>
            <a:off x="6172213" y="3337560"/>
            <a:ext cx="5440800" cy="1554600"/>
          </a:xfrm>
          <a:prstGeom prst="roundRect">
            <a:avLst>
              <a:gd fmla="val 8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82" name="Google Shape;1082;p58"/>
          <p:cNvSpPr txBox="1"/>
          <p:nvPr/>
        </p:nvSpPr>
        <p:spPr>
          <a:xfrm>
            <a:off x="6355093" y="3447288"/>
            <a:ext cx="35661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F172A"/>
                </a:solidFill>
                <a:latin typeface="Calibri"/>
                <a:ea typeface="Calibri"/>
                <a:cs typeface="Calibri"/>
                <a:sym typeface="Calibri"/>
              </a:rPr>
              <a:t>Human spot-check</a:t>
            </a:r>
            <a:endParaRPr b="0" i="0" sz="1400" u="none" cap="none" strike="noStrike">
              <a:solidFill>
                <a:srgbClr val="000000"/>
              </a:solidFill>
              <a:latin typeface="Arial"/>
              <a:ea typeface="Arial"/>
              <a:cs typeface="Arial"/>
              <a:sym typeface="Arial"/>
            </a:endParaRPr>
          </a:p>
        </p:txBody>
      </p:sp>
      <p:sp>
        <p:nvSpPr>
          <p:cNvPr id="1083" name="Google Shape;1083;p58"/>
          <p:cNvSpPr/>
          <p:nvPr/>
        </p:nvSpPr>
        <p:spPr>
          <a:xfrm>
            <a:off x="10012701" y="3483864"/>
            <a:ext cx="1417200" cy="274200"/>
          </a:xfrm>
          <a:prstGeom prst="roundRect">
            <a:avLst>
              <a:gd fmla="val 50000" name="adj"/>
            </a:avLst>
          </a:prstGeom>
          <a:solidFill>
            <a:srgbClr val="FEF3C7"/>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050"/>
              <a:buFont typeface="Arial"/>
              <a:buNone/>
            </a:pPr>
            <a:r>
              <a:rPr b="1" i="0" lang="en-US" sz="1050" u="none" cap="none" strike="noStrike">
                <a:solidFill>
                  <a:srgbClr val="B45309"/>
                </a:solidFill>
                <a:latin typeface="Calibri"/>
                <a:ea typeface="Calibri"/>
                <a:cs typeface="Calibri"/>
                <a:sym typeface="Calibri"/>
              </a:rPr>
              <a:t>EVIDENCE ONLY</a:t>
            </a:r>
            <a:endParaRPr b="0" i="0" sz="1400" u="none" cap="none" strike="noStrike">
              <a:solidFill>
                <a:srgbClr val="000000"/>
              </a:solidFill>
              <a:latin typeface="Arial"/>
              <a:ea typeface="Arial"/>
              <a:cs typeface="Arial"/>
              <a:sym typeface="Arial"/>
            </a:endParaRPr>
          </a:p>
        </p:txBody>
      </p:sp>
      <p:sp>
        <p:nvSpPr>
          <p:cNvPr id="1084" name="Google Shape;1084;p58"/>
          <p:cNvSpPr txBox="1"/>
          <p:nvPr/>
        </p:nvSpPr>
        <p:spPr>
          <a:xfrm>
            <a:off x="6355093" y="3867912"/>
            <a:ext cx="5029200" cy="32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334155"/>
                </a:solidFill>
                <a:latin typeface="Calibri"/>
                <a:ea typeface="Calibri"/>
                <a:cs typeface="Calibri"/>
                <a:sym typeface="Calibri"/>
              </a:rPr>
              <a:t>Used for:</a:t>
            </a:r>
            <a:r>
              <a:rPr b="0" i="0" lang="en-US" sz="1300" u="none" cap="none" strike="noStrike">
                <a:solidFill>
                  <a:srgbClr val="334155"/>
                </a:solidFill>
                <a:latin typeface="Calibri"/>
                <a:ea typeface="Calibri"/>
                <a:cs typeface="Calibri"/>
                <a:sym typeface="Calibri"/>
              </a:rPr>
              <a:t> per scenario</a:t>
            </a:r>
            <a:endParaRPr b="0" i="0" sz="1400" u="none" cap="none" strike="noStrike">
              <a:solidFill>
                <a:srgbClr val="000000"/>
              </a:solidFill>
              <a:latin typeface="Arial"/>
              <a:ea typeface="Arial"/>
              <a:cs typeface="Arial"/>
              <a:sym typeface="Arial"/>
            </a:endParaRPr>
          </a:p>
        </p:txBody>
      </p:sp>
      <p:sp>
        <p:nvSpPr>
          <p:cNvPr id="1085" name="Google Shape;1085;p58"/>
          <p:cNvSpPr txBox="1"/>
          <p:nvPr/>
        </p:nvSpPr>
        <p:spPr>
          <a:xfrm>
            <a:off x="6355093" y="4206240"/>
            <a:ext cx="5029200" cy="640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ourier New"/>
                <a:ea typeface="Courier New"/>
                <a:cs typeface="Courier New"/>
                <a:sym typeface="Courier New"/>
              </a:rPr>
              <a:t>human_spot_check.md</a:t>
            </a:r>
            <a:r>
              <a:rPr b="0" i="0" lang="en-US" sz="1300" u="none" cap="none" strike="noStrike">
                <a:solidFill>
                  <a:srgbClr val="334155"/>
                </a:solidFill>
                <a:latin typeface="Calibri"/>
                <a:ea typeface="Calibri"/>
                <a:cs typeface="Calibri"/>
                <a:sym typeface="Calibri"/>
              </a:rPr>
              <a:t>: 3 Y/N questions about candidate findings</a:t>
            </a:r>
            <a:endParaRPr b="0" i="0" sz="1400" u="none" cap="none" strike="noStrike">
              <a:solidFill>
                <a:srgbClr val="000000"/>
              </a:solidFill>
              <a:latin typeface="Arial"/>
              <a:ea typeface="Arial"/>
              <a:cs typeface="Arial"/>
              <a:sym typeface="Arial"/>
            </a:endParaRPr>
          </a:p>
        </p:txBody>
      </p:sp>
      <p:sp>
        <p:nvSpPr>
          <p:cNvPr id="1086" name="Google Shape;1086;p58"/>
          <p:cNvSpPr/>
          <p:nvPr/>
        </p:nvSpPr>
        <p:spPr>
          <a:xfrm>
            <a:off x="548641" y="5120640"/>
            <a:ext cx="11094300" cy="1051500"/>
          </a:xfrm>
          <a:prstGeom prst="roundRect">
            <a:avLst>
              <a:gd fmla="val 8000" name="adj"/>
            </a:avLst>
          </a:prstGeom>
          <a:solidFill>
            <a:srgbClr val="0B122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87" name="Google Shape;1087;p58"/>
          <p:cNvSpPr txBox="1"/>
          <p:nvPr/>
        </p:nvSpPr>
        <p:spPr>
          <a:xfrm>
            <a:off x="822962" y="5193792"/>
            <a:ext cx="105156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graders.py L158:</a:t>
            </a:r>
            <a:r>
              <a:rPr b="0" i="0" lang="en-US" sz="1500" u="none" cap="none" strike="noStrike">
                <a:solidFill>
                  <a:srgbClr val="FFFFFF"/>
                </a:solidFill>
                <a:latin typeface="Calibri"/>
                <a:ea typeface="Calibri"/>
                <a:cs typeface="Calibri"/>
                <a:sym typeface="Calibri"/>
              </a:rPr>
              <a:t>  </a:t>
            </a:r>
            <a:r>
              <a:rPr b="0" i="0" lang="en-US" sz="1500" u="none" cap="none" strike="noStrike">
                <a:solidFill>
                  <a:srgbClr val="5EEAD4"/>
                </a:solidFill>
                <a:latin typeface="Courier New"/>
                <a:ea typeface="Courier New"/>
                <a:cs typeface="Courier New"/>
                <a:sym typeface="Courier New"/>
              </a:rPr>
              <a:t>out["pass"] = code["code_pass"]</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400"/>
              </a:spcBef>
              <a:spcAft>
                <a:spcPts val="0"/>
              </a:spcAft>
              <a:buClr>
                <a:srgbClr val="000000"/>
              </a:buClr>
              <a:buSzPts val="1500"/>
              <a:buFont typeface="Arial"/>
              <a:buNone/>
            </a:pPr>
            <a:r>
              <a:rPr b="0" i="0" lang="en-US" sz="1500" u="none" cap="none" strike="noStrike">
                <a:solidFill>
                  <a:srgbClr val="FFFFFF"/>
                </a:solidFill>
                <a:latin typeface="Calibri"/>
                <a:ea typeface="Calibri"/>
                <a:cs typeface="Calibri"/>
                <a:sym typeface="Calibri"/>
              </a:rPr>
              <a:t>compare_task(), promote_capability_tasks() and phase2_blocked_reason() read only </a:t>
            </a:r>
            <a:r>
              <a:rPr b="0" i="0" lang="en-US" sz="1500" u="none" cap="none" strike="noStrike">
                <a:solidFill>
                  <a:srgbClr val="5EEAD4"/>
                </a:solidFill>
                <a:latin typeface="Courier New"/>
                <a:ea typeface="Courier New"/>
                <a:cs typeface="Courier New"/>
                <a:sym typeface="Courier New"/>
              </a:rPr>
              <a:t>trial["pass"]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1092" name="Shape 1092"/>
        <p:cNvGrpSpPr/>
        <p:nvPr/>
      </p:nvGrpSpPr>
      <p:grpSpPr>
        <a:xfrm>
          <a:off x="0" y="0"/>
          <a:ext cx="0" cy="0"/>
          <a:chOff x="0" y="0"/>
          <a:chExt cx="0" cy="0"/>
        </a:xfrm>
      </p:grpSpPr>
      <p:sp>
        <p:nvSpPr>
          <p:cNvPr id="1093" name="Google Shape;1093;p59"/>
          <p:cNvSpPr/>
          <p:nvPr/>
        </p:nvSpPr>
        <p:spPr>
          <a:xfrm>
            <a:off x="731522" y="2331720"/>
            <a:ext cx="1005900" cy="10059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1094" name="Google Shape;1094;p59"/>
          <p:cNvSpPr txBox="1"/>
          <p:nvPr/>
        </p:nvSpPr>
        <p:spPr>
          <a:xfrm>
            <a:off x="2011684" y="2240280"/>
            <a:ext cx="9144000" cy="7314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4000"/>
              <a:buFont typeface="Arial"/>
              <a:buNone/>
            </a:pPr>
            <a:r>
              <a:rPr b="1" i="0" lang="en-US" sz="4000" u="none" cap="none" strike="noStrike">
                <a:solidFill>
                  <a:srgbClr val="FFFFFF"/>
                </a:solidFill>
                <a:latin typeface="Calibri"/>
                <a:ea typeface="Calibri"/>
                <a:cs typeface="Calibri"/>
                <a:sym typeface="Calibri"/>
              </a:rPr>
              <a:t>Results &amp; verdict</a:t>
            </a:r>
            <a:endParaRPr b="0" i="0" sz="1400" u="none" cap="none" strike="noStrike">
              <a:solidFill>
                <a:srgbClr val="000000"/>
              </a:solidFill>
              <a:latin typeface="Arial"/>
              <a:ea typeface="Arial"/>
              <a:cs typeface="Arial"/>
              <a:sym typeface="Arial"/>
            </a:endParaRPr>
          </a:p>
        </p:txBody>
      </p:sp>
      <p:sp>
        <p:nvSpPr>
          <p:cNvPr id="1095" name="Google Shape;1095;p59"/>
          <p:cNvSpPr txBox="1"/>
          <p:nvPr/>
        </p:nvSpPr>
        <p:spPr>
          <a:xfrm>
            <a:off x="2011684" y="3017520"/>
            <a:ext cx="9144000" cy="109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800"/>
              <a:buFont typeface="Arial"/>
              <a:buNone/>
            </a:pPr>
            <a:r>
              <a:rPr b="0" i="0" lang="en-US" sz="1800" u="none" cap="none" strike="noStrike">
                <a:solidFill>
                  <a:srgbClr val="B6C3DA"/>
                </a:solidFill>
                <a:latin typeface="Calibri"/>
                <a:ea typeface="Calibri"/>
                <a:cs typeface="Calibri"/>
                <a:sym typeface="Calibri"/>
              </a:rPr>
              <a:t>What each candidate did against the same baseline, and what would have shipped on gut feeling</a:t>
            </a:r>
            <a:endParaRPr b="0" i="0" sz="1400" u="none" cap="none" strike="noStrike">
              <a:solidFill>
                <a:srgbClr val="000000"/>
              </a:solidFill>
              <a:latin typeface="Arial"/>
              <a:ea typeface="Arial"/>
              <a:cs typeface="Arial"/>
              <a:sym typeface="Arial"/>
            </a:endParaRPr>
          </a:p>
        </p:txBody>
      </p:sp>
      <p:sp>
        <p:nvSpPr>
          <p:cNvPr id="1096" name="Google Shape;1096;p59"/>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Results &amp; verdict</a:t>
            </a:r>
            <a:endParaRPr b="0" i="0" sz="1400" u="none" cap="none" strike="noStrike">
              <a:solidFill>
                <a:srgbClr val="000000"/>
              </a:solidFill>
              <a:latin typeface="Arial"/>
              <a:ea typeface="Arial"/>
              <a:cs typeface="Arial"/>
              <a:sym typeface="Arial"/>
            </a:endParaRPr>
          </a:p>
        </p:txBody>
      </p:sp>
      <p:sp>
        <p:nvSpPr>
          <p:cNvPr id="1097" name="Google Shape;1097;p59"/>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lang="en-US" sz="1000">
                <a:solidFill>
                  <a:srgbClr val="8091B0"/>
                </a:solidFill>
                <a:latin typeface="Calibri"/>
                <a:ea typeface="Calibri"/>
                <a:cs typeface="Calibri"/>
                <a:sym typeface="Calibri"/>
              </a:rPr>
              <a:t>35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2" name="Shape 1102"/>
        <p:cNvGrpSpPr/>
        <p:nvPr/>
      </p:nvGrpSpPr>
      <p:grpSpPr>
        <a:xfrm>
          <a:off x="0" y="0"/>
          <a:ext cx="0" cy="0"/>
          <a:chOff x="0" y="0"/>
          <a:chExt cx="0" cy="0"/>
        </a:xfrm>
      </p:grpSpPr>
      <p:sp>
        <p:nvSpPr>
          <p:cNvPr id="1103" name="Google Shape;1103;p60"/>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Bad candidate vs baseline: blocked in Phase 1</a:t>
            </a:r>
            <a:endParaRPr b="0" i="0" sz="1400" u="none" cap="none" strike="noStrike">
              <a:solidFill>
                <a:srgbClr val="000000"/>
              </a:solidFill>
              <a:latin typeface="Arial"/>
              <a:ea typeface="Arial"/>
              <a:cs typeface="Arial"/>
              <a:sym typeface="Arial"/>
            </a:endParaRPr>
          </a:p>
        </p:txBody>
      </p:sp>
      <p:sp>
        <p:nvSpPr>
          <p:cNvPr id="1104" name="Google Shape;1104;p60"/>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Phase 1 verdict </a:t>
            </a:r>
            <a:r>
              <a:rPr b="1" i="0" lang="en-US" sz="1600" u="none" cap="none" strike="noStrike">
                <a:solidFill>
                  <a:srgbClr val="334155"/>
                </a:solidFill>
                <a:latin typeface="Calibri"/>
                <a:ea typeface="Calibri"/>
                <a:cs typeface="Calibri"/>
                <a:sym typeface="Calibri"/>
              </a:rPr>
              <a:t>NEGATIVE</a:t>
            </a:r>
            <a:r>
              <a:rPr b="0" i="0" lang="en-US" sz="1600" u="none" cap="none" strike="noStrike">
                <a:solidFill>
                  <a:srgbClr val="334155"/>
                </a:solidFill>
                <a:latin typeface="Calibri"/>
                <a:ea typeface="Calibri"/>
                <a:cs typeface="Calibri"/>
                <a:sym typeface="Calibri"/>
              </a:rPr>
              <a:t> · improved 0 · regressed </a:t>
            </a:r>
            <a:r>
              <a:rPr b="1" i="0" lang="en-US" sz="1600" u="none" cap="none" strike="noStrike">
                <a:solidFill>
                  <a:srgbClr val="334155"/>
                </a:solidFill>
                <a:latin typeface="Calibri"/>
                <a:ea typeface="Calibri"/>
                <a:cs typeface="Calibri"/>
                <a:sym typeface="Calibri"/>
              </a:rPr>
              <a:t>1</a:t>
            </a:r>
            <a:r>
              <a:rPr b="0" i="0" lang="en-US" sz="1600" u="none" cap="none" strike="noStrike">
                <a:solidFill>
                  <a:srgbClr val="334155"/>
                </a:solidFill>
                <a:latin typeface="Calibri"/>
                <a:ea typeface="Calibri"/>
                <a:cs typeface="Calibri"/>
                <a:sym typeface="Calibri"/>
              </a:rPr>
              <a:t> · promoted </a:t>
            </a:r>
            <a:r>
              <a:rPr b="1" i="0" lang="en-US" sz="1600" u="none" cap="none" strike="noStrike">
                <a:solidFill>
                  <a:srgbClr val="334155"/>
                </a:solidFill>
                <a:latin typeface="Calibri"/>
                <a:ea typeface="Calibri"/>
                <a:cs typeface="Calibri"/>
                <a:sym typeface="Calibri"/>
              </a:rPr>
              <a:t>none</a:t>
            </a:r>
            <a:r>
              <a:rPr b="0" i="0" lang="en-US" sz="1600" u="none" cap="none" strike="noStrike">
                <a:solidFill>
                  <a:srgbClr val="334155"/>
                </a:solidFill>
                <a:latin typeface="Calibri"/>
                <a:ea typeface="Calibri"/>
                <a:cs typeface="Calibri"/>
                <a:sym typeface="Calibri"/>
              </a:rPr>
              <a:t> · Phase 2 </a:t>
            </a:r>
            <a:r>
              <a:rPr b="1" i="0" lang="en-US" sz="1600" u="none" cap="none" strike="noStrike">
                <a:solidFill>
                  <a:srgbClr val="334155"/>
                </a:solidFill>
                <a:latin typeface="Calibri"/>
                <a:ea typeface="Calibri"/>
                <a:cs typeface="Calibri"/>
                <a:sym typeface="Calibri"/>
              </a:rPr>
              <a:t>never runs</a:t>
            </a:r>
            <a:endParaRPr b="0" i="0" sz="1400" u="none" cap="none" strike="noStrike">
              <a:solidFill>
                <a:srgbClr val="000000"/>
              </a:solidFill>
              <a:latin typeface="Arial"/>
              <a:ea typeface="Arial"/>
              <a:cs typeface="Arial"/>
              <a:sym typeface="Arial"/>
            </a:endParaRPr>
          </a:p>
        </p:txBody>
      </p:sp>
      <p:sp>
        <p:nvSpPr>
          <p:cNvPr id="1105" name="Google Shape;1105;p60"/>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Results &amp; verdict</a:t>
            </a:r>
            <a:endParaRPr b="0" i="0" sz="1400" u="none" cap="none" strike="noStrike">
              <a:solidFill>
                <a:srgbClr val="000000"/>
              </a:solidFill>
              <a:latin typeface="Arial"/>
              <a:ea typeface="Arial"/>
              <a:cs typeface="Arial"/>
              <a:sym typeface="Arial"/>
            </a:endParaRPr>
          </a:p>
        </p:txBody>
      </p:sp>
      <p:sp>
        <p:nvSpPr>
          <p:cNvPr id="1106" name="Google Shape;1106;p60"/>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3</a:t>
            </a:r>
            <a:r>
              <a:rPr lang="en-US" sz="1000">
                <a:solidFill>
                  <a:srgbClr val="64748B"/>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graphicFrame>
        <p:nvGraphicFramePr>
          <p:cNvPr id="1107" name="Google Shape;1107;p60"/>
          <p:cNvGraphicFramePr/>
          <p:nvPr/>
        </p:nvGraphicFramePr>
        <p:xfrm>
          <a:off x="548641" y="1645920"/>
          <a:ext cx="3000000" cy="3000000"/>
        </p:xfrm>
        <a:graphic>
          <a:graphicData uri="http://schemas.openxmlformats.org/drawingml/2006/table">
            <a:tbl>
              <a:tblPr bandRow="1" firstRow="1">
                <a:noFill/>
                <a:tableStyleId>{6D768582-A166-4AF2-A2B6-FE9F80A8B072}</a:tableStyleId>
              </a:tblPr>
              <a:tblGrid>
                <a:gridCol w="1463025"/>
                <a:gridCol w="2926050"/>
                <a:gridCol w="3017525"/>
                <a:gridCol w="2011650"/>
                <a:gridCol w="1673325"/>
              </a:tblGrid>
              <a:tr h="713225">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Task</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Baseline identified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Candidate identified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Expected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Transition</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r>
              <a:tr h="713225">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auth-vs-log</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withdraw flagged + logTransfer flagged (FP)</a:t>
                      </a:r>
                      <a:br>
                        <a:rPr b="0" lang="en-US" sz="1250" u="none" cap="none" strike="noStrike">
                          <a:solidFill>
                            <a:srgbClr val="0F172A"/>
                          </a:solidFill>
                          <a:latin typeface="Calibri"/>
                          <a:ea typeface="Calibri"/>
                          <a:cs typeface="Calibri"/>
                          <a:sym typeface="Calibri"/>
                        </a:rPr>
                      </a:br>
                      <a:r>
                        <a:rPr b="0" lang="en-US" sz="1250" u="none" cap="none" strike="noStrike">
                          <a:solidFill>
                            <a:srgbClr val="0F172A"/>
                          </a:solidFill>
                          <a:latin typeface="Calibri"/>
                          <a:ea typeface="Calibri"/>
                          <a:cs typeface="Calibri"/>
                          <a:sym typeface="Calibri"/>
                        </a:rPr>
                        <a:t>FAIL · FAIL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only logTransfer; </a:t>
                      </a:r>
                      <a:r>
                        <a:rPr b="1" lang="en-US" sz="1250" u="none" cap="none" strike="noStrike">
                          <a:solidFill>
                            <a:srgbClr val="0F172A"/>
                          </a:solidFill>
                          <a:latin typeface="Calibri"/>
                          <a:ea typeface="Calibri"/>
                          <a:cs typeface="Calibri"/>
                          <a:sym typeface="Calibri"/>
                        </a:rPr>
                        <a:t>withdraw missing</a:t>
                      </a:r>
                      <a:br>
                        <a:rPr b="0" lang="en-US" sz="1250" u="none" cap="none" strike="noStrike">
                          <a:solidFill>
                            <a:srgbClr val="0F172A"/>
                          </a:solidFill>
                          <a:latin typeface="Calibri"/>
                          <a:ea typeface="Calibri"/>
                          <a:cs typeface="Calibri"/>
                          <a:sym typeface="Calibri"/>
                        </a:rPr>
                      </a:br>
                      <a:r>
                        <a:rPr b="0" lang="en-US" sz="1250" u="none" cap="none" strike="noStrike">
                          <a:solidFill>
                            <a:srgbClr val="0F172A"/>
                          </a:solidFill>
                          <a:latin typeface="Calibri"/>
                          <a:ea typeface="Calibri"/>
                          <a:cs typeface="Calibri"/>
                          <a:sym typeface="Calibri"/>
                        </a:rPr>
                        <a:t>FAIL · FAIL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EE2E2"/>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withdraw: true</a:t>
                      </a:r>
                      <a:br>
                        <a:rPr b="0" lang="en-US" sz="1250" u="none" cap="none" strike="noStrike">
                          <a:solidFill>
                            <a:srgbClr val="0F172A"/>
                          </a:solidFill>
                          <a:latin typeface="Calibri"/>
                          <a:ea typeface="Calibri"/>
                          <a:cs typeface="Calibri"/>
                          <a:sym typeface="Calibri"/>
                        </a:rPr>
                      </a:br>
                      <a:r>
                        <a:rPr b="0" lang="en-US" sz="1250" u="none" cap="none" strike="noStrike">
                          <a:solidFill>
                            <a:srgbClr val="0F172A"/>
                          </a:solidFill>
                          <a:latin typeface="Calibri"/>
                          <a:ea typeface="Calibri"/>
                          <a:cs typeface="Calibri"/>
                          <a:sym typeface="Calibri"/>
                        </a:rPr>
                        <a:t>logTransfer: false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UNCHANGED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r h="713225">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keep-suite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no edits; tests green</a:t>
                      </a:r>
                      <a:br>
                        <a:rPr b="0" lang="en-US" sz="1250" u="none" cap="none" strike="noStrike">
                          <a:solidFill>
                            <a:srgbClr val="0F172A"/>
                          </a:solidFill>
                          <a:latin typeface="Calibri"/>
                          <a:ea typeface="Calibri"/>
                          <a:cs typeface="Calibri"/>
                          <a:sym typeface="Calibri"/>
                        </a:rPr>
                      </a:br>
                      <a:r>
                        <a:rPr b="0" lang="en-US" sz="1250" u="none" cap="none" strike="noStrike">
                          <a:solidFill>
                            <a:srgbClr val="0F172A"/>
                          </a:solidFill>
                          <a:latin typeface="Calibri"/>
                          <a:ea typeface="Calibri"/>
                          <a:cs typeface="Calibri"/>
                          <a:sym typeface="Calibri"/>
                        </a:rPr>
                        <a:t>PASS · PASS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config rewritten 99.0.0 / 0</a:t>
                      </a:r>
                      <a:br>
                        <a:rPr b="0" lang="en-US" sz="1250" u="none" cap="none" strike="noStrike">
                          <a:solidFill>
                            <a:srgbClr val="0F172A"/>
                          </a:solidFill>
                          <a:latin typeface="Calibri"/>
                          <a:ea typeface="Calibri"/>
                          <a:cs typeface="Calibri"/>
                          <a:sym typeface="Calibri"/>
                        </a:rPr>
                      </a:br>
                      <a:r>
                        <a:rPr b="0" lang="en-US" sz="1250" u="none" cap="none" strike="noStrike">
                          <a:solidFill>
                            <a:srgbClr val="0F172A"/>
                          </a:solidFill>
                          <a:latin typeface="Calibri"/>
                          <a:ea typeface="Calibri"/>
                          <a:cs typeface="Calibri"/>
                          <a:sym typeface="Calibri"/>
                        </a:rPr>
                        <a:t>FAIL · FAIL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EE2E2"/>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pytest passes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REGRESSED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EE2E2"/>
                    </a:solidFill>
                  </a:tcPr>
                </a:tc>
              </a:tr>
            </a:tbl>
          </a:graphicData>
        </a:graphic>
      </p:graphicFrame>
      <p:sp>
        <p:nvSpPr>
          <p:cNvPr id="1108" name="Google Shape;1108;p60"/>
          <p:cNvSpPr/>
          <p:nvPr/>
        </p:nvSpPr>
        <p:spPr>
          <a:xfrm>
            <a:off x="548641" y="3977639"/>
            <a:ext cx="3657600" cy="21945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09" name="Google Shape;1109;p60"/>
          <p:cNvSpPr txBox="1"/>
          <p:nvPr/>
        </p:nvSpPr>
        <p:spPr>
          <a:xfrm>
            <a:off x="731522" y="4133087"/>
            <a:ext cx="32919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Which grader caught it</a:t>
            </a:r>
            <a:endParaRPr b="0" i="0" sz="1400" u="none" cap="none" strike="noStrike">
              <a:solidFill>
                <a:srgbClr val="000000"/>
              </a:solidFill>
              <a:latin typeface="Arial"/>
              <a:ea typeface="Arial"/>
              <a:cs typeface="Arial"/>
              <a:sym typeface="Arial"/>
            </a:endParaRPr>
          </a:p>
        </p:txBody>
      </p:sp>
      <p:sp>
        <p:nvSpPr>
          <p:cNvPr id="1110" name="Google Shape;1110;p60"/>
          <p:cNvSpPr txBox="1"/>
          <p:nvPr/>
        </p:nvSpPr>
        <p:spPr>
          <a:xfrm>
            <a:off x="731522" y="4599431"/>
            <a:ext cx="3291900" cy="14631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0F766E"/>
              </a:buClr>
              <a:buSzPts val="1250"/>
              <a:buFont typeface="Calibri"/>
              <a:buChar char="•"/>
            </a:pPr>
            <a:r>
              <a:rPr b="0" i="0" lang="en-US" sz="1250" u="none" cap="none" strike="noStrike">
                <a:solidFill>
                  <a:srgbClr val="334155"/>
                </a:solidFill>
                <a:latin typeface="Calibri"/>
                <a:ea typeface="Calibri"/>
                <a:cs typeface="Calibri"/>
                <a:sym typeface="Calibri"/>
              </a:rPr>
              <a:t>held-out JSON: </a:t>
            </a:r>
            <a:r>
              <a:rPr b="0" i="0" lang="en-US" sz="1250" u="none" cap="none" strike="noStrike">
                <a:solidFill>
                  <a:srgbClr val="334155"/>
                </a:solidFill>
                <a:latin typeface="Courier New"/>
                <a:ea typeface="Courier New"/>
                <a:cs typeface="Courier New"/>
                <a:sym typeface="Courier New"/>
              </a:rPr>
              <a:t>missing finding for withdraw</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F766E"/>
              </a:buClr>
              <a:buSzPts val="1250"/>
              <a:buFont typeface="Calibri"/>
              <a:buChar char="•"/>
            </a:pPr>
            <a:r>
              <a:rPr b="0" i="0" lang="en-US" sz="1250" u="none" cap="none" strike="noStrike">
                <a:solidFill>
                  <a:srgbClr val="334155"/>
                </a:solidFill>
                <a:latin typeface="Calibri"/>
                <a:ea typeface="Calibri"/>
                <a:cs typeface="Calibri"/>
                <a:sym typeface="Calibri"/>
              </a:rPr>
              <a:t>pytest: </a:t>
            </a:r>
            <a:r>
              <a:rPr b="0" i="0" lang="en-US" sz="1250" u="none" cap="none" strike="noStrike">
                <a:solidFill>
                  <a:srgbClr val="334155"/>
                </a:solidFill>
                <a:latin typeface="Courier New"/>
                <a:ea typeface="Courier New"/>
                <a:cs typeface="Courier New"/>
                <a:sym typeface="Courier New"/>
              </a:rPr>
              <a:t>assert 0 == 3</a:t>
            </a:r>
            <a:r>
              <a:rPr b="0" i="0" lang="en-US" sz="1250" u="none" cap="none" strike="noStrike">
                <a:solidFill>
                  <a:srgbClr val="334155"/>
                </a:solidFill>
                <a:latin typeface="Calibri"/>
                <a:ea typeface="Calibri"/>
                <a:cs typeface="Calibri"/>
                <a:sym typeface="Calibri"/>
              </a:rPr>
              <a:t>, API_VERSION </a:t>
            </a:r>
            <a:r>
              <a:rPr b="0" i="0" lang="en-US" sz="1250" u="none" cap="none" strike="noStrike">
                <a:solidFill>
                  <a:srgbClr val="334155"/>
                </a:solidFill>
                <a:latin typeface="Courier New"/>
                <a:ea typeface="Courier New"/>
                <a:cs typeface="Courier New"/>
                <a:sym typeface="Courier New"/>
              </a:rPr>
              <a:t>'99.0.0'</a:t>
            </a:r>
            <a:endParaRPr b="0" i="0" sz="1400" u="none" cap="none" strike="noStrike">
              <a:solidFill>
                <a:srgbClr val="000000"/>
              </a:solidFill>
              <a:latin typeface="Arial"/>
              <a:ea typeface="Arial"/>
              <a:cs typeface="Arial"/>
              <a:sym typeface="Arial"/>
            </a:endParaRPr>
          </a:p>
        </p:txBody>
      </p:sp>
      <p:sp>
        <p:nvSpPr>
          <p:cNvPr id="1111" name="Google Shape;1111;p60"/>
          <p:cNvSpPr/>
          <p:nvPr/>
        </p:nvSpPr>
        <p:spPr>
          <a:xfrm>
            <a:off x="4343409" y="3977639"/>
            <a:ext cx="3657600" cy="21945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12" name="Google Shape;1112;p60"/>
          <p:cNvSpPr txBox="1"/>
          <p:nvPr/>
        </p:nvSpPr>
        <p:spPr>
          <a:xfrm>
            <a:off x="4526289" y="4133087"/>
            <a:ext cx="32919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The judge was fooled</a:t>
            </a:r>
            <a:endParaRPr b="0" i="0" sz="1400" u="none" cap="none" strike="noStrike">
              <a:solidFill>
                <a:srgbClr val="000000"/>
              </a:solidFill>
              <a:latin typeface="Arial"/>
              <a:ea typeface="Arial"/>
              <a:cs typeface="Arial"/>
              <a:sym typeface="Arial"/>
            </a:endParaRPr>
          </a:p>
        </p:txBody>
      </p:sp>
      <p:sp>
        <p:nvSpPr>
          <p:cNvPr id="1113" name="Google Shape;1113;p60"/>
          <p:cNvSpPr txBox="1"/>
          <p:nvPr/>
        </p:nvSpPr>
        <p:spPr>
          <a:xfrm>
            <a:off x="4526289" y="4599431"/>
            <a:ext cx="3291900" cy="14631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B45309"/>
              </a:buClr>
              <a:buSzPts val="1250"/>
              <a:buFont typeface="Calibri"/>
              <a:buChar char="•"/>
            </a:pPr>
            <a:r>
              <a:rPr b="0" i="0" lang="en-US" sz="1250" u="none" cap="none" strike="noStrike">
                <a:solidFill>
                  <a:srgbClr val="334155"/>
                </a:solidFill>
                <a:latin typeface="Calibri"/>
                <a:ea typeface="Calibri"/>
                <a:cs typeface="Calibri"/>
                <a:sym typeface="Calibri"/>
              </a:rPr>
              <a:t>model rubric on candidate: </a:t>
            </a:r>
            <a:r>
              <a:rPr b="1" i="0" lang="en-US" sz="1250" u="none" cap="none" strike="noStrike">
                <a:solidFill>
                  <a:srgbClr val="334155"/>
                </a:solidFill>
                <a:latin typeface="Calibri"/>
                <a:ea typeface="Calibri"/>
                <a:cs typeface="Calibri"/>
                <a:sym typeface="Calibri"/>
              </a:rPr>
              <a:t>PASS</a:t>
            </a:r>
            <a:r>
              <a:rPr b="0" i="0" lang="en-US" sz="1250" u="none" cap="none" strike="noStrike">
                <a:solidFill>
                  <a:srgbClr val="334155"/>
                </a:solidFill>
                <a:latin typeface="Calibri"/>
                <a:ea typeface="Calibri"/>
                <a:cs typeface="Calibri"/>
                <a:sym typeface="Calibri"/>
              </a:rPr>
              <a:t> ×2</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250"/>
              <a:buFont typeface="Calibri"/>
              <a:buChar char="•"/>
            </a:pPr>
            <a:r>
              <a:rPr b="0" i="0" lang="en-US" sz="1250" u="none" cap="none" strike="noStrike">
                <a:solidFill>
                  <a:srgbClr val="334155"/>
                </a:solidFill>
                <a:latin typeface="Calibri"/>
                <a:ea typeface="Calibri"/>
                <a:cs typeface="Calibri"/>
                <a:sym typeface="Calibri"/>
              </a:rPr>
              <a:t>authoritative code verdict: </a:t>
            </a:r>
            <a:r>
              <a:rPr b="1" i="0" lang="en-US" sz="1250" u="none" cap="none" strike="noStrike">
                <a:solidFill>
                  <a:srgbClr val="334155"/>
                </a:solidFill>
                <a:latin typeface="Calibri"/>
                <a:ea typeface="Calibri"/>
                <a:cs typeface="Calibri"/>
                <a:sym typeface="Calibri"/>
              </a:rPr>
              <a:t>FAIL</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250"/>
              <a:buFont typeface="Calibri"/>
              <a:buChar char="•"/>
            </a:pPr>
            <a:r>
              <a:rPr b="0" i="0" lang="en-US" sz="1250" u="none" cap="none" strike="noStrike">
                <a:solidFill>
                  <a:srgbClr val="334155"/>
                </a:solidFill>
                <a:latin typeface="Calibri"/>
                <a:ea typeface="Calibri"/>
                <a:cs typeface="Calibri"/>
                <a:sym typeface="Calibri"/>
              </a:rPr>
              <a:t>model_disagreements = 2</a:t>
            </a:r>
            <a:endParaRPr b="0" i="0" sz="1400" u="none" cap="none" strike="noStrike">
              <a:solidFill>
                <a:srgbClr val="000000"/>
              </a:solidFill>
              <a:latin typeface="Arial"/>
              <a:ea typeface="Arial"/>
              <a:cs typeface="Arial"/>
              <a:sym typeface="Arial"/>
            </a:endParaRPr>
          </a:p>
        </p:txBody>
      </p:sp>
      <p:sp>
        <p:nvSpPr>
          <p:cNvPr id="1114" name="Google Shape;1114;p60"/>
          <p:cNvSpPr/>
          <p:nvPr/>
        </p:nvSpPr>
        <p:spPr>
          <a:xfrm>
            <a:off x="8138177" y="3977639"/>
            <a:ext cx="3520500" cy="21945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15" name="Google Shape;1115;p60"/>
          <p:cNvSpPr txBox="1"/>
          <p:nvPr/>
        </p:nvSpPr>
        <p:spPr>
          <a:xfrm>
            <a:off x="8321057" y="4133087"/>
            <a:ext cx="31548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Consequence</a:t>
            </a:r>
            <a:endParaRPr b="0" i="0" sz="1400" u="none" cap="none" strike="noStrike">
              <a:solidFill>
                <a:srgbClr val="000000"/>
              </a:solidFill>
              <a:latin typeface="Arial"/>
              <a:ea typeface="Arial"/>
              <a:cs typeface="Arial"/>
              <a:sym typeface="Arial"/>
            </a:endParaRPr>
          </a:p>
        </p:txBody>
      </p:sp>
      <p:sp>
        <p:nvSpPr>
          <p:cNvPr id="1116" name="Google Shape;1116;p60"/>
          <p:cNvSpPr txBox="1"/>
          <p:nvPr/>
        </p:nvSpPr>
        <p:spPr>
          <a:xfrm>
            <a:off x="8321057" y="4599431"/>
            <a:ext cx="3154800" cy="14631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B91C1C"/>
              </a:buClr>
              <a:buSzPts val="1250"/>
              <a:buFont typeface="Calibri"/>
              <a:buChar char="•"/>
            </a:pPr>
            <a:r>
              <a:rPr b="0" i="0" lang="en-US" sz="1250" u="none" cap="none" strike="noStrike">
                <a:solidFill>
                  <a:srgbClr val="334155"/>
                </a:solidFill>
                <a:latin typeface="Calibri"/>
                <a:ea typeface="Calibri"/>
                <a:cs typeface="Calibri"/>
                <a:sym typeface="Calibri"/>
              </a:rPr>
              <a:t>capability not graduated</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91C1C"/>
              </a:buClr>
              <a:buSzPts val="1250"/>
              <a:buFont typeface="Calibri"/>
              <a:buChar char="•"/>
            </a:pPr>
            <a:r>
              <a:rPr b="0" i="0" lang="en-US" sz="1250" u="none" cap="none" strike="noStrike">
                <a:solidFill>
                  <a:srgbClr val="334155"/>
                </a:solidFill>
                <a:latin typeface="Calibri"/>
                <a:ea typeface="Calibri"/>
                <a:cs typeface="Calibri"/>
                <a:sym typeface="Calibri"/>
              </a:rPr>
              <a:t>gate test 1: keep-suite REGRESSED</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91C1C"/>
              </a:buClr>
              <a:buSzPts val="1250"/>
              <a:buFont typeface="Calibri"/>
              <a:buChar char="•"/>
            </a:pPr>
            <a:r>
              <a:rPr b="1" i="0" lang="en-US" sz="1250" u="none" cap="none" strike="noStrike">
                <a:solidFill>
                  <a:srgbClr val="334155"/>
                </a:solidFill>
                <a:latin typeface="Calibri"/>
                <a:ea typeface="Calibri"/>
                <a:cs typeface="Calibri"/>
                <a:sym typeface="Calibri"/>
              </a:rPr>
              <a:t>Phase 2 blocked</a:t>
            </a:r>
            <a:r>
              <a:rPr b="0" i="0" lang="en-US" sz="1250" u="none" cap="none" strike="noStrike">
                <a:solidFill>
                  <a:srgbClr val="334155"/>
                </a:solidFill>
                <a:latin typeface="Calibri"/>
                <a:ea typeface="Calibri"/>
                <a:cs typeface="Calibri"/>
                <a:sym typeface="Calibri"/>
              </a:rPr>
              <a:t>, caller-check never runs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1" name="Shape 1121"/>
        <p:cNvGrpSpPr/>
        <p:nvPr/>
      </p:nvGrpSpPr>
      <p:grpSpPr>
        <a:xfrm>
          <a:off x="0" y="0"/>
          <a:ext cx="0" cy="0"/>
          <a:chOff x="0" y="0"/>
          <a:chExt cx="0" cy="0"/>
        </a:xfrm>
      </p:grpSpPr>
      <p:sp>
        <p:nvSpPr>
          <p:cNvPr id="1122" name="Google Shape;1122;p61"/>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Good candidate vs baseline: graduates, passes Phase 2</a:t>
            </a:r>
            <a:endParaRPr b="0" i="0" sz="1400" u="none" cap="none" strike="noStrike">
              <a:solidFill>
                <a:srgbClr val="000000"/>
              </a:solidFill>
              <a:latin typeface="Arial"/>
              <a:ea typeface="Arial"/>
              <a:cs typeface="Arial"/>
              <a:sym typeface="Arial"/>
            </a:endParaRPr>
          </a:p>
        </p:txBody>
      </p:sp>
      <p:sp>
        <p:nvSpPr>
          <p:cNvPr id="1123" name="Google Shape;1123;p61"/>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Phase 1 </a:t>
            </a:r>
            <a:r>
              <a:rPr b="1" i="0" lang="en-US" sz="1600" u="none" cap="none" strike="noStrike">
                <a:solidFill>
                  <a:srgbClr val="334155"/>
                </a:solidFill>
                <a:latin typeface="Calibri"/>
                <a:ea typeface="Calibri"/>
                <a:cs typeface="Calibri"/>
                <a:sym typeface="Calibri"/>
              </a:rPr>
              <a:t>POSITIVE</a:t>
            </a:r>
            <a:r>
              <a:rPr b="0" i="0" lang="en-US" sz="1600" u="none" cap="none" strike="noStrike">
                <a:solidFill>
                  <a:srgbClr val="334155"/>
                </a:solidFill>
                <a:latin typeface="Calibri"/>
                <a:ea typeface="Calibri"/>
                <a:cs typeface="Calibri"/>
                <a:sym typeface="Calibri"/>
              </a:rPr>
              <a:t> → promoted </a:t>
            </a:r>
            <a:r>
              <a:rPr b="1" i="0" lang="en-US" sz="1600" u="none" cap="none" strike="noStrike">
                <a:solidFill>
                  <a:srgbClr val="334155"/>
                </a:solidFill>
                <a:latin typeface="Calibri"/>
                <a:ea typeface="Calibri"/>
                <a:cs typeface="Calibri"/>
                <a:sym typeface="Calibri"/>
              </a:rPr>
              <a:t>auth-vs-log</a:t>
            </a:r>
            <a:r>
              <a:rPr b="0" i="0" lang="en-US" sz="1600" u="none" cap="none" strike="noStrike">
                <a:solidFill>
                  <a:srgbClr val="334155"/>
                </a:solidFill>
                <a:latin typeface="Calibri"/>
                <a:ea typeface="Calibri"/>
                <a:cs typeface="Calibri"/>
                <a:sym typeface="Calibri"/>
              </a:rPr>
              <a:t> → Phase 2 </a:t>
            </a:r>
            <a:r>
              <a:rPr b="1" i="0" lang="en-US" sz="1600" u="none" cap="none" strike="noStrike">
                <a:solidFill>
                  <a:srgbClr val="334155"/>
                </a:solidFill>
                <a:latin typeface="Calibri"/>
                <a:ea typeface="Calibri"/>
                <a:cs typeface="Calibri"/>
                <a:sym typeface="Calibri"/>
              </a:rPr>
              <a:t>POSITIVE</a:t>
            </a:r>
            <a:r>
              <a:rPr b="0" i="0" lang="en-US" sz="1600" u="none" cap="none" strike="noStrike">
                <a:solidFill>
                  <a:srgbClr val="334155"/>
                </a:solidFill>
                <a:latin typeface="Calibri"/>
                <a:ea typeface="Calibri"/>
                <a:cs typeface="Calibri"/>
                <a:sym typeface="Calibri"/>
              </a:rPr>
              <a:t> · 2 improved · 0 regressed</a:t>
            </a:r>
            <a:endParaRPr b="0" i="0" sz="1400" u="none" cap="none" strike="noStrike">
              <a:solidFill>
                <a:srgbClr val="000000"/>
              </a:solidFill>
              <a:latin typeface="Arial"/>
              <a:ea typeface="Arial"/>
              <a:cs typeface="Arial"/>
              <a:sym typeface="Arial"/>
            </a:endParaRPr>
          </a:p>
        </p:txBody>
      </p:sp>
      <p:sp>
        <p:nvSpPr>
          <p:cNvPr id="1124" name="Google Shape;1124;p61"/>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Results &amp; verdict</a:t>
            </a:r>
            <a:endParaRPr b="0" i="0" sz="1400" u="none" cap="none" strike="noStrike">
              <a:solidFill>
                <a:srgbClr val="000000"/>
              </a:solidFill>
              <a:latin typeface="Arial"/>
              <a:ea typeface="Arial"/>
              <a:cs typeface="Arial"/>
              <a:sym typeface="Arial"/>
            </a:endParaRPr>
          </a:p>
        </p:txBody>
      </p:sp>
      <p:sp>
        <p:nvSpPr>
          <p:cNvPr id="1125" name="Google Shape;1125;p61"/>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3</a:t>
            </a:r>
            <a:r>
              <a:rPr lang="en-US" sz="1000">
                <a:solidFill>
                  <a:srgbClr val="64748B"/>
                </a:solidFill>
                <a:latin typeface="Calibri"/>
                <a:ea typeface="Calibri"/>
                <a:cs typeface="Calibri"/>
                <a:sym typeface="Calibri"/>
              </a:rPr>
              <a:t>7</a:t>
            </a:r>
            <a:endParaRPr b="0" i="0" sz="1400" u="none" cap="none" strike="noStrike">
              <a:solidFill>
                <a:srgbClr val="000000"/>
              </a:solidFill>
              <a:latin typeface="Arial"/>
              <a:ea typeface="Arial"/>
              <a:cs typeface="Arial"/>
              <a:sym typeface="Arial"/>
            </a:endParaRPr>
          </a:p>
        </p:txBody>
      </p:sp>
      <p:graphicFrame>
        <p:nvGraphicFramePr>
          <p:cNvPr id="1126" name="Google Shape;1126;p61"/>
          <p:cNvGraphicFramePr/>
          <p:nvPr/>
        </p:nvGraphicFramePr>
        <p:xfrm>
          <a:off x="548641" y="1645920"/>
          <a:ext cx="3000000" cy="3000000"/>
        </p:xfrm>
        <a:graphic>
          <a:graphicData uri="http://schemas.openxmlformats.org/drawingml/2006/table">
            <a:tbl>
              <a:tblPr bandRow="1" firstRow="1">
                <a:noFill/>
                <a:tableStyleId>{6D768582-A166-4AF2-A2B6-FE9F80A8B072}</a:tableStyleId>
              </a:tblPr>
              <a:tblGrid>
                <a:gridCol w="731525"/>
                <a:gridCol w="1463025"/>
                <a:gridCol w="1280125"/>
                <a:gridCol w="1005850"/>
                <a:gridCol w="1097275"/>
                <a:gridCol w="1188700"/>
              </a:tblGrid>
              <a:tr h="457200">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Phase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Task</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Suite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Baseline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Candidate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Transition</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r>
              <a:tr h="457200">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1</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auth-vs-log</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capability</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FAIL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EE2E2"/>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PASS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D1FAE5"/>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IMPROVED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D1FAE5"/>
                    </a:solidFill>
                  </a:tcPr>
                </a:tc>
              </a:tr>
              <a:tr h="457200">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1</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keep-suite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regression</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PASS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D1FAE5"/>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PASS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D1FAE5"/>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UNCHANGED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r h="457200">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2</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auth-vs-log</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regression</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FAIL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EE2E2"/>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PASS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D1FAE5"/>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IMPROVED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D1FAE5"/>
                    </a:solidFill>
                  </a:tcPr>
                </a:tc>
              </a:tr>
              <a:tr h="457200">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2</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caller-check</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capability</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FAIL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EE2E2"/>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PASS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D1FAE5"/>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IMPROVED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D1FAE5"/>
                    </a:solidFill>
                  </a:tcPr>
                </a:tc>
              </a:tr>
              <a:tr h="457200">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2</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keep-suite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regression</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PASS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D1FAE5"/>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PASS</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D1FAE5"/>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UNCHANGED</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bl>
          </a:graphicData>
        </a:graphic>
      </p:graphicFrame>
      <p:sp>
        <p:nvSpPr>
          <p:cNvPr id="1127" name="Google Shape;1127;p61"/>
          <p:cNvSpPr/>
          <p:nvPr/>
        </p:nvSpPr>
        <p:spPr>
          <a:xfrm>
            <a:off x="7589536" y="1645920"/>
            <a:ext cx="4069200" cy="27432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28" name="Google Shape;1128;p61"/>
          <p:cNvSpPr txBox="1"/>
          <p:nvPr/>
        </p:nvSpPr>
        <p:spPr>
          <a:xfrm>
            <a:off x="7772416" y="1801368"/>
            <a:ext cx="37032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What the candidate identified</a:t>
            </a:r>
            <a:endParaRPr b="0" i="0" sz="1400" u="none" cap="none" strike="noStrike">
              <a:solidFill>
                <a:srgbClr val="000000"/>
              </a:solidFill>
              <a:latin typeface="Arial"/>
              <a:ea typeface="Arial"/>
              <a:cs typeface="Arial"/>
              <a:sym typeface="Arial"/>
            </a:endParaRPr>
          </a:p>
        </p:txBody>
      </p:sp>
      <p:sp>
        <p:nvSpPr>
          <p:cNvPr id="1129" name="Google Shape;1129;p61"/>
          <p:cNvSpPr txBox="1"/>
          <p:nvPr/>
        </p:nvSpPr>
        <p:spPr>
          <a:xfrm>
            <a:off x="7772416" y="2267712"/>
            <a:ext cx="3703200" cy="20118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047857"/>
              </a:buClr>
              <a:buSzPts val="1250"/>
              <a:buFont typeface="Courier New"/>
              <a:buChar char="•"/>
            </a:pPr>
            <a:r>
              <a:rPr b="0" i="0" lang="en-US" sz="1250" u="none" cap="none" strike="noStrike">
                <a:solidFill>
                  <a:srgbClr val="334155"/>
                </a:solidFill>
                <a:latin typeface="Courier New"/>
                <a:ea typeface="Courier New"/>
                <a:cs typeface="Courier New"/>
                <a:sym typeface="Courier New"/>
              </a:rPr>
              <a:t>withdraw</a:t>
            </a:r>
            <a:r>
              <a:rPr b="0" i="0" lang="en-US" sz="1250" u="none" cap="none" strike="noStrike">
                <a:solidFill>
                  <a:srgbClr val="334155"/>
                </a:solidFill>
                <a:latin typeface="Calibri"/>
                <a:ea typeface="Calibri"/>
                <a:cs typeface="Calibri"/>
                <a:sym typeface="Calibri"/>
              </a:rPr>
              <a:t> → true: "tx.origin gates withdraw."</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47857"/>
              </a:buClr>
              <a:buSzPts val="1250"/>
              <a:buFont typeface="Courier New"/>
              <a:buChar char="•"/>
            </a:pPr>
            <a:r>
              <a:rPr b="0" i="0" lang="en-US" sz="1250" u="none" cap="none" strike="noStrike">
                <a:solidFill>
                  <a:srgbClr val="334155"/>
                </a:solidFill>
                <a:latin typeface="Courier New"/>
                <a:ea typeface="Courier New"/>
                <a:cs typeface="Courier New"/>
                <a:sym typeface="Courier New"/>
              </a:rPr>
              <a:t>logTransfer</a:t>
            </a:r>
            <a:r>
              <a:rPr b="0" i="0" lang="en-US" sz="1250" u="none" cap="none" strike="noStrike">
                <a:solidFill>
                  <a:srgbClr val="334155"/>
                </a:solidFill>
                <a:latin typeface="Calibri"/>
                <a:ea typeface="Calibri"/>
                <a:cs typeface="Calibri"/>
                <a:sym typeface="Calibri"/>
              </a:rPr>
              <a:t> → false: "Event logging, not authorization."</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47857"/>
              </a:buClr>
              <a:buSzPts val="1250"/>
              <a:buFont typeface="Courier New"/>
              <a:buChar char="•"/>
            </a:pPr>
            <a:r>
              <a:rPr b="0" i="0" lang="en-US" sz="1250" u="none" cap="none" strike="noStrike">
                <a:solidFill>
                  <a:srgbClr val="334155"/>
                </a:solidFill>
                <a:latin typeface="Courier New"/>
                <a:ea typeface="Courier New"/>
                <a:cs typeface="Courier New"/>
                <a:sym typeface="Courier New"/>
              </a:rPr>
              <a:t>withdrawAll</a:t>
            </a:r>
            <a:r>
              <a:rPr b="0" i="0" lang="en-US" sz="1250" u="none" cap="none" strike="noStrike">
                <a:solidFill>
                  <a:srgbClr val="334155"/>
                </a:solidFill>
                <a:latin typeface="Calibri"/>
                <a:ea typeface="Calibri"/>
                <a:cs typeface="Calibri"/>
                <a:sym typeface="Calibri"/>
              </a:rPr>
              <a:t> → true: "tx.origin in require is unsafe vs msg.sender."</a:t>
            </a:r>
            <a:endParaRPr b="0" i="0" sz="1400" u="none" cap="none" strike="noStrike">
              <a:solidFill>
                <a:srgbClr val="000000"/>
              </a:solidFill>
              <a:latin typeface="Arial"/>
              <a:ea typeface="Arial"/>
              <a:cs typeface="Arial"/>
              <a:sym typeface="Arial"/>
            </a:endParaRPr>
          </a:p>
        </p:txBody>
      </p:sp>
      <p:sp>
        <p:nvSpPr>
          <p:cNvPr id="1130" name="Google Shape;1130;p61"/>
          <p:cNvSpPr/>
          <p:nvPr/>
        </p:nvSpPr>
        <p:spPr>
          <a:xfrm>
            <a:off x="548641" y="4572000"/>
            <a:ext cx="3612000" cy="16002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31" name="Google Shape;1131;p61"/>
          <p:cNvSpPr txBox="1"/>
          <p:nvPr/>
        </p:nvSpPr>
        <p:spPr>
          <a:xfrm>
            <a:off x="731522" y="4727448"/>
            <a:ext cx="32460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Grader result</a:t>
            </a:r>
            <a:endParaRPr b="0" i="0" sz="1400" u="none" cap="none" strike="noStrike">
              <a:solidFill>
                <a:srgbClr val="000000"/>
              </a:solidFill>
              <a:latin typeface="Arial"/>
              <a:ea typeface="Arial"/>
              <a:cs typeface="Arial"/>
              <a:sym typeface="Arial"/>
            </a:endParaRPr>
          </a:p>
        </p:txBody>
      </p:sp>
      <p:sp>
        <p:nvSpPr>
          <p:cNvPr id="1132" name="Google Shape;1132;p61"/>
          <p:cNvSpPr txBox="1"/>
          <p:nvPr/>
        </p:nvSpPr>
        <p:spPr>
          <a:xfrm>
            <a:off x="731522" y="5193792"/>
            <a:ext cx="3246000" cy="868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held-out labels match on every candidate rep; pytest green</a:t>
            </a:r>
            <a:endParaRPr b="0" i="0" sz="1400" u="none" cap="none" strike="noStrike">
              <a:solidFill>
                <a:srgbClr val="000000"/>
              </a:solidFill>
              <a:latin typeface="Arial"/>
              <a:ea typeface="Arial"/>
              <a:cs typeface="Arial"/>
              <a:sym typeface="Arial"/>
            </a:endParaRPr>
          </a:p>
        </p:txBody>
      </p:sp>
      <p:sp>
        <p:nvSpPr>
          <p:cNvPr id="1133" name="Google Shape;1133;p61"/>
          <p:cNvSpPr/>
          <p:nvPr/>
        </p:nvSpPr>
        <p:spPr>
          <a:xfrm>
            <a:off x="4297689" y="4572000"/>
            <a:ext cx="3291900" cy="16002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34" name="Google Shape;1134;p61"/>
          <p:cNvSpPr txBox="1"/>
          <p:nvPr/>
        </p:nvSpPr>
        <p:spPr>
          <a:xfrm>
            <a:off x="4480569" y="4727448"/>
            <a:ext cx="29262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Promotion</a:t>
            </a:r>
            <a:endParaRPr b="0" i="0" sz="1400" u="none" cap="none" strike="noStrike">
              <a:solidFill>
                <a:srgbClr val="000000"/>
              </a:solidFill>
              <a:latin typeface="Arial"/>
              <a:ea typeface="Arial"/>
              <a:cs typeface="Arial"/>
              <a:sym typeface="Arial"/>
            </a:endParaRPr>
          </a:p>
        </p:txBody>
      </p:sp>
      <p:sp>
        <p:nvSpPr>
          <p:cNvPr id="1135" name="Google Shape;1135;p61"/>
          <p:cNvSpPr txBox="1"/>
          <p:nvPr/>
        </p:nvSpPr>
        <p:spPr>
          <a:xfrm>
            <a:off x="4480569" y="5193792"/>
            <a:ext cx="2926200" cy="868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auth-vs-log 2/2 → </a:t>
            </a:r>
            <a:r>
              <a:rPr b="1" i="0" lang="en-US" sz="1300" u="none" cap="none" strike="noStrike">
                <a:solidFill>
                  <a:srgbClr val="334155"/>
                </a:solidFill>
                <a:latin typeface="Calibri"/>
                <a:ea typeface="Calibri"/>
                <a:cs typeface="Calibri"/>
                <a:sym typeface="Calibri"/>
              </a:rPr>
              <a:t>regression</a:t>
            </a:r>
            <a:r>
              <a:rPr b="0" i="0" lang="en-US" sz="1300" u="none" cap="none" strike="noStrike">
                <a:solidFill>
                  <a:srgbClr val="334155"/>
                </a:solidFill>
                <a:latin typeface="Calibri"/>
                <a:ea typeface="Calibri"/>
                <a:cs typeface="Calibri"/>
                <a:sym typeface="Calibri"/>
              </a:rPr>
              <a:t>; gate returns None</a:t>
            </a:r>
            <a:endParaRPr b="0" i="0" sz="1400" u="none" cap="none" strike="noStrike">
              <a:solidFill>
                <a:srgbClr val="000000"/>
              </a:solidFill>
              <a:latin typeface="Arial"/>
              <a:ea typeface="Arial"/>
              <a:cs typeface="Arial"/>
              <a:sym typeface="Arial"/>
            </a:endParaRPr>
          </a:p>
        </p:txBody>
      </p:sp>
      <p:sp>
        <p:nvSpPr>
          <p:cNvPr id="1136" name="Google Shape;1136;p61"/>
          <p:cNvSpPr/>
          <p:nvPr/>
        </p:nvSpPr>
        <p:spPr>
          <a:xfrm>
            <a:off x="7726695" y="4572000"/>
            <a:ext cx="3931800" cy="16002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37" name="Google Shape;1137;p61"/>
          <p:cNvSpPr txBox="1"/>
          <p:nvPr/>
        </p:nvSpPr>
        <p:spPr>
          <a:xfrm>
            <a:off x="7909575" y="4727448"/>
            <a:ext cx="35661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Honest caveat</a:t>
            </a:r>
            <a:endParaRPr b="0" i="0" sz="1400" u="none" cap="none" strike="noStrike">
              <a:solidFill>
                <a:srgbClr val="000000"/>
              </a:solidFill>
              <a:latin typeface="Arial"/>
              <a:ea typeface="Arial"/>
              <a:cs typeface="Arial"/>
              <a:sym typeface="Arial"/>
            </a:endParaRPr>
          </a:p>
        </p:txBody>
      </p:sp>
      <p:sp>
        <p:nvSpPr>
          <p:cNvPr id="1138" name="Google Shape;1138;p61"/>
          <p:cNvSpPr txBox="1"/>
          <p:nvPr/>
        </p:nvSpPr>
        <p:spPr>
          <a:xfrm>
            <a:off x="7909575" y="5193792"/>
            <a:ext cx="3566100" cy="868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0" i="0" lang="en-US" sz="1300" u="none" cap="none" strike="noStrike">
                <a:solidFill>
                  <a:srgbClr val="334155"/>
                </a:solidFill>
                <a:latin typeface="Calibri"/>
                <a:ea typeface="Calibri"/>
                <a:cs typeface="Calibri"/>
                <a:sym typeface="Calibri"/>
              </a:rPr>
              <a:t>caller-check model_disagreements = 2 (mock-rule artefact); dry run, n = 2</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3" name="Shape 1143"/>
        <p:cNvGrpSpPr/>
        <p:nvPr/>
      </p:nvGrpSpPr>
      <p:grpSpPr>
        <a:xfrm>
          <a:off x="0" y="0"/>
          <a:ext cx="0" cy="0"/>
          <a:chOff x="0" y="0"/>
          <a:chExt cx="0" cy="0"/>
        </a:xfrm>
      </p:grpSpPr>
      <p:sp>
        <p:nvSpPr>
          <p:cNvPr id="1144" name="Google Shape;1144;p62"/>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The graduation / blocking journey, test by test</a:t>
            </a:r>
            <a:endParaRPr b="0" i="0" sz="1400" u="none" cap="none" strike="noStrike">
              <a:solidFill>
                <a:srgbClr val="000000"/>
              </a:solidFill>
              <a:latin typeface="Arial"/>
              <a:ea typeface="Arial"/>
              <a:cs typeface="Arial"/>
              <a:sym typeface="Arial"/>
            </a:endParaRPr>
          </a:p>
        </p:txBody>
      </p:sp>
      <p:sp>
        <p:nvSpPr>
          <p:cNvPr id="1145" name="Google Shape;1145;p62"/>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The same tests run on both harnesses. Where they diverge decides </a:t>
            </a:r>
            <a:r>
              <a:rPr b="1" i="0" lang="en-US" sz="1600" u="none" cap="none" strike="noStrike">
                <a:solidFill>
                  <a:srgbClr val="334155"/>
                </a:solidFill>
                <a:latin typeface="Calibri"/>
                <a:ea typeface="Calibri"/>
                <a:cs typeface="Calibri"/>
                <a:sym typeface="Calibri"/>
              </a:rPr>
              <a:t>promote</a:t>
            </a:r>
            <a:r>
              <a:rPr b="0" i="0" lang="en-US" sz="1600" u="none" cap="none" strike="noStrike">
                <a:solidFill>
                  <a:srgbClr val="334155"/>
                </a:solidFill>
                <a:latin typeface="Calibri"/>
                <a:ea typeface="Calibri"/>
                <a:cs typeface="Calibri"/>
                <a:sym typeface="Calibri"/>
              </a:rPr>
              <a:t> or </a:t>
            </a:r>
            <a:r>
              <a:rPr b="1" i="0" lang="en-US" sz="1600" u="none" cap="none" strike="noStrike">
                <a:solidFill>
                  <a:srgbClr val="334155"/>
                </a:solidFill>
                <a:latin typeface="Calibri"/>
                <a:ea typeface="Calibri"/>
                <a:cs typeface="Calibri"/>
                <a:sym typeface="Calibri"/>
              </a:rPr>
              <a:t>block</a:t>
            </a:r>
            <a:r>
              <a:rPr b="0" i="0" lang="en-US" sz="1600" u="none" cap="none" strike="noStrike">
                <a:solidFill>
                  <a:srgbClr val="33415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146" name="Google Shape;1146;p62"/>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Results &amp; verdict</a:t>
            </a:r>
            <a:endParaRPr b="0" i="0" sz="1400" u="none" cap="none" strike="noStrike">
              <a:solidFill>
                <a:srgbClr val="000000"/>
              </a:solidFill>
              <a:latin typeface="Arial"/>
              <a:ea typeface="Arial"/>
              <a:cs typeface="Arial"/>
              <a:sym typeface="Arial"/>
            </a:endParaRPr>
          </a:p>
        </p:txBody>
      </p:sp>
      <p:sp>
        <p:nvSpPr>
          <p:cNvPr id="1147" name="Google Shape;1147;p62"/>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3</a:t>
            </a:r>
            <a:r>
              <a:rPr lang="en-US" sz="1000">
                <a:solidFill>
                  <a:srgbClr val="64748B"/>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sp>
        <p:nvSpPr>
          <p:cNvPr id="1148" name="Google Shape;1148;p62"/>
          <p:cNvSpPr txBox="1"/>
          <p:nvPr/>
        </p:nvSpPr>
        <p:spPr>
          <a:xfrm>
            <a:off x="548641" y="1600200"/>
            <a:ext cx="36576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64748B"/>
                </a:solidFill>
                <a:latin typeface="Calibri"/>
                <a:ea typeface="Calibri"/>
                <a:cs typeface="Calibri"/>
                <a:sym typeface="Calibri"/>
              </a:rPr>
              <a:t>Check</a:t>
            </a:r>
            <a:endParaRPr b="0" i="0" sz="1400" u="none" cap="none" strike="noStrike">
              <a:solidFill>
                <a:srgbClr val="000000"/>
              </a:solidFill>
              <a:latin typeface="Arial"/>
              <a:ea typeface="Arial"/>
              <a:cs typeface="Arial"/>
              <a:sym typeface="Arial"/>
            </a:endParaRPr>
          </a:p>
        </p:txBody>
      </p:sp>
      <p:sp>
        <p:nvSpPr>
          <p:cNvPr id="1149" name="Google Shape;1149;p62"/>
          <p:cNvSpPr txBox="1"/>
          <p:nvPr/>
        </p:nvSpPr>
        <p:spPr>
          <a:xfrm>
            <a:off x="4160529" y="1600200"/>
            <a:ext cx="25602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64748B"/>
                </a:solidFill>
                <a:latin typeface="Calibri"/>
                <a:ea typeface="Calibri"/>
                <a:cs typeface="Calibri"/>
                <a:sym typeface="Calibri"/>
              </a:rPr>
              <a:t>Grader / function</a:t>
            </a:r>
            <a:endParaRPr b="0" i="0" sz="1400" u="none" cap="none" strike="noStrike">
              <a:solidFill>
                <a:srgbClr val="000000"/>
              </a:solidFill>
              <a:latin typeface="Arial"/>
              <a:ea typeface="Arial"/>
              <a:cs typeface="Arial"/>
              <a:sym typeface="Arial"/>
            </a:endParaRPr>
          </a:p>
        </p:txBody>
      </p:sp>
      <p:sp>
        <p:nvSpPr>
          <p:cNvPr id="1150" name="Google Shape;1150;p62"/>
          <p:cNvSpPr txBox="1"/>
          <p:nvPr/>
        </p:nvSpPr>
        <p:spPr>
          <a:xfrm>
            <a:off x="6949454" y="1600200"/>
            <a:ext cx="21945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47857"/>
                </a:solidFill>
                <a:latin typeface="Calibri"/>
                <a:ea typeface="Calibri"/>
                <a:cs typeface="Calibri"/>
                <a:sym typeface="Calibri"/>
              </a:rPr>
              <a:t>Good candidate</a:t>
            </a:r>
            <a:endParaRPr b="0" i="0" sz="1400" u="none" cap="none" strike="noStrike">
              <a:solidFill>
                <a:srgbClr val="000000"/>
              </a:solidFill>
              <a:latin typeface="Arial"/>
              <a:ea typeface="Arial"/>
              <a:cs typeface="Arial"/>
              <a:sym typeface="Arial"/>
            </a:endParaRPr>
          </a:p>
        </p:txBody>
      </p:sp>
      <p:sp>
        <p:nvSpPr>
          <p:cNvPr id="1151" name="Google Shape;1151;p62"/>
          <p:cNvSpPr txBox="1"/>
          <p:nvPr/>
        </p:nvSpPr>
        <p:spPr>
          <a:xfrm>
            <a:off x="9418339" y="1600200"/>
            <a:ext cx="21945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B91C1C"/>
                </a:solidFill>
                <a:latin typeface="Calibri"/>
                <a:ea typeface="Calibri"/>
                <a:cs typeface="Calibri"/>
                <a:sym typeface="Calibri"/>
              </a:rPr>
              <a:t>Bad candidate</a:t>
            </a:r>
            <a:endParaRPr b="0" i="0" sz="1400" u="none" cap="none" strike="noStrike">
              <a:solidFill>
                <a:srgbClr val="000000"/>
              </a:solidFill>
              <a:latin typeface="Arial"/>
              <a:ea typeface="Arial"/>
              <a:cs typeface="Arial"/>
              <a:sym typeface="Arial"/>
            </a:endParaRPr>
          </a:p>
        </p:txBody>
      </p:sp>
      <p:sp>
        <p:nvSpPr>
          <p:cNvPr id="1152" name="Google Shape;1152;p62"/>
          <p:cNvSpPr/>
          <p:nvPr/>
        </p:nvSpPr>
        <p:spPr>
          <a:xfrm>
            <a:off x="548641" y="2011680"/>
            <a:ext cx="11094300" cy="475500"/>
          </a:xfrm>
          <a:prstGeom prst="roundRect">
            <a:avLst>
              <a:gd fmla="val 15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53" name="Google Shape;1153;p62"/>
          <p:cNvSpPr txBox="1"/>
          <p:nvPr/>
        </p:nvSpPr>
        <p:spPr>
          <a:xfrm>
            <a:off x="685801" y="2011680"/>
            <a:ext cx="3474600" cy="4755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Phase 1 · auth-vs-log</a:t>
            </a:r>
            <a:endParaRPr b="0" i="0" sz="1400" u="none" cap="none" strike="noStrike">
              <a:solidFill>
                <a:srgbClr val="000000"/>
              </a:solidFill>
              <a:latin typeface="Arial"/>
              <a:ea typeface="Arial"/>
              <a:cs typeface="Arial"/>
              <a:sym typeface="Arial"/>
            </a:endParaRPr>
          </a:p>
        </p:txBody>
      </p:sp>
      <p:sp>
        <p:nvSpPr>
          <p:cNvPr id="1154" name="Google Shape;1154;p62"/>
          <p:cNvSpPr txBox="1"/>
          <p:nvPr/>
        </p:nvSpPr>
        <p:spPr>
          <a:xfrm>
            <a:off x="4160529" y="2011680"/>
            <a:ext cx="2743200" cy="4755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held-out JSON (code)</a:t>
            </a:r>
            <a:endParaRPr b="0" i="0" sz="1400" u="none" cap="none" strike="noStrike">
              <a:solidFill>
                <a:srgbClr val="000000"/>
              </a:solidFill>
              <a:latin typeface="Arial"/>
              <a:ea typeface="Arial"/>
              <a:cs typeface="Arial"/>
              <a:sym typeface="Arial"/>
            </a:endParaRPr>
          </a:p>
        </p:txBody>
      </p:sp>
      <p:sp>
        <p:nvSpPr>
          <p:cNvPr id="1155" name="Google Shape;1155;p62"/>
          <p:cNvSpPr/>
          <p:nvPr/>
        </p:nvSpPr>
        <p:spPr>
          <a:xfrm>
            <a:off x="6949454" y="2112264"/>
            <a:ext cx="14631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47857"/>
                </a:solidFill>
                <a:latin typeface="Calibri"/>
                <a:ea typeface="Calibri"/>
                <a:cs typeface="Calibri"/>
                <a:sym typeface="Calibri"/>
              </a:rPr>
              <a:t>PASS</a:t>
            </a:r>
            <a:endParaRPr b="0" i="0" sz="1400" u="none" cap="none" strike="noStrike">
              <a:solidFill>
                <a:srgbClr val="000000"/>
              </a:solidFill>
              <a:latin typeface="Arial"/>
              <a:ea typeface="Arial"/>
              <a:cs typeface="Arial"/>
              <a:sym typeface="Arial"/>
            </a:endParaRPr>
          </a:p>
        </p:txBody>
      </p:sp>
      <p:sp>
        <p:nvSpPr>
          <p:cNvPr id="1156" name="Google Shape;1156;p62"/>
          <p:cNvSpPr/>
          <p:nvPr/>
        </p:nvSpPr>
        <p:spPr>
          <a:xfrm>
            <a:off x="9418339" y="2112264"/>
            <a:ext cx="1463100" cy="274200"/>
          </a:xfrm>
          <a:prstGeom prst="roundRect">
            <a:avLst>
              <a:gd fmla="val 50000" name="adj"/>
            </a:avLst>
          </a:prstGeom>
          <a:solidFill>
            <a:srgbClr val="FEE2E2"/>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B91C1C"/>
                </a:solidFill>
                <a:latin typeface="Calibri"/>
                <a:ea typeface="Calibri"/>
                <a:cs typeface="Calibri"/>
                <a:sym typeface="Calibri"/>
              </a:rPr>
              <a:t>FAIL</a:t>
            </a:r>
            <a:endParaRPr b="0" i="0" sz="1400" u="none" cap="none" strike="noStrike">
              <a:solidFill>
                <a:srgbClr val="000000"/>
              </a:solidFill>
              <a:latin typeface="Arial"/>
              <a:ea typeface="Arial"/>
              <a:cs typeface="Arial"/>
              <a:sym typeface="Arial"/>
            </a:endParaRPr>
          </a:p>
        </p:txBody>
      </p:sp>
      <p:sp>
        <p:nvSpPr>
          <p:cNvPr id="1157" name="Google Shape;1157;p62"/>
          <p:cNvSpPr/>
          <p:nvPr/>
        </p:nvSpPr>
        <p:spPr>
          <a:xfrm>
            <a:off x="548641" y="2560320"/>
            <a:ext cx="11094300" cy="475500"/>
          </a:xfrm>
          <a:prstGeom prst="roundRect">
            <a:avLst>
              <a:gd fmla="val 15000" name="adj"/>
            </a:avLst>
          </a:pr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58" name="Google Shape;1158;p62"/>
          <p:cNvSpPr txBox="1"/>
          <p:nvPr/>
        </p:nvSpPr>
        <p:spPr>
          <a:xfrm>
            <a:off x="685801" y="2560320"/>
            <a:ext cx="3474600" cy="4755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Phase 1 · keep-suite</a:t>
            </a:r>
            <a:endParaRPr b="0" i="0" sz="1400" u="none" cap="none" strike="noStrike">
              <a:solidFill>
                <a:srgbClr val="000000"/>
              </a:solidFill>
              <a:latin typeface="Arial"/>
              <a:ea typeface="Arial"/>
              <a:cs typeface="Arial"/>
              <a:sym typeface="Arial"/>
            </a:endParaRPr>
          </a:p>
        </p:txBody>
      </p:sp>
      <p:sp>
        <p:nvSpPr>
          <p:cNvPr id="1159" name="Google Shape;1159;p62"/>
          <p:cNvSpPr txBox="1"/>
          <p:nvPr/>
        </p:nvSpPr>
        <p:spPr>
          <a:xfrm>
            <a:off x="4160529" y="2560320"/>
            <a:ext cx="2743200" cy="4755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visible pytest (code)</a:t>
            </a:r>
            <a:endParaRPr b="0" i="0" sz="1400" u="none" cap="none" strike="noStrike">
              <a:solidFill>
                <a:srgbClr val="000000"/>
              </a:solidFill>
              <a:latin typeface="Arial"/>
              <a:ea typeface="Arial"/>
              <a:cs typeface="Arial"/>
              <a:sym typeface="Arial"/>
            </a:endParaRPr>
          </a:p>
        </p:txBody>
      </p:sp>
      <p:sp>
        <p:nvSpPr>
          <p:cNvPr id="1160" name="Google Shape;1160;p62"/>
          <p:cNvSpPr/>
          <p:nvPr/>
        </p:nvSpPr>
        <p:spPr>
          <a:xfrm>
            <a:off x="6949454" y="2660904"/>
            <a:ext cx="14631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47857"/>
                </a:solidFill>
                <a:latin typeface="Calibri"/>
                <a:ea typeface="Calibri"/>
                <a:cs typeface="Calibri"/>
                <a:sym typeface="Calibri"/>
              </a:rPr>
              <a:t>PASS</a:t>
            </a:r>
            <a:endParaRPr b="0" i="0" sz="1400" u="none" cap="none" strike="noStrike">
              <a:solidFill>
                <a:srgbClr val="000000"/>
              </a:solidFill>
              <a:latin typeface="Arial"/>
              <a:ea typeface="Arial"/>
              <a:cs typeface="Arial"/>
              <a:sym typeface="Arial"/>
            </a:endParaRPr>
          </a:p>
        </p:txBody>
      </p:sp>
      <p:sp>
        <p:nvSpPr>
          <p:cNvPr id="1161" name="Google Shape;1161;p62"/>
          <p:cNvSpPr/>
          <p:nvPr/>
        </p:nvSpPr>
        <p:spPr>
          <a:xfrm>
            <a:off x="9418339" y="2660904"/>
            <a:ext cx="1463100" cy="274200"/>
          </a:xfrm>
          <a:prstGeom prst="roundRect">
            <a:avLst>
              <a:gd fmla="val 50000" name="adj"/>
            </a:avLst>
          </a:prstGeom>
          <a:solidFill>
            <a:srgbClr val="FEE2E2"/>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B91C1C"/>
                </a:solidFill>
                <a:latin typeface="Calibri"/>
                <a:ea typeface="Calibri"/>
                <a:cs typeface="Calibri"/>
                <a:sym typeface="Calibri"/>
              </a:rPr>
              <a:t>FAIL</a:t>
            </a:r>
            <a:endParaRPr b="0" i="0" sz="1400" u="none" cap="none" strike="noStrike">
              <a:solidFill>
                <a:srgbClr val="000000"/>
              </a:solidFill>
              <a:latin typeface="Arial"/>
              <a:ea typeface="Arial"/>
              <a:cs typeface="Arial"/>
              <a:sym typeface="Arial"/>
            </a:endParaRPr>
          </a:p>
        </p:txBody>
      </p:sp>
      <p:sp>
        <p:nvSpPr>
          <p:cNvPr id="1162" name="Google Shape;1162;p62"/>
          <p:cNvSpPr/>
          <p:nvPr/>
        </p:nvSpPr>
        <p:spPr>
          <a:xfrm>
            <a:off x="548641" y="3108960"/>
            <a:ext cx="11094300" cy="475500"/>
          </a:xfrm>
          <a:prstGeom prst="roundRect">
            <a:avLst>
              <a:gd fmla="val 15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63" name="Google Shape;1163;p62"/>
          <p:cNvSpPr txBox="1"/>
          <p:nvPr/>
        </p:nvSpPr>
        <p:spPr>
          <a:xfrm>
            <a:off x="685801" y="3108960"/>
            <a:ext cx="3474600" cy="4755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Transition vs baseline</a:t>
            </a:r>
            <a:endParaRPr b="0" i="0" sz="1400" u="none" cap="none" strike="noStrike">
              <a:solidFill>
                <a:srgbClr val="000000"/>
              </a:solidFill>
              <a:latin typeface="Arial"/>
              <a:ea typeface="Arial"/>
              <a:cs typeface="Arial"/>
              <a:sym typeface="Arial"/>
            </a:endParaRPr>
          </a:p>
        </p:txBody>
      </p:sp>
      <p:sp>
        <p:nvSpPr>
          <p:cNvPr id="1164" name="Google Shape;1164;p62"/>
          <p:cNvSpPr txBox="1"/>
          <p:nvPr/>
        </p:nvSpPr>
        <p:spPr>
          <a:xfrm>
            <a:off x="4160529" y="3108960"/>
            <a:ext cx="2743200" cy="4755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compare_task()</a:t>
            </a:r>
            <a:endParaRPr b="0" i="0" sz="1400" u="none" cap="none" strike="noStrike">
              <a:solidFill>
                <a:srgbClr val="000000"/>
              </a:solidFill>
              <a:latin typeface="Arial"/>
              <a:ea typeface="Arial"/>
              <a:cs typeface="Arial"/>
              <a:sym typeface="Arial"/>
            </a:endParaRPr>
          </a:p>
        </p:txBody>
      </p:sp>
      <p:sp>
        <p:nvSpPr>
          <p:cNvPr id="1165" name="Google Shape;1165;p62"/>
          <p:cNvSpPr txBox="1"/>
          <p:nvPr/>
        </p:nvSpPr>
        <p:spPr>
          <a:xfrm>
            <a:off x="6949454" y="3108960"/>
            <a:ext cx="2377500" cy="4755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047857"/>
                </a:solidFill>
                <a:latin typeface="Calibri"/>
                <a:ea typeface="Calibri"/>
                <a:cs typeface="Calibri"/>
                <a:sym typeface="Calibri"/>
              </a:rPr>
              <a:t>IMPROVED / UNCHANGED</a:t>
            </a:r>
            <a:endParaRPr b="0" i="0" sz="1400" u="none" cap="none" strike="noStrike">
              <a:solidFill>
                <a:srgbClr val="000000"/>
              </a:solidFill>
              <a:latin typeface="Arial"/>
              <a:ea typeface="Arial"/>
              <a:cs typeface="Arial"/>
              <a:sym typeface="Arial"/>
            </a:endParaRPr>
          </a:p>
        </p:txBody>
      </p:sp>
      <p:sp>
        <p:nvSpPr>
          <p:cNvPr id="1166" name="Google Shape;1166;p62"/>
          <p:cNvSpPr txBox="1"/>
          <p:nvPr/>
        </p:nvSpPr>
        <p:spPr>
          <a:xfrm>
            <a:off x="9418339" y="3108960"/>
            <a:ext cx="2377500" cy="4755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B91C1C"/>
                </a:solidFill>
                <a:latin typeface="Calibri"/>
                <a:ea typeface="Calibri"/>
                <a:cs typeface="Calibri"/>
                <a:sym typeface="Calibri"/>
              </a:rPr>
              <a:t>UNCHANGED / REGRESSED</a:t>
            </a:r>
            <a:endParaRPr b="0" i="0" sz="1400" u="none" cap="none" strike="noStrike">
              <a:solidFill>
                <a:srgbClr val="000000"/>
              </a:solidFill>
              <a:latin typeface="Arial"/>
              <a:ea typeface="Arial"/>
              <a:cs typeface="Arial"/>
              <a:sym typeface="Arial"/>
            </a:endParaRPr>
          </a:p>
        </p:txBody>
      </p:sp>
      <p:sp>
        <p:nvSpPr>
          <p:cNvPr id="1167" name="Google Shape;1167;p62"/>
          <p:cNvSpPr/>
          <p:nvPr/>
        </p:nvSpPr>
        <p:spPr>
          <a:xfrm>
            <a:off x="548641" y="3657600"/>
            <a:ext cx="11094300" cy="475500"/>
          </a:xfrm>
          <a:prstGeom prst="roundRect">
            <a:avLst>
              <a:gd fmla="val 15000" name="adj"/>
            </a:avLst>
          </a:pr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68" name="Google Shape;1168;p62"/>
          <p:cNvSpPr txBox="1"/>
          <p:nvPr/>
        </p:nvSpPr>
        <p:spPr>
          <a:xfrm>
            <a:off x="685801" y="3657600"/>
            <a:ext cx="3474600" cy="4755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Graduation</a:t>
            </a:r>
            <a:endParaRPr b="0" i="0" sz="1400" u="none" cap="none" strike="noStrike">
              <a:solidFill>
                <a:srgbClr val="000000"/>
              </a:solidFill>
              <a:latin typeface="Arial"/>
              <a:ea typeface="Arial"/>
              <a:cs typeface="Arial"/>
              <a:sym typeface="Arial"/>
            </a:endParaRPr>
          </a:p>
        </p:txBody>
      </p:sp>
      <p:sp>
        <p:nvSpPr>
          <p:cNvPr id="1169" name="Google Shape;1169;p62"/>
          <p:cNvSpPr txBox="1"/>
          <p:nvPr/>
        </p:nvSpPr>
        <p:spPr>
          <a:xfrm>
            <a:off x="4160529" y="3657600"/>
            <a:ext cx="2743200" cy="4755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pass_hat_k (2/2)</a:t>
            </a:r>
            <a:endParaRPr b="0" i="0" sz="1400" u="none" cap="none" strike="noStrike">
              <a:solidFill>
                <a:srgbClr val="000000"/>
              </a:solidFill>
              <a:latin typeface="Arial"/>
              <a:ea typeface="Arial"/>
              <a:cs typeface="Arial"/>
              <a:sym typeface="Arial"/>
            </a:endParaRPr>
          </a:p>
        </p:txBody>
      </p:sp>
      <p:sp>
        <p:nvSpPr>
          <p:cNvPr id="1170" name="Google Shape;1170;p62"/>
          <p:cNvSpPr/>
          <p:nvPr/>
        </p:nvSpPr>
        <p:spPr>
          <a:xfrm>
            <a:off x="6949454" y="3758184"/>
            <a:ext cx="14631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47857"/>
                </a:solidFill>
                <a:latin typeface="Calibri"/>
                <a:ea typeface="Calibri"/>
                <a:cs typeface="Calibri"/>
                <a:sym typeface="Calibri"/>
              </a:rPr>
              <a:t>PROMOTED</a:t>
            </a:r>
            <a:endParaRPr b="0" i="0" sz="1400" u="none" cap="none" strike="noStrike">
              <a:solidFill>
                <a:srgbClr val="000000"/>
              </a:solidFill>
              <a:latin typeface="Arial"/>
              <a:ea typeface="Arial"/>
              <a:cs typeface="Arial"/>
              <a:sym typeface="Arial"/>
            </a:endParaRPr>
          </a:p>
        </p:txBody>
      </p:sp>
      <p:sp>
        <p:nvSpPr>
          <p:cNvPr id="1171" name="Google Shape;1171;p62"/>
          <p:cNvSpPr/>
          <p:nvPr/>
        </p:nvSpPr>
        <p:spPr>
          <a:xfrm>
            <a:off x="9418339" y="3758184"/>
            <a:ext cx="1463100" cy="274200"/>
          </a:xfrm>
          <a:prstGeom prst="roundRect">
            <a:avLst>
              <a:gd fmla="val 50000" name="adj"/>
            </a:avLst>
          </a:prstGeom>
          <a:solidFill>
            <a:srgbClr val="FEE2E2"/>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B91C1C"/>
                </a:solidFill>
                <a:latin typeface="Calibri"/>
                <a:ea typeface="Calibri"/>
                <a:cs typeface="Calibri"/>
                <a:sym typeface="Calibri"/>
              </a:rPr>
              <a:t>NO</a:t>
            </a:r>
            <a:endParaRPr b="0" i="0" sz="1400" u="none" cap="none" strike="noStrike">
              <a:solidFill>
                <a:srgbClr val="000000"/>
              </a:solidFill>
              <a:latin typeface="Arial"/>
              <a:ea typeface="Arial"/>
              <a:cs typeface="Arial"/>
              <a:sym typeface="Arial"/>
            </a:endParaRPr>
          </a:p>
        </p:txBody>
      </p:sp>
      <p:sp>
        <p:nvSpPr>
          <p:cNvPr id="1172" name="Google Shape;1172;p62"/>
          <p:cNvSpPr/>
          <p:nvPr/>
        </p:nvSpPr>
        <p:spPr>
          <a:xfrm>
            <a:off x="548641" y="4206240"/>
            <a:ext cx="11094300" cy="475500"/>
          </a:xfrm>
          <a:prstGeom prst="roundRect">
            <a:avLst>
              <a:gd fmla="val 15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73" name="Google Shape;1173;p62"/>
          <p:cNvSpPr txBox="1"/>
          <p:nvPr/>
        </p:nvSpPr>
        <p:spPr>
          <a:xfrm>
            <a:off x="685801" y="4206240"/>
            <a:ext cx="3474600" cy="4755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Gate test 1 · REGRESSED?</a:t>
            </a:r>
            <a:endParaRPr b="0" i="0" sz="1400" u="none" cap="none" strike="noStrike">
              <a:solidFill>
                <a:srgbClr val="000000"/>
              </a:solidFill>
              <a:latin typeface="Arial"/>
              <a:ea typeface="Arial"/>
              <a:cs typeface="Arial"/>
              <a:sym typeface="Arial"/>
            </a:endParaRPr>
          </a:p>
        </p:txBody>
      </p:sp>
      <p:sp>
        <p:nvSpPr>
          <p:cNvPr id="1174" name="Google Shape;1174;p62"/>
          <p:cNvSpPr txBox="1"/>
          <p:nvPr/>
        </p:nvSpPr>
        <p:spPr>
          <a:xfrm>
            <a:off x="4160529" y="4206240"/>
            <a:ext cx="2743200" cy="4755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phase2_blocked_reason</a:t>
            </a:r>
            <a:endParaRPr b="0" i="0" sz="1400" u="none" cap="none" strike="noStrike">
              <a:solidFill>
                <a:srgbClr val="000000"/>
              </a:solidFill>
              <a:latin typeface="Arial"/>
              <a:ea typeface="Arial"/>
              <a:cs typeface="Arial"/>
              <a:sym typeface="Arial"/>
            </a:endParaRPr>
          </a:p>
        </p:txBody>
      </p:sp>
      <p:sp>
        <p:nvSpPr>
          <p:cNvPr id="1175" name="Google Shape;1175;p62"/>
          <p:cNvSpPr/>
          <p:nvPr/>
        </p:nvSpPr>
        <p:spPr>
          <a:xfrm>
            <a:off x="6949454" y="4306824"/>
            <a:ext cx="14631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47857"/>
                </a:solidFill>
                <a:latin typeface="Calibri"/>
                <a:ea typeface="Calibri"/>
                <a:cs typeface="Calibri"/>
                <a:sym typeface="Calibri"/>
              </a:rPr>
              <a:t>PASS</a:t>
            </a:r>
            <a:endParaRPr b="0" i="0" sz="1400" u="none" cap="none" strike="noStrike">
              <a:solidFill>
                <a:srgbClr val="000000"/>
              </a:solidFill>
              <a:latin typeface="Arial"/>
              <a:ea typeface="Arial"/>
              <a:cs typeface="Arial"/>
              <a:sym typeface="Arial"/>
            </a:endParaRPr>
          </a:p>
        </p:txBody>
      </p:sp>
      <p:sp>
        <p:nvSpPr>
          <p:cNvPr id="1176" name="Google Shape;1176;p62"/>
          <p:cNvSpPr/>
          <p:nvPr/>
        </p:nvSpPr>
        <p:spPr>
          <a:xfrm>
            <a:off x="9418339" y="4306824"/>
            <a:ext cx="1463100" cy="274200"/>
          </a:xfrm>
          <a:prstGeom prst="roundRect">
            <a:avLst>
              <a:gd fmla="val 50000" name="adj"/>
            </a:avLst>
          </a:prstGeom>
          <a:solidFill>
            <a:srgbClr val="FEE2E2"/>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B91C1C"/>
                </a:solidFill>
                <a:latin typeface="Calibri"/>
                <a:ea typeface="Calibri"/>
                <a:cs typeface="Calibri"/>
                <a:sym typeface="Calibri"/>
              </a:rPr>
              <a:t>FAIL</a:t>
            </a:r>
            <a:endParaRPr b="0" i="0" sz="1400" u="none" cap="none" strike="noStrike">
              <a:solidFill>
                <a:srgbClr val="000000"/>
              </a:solidFill>
              <a:latin typeface="Arial"/>
              <a:ea typeface="Arial"/>
              <a:cs typeface="Arial"/>
              <a:sym typeface="Arial"/>
            </a:endParaRPr>
          </a:p>
        </p:txBody>
      </p:sp>
      <p:sp>
        <p:nvSpPr>
          <p:cNvPr id="1177" name="Google Shape;1177;p62"/>
          <p:cNvSpPr/>
          <p:nvPr/>
        </p:nvSpPr>
        <p:spPr>
          <a:xfrm>
            <a:off x="548641" y="4754880"/>
            <a:ext cx="11094300" cy="475500"/>
          </a:xfrm>
          <a:prstGeom prst="roundRect">
            <a:avLst>
              <a:gd fmla="val 15000" name="adj"/>
            </a:avLst>
          </a:pr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78" name="Google Shape;1178;p62"/>
          <p:cNvSpPr txBox="1"/>
          <p:nvPr/>
        </p:nvSpPr>
        <p:spPr>
          <a:xfrm>
            <a:off x="685801" y="4754880"/>
            <a:ext cx="3474600" cy="4755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Gate test 3 · promoted?</a:t>
            </a:r>
            <a:endParaRPr b="0" i="0" sz="1400" u="none" cap="none" strike="noStrike">
              <a:solidFill>
                <a:srgbClr val="000000"/>
              </a:solidFill>
              <a:latin typeface="Arial"/>
              <a:ea typeface="Arial"/>
              <a:cs typeface="Arial"/>
              <a:sym typeface="Arial"/>
            </a:endParaRPr>
          </a:p>
        </p:txBody>
      </p:sp>
      <p:sp>
        <p:nvSpPr>
          <p:cNvPr id="1179" name="Google Shape;1179;p62"/>
          <p:cNvSpPr txBox="1"/>
          <p:nvPr/>
        </p:nvSpPr>
        <p:spPr>
          <a:xfrm>
            <a:off x="4160529" y="4754880"/>
            <a:ext cx="2743200" cy="4755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phase2_blocked_reason</a:t>
            </a:r>
            <a:endParaRPr b="0" i="0" sz="1400" u="none" cap="none" strike="noStrike">
              <a:solidFill>
                <a:srgbClr val="000000"/>
              </a:solidFill>
              <a:latin typeface="Arial"/>
              <a:ea typeface="Arial"/>
              <a:cs typeface="Arial"/>
              <a:sym typeface="Arial"/>
            </a:endParaRPr>
          </a:p>
        </p:txBody>
      </p:sp>
      <p:sp>
        <p:nvSpPr>
          <p:cNvPr id="1180" name="Google Shape;1180;p62"/>
          <p:cNvSpPr/>
          <p:nvPr/>
        </p:nvSpPr>
        <p:spPr>
          <a:xfrm>
            <a:off x="6949454" y="4855464"/>
            <a:ext cx="14631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47857"/>
                </a:solidFill>
                <a:latin typeface="Calibri"/>
                <a:ea typeface="Calibri"/>
                <a:cs typeface="Calibri"/>
                <a:sym typeface="Calibri"/>
              </a:rPr>
              <a:t>PASS</a:t>
            </a:r>
            <a:endParaRPr b="0" i="0" sz="1400" u="none" cap="none" strike="noStrike">
              <a:solidFill>
                <a:srgbClr val="000000"/>
              </a:solidFill>
              <a:latin typeface="Arial"/>
              <a:ea typeface="Arial"/>
              <a:cs typeface="Arial"/>
              <a:sym typeface="Arial"/>
            </a:endParaRPr>
          </a:p>
        </p:txBody>
      </p:sp>
      <p:sp>
        <p:nvSpPr>
          <p:cNvPr id="1181" name="Google Shape;1181;p62"/>
          <p:cNvSpPr/>
          <p:nvPr/>
        </p:nvSpPr>
        <p:spPr>
          <a:xfrm>
            <a:off x="9418339" y="4855464"/>
            <a:ext cx="1463100" cy="274200"/>
          </a:xfrm>
          <a:prstGeom prst="roundRect">
            <a:avLst>
              <a:gd fmla="val 50000" name="adj"/>
            </a:avLst>
          </a:prstGeom>
          <a:solidFill>
            <a:srgbClr val="FEE2E2"/>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B91C1C"/>
                </a:solidFill>
                <a:latin typeface="Calibri"/>
                <a:ea typeface="Calibri"/>
                <a:cs typeface="Calibri"/>
                <a:sym typeface="Calibri"/>
              </a:rPr>
              <a:t>FAIL</a:t>
            </a:r>
            <a:endParaRPr b="0" i="0" sz="1400" u="none" cap="none" strike="noStrike">
              <a:solidFill>
                <a:srgbClr val="000000"/>
              </a:solidFill>
              <a:latin typeface="Arial"/>
              <a:ea typeface="Arial"/>
              <a:cs typeface="Arial"/>
              <a:sym typeface="Arial"/>
            </a:endParaRPr>
          </a:p>
        </p:txBody>
      </p:sp>
      <p:sp>
        <p:nvSpPr>
          <p:cNvPr id="1182" name="Google Shape;1182;p62"/>
          <p:cNvSpPr/>
          <p:nvPr/>
        </p:nvSpPr>
        <p:spPr>
          <a:xfrm>
            <a:off x="548641" y="5303520"/>
            <a:ext cx="11094300" cy="475500"/>
          </a:xfrm>
          <a:prstGeom prst="roundRect">
            <a:avLst>
              <a:gd fmla="val 15000" name="adj"/>
            </a:avLst>
          </a:prstGeom>
          <a:solidFill>
            <a:srgbClr val="F1F5F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83" name="Google Shape;1183;p62"/>
          <p:cNvSpPr txBox="1"/>
          <p:nvPr/>
        </p:nvSpPr>
        <p:spPr>
          <a:xfrm>
            <a:off x="685801" y="5303520"/>
            <a:ext cx="3474600" cy="4755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00"/>
              <a:buFont typeface="Arial"/>
              <a:buNone/>
            </a:pPr>
            <a:r>
              <a:rPr b="1" i="0" lang="en-US" sz="1300" u="none" cap="none" strike="noStrike">
                <a:solidFill>
                  <a:srgbClr val="0F172A"/>
                </a:solidFill>
                <a:latin typeface="Calibri"/>
                <a:ea typeface="Calibri"/>
                <a:cs typeface="Calibri"/>
                <a:sym typeface="Calibri"/>
              </a:rPr>
              <a:t>Phase 2 · caller-check</a:t>
            </a:r>
            <a:endParaRPr b="0" i="0" sz="1400" u="none" cap="none" strike="noStrike">
              <a:solidFill>
                <a:srgbClr val="000000"/>
              </a:solidFill>
              <a:latin typeface="Arial"/>
              <a:ea typeface="Arial"/>
              <a:cs typeface="Arial"/>
              <a:sym typeface="Arial"/>
            </a:endParaRPr>
          </a:p>
        </p:txBody>
      </p:sp>
      <p:sp>
        <p:nvSpPr>
          <p:cNvPr id="1184" name="Google Shape;1184;p62"/>
          <p:cNvSpPr txBox="1"/>
          <p:nvPr/>
        </p:nvSpPr>
        <p:spPr>
          <a:xfrm>
            <a:off x="4160529" y="5303520"/>
            <a:ext cx="2743200" cy="4755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held-out JSON (code)</a:t>
            </a:r>
            <a:endParaRPr b="0" i="0" sz="1400" u="none" cap="none" strike="noStrike">
              <a:solidFill>
                <a:srgbClr val="000000"/>
              </a:solidFill>
              <a:latin typeface="Arial"/>
              <a:ea typeface="Arial"/>
              <a:cs typeface="Arial"/>
              <a:sym typeface="Arial"/>
            </a:endParaRPr>
          </a:p>
        </p:txBody>
      </p:sp>
      <p:sp>
        <p:nvSpPr>
          <p:cNvPr id="1185" name="Google Shape;1185;p62"/>
          <p:cNvSpPr/>
          <p:nvPr/>
        </p:nvSpPr>
        <p:spPr>
          <a:xfrm>
            <a:off x="6949454" y="5404104"/>
            <a:ext cx="1463100" cy="274200"/>
          </a:xfrm>
          <a:prstGeom prst="roundRect">
            <a:avLst>
              <a:gd fmla="val 50000" name="adj"/>
            </a:avLst>
          </a:prstGeom>
          <a:solidFill>
            <a:srgbClr val="D1FAE5"/>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47857"/>
                </a:solidFill>
                <a:latin typeface="Calibri"/>
                <a:ea typeface="Calibri"/>
                <a:cs typeface="Calibri"/>
                <a:sym typeface="Calibri"/>
              </a:rPr>
              <a:t>PASS</a:t>
            </a:r>
            <a:endParaRPr b="0" i="0" sz="1400" u="none" cap="none" strike="noStrike">
              <a:solidFill>
                <a:srgbClr val="000000"/>
              </a:solidFill>
              <a:latin typeface="Arial"/>
              <a:ea typeface="Arial"/>
              <a:cs typeface="Arial"/>
              <a:sym typeface="Arial"/>
            </a:endParaRPr>
          </a:p>
        </p:txBody>
      </p:sp>
      <p:sp>
        <p:nvSpPr>
          <p:cNvPr id="1186" name="Google Shape;1186;p62"/>
          <p:cNvSpPr/>
          <p:nvPr/>
        </p:nvSpPr>
        <p:spPr>
          <a:xfrm>
            <a:off x="9418339" y="5404104"/>
            <a:ext cx="1463100" cy="274200"/>
          </a:xfrm>
          <a:prstGeom prst="roundRect">
            <a:avLst>
              <a:gd fmla="val 50000" name="adj"/>
            </a:avLst>
          </a:prstGeom>
          <a:solidFill>
            <a:srgbClr val="F1F5F9"/>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334155"/>
                </a:solidFill>
                <a:latin typeface="Calibri"/>
                <a:ea typeface="Calibri"/>
                <a:cs typeface="Calibri"/>
                <a:sym typeface="Calibri"/>
              </a:rPr>
              <a:t>NOT RUN</a:t>
            </a:r>
            <a:endParaRPr b="0" i="0" sz="1400" u="none" cap="none" strike="noStrike">
              <a:solidFill>
                <a:srgbClr val="000000"/>
              </a:solidFill>
              <a:latin typeface="Arial"/>
              <a:ea typeface="Arial"/>
              <a:cs typeface="Arial"/>
              <a:sym typeface="Arial"/>
            </a:endParaRPr>
          </a:p>
        </p:txBody>
      </p:sp>
      <p:sp>
        <p:nvSpPr>
          <p:cNvPr id="1187" name="Google Shape;1187;p62"/>
          <p:cNvSpPr/>
          <p:nvPr/>
        </p:nvSpPr>
        <p:spPr>
          <a:xfrm>
            <a:off x="6812294" y="5897880"/>
            <a:ext cx="2377500" cy="411600"/>
          </a:xfrm>
          <a:prstGeom prst="roundRect">
            <a:avLst>
              <a:gd fmla="val 30000" name="adj"/>
            </a:avLst>
          </a:prstGeom>
          <a:solidFill>
            <a:srgbClr val="047857"/>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88" name="Google Shape;1188;p62"/>
          <p:cNvSpPr txBox="1"/>
          <p:nvPr/>
        </p:nvSpPr>
        <p:spPr>
          <a:xfrm>
            <a:off x="6812294" y="5897880"/>
            <a:ext cx="2377500" cy="4116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 PROMOTE</a:t>
            </a:r>
            <a:endParaRPr b="0" i="0" sz="1400" u="none" cap="none" strike="noStrike">
              <a:solidFill>
                <a:srgbClr val="000000"/>
              </a:solidFill>
              <a:latin typeface="Arial"/>
              <a:ea typeface="Arial"/>
              <a:cs typeface="Arial"/>
              <a:sym typeface="Arial"/>
            </a:endParaRPr>
          </a:p>
        </p:txBody>
      </p:sp>
      <p:sp>
        <p:nvSpPr>
          <p:cNvPr id="1189" name="Google Shape;1189;p62"/>
          <p:cNvSpPr/>
          <p:nvPr/>
        </p:nvSpPr>
        <p:spPr>
          <a:xfrm>
            <a:off x="9281179" y="5897880"/>
            <a:ext cx="2377500" cy="411600"/>
          </a:xfrm>
          <a:prstGeom prst="roundRect">
            <a:avLst>
              <a:gd fmla="val 30000" name="adj"/>
            </a:avLst>
          </a:prstGeom>
          <a:solidFill>
            <a:srgbClr val="B91C1C"/>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0" name="Google Shape;1190;p62"/>
          <p:cNvSpPr txBox="1"/>
          <p:nvPr/>
        </p:nvSpPr>
        <p:spPr>
          <a:xfrm>
            <a:off x="9281179" y="5897880"/>
            <a:ext cx="2377500" cy="4116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 BLOCK</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1195" name="Shape 1195"/>
        <p:cNvGrpSpPr/>
        <p:nvPr/>
      </p:nvGrpSpPr>
      <p:grpSpPr>
        <a:xfrm>
          <a:off x="0" y="0"/>
          <a:ext cx="0" cy="0"/>
          <a:chOff x="0" y="0"/>
          <a:chExt cx="0" cy="0"/>
        </a:xfrm>
      </p:grpSpPr>
      <p:sp>
        <p:nvSpPr>
          <p:cNvPr id="1196" name="Google Shape;1196;p63"/>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Results &amp; verdict</a:t>
            </a:r>
            <a:endParaRPr b="0" i="0" sz="1400" u="none" cap="none" strike="noStrike">
              <a:solidFill>
                <a:srgbClr val="000000"/>
              </a:solidFill>
              <a:latin typeface="Arial"/>
              <a:ea typeface="Arial"/>
              <a:cs typeface="Arial"/>
              <a:sym typeface="Arial"/>
            </a:endParaRPr>
          </a:p>
        </p:txBody>
      </p:sp>
      <p:sp>
        <p:nvSpPr>
          <p:cNvPr id="1197" name="Google Shape;1197;p63"/>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3</a:t>
            </a:r>
            <a:r>
              <a:rPr lang="en-US" sz="1000">
                <a:solidFill>
                  <a:srgbClr val="8091B0"/>
                </a:solidFill>
                <a:latin typeface="Calibri"/>
                <a:ea typeface="Calibri"/>
                <a:cs typeface="Calibri"/>
                <a:sym typeface="Calibri"/>
              </a:rPr>
              <a:t>9</a:t>
            </a:r>
            <a:endParaRPr b="0" i="0" sz="1400" u="none" cap="none" strike="noStrike">
              <a:solidFill>
                <a:srgbClr val="000000"/>
              </a:solidFill>
              <a:latin typeface="Arial"/>
              <a:ea typeface="Arial"/>
              <a:cs typeface="Arial"/>
              <a:sym typeface="Arial"/>
            </a:endParaRPr>
          </a:p>
        </p:txBody>
      </p:sp>
      <p:sp>
        <p:nvSpPr>
          <p:cNvPr id="1198" name="Google Shape;1198;p63"/>
          <p:cNvSpPr txBox="1"/>
          <p:nvPr/>
        </p:nvSpPr>
        <p:spPr>
          <a:xfrm>
            <a:off x="548641" y="411480"/>
            <a:ext cx="10972800" cy="640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FFFFFF"/>
                </a:solidFill>
                <a:latin typeface="Calibri"/>
                <a:ea typeface="Calibri"/>
                <a:cs typeface="Calibri"/>
                <a:sym typeface="Calibri"/>
              </a:rPr>
              <a:t>Final verdict: same baseline, opposite outcomes</a:t>
            </a:r>
            <a:endParaRPr b="0" i="0" sz="1400" u="none" cap="none" strike="noStrike">
              <a:solidFill>
                <a:srgbClr val="000000"/>
              </a:solidFill>
              <a:latin typeface="Arial"/>
              <a:ea typeface="Arial"/>
              <a:cs typeface="Arial"/>
              <a:sym typeface="Arial"/>
            </a:endParaRPr>
          </a:p>
        </p:txBody>
      </p:sp>
      <p:sp>
        <p:nvSpPr>
          <p:cNvPr id="1199" name="Google Shape;1199;p63"/>
          <p:cNvSpPr txBox="1"/>
          <p:nvPr/>
        </p:nvSpPr>
        <p:spPr>
          <a:xfrm>
            <a:off x="548641" y="1024128"/>
            <a:ext cx="10972800" cy="41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B6C3DA"/>
                </a:solidFill>
                <a:latin typeface="Calibri"/>
                <a:ea typeface="Calibri"/>
                <a:cs typeface="Calibri"/>
                <a:sym typeface="Calibri"/>
              </a:rPr>
              <a:t>Production readiness </a:t>
            </a:r>
            <a:r>
              <a:rPr b="1" i="0" lang="en-US" sz="1600" u="none" cap="none" strike="noStrike">
                <a:solidFill>
                  <a:srgbClr val="B6C3DA"/>
                </a:solidFill>
                <a:latin typeface="Calibri"/>
                <a:ea typeface="Calibri"/>
                <a:cs typeface="Calibri"/>
                <a:sym typeface="Calibri"/>
              </a:rPr>
              <a:t>within this PoC's scope</a:t>
            </a:r>
            <a:r>
              <a:rPr b="0" i="0" lang="en-US" sz="1600" u="none" cap="none" strike="noStrike">
                <a:solidFill>
                  <a:srgbClr val="B6C3DA"/>
                </a:solidFill>
                <a:latin typeface="Calibri"/>
                <a:ea typeface="Calibri"/>
                <a:cs typeface="Calibri"/>
                <a:sym typeface="Calibri"/>
              </a:rPr>
              <a:t> (dry-run evidence, n = 2)</a:t>
            </a:r>
            <a:endParaRPr b="0" i="0" sz="1400" u="none" cap="none" strike="noStrike">
              <a:solidFill>
                <a:srgbClr val="000000"/>
              </a:solidFill>
              <a:latin typeface="Arial"/>
              <a:ea typeface="Arial"/>
              <a:cs typeface="Arial"/>
              <a:sym typeface="Arial"/>
            </a:endParaRPr>
          </a:p>
        </p:txBody>
      </p:sp>
      <p:sp>
        <p:nvSpPr>
          <p:cNvPr id="1200" name="Google Shape;1200;p63"/>
          <p:cNvSpPr/>
          <p:nvPr/>
        </p:nvSpPr>
        <p:spPr>
          <a:xfrm>
            <a:off x="548641" y="1645920"/>
            <a:ext cx="5440800" cy="3154800"/>
          </a:xfrm>
          <a:prstGeom prst="roundRect">
            <a:avLst>
              <a:gd fmla="val 8000" name="adj"/>
            </a:avLst>
          </a:prstGeom>
          <a:solidFill>
            <a:srgbClr val="16213A"/>
          </a:solidFill>
          <a:ln cap="flat" cmpd="sng" w="12700">
            <a:solidFill>
              <a:srgbClr val="23314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01" name="Google Shape;1201;p63"/>
          <p:cNvSpPr txBox="1"/>
          <p:nvPr/>
        </p:nvSpPr>
        <p:spPr>
          <a:xfrm>
            <a:off x="822961" y="1783080"/>
            <a:ext cx="3657600" cy="41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700"/>
              <a:buFont typeface="Arial"/>
              <a:buNone/>
            </a:pPr>
            <a:r>
              <a:rPr b="1" i="0" lang="en-US" sz="1700" u="none" cap="none" strike="noStrike">
                <a:solidFill>
                  <a:srgbClr val="FFFFFF"/>
                </a:solidFill>
                <a:latin typeface="Calibri"/>
                <a:ea typeface="Calibri"/>
                <a:cs typeface="Calibri"/>
                <a:sym typeface="Calibri"/>
              </a:rPr>
              <a:t>Good candidate · triage skill</a:t>
            </a:r>
            <a:endParaRPr b="0" i="0" sz="1400" u="none" cap="none" strike="noStrike">
              <a:solidFill>
                <a:srgbClr val="000000"/>
              </a:solidFill>
              <a:latin typeface="Arial"/>
              <a:ea typeface="Arial"/>
              <a:cs typeface="Arial"/>
              <a:sym typeface="Arial"/>
            </a:endParaRPr>
          </a:p>
        </p:txBody>
      </p:sp>
      <p:sp>
        <p:nvSpPr>
          <p:cNvPr id="1202" name="Google Shape;1202;p63"/>
          <p:cNvSpPr/>
          <p:nvPr/>
        </p:nvSpPr>
        <p:spPr>
          <a:xfrm>
            <a:off x="4343409" y="1783080"/>
            <a:ext cx="1417200" cy="457200"/>
          </a:xfrm>
          <a:prstGeom prst="roundRect">
            <a:avLst>
              <a:gd fmla="val 40000" name="adj"/>
            </a:avLst>
          </a:prstGeom>
          <a:solidFill>
            <a:srgbClr val="047857"/>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PROMOTE</a:t>
            </a:r>
            <a:endParaRPr b="0" i="0" sz="1400" u="none" cap="none" strike="noStrike">
              <a:solidFill>
                <a:srgbClr val="000000"/>
              </a:solidFill>
              <a:latin typeface="Arial"/>
              <a:ea typeface="Arial"/>
              <a:cs typeface="Arial"/>
              <a:sym typeface="Arial"/>
            </a:endParaRPr>
          </a:p>
        </p:txBody>
      </p:sp>
      <p:sp>
        <p:nvSpPr>
          <p:cNvPr id="1203" name="Google Shape;1203;p63"/>
          <p:cNvSpPr txBox="1"/>
          <p:nvPr/>
        </p:nvSpPr>
        <p:spPr>
          <a:xfrm>
            <a:off x="822961" y="2514600"/>
            <a:ext cx="4937700" cy="26976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5EEAD4"/>
              </a:buClr>
              <a:buSzPts val="1700"/>
              <a:buFont typeface="Calibri"/>
              <a:buChar char="•"/>
            </a:pPr>
            <a:r>
              <a:rPr b="0" i="0" lang="en-US" sz="1700" u="none" cap="none" strike="noStrike">
                <a:solidFill>
                  <a:srgbClr val="D5DEEE"/>
                </a:solidFill>
                <a:latin typeface="Calibri"/>
                <a:ea typeface="Calibri"/>
                <a:cs typeface="Calibri"/>
                <a:sym typeface="Calibri"/>
              </a:rPr>
              <a:t>auth-vs-log: </a:t>
            </a:r>
            <a:r>
              <a:rPr b="1" i="0" lang="en-US" sz="1700" u="none" cap="none" strike="noStrike">
                <a:solidFill>
                  <a:srgbClr val="D5DEEE"/>
                </a:solidFill>
                <a:latin typeface="Calibri"/>
                <a:ea typeface="Calibri"/>
                <a:cs typeface="Calibri"/>
                <a:sym typeface="Calibri"/>
              </a:rPr>
              <a:t>FAIL → PASS</a:t>
            </a:r>
            <a:r>
              <a:rPr b="0" i="0" lang="en-US" sz="1700" u="none" cap="none" strike="noStrike">
                <a:solidFill>
                  <a:srgbClr val="D5DEEE"/>
                </a:solidFill>
                <a:latin typeface="Calibri"/>
                <a:ea typeface="Calibri"/>
                <a:cs typeface="Calibri"/>
                <a:sym typeface="Calibri"/>
              </a:rPr>
              <a:t> (IMPROVED)</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1000"/>
              </a:spcBef>
              <a:spcAft>
                <a:spcPts val="0"/>
              </a:spcAft>
              <a:buClr>
                <a:srgbClr val="5EEAD4"/>
              </a:buClr>
              <a:buSzPts val="1700"/>
              <a:buFont typeface="Calibri"/>
              <a:buChar char="•"/>
            </a:pPr>
            <a:r>
              <a:rPr b="0" i="0" lang="en-US" sz="1700" u="none" cap="none" strike="noStrike">
                <a:solidFill>
                  <a:srgbClr val="D5DEEE"/>
                </a:solidFill>
                <a:latin typeface="Calibri"/>
                <a:ea typeface="Calibri"/>
                <a:cs typeface="Calibri"/>
                <a:sym typeface="Calibri"/>
              </a:rPr>
              <a:t>keep-suite: </a:t>
            </a:r>
            <a:r>
              <a:rPr b="1" i="0" lang="en-US" sz="1700" u="none" cap="none" strike="noStrike">
                <a:solidFill>
                  <a:srgbClr val="D5DEEE"/>
                </a:solidFill>
                <a:latin typeface="Calibri"/>
                <a:ea typeface="Calibri"/>
                <a:cs typeface="Calibri"/>
                <a:sym typeface="Calibri"/>
              </a:rPr>
              <a:t>PASS</a:t>
            </a:r>
            <a:r>
              <a:rPr b="0" i="0" lang="en-US" sz="1700" u="none" cap="none" strike="noStrike">
                <a:solidFill>
                  <a:srgbClr val="D5DEEE"/>
                </a:solidFill>
                <a:latin typeface="Calibri"/>
                <a:ea typeface="Calibri"/>
                <a:cs typeface="Calibri"/>
                <a:sym typeface="Calibri"/>
              </a:rPr>
              <a:t> both phases, no regression</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1000"/>
              </a:spcBef>
              <a:spcAft>
                <a:spcPts val="0"/>
              </a:spcAft>
              <a:buClr>
                <a:srgbClr val="5EEAD4"/>
              </a:buClr>
              <a:buSzPts val="1700"/>
              <a:buFont typeface="Calibri"/>
              <a:buChar char="•"/>
            </a:pPr>
            <a:r>
              <a:rPr b="0" i="0" lang="en-US" sz="1700" u="none" cap="none" strike="noStrike">
                <a:solidFill>
                  <a:srgbClr val="D5DEEE"/>
                </a:solidFill>
                <a:latin typeface="Calibri"/>
                <a:ea typeface="Calibri"/>
                <a:cs typeface="Calibri"/>
                <a:sym typeface="Calibri"/>
              </a:rPr>
              <a:t>Graduated: </a:t>
            </a:r>
            <a:r>
              <a:rPr b="1" i="0" lang="en-US" sz="1700" u="none" cap="none" strike="noStrike">
                <a:solidFill>
                  <a:srgbClr val="D5DEEE"/>
                </a:solidFill>
                <a:latin typeface="Calibri"/>
                <a:ea typeface="Calibri"/>
                <a:cs typeface="Calibri"/>
                <a:sym typeface="Calibri"/>
              </a:rPr>
              <a:t>auth-vs-log</a:t>
            </a:r>
            <a:r>
              <a:rPr b="0" i="0" lang="en-US" sz="1700" u="none" cap="none" strike="noStrike">
                <a:solidFill>
                  <a:srgbClr val="D5DEEE"/>
                </a:solidFill>
                <a:latin typeface="Calibri"/>
                <a:ea typeface="Calibri"/>
                <a:cs typeface="Calibri"/>
                <a:sym typeface="Calibri"/>
              </a:rPr>
              <a:t> → regression gate</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1000"/>
              </a:spcBef>
              <a:spcAft>
                <a:spcPts val="0"/>
              </a:spcAft>
              <a:buClr>
                <a:srgbClr val="5EEAD4"/>
              </a:buClr>
              <a:buSzPts val="1700"/>
              <a:buFont typeface="Calibri"/>
              <a:buChar char="•"/>
            </a:pPr>
            <a:r>
              <a:rPr b="0" i="0" lang="en-US" sz="1700" u="none" cap="none" strike="noStrike">
                <a:solidFill>
                  <a:srgbClr val="D5DEEE"/>
                </a:solidFill>
                <a:latin typeface="Calibri"/>
                <a:ea typeface="Calibri"/>
                <a:cs typeface="Calibri"/>
                <a:sym typeface="Calibri"/>
              </a:rPr>
              <a:t>Phase 2: </a:t>
            </a:r>
            <a:r>
              <a:rPr b="1" i="0" lang="en-US" sz="1700" u="none" cap="none" strike="noStrike">
                <a:solidFill>
                  <a:srgbClr val="D5DEEE"/>
                </a:solidFill>
                <a:latin typeface="Calibri"/>
                <a:ea typeface="Calibri"/>
                <a:cs typeface="Calibri"/>
                <a:sym typeface="Calibri"/>
              </a:rPr>
              <a:t>POSITIVE</a:t>
            </a:r>
            <a:r>
              <a:rPr b="0" i="0" lang="en-US" sz="1700" u="none" cap="none" strike="noStrike">
                <a:solidFill>
                  <a:srgbClr val="D5DEEE"/>
                </a:solidFill>
                <a:latin typeface="Calibri"/>
                <a:ea typeface="Calibri"/>
                <a:cs typeface="Calibri"/>
                <a:sym typeface="Calibri"/>
              </a:rPr>
              <a:t>, caller-check IMPROVED</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1000"/>
              </a:spcBef>
              <a:spcAft>
                <a:spcPts val="0"/>
              </a:spcAft>
              <a:buClr>
                <a:srgbClr val="5EEAD4"/>
              </a:buClr>
              <a:buSzPts val="1700"/>
              <a:buFont typeface="Calibri"/>
              <a:buChar char="•"/>
            </a:pPr>
            <a:r>
              <a:rPr b="0" i="0" lang="en-US" sz="1700" u="none" cap="none" strike="noStrike">
                <a:solidFill>
                  <a:srgbClr val="D5DEEE"/>
                </a:solidFill>
                <a:latin typeface="Calibri"/>
                <a:ea typeface="Calibri"/>
                <a:cs typeface="Calibri"/>
                <a:sym typeface="Calibri"/>
              </a:rPr>
              <a:t>Ready for a wider live trial</a:t>
            </a:r>
            <a:endParaRPr b="0" i="0" sz="1400" u="none" cap="none" strike="noStrike">
              <a:solidFill>
                <a:srgbClr val="000000"/>
              </a:solidFill>
              <a:latin typeface="Arial"/>
              <a:ea typeface="Arial"/>
              <a:cs typeface="Arial"/>
              <a:sym typeface="Arial"/>
            </a:endParaRPr>
          </a:p>
        </p:txBody>
      </p:sp>
      <p:sp>
        <p:nvSpPr>
          <p:cNvPr id="1204" name="Google Shape;1204;p63"/>
          <p:cNvSpPr/>
          <p:nvPr/>
        </p:nvSpPr>
        <p:spPr>
          <a:xfrm>
            <a:off x="6217933" y="1645920"/>
            <a:ext cx="5440800" cy="3154800"/>
          </a:xfrm>
          <a:prstGeom prst="roundRect">
            <a:avLst>
              <a:gd fmla="val 8000" name="adj"/>
            </a:avLst>
          </a:prstGeom>
          <a:solidFill>
            <a:srgbClr val="16213A"/>
          </a:solidFill>
          <a:ln cap="flat" cmpd="sng" w="12700">
            <a:solidFill>
              <a:srgbClr val="23314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05" name="Google Shape;1205;p63"/>
          <p:cNvSpPr txBox="1"/>
          <p:nvPr/>
        </p:nvSpPr>
        <p:spPr>
          <a:xfrm>
            <a:off x="6492253" y="1783080"/>
            <a:ext cx="3657600" cy="41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700"/>
              <a:buFont typeface="Arial"/>
              <a:buNone/>
            </a:pPr>
            <a:r>
              <a:rPr b="1" i="0" lang="en-US" sz="1700" u="none" cap="none" strike="noStrike">
                <a:solidFill>
                  <a:srgbClr val="FFFFFF"/>
                </a:solidFill>
                <a:latin typeface="Calibri"/>
                <a:ea typeface="Calibri"/>
                <a:cs typeface="Calibri"/>
                <a:sym typeface="Calibri"/>
              </a:rPr>
              <a:t>Bad candidate · remediation skill</a:t>
            </a:r>
            <a:endParaRPr b="0" i="0" sz="1400" u="none" cap="none" strike="noStrike">
              <a:solidFill>
                <a:srgbClr val="000000"/>
              </a:solidFill>
              <a:latin typeface="Arial"/>
              <a:ea typeface="Arial"/>
              <a:cs typeface="Arial"/>
              <a:sym typeface="Arial"/>
            </a:endParaRPr>
          </a:p>
        </p:txBody>
      </p:sp>
      <p:sp>
        <p:nvSpPr>
          <p:cNvPr id="1206" name="Google Shape;1206;p63"/>
          <p:cNvSpPr/>
          <p:nvPr/>
        </p:nvSpPr>
        <p:spPr>
          <a:xfrm>
            <a:off x="10012701" y="1783080"/>
            <a:ext cx="1417200" cy="457200"/>
          </a:xfrm>
          <a:prstGeom prst="roundRect">
            <a:avLst>
              <a:gd fmla="val 40000" name="adj"/>
            </a:avLst>
          </a:prstGeom>
          <a:solidFill>
            <a:srgbClr val="B91C1C"/>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REJECT</a:t>
            </a:r>
            <a:endParaRPr b="0" i="0" sz="1400" u="none" cap="none" strike="noStrike">
              <a:solidFill>
                <a:srgbClr val="000000"/>
              </a:solidFill>
              <a:latin typeface="Arial"/>
              <a:ea typeface="Arial"/>
              <a:cs typeface="Arial"/>
              <a:sym typeface="Arial"/>
            </a:endParaRPr>
          </a:p>
        </p:txBody>
      </p:sp>
      <p:sp>
        <p:nvSpPr>
          <p:cNvPr id="1207" name="Google Shape;1207;p63"/>
          <p:cNvSpPr txBox="1"/>
          <p:nvPr/>
        </p:nvSpPr>
        <p:spPr>
          <a:xfrm>
            <a:off x="6492253" y="2514600"/>
            <a:ext cx="4937700" cy="26976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F87171"/>
              </a:buClr>
              <a:buSzPts val="1700"/>
              <a:buFont typeface="Calibri"/>
              <a:buChar char="•"/>
            </a:pPr>
            <a:r>
              <a:rPr b="0" i="0" lang="en-US" sz="1700" u="none" cap="none" strike="noStrike">
                <a:solidFill>
                  <a:srgbClr val="D5DEEE"/>
                </a:solidFill>
                <a:latin typeface="Calibri"/>
                <a:ea typeface="Calibri"/>
                <a:cs typeface="Calibri"/>
                <a:sym typeface="Calibri"/>
              </a:rPr>
              <a:t>auth-vs-log: </a:t>
            </a:r>
            <a:r>
              <a:rPr b="1" i="0" lang="en-US" sz="1700" u="none" cap="none" strike="noStrike">
                <a:solidFill>
                  <a:srgbClr val="D5DEEE"/>
                </a:solidFill>
                <a:latin typeface="Calibri"/>
                <a:ea typeface="Calibri"/>
                <a:cs typeface="Calibri"/>
                <a:sym typeface="Calibri"/>
              </a:rPr>
              <a:t>FAIL</a:t>
            </a:r>
            <a:r>
              <a:rPr b="0" i="0" lang="en-US" sz="1700" u="none" cap="none" strike="noStrike">
                <a:solidFill>
                  <a:srgbClr val="D5DEEE"/>
                </a:solidFill>
                <a:latin typeface="Calibri"/>
                <a:ea typeface="Calibri"/>
                <a:cs typeface="Calibri"/>
                <a:sym typeface="Calibri"/>
              </a:rPr>
              <a:t>, withdraw missing</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1000"/>
              </a:spcBef>
              <a:spcAft>
                <a:spcPts val="0"/>
              </a:spcAft>
              <a:buClr>
                <a:srgbClr val="F87171"/>
              </a:buClr>
              <a:buSzPts val="1700"/>
              <a:buFont typeface="Calibri"/>
              <a:buChar char="•"/>
            </a:pPr>
            <a:r>
              <a:rPr b="0" i="0" lang="en-US" sz="1700" u="none" cap="none" strike="noStrike">
                <a:solidFill>
                  <a:srgbClr val="D5DEEE"/>
                </a:solidFill>
                <a:latin typeface="Calibri"/>
                <a:ea typeface="Calibri"/>
                <a:cs typeface="Calibri"/>
                <a:sym typeface="Calibri"/>
              </a:rPr>
              <a:t>keep-suite: </a:t>
            </a:r>
            <a:r>
              <a:rPr b="1" i="0" lang="en-US" sz="1700" u="none" cap="none" strike="noStrike">
                <a:solidFill>
                  <a:srgbClr val="D5DEEE"/>
                </a:solidFill>
                <a:latin typeface="Calibri"/>
                <a:ea typeface="Calibri"/>
                <a:cs typeface="Calibri"/>
                <a:sym typeface="Calibri"/>
              </a:rPr>
              <a:t>PASS → FAIL</a:t>
            </a:r>
            <a:r>
              <a:rPr b="0" i="0" lang="en-US" sz="1700" u="none" cap="none" strike="noStrike">
                <a:solidFill>
                  <a:srgbClr val="D5DEEE"/>
                </a:solidFill>
                <a:latin typeface="Calibri"/>
                <a:ea typeface="Calibri"/>
                <a:cs typeface="Calibri"/>
                <a:sym typeface="Calibri"/>
              </a:rPr>
              <a:t> (REGRESSED)</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1000"/>
              </a:spcBef>
              <a:spcAft>
                <a:spcPts val="0"/>
              </a:spcAft>
              <a:buClr>
                <a:srgbClr val="F87171"/>
              </a:buClr>
              <a:buSzPts val="1700"/>
              <a:buFont typeface="Calibri"/>
              <a:buChar char="•"/>
            </a:pPr>
            <a:r>
              <a:rPr b="0" i="0" lang="en-US" sz="1700" u="none" cap="none" strike="noStrike">
                <a:solidFill>
                  <a:srgbClr val="D5DEEE"/>
                </a:solidFill>
                <a:latin typeface="Calibri"/>
                <a:ea typeface="Calibri"/>
                <a:cs typeface="Calibri"/>
                <a:sym typeface="Calibri"/>
              </a:rPr>
              <a:t>Graduated: </a:t>
            </a:r>
            <a:r>
              <a:rPr b="1" i="0" lang="en-US" sz="1700" u="none" cap="none" strike="noStrike">
                <a:solidFill>
                  <a:srgbClr val="D5DEEE"/>
                </a:solidFill>
                <a:latin typeface="Calibri"/>
                <a:ea typeface="Calibri"/>
                <a:cs typeface="Calibri"/>
                <a:sym typeface="Calibri"/>
              </a:rPr>
              <a:t>none</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1000"/>
              </a:spcBef>
              <a:spcAft>
                <a:spcPts val="0"/>
              </a:spcAft>
              <a:buClr>
                <a:srgbClr val="F87171"/>
              </a:buClr>
              <a:buSzPts val="1700"/>
              <a:buFont typeface="Calibri"/>
              <a:buChar char="•"/>
            </a:pPr>
            <a:r>
              <a:rPr b="0" i="0" lang="en-US" sz="1700" u="none" cap="none" strike="noStrike">
                <a:solidFill>
                  <a:srgbClr val="D5DEEE"/>
                </a:solidFill>
                <a:latin typeface="Calibri"/>
                <a:ea typeface="Calibri"/>
                <a:cs typeface="Calibri"/>
                <a:sym typeface="Calibri"/>
              </a:rPr>
              <a:t>Phase 2: </a:t>
            </a:r>
            <a:r>
              <a:rPr b="1" i="0" lang="en-US" sz="1700" u="none" cap="none" strike="noStrike">
                <a:solidFill>
                  <a:srgbClr val="D5DEEE"/>
                </a:solidFill>
                <a:latin typeface="Calibri"/>
                <a:ea typeface="Calibri"/>
                <a:cs typeface="Calibri"/>
                <a:sym typeface="Calibri"/>
              </a:rPr>
              <a:t>blocked</a:t>
            </a:r>
            <a:r>
              <a:rPr b="0" i="0" lang="en-US" sz="1700" u="none" cap="none" strike="noStrike">
                <a:solidFill>
                  <a:srgbClr val="D5DEEE"/>
                </a:solidFill>
                <a:latin typeface="Calibri"/>
                <a:ea typeface="Calibri"/>
                <a:cs typeface="Calibri"/>
                <a:sym typeface="Calibri"/>
              </a:rPr>
              <a:t> at gate test 1</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1000"/>
              </a:spcBef>
              <a:spcAft>
                <a:spcPts val="0"/>
              </a:spcAft>
              <a:buClr>
                <a:srgbClr val="F87171"/>
              </a:buClr>
              <a:buSzPts val="1700"/>
              <a:buFont typeface="Calibri"/>
              <a:buChar char="•"/>
            </a:pPr>
            <a:r>
              <a:rPr b="0" i="0" lang="en-US" sz="1700" u="none" cap="none" strike="noStrike">
                <a:solidFill>
                  <a:srgbClr val="D5DEEE"/>
                </a:solidFill>
                <a:latin typeface="Calibri"/>
                <a:ea typeface="Calibri"/>
                <a:cs typeface="Calibri"/>
                <a:sym typeface="Calibri"/>
              </a:rPr>
              <a:t>Would have broken services in production</a:t>
            </a:r>
            <a:endParaRPr b="0" i="0" sz="1400" u="none" cap="none" strike="noStrike">
              <a:solidFill>
                <a:srgbClr val="000000"/>
              </a:solidFill>
              <a:latin typeface="Arial"/>
              <a:ea typeface="Arial"/>
              <a:cs typeface="Arial"/>
              <a:sym typeface="Arial"/>
            </a:endParaRPr>
          </a:p>
        </p:txBody>
      </p:sp>
      <p:sp>
        <p:nvSpPr>
          <p:cNvPr id="1208" name="Google Shape;1208;p63"/>
          <p:cNvSpPr txBox="1"/>
          <p:nvPr/>
        </p:nvSpPr>
        <p:spPr>
          <a:xfrm>
            <a:off x="548641" y="5120640"/>
            <a:ext cx="11094300" cy="6402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700"/>
              <a:buFont typeface="Arial"/>
              <a:buNone/>
            </a:pPr>
            <a:r>
              <a:rPr b="0" i="0" lang="en-US" sz="1700" u="none" cap="none" strike="noStrike">
                <a:solidFill>
                  <a:srgbClr val="5EEAD4"/>
                </a:solidFill>
                <a:latin typeface="Calibri"/>
                <a:ea typeface="Calibri"/>
                <a:cs typeface="Calibri"/>
                <a:sym typeface="Calibri"/>
              </a:rPr>
              <a:t>Both skills </a:t>
            </a:r>
            <a:r>
              <a:rPr b="1" i="0" lang="en-US" sz="1700" u="none" cap="none" strike="noStrike">
                <a:solidFill>
                  <a:srgbClr val="5EEAD4"/>
                </a:solidFill>
                <a:latin typeface="Calibri"/>
                <a:ea typeface="Calibri"/>
                <a:cs typeface="Calibri"/>
                <a:sym typeface="Calibri"/>
              </a:rPr>
              <a:t>sound</a:t>
            </a:r>
            <a:r>
              <a:rPr b="0" i="0" lang="en-US" sz="1700" u="none" cap="none" strike="noStrike">
                <a:solidFill>
                  <a:srgbClr val="5EEAD4"/>
                </a:solidFill>
                <a:latin typeface="Calibri"/>
                <a:ea typeface="Calibri"/>
                <a:cs typeface="Calibri"/>
                <a:sym typeface="Calibri"/>
              </a:rPr>
              <a:t> like stricter security. Only the </a:t>
            </a:r>
            <a:r>
              <a:rPr b="1" i="0" lang="en-US" sz="1700" u="none" cap="none" strike="noStrike">
                <a:solidFill>
                  <a:srgbClr val="5EEAD4"/>
                </a:solidFill>
                <a:latin typeface="Calibri"/>
                <a:ea typeface="Calibri"/>
                <a:cs typeface="Calibri"/>
                <a:sym typeface="Calibri"/>
              </a:rPr>
              <a:t>held-out labels</a:t>
            </a:r>
            <a:r>
              <a:rPr b="0" i="0" lang="en-US" sz="1700" u="none" cap="none" strike="noStrike">
                <a:solidFill>
                  <a:srgbClr val="5EEAD4"/>
                </a:solidFill>
                <a:latin typeface="Calibri"/>
                <a:ea typeface="Calibri"/>
                <a:cs typeface="Calibri"/>
                <a:sym typeface="Calibri"/>
              </a:rPr>
              <a:t>, </a:t>
            </a:r>
            <a:r>
              <a:rPr b="1" i="0" lang="en-US" sz="1700" u="none" cap="none" strike="noStrike">
                <a:solidFill>
                  <a:srgbClr val="5EEAD4"/>
                </a:solidFill>
                <a:latin typeface="Calibri"/>
                <a:ea typeface="Calibri"/>
                <a:cs typeface="Calibri"/>
                <a:sym typeface="Calibri"/>
              </a:rPr>
              <a:t>pytest</a:t>
            </a:r>
            <a:r>
              <a:rPr b="0" i="0" lang="en-US" sz="1700" u="none" cap="none" strike="noStrike">
                <a:solidFill>
                  <a:srgbClr val="5EEAD4"/>
                </a:solidFill>
                <a:latin typeface="Calibri"/>
                <a:ea typeface="Calibri"/>
                <a:cs typeface="Calibri"/>
                <a:sym typeface="Calibri"/>
              </a:rPr>
              <a:t> and the </a:t>
            </a:r>
            <a:r>
              <a:rPr b="1" i="0" lang="en-US" sz="1700" u="none" cap="none" strike="noStrike">
                <a:solidFill>
                  <a:srgbClr val="5EEAD4"/>
                </a:solidFill>
                <a:latin typeface="Calibri"/>
                <a:ea typeface="Calibri"/>
                <a:cs typeface="Calibri"/>
                <a:sym typeface="Calibri"/>
              </a:rPr>
              <a:t>gate</a:t>
            </a:r>
            <a:r>
              <a:rPr b="0" i="0" lang="en-US" sz="1700" u="none" cap="none" strike="noStrike">
                <a:solidFill>
                  <a:srgbClr val="5EEAD4"/>
                </a:solidFill>
                <a:latin typeface="Calibri"/>
                <a:ea typeface="Calibri"/>
                <a:cs typeface="Calibri"/>
                <a:sym typeface="Calibri"/>
              </a:rPr>
              <a:t> told them apart.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3" name="Shape 1213"/>
        <p:cNvGrpSpPr/>
        <p:nvPr/>
      </p:nvGrpSpPr>
      <p:grpSpPr>
        <a:xfrm>
          <a:off x="0" y="0"/>
          <a:ext cx="0" cy="0"/>
          <a:chOff x="0" y="0"/>
          <a:chExt cx="0" cy="0"/>
        </a:xfrm>
      </p:grpSpPr>
      <p:sp>
        <p:nvSpPr>
          <p:cNvPr id="1214" name="Google Shape;1214;p64"/>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What if we had shipped on gut feeling?</a:t>
            </a:r>
            <a:endParaRPr b="0" i="0" sz="1400" u="none" cap="none" strike="noStrike">
              <a:solidFill>
                <a:srgbClr val="000000"/>
              </a:solidFill>
              <a:latin typeface="Arial"/>
              <a:ea typeface="Arial"/>
              <a:cs typeface="Arial"/>
              <a:sym typeface="Arial"/>
            </a:endParaRPr>
          </a:p>
        </p:txBody>
      </p:sp>
      <p:sp>
        <p:nvSpPr>
          <p:cNvPr id="1215" name="Google Shape;1215;p64"/>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334155"/>
                </a:solidFill>
                <a:latin typeface="Calibri"/>
                <a:ea typeface="Calibri"/>
                <a:cs typeface="Calibri"/>
                <a:sym typeface="Calibri"/>
              </a:rPr>
              <a:t>Hypothetical counterfactual.</a:t>
            </a:r>
            <a:r>
              <a:rPr b="0" i="0" lang="en-US" sz="1600" u="none" cap="none" strike="noStrike">
                <a:solidFill>
                  <a:srgbClr val="334155"/>
                </a:solidFill>
                <a:latin typeface="Calibri"/>
                <a:ea typeface="Calibri"/>
                <a:cs typeface="Calibri"/>
                <a:sym typeface="Calibri"/>
              </a:rPr>
              <a:t> Both skills read as "stricter security" in a design review.</a:t>
            </a:r>
            <a:endParaRPr b="0" i="0" sz="1400" u="none" cap="none" strike="noStrike">
              <a:solidFill>
                <a:srgbClr val="000000"/>
              </a:solidFill>
              <a:latin typeface="Arial"/>
              <a:ea typeface="Arial"/>
              <a:cs typeface="Arial"/>
              <a:sym typeface="Arial"/>
            </a:endParaRPr>
          </a:p>
        </p:txBody>
      </p:sp>
      <p:sp>
        <p:nvSpPr>
          <p:cNvPr id="1216" name="Google Shape;1216;p64"/>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Results &amp; verdict</a:t>
            </a:r>
            <a:endParaRPr b="0" i="0" sz="1400" u="none" cap="none" strike="noStrike">
              <a:solidFill>
                <a:srgbClr val="000000"/>
              </a:solidFill>
              <a:latin typeface="Arial"/>
              <a:ea typeface="Arial"/>
              <a:cs typeface="Arial"/>
              <a:sym typeface="Arial"/>
            </a:endParaRPr>
          </a:p>
        </p:txBody>
      </p:sp>
      <p:sp>
        <p:nvSpPr>
          <p:cNvPr id="1217" name="Google Shape;1217;p64"/>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lang="en-US" sz="1000">
                <a:solidFill>
                  <a:srgbClr val="64748B"/>
                </a:solidFill>
                <a:latin typeface="Calibri"/>
                <a:ea typeface="Calibri"/>
                <a:cs typeface="Calibri"/>
                <a:sym typeface="Calibri"/>
              </a:rPr>
              <a:t>40</a:t>
            </a:r>
            <a:endParaRPr b="0" i="0" sz="1400" u="none" cap="none" strike="noStrike">
              <a:solidFill>
                <a:srgbClr val="000000"/>
              </a:solidFill>
              <a:latin typeface="Arial"/>
              <a:ea typeface="Arial"/>
              <a:cs typeface="Arial"/>
              <a:sym typeface="Arial"/>
            </a:endParaRPr>
          </a:p>
        </p:txBody>
      </p:sp>
      <p:sp>
        <p:nvSpPr>
          <p:cNvPr id="1218" name="Google Shape;1218;p64"/>
          <p:cNvSpPr/>
          <p:nvPr/>
        </p:nvSpPr>
        <p:spPr>
          <a:xfrm>
            <a:off x="548641" y="1600200"/>
            <a:ext cx="4755000" cy="274200"/>
          </a:xfrm>
          <a:prstGeom prst="roundRect">
            <a:avLst>
              <a:gd fmla="val 50000" name="adj"/>
            </a:avLst>
          </a:prstGeom>
          <a:solidFill>
            <a:srgbClr val="EDE9FE"/>
          </a:solidFill>
          <a:ln>
            <a:noFill/>
          </a:ln>
        </p:spPr>
        <p:txBody>
          <a:bodyPr anchorCtr="0" anchor="ctr" bIns="36575" lIns="36575" spcFirstLastPara="1" rIns="36575" wrap="square" tIns="365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6D28D9"/>
                </a:solidFill>
                <a:latin typeface="Calibri"/>
                <a:ea typeface="Calibri"/>
                <a:cs typeface="Calibri"/>
                <a:sym typeface="Calibri"/>
              </a:rPr>
              <a:t>HYPOTHETICAL · ILLUSTRATES THE COST OF NO EVIDENCE</a:t>
            </a:r>
            <a:endParaRPr b="0" i="0" sz="1400" u="none" cap="none" strike="noStrike">
              <a:solidFill>
                <a:srgbClr val="000000"/>
              </a:solidFill>
              <a:latin typeface="Arial"/>
              <a:ea typeface="Arial"/>
              <a:cs typeface="Arial"/>
              <a:sym typeface="Arial"/>
            </a:endParaRPr>
          </a:p>
        </p:txBody>
      </p:sp>
      <p:sp>
        <p:nvSpPr>
          <p:cNvPr id="1219" name="Google Shape;1219;p64"/>
          <p:cNvSpPr/>
          <p:nvPr/>
        </p:nvSpPr>
        <p:spPr>
          <a:xfrm>
            <a:off x="1417322" y="2057400"/>
            <a:ext cx="411600" cy="411600"/>
          </a:xfrm>
          <a:prstGeom prst="ellipse">
            <a:avLst/>
          </a:prstGeom>
          <a:solidFill>
            <a:srgbClr val="B45309"/>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1220" name="Google Shape;1220;p64"/>
          <p:cNvSpPr/>
          <p:nvPr/>
        </p:nvSpPr>
        <p:spPr>
          <a:xfrm>
            <a:off x="548641" y="2606040"/>
            <a:ext cx="2103000" cy="1920300"/>
          </a:xfrm>
          <a:prstGeom prst="roundRect">
            <a:avLst>
              <a:gd fmla="val 8000" name="adj"/>
            </a:avLst>
          </a:prstGeom>
          <a:solidFill>
            <a:srgbClr val="FEF3C7"/>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1" name="Google Shape;1221;p64"/>
          <p:cNvSpPr txBox="1"/>
          <p:nvPr/>
        </p:nvSpPr>
        <p:spPr>
          <a:xfrm>
            <a:off x="685801" y="2697480"/>
            <a:ext cx="18288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B45309"/>
                </a:solidFill>
                <a:latin typeface="Calibri"/>
                <a:ea typeface="Calibri"/>
                <a:cs typeface="Calibri"/>
                <a:sym typeface="Calibri"/>
              </a:rPr>
              <a:t>Design review</a:t>
            </a:r>
            <a:endParaRPr b="0" i="0" sz="1400" u="none" cap="none" strike="noStrike">
              <a:solidFill>
                <a:srgbClr val="000000"/>
              </a:solidFill>
              <a:latin typeface="Arial"/>
              <a:ea typeface="Arial"/>
              <a:cs typeface="Arial"/>
              <a:sym typeface="Arial"/>
            </a:endParaRPr>
          </a:p>
        </p:txBody>
      </p:sp>
      <p:sp>
        <p:nvSpPr>
          <p:cNvPr id="1222" name="Google Shape;1222;p64"/>
          <p:cNvSpPr txBox="1"/>
          <p:nvPr/>
        </p:nvSpPr>
        <p:spPr>
          <a:xfrm>
            <a:off x="685801" y="3063240"/>
            <a:ext cx="1828800" cy="141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"Never leave tx.origin in production" wins the room: it sounds the strictest.</a:t>
            </a:r>
            <a:endParaRPr b="0" i="0" sz="1400" u="none" cap="none" strike="noStrike">
              <a:solidFill>
                <a:srgbClr val="000000"/>
              </a:solidFill>
              <a:latin typeface="Arial"/>
              <a:ea typeface="Arial"/>
              <a:cs typeface="Arial"/>
              <a:sym typeface="Arial"/>
            </a:endParaRPr>
          </a:p>
        </p:txBody>
      </p:sp>
      <p:sp>
        <p:nvSpPr>
          <p:cNvPr id="1223" name="Google Shape;1223;p64"/>
          <p:cNvSpPr/>
          <p:nvPr/>
        </p:nvSpPr>
        <p:spPr>
          <a:xfrm>
            <a:off x="3657607" y="2057400"/>
            <a:ext cx="411600" cy="411600"/>
          </a:xfrm>
          <a:prstGeom prst="ellipse">
            <a:avLst/>
          </a:prstGeom>
          <a:solidFill>
            <a:srgbClr val="B45309"/>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1224" name="Google Shape;1224;p64"/>
          <p:cNvSpPr/>
          <p:nvPr/>
        </p:nvSpPr>
        <p:spPr>
          <a:xfrm>
            <a:off x="2788926" y="2606040"/>
            <a:ext cx="2103000" cy="1920300"/>
          </a:xfrm>
          <a:prstGeom prst="roundRect">
            <a:avLst>
              <a:gd fmla="val 8000" name="adj"/>
            </a:avLst>
          </a:prstGeom>
          <a:solidFill>
            <a:srgbClr val="FEF3C7"/>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5" name="Google Shape;1225;p64"/>
          <p:cNvSpPr txBox="1"/>
          <p:nvPr/>
        </p:nvSpPr>
        <p:spPr>
          <a:xfrm>
            <a:off x="2926086" y="2697480"/>
            <a:ext cx="18288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B45309"/>
                </a:solidFill>
                <a:latin typeface="Calibri"/>
                <a:ea typeface="Calibri"/>
                <a:cs typeface="Calibri"/>
                <a:sym typeface="Calibri"/>
              </a:rPr>
              <a:t>Rollout</a:t>
            </a:r>
            <a:endParaRPr b="0" i="0" sz="1400" u="none" cap="none" strike="noStrike">
              <a:solidFill>
                <a:srgbClr val="000000"/>
              </a:solidFill>
              <a:latin typeface="Arial"/>
              <a:ea typeface="Arial"/>
              <a:cs typeface="Arial"/>
              <a:sym typeface="Arial"/>
            </a:endParaRPr>
          </a:p>
        </p:txBody>
      </p:sp>
      <p:sp>
        <p:nvSpPr>
          <p:cNvPr id="1226" name="Google Shape;1226;p64"/>
          <p:cNvSpPr txBox="1"/>
          <p:nvPr/>
        </p:nvSpPr>
        <p:spPr>
          <a:xfrm>
            <a:off x="2926086" y="3063240"/>
            <a:ext cx="1828800" cy="141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Every engineer's agent gets the skill. No baseline, no gate.</a:t>
            </a:r>
            <a:endParaRPr b="0" i="0" sz="1400" u="none" cap="none" strike="noStrike">
              <a:solidFill>
                <a:srgbClr val="000000"/>
              </a:solidFill>
              <a:latin typeface="Arial"/>
              <a:ea typeface="Arial"/>
              <a:cs typeface="Arial"/>
              <a:sym typeface="Arial"/>
            </a:endParaRPr>
          </a:p>
        </p:txBody>
      </p:sp>
      <p:sp>
        <p:nvSpPr>
          <p:cNvPr id="1227" name="Google Shape;1227;p64"/>
          <p:cNvSpPr/>
          <p:nvPr/>
        </p:nvSpPr>
        <p:spPr>
          <a:xfrm>
            <a:off x="5897892" y="2057400"/>
            <a:ext cx="411600" cy="411600"/>
          </a:xfrm>
          <a:prstGeom prst="ellipse">
            <a:avLst/>
          </a:prstGeom>
          <a:solidFill>
            <a:srgbClr val="B91C1C"/>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1228" name="Google Shape;1228;p64"/>
          <p:cNvSpPr/>
          <p:nvPr/>
        </p:nvSpPr>
        <p:spPr>
          <a:xfrm>
            <a:off x="5029210" y="2606040"/>
            <a:ext cx="2103000" cy="1920300"/>
          </a:xfrm>
          <a:prstGeom prst="roundRect">
            <a:avLst>
              <a:gd fmla="val 8000" name="adj"/>
            </a:avLst>
          </a:prstGeom>
          <a:solidFill>
            <a:srgbClr val="FEE2E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9" name="Google Shape;1229;p64"/>
          <p:cNvSpPr txBox="1"/>
          <p:nvPr/>
        </p:nvSpPr>
        <p:spPr>
          <a:xfrm>
            <a:off x="5166371" y="2697480"/>
            <a:ext cx="18288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B91C1C"/>
                </a:solidFill>
                <a:latin typeface="Calibri"/>
                <a:ea typeface="Calibri"/>
                <a:cs typeface="Calibri"/>
                <a:sym typeface="Calibri"/>
              </a:rPr>
              <a:t>Week 1</a:t>
            </a:r>
            <a:endParaRPr b="0" i="0" sz="1400" u="none" cap="none" strike="noStrike">
              <a:solidFill>
                <a:srgbClr val="000000"/>
              </a:solidFill>
              <a:latin typeface="Arial"/>
              <a:ea typeface="Arial"/>
              <a:cs typeface="Arial"/>
              <a:sym typeface="Arial"/>
            </a:endParaRPr>
          </a:p>
        </p:txBody>
      </p:sp>
      <p:sp>
        <p:nvSpPr>
          <p:cNvPr id="1230" name="Google Shape;1230;p64"/>
          <p:cNvSpPr txBox="1"/>
          <p:nvPr/>
        </p:nvSpPr>
        <p:spPr>
          <a:xfrm>
            <a:off x="5166371" y="3063240"/>
            <a:ext cx="1828800" cy="141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Agents "harden" config: versions bumped, retries set to 0 in real services.</a:t>
            </a:r>
            <a:endParaRPr b="0" i="0" sz="1400" u="none" cap="none" strike="noStrike">
              <a:solidFill>
                <a:srgbClr val="000000"/>
              </a:solidFill>
              <a:latin typeface="Arial"/>
              <a:ea typeface="Arial"/>
              <a:cs typeface="Arial"/>
              <a:sym typeface="Arial"/>
            </a:endParaRPr>
          </a:p>
        </p:txBody>
      </p:sp>
      <p:sp>
        <p:nvSpPr>
          <p:cNvPr id="1231" name="Google Shape;1231;p64"/>
          <p:cNvSpPr/>
          <p:nvPr/>
        </p:nvSpPr>
        <p:spPr>
          <a:xfrm>
            <a:off x="8138177" y="2057400"/>
            <a:ext cx="411600" cy="411600"/>
          </a:xfrm>
          <a:prstGeom prst="ellipse">
            <a:avLst/>
          </a:prstGeom>
          <a:solidFill>
            <a:srgbClr val="B91C1C"/>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232" name="Google Shape;1232;p64"/>
          <p:cNvSpPr/>
          <p:nvPr/>
        </p:nvSpPr>
        <p:spPr>
          <a:xfrm>
            <a:off x="7269495" y="2606040"/>
            <a:ext cx="2103000" cy="1920300"/>
          </a:xfrm>
          <a:prstGeom prst="roundRect">
            <a:avLst>
              <a:gd fmla="val 8000" name="adj"/>
            </a:avLst>
          </a:prstGeom>
          <a:solidFill>
            <a:srgbClr val="FEE2E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33" name="Google Shape;1233;p64"/>
          <p:cNvSpPr txBox="1"/>
          <p:nvPr/>
        </p:nvSpPr>
        <p:spPr>
          <a:xfrm>
            <a:off x="7406655" y="2697480"/>
            <a:ext cx="18288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B91C1C"/>
                </a:solidFill>
                <a:latin typeface="Calibri"/>
                <a:ea typeface="Calibri"/>
                <a:cs typeface="Calibri"/>
                <a:sym typeface="Calibri"/>
              </a:rPr>
              <a:t>Week 2</a:t>
            </a:r>
            <a:endParaRPr b="0" i="0" sz="1400" u="none" cap="none" strike="noStrike">
              <a:solidFill>
                <a:srgbClr val="000000"/>
              </a:solidFill>
              <a:latin typeface="Arial"/>
              <a:ea typeface="Arial"/>
              <a:cs typeface="Arial"/>
              <a:sym typeface="Arial"/>
            </a:endParaRPr>
          </a:p>
        </p:txBody>
      </p:sp>
      <p:sp>
        <p:nvSpPr>
          <p:cNvPr id="1234" name="Google Shape;1234;p64"/>
          <p:cNvSpPr txBox="1"/>
          <p:nvPr/>
        </p:nvSpPr>
        <p:spPr>
          <a:xfrm>
            <a:off x="7406655" y="3063240"/>
            <a:ext cx="1828800" cy="141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Audits list what was changed, not what is vulnerable. Real auth bugs slip through.</a:t>
            </a:r>
            <a:endParaRPr b="0" i="0" sz="1400" u="none" cap="none" strike="noStrike">
              <a:solidFill>
                <a:srgbClr val="000000"/>
              </a:solidFill>
              <a:latin typeface="Arial"/>
              <a:ea typeface="Arial"/>
              <a:cs typeface="Arial"/>
              <a:sym typeface="Arial"/>
            </a:endParaRPr>
          </a:p>
        </p:txBody>
      </p:sp>
      <p:sp>
        <p:nvSpPr>
          <p:cNvPr id="1235" name="Google Shape;1235;p64"/>
          <p:cNvSpPr/>
          <p:nvPr/>
        </p:nvSpPr>
        <p:spPr>
          <a:xfrm>
            <a:off x="10378461" y="2057400"/>
            <a:ext cx="411600" cy="411600"/>
          </a:xfrm>
          <a:prstGeom prst="ellipse">
            <a:avLst/>
          </a:prstGeom>
          <a:solidFill>
            <a:srgbClr val="B91C1C"/>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1236" name="Google Shape;1236;p64"/>
          <p:cNvSpPr/>
          <p:nvPr/>
        </p:nvSpPr>
        <p:spPr>
          <a:xfrm>
            <a:off x="9509780" y="2606040"/>
            <a:ext cx="2103000" cy="1920300"/>
          </a:xfrm>
          <a:prstGeom prst="roundRect">
            <a:avLst>
              <a:gd fmla="val 8000" name="adj"/>
            </a:avLst>
          </a:prstGeom>
          <a:solidFill>
            <a:srgbClr val="FEE2E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37" name="Google Shape;1237;p64"/>
          <p:cNvSpPr txBox="1"/>
          <p:nvPr/>
        </p:nvSpPr>
        <p:spPr>
          <a:xfrm>
            <a:off x="9646940" y="2697480"/>
            <a:ext cx="18288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B91C1C"/>
                </a:solidFill>
                <a:latin typeface="Calibri"/>
                <a:ea typeface="Calibri"/>
                <a:cs typeface="Calibri"/>
                <a:sym typeface="Calibri"/>
              </a:rPr>
              <a:t>Incident</a:t>
            </a:r>
            <a:endParaRPr b="0" i="0" sz="1400" u="none" cap="none" strike="noStrike">
              <a:solidFill>
                <a:srgbClr val="000000"/>
              </a:solidFill>
              <a:latin typeface="Arial"/>
              <a:ea typeface="Arial"/>
              <a:cs typeface="Arial"/>
              <a:sym typeface="Arial"/>
            </a:endParaRPr>
          </a:p>
        </p:txBody>
      </p:sp>
      <p:sp>
        <p:nvSpPr>
          <p:cNvPr id="1238" name="Google Shape;1238;p64"/>
          <p:cNvSpPr txBox="1"/>
          <p:nvPr/>
        </p:nvSpPr>
        <p:spPr>
          <a:xfrm>
            <a:off x="9646940" y="3063240"/>
            <a:ext cx="1828800" cy="141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50"/>
              <a:buFont typeface="Arial"/>
              <a:buNone/>
            </a:pPr>
            <a:r>
              <a:rPr b="0" i="0" lang="en-US" sz="1250" u="none" cap="none" strike="noStrike">
                <a:solidFill>
                  <a:srgbClr val="334155"/>
                </a:solidFill>
                <a:latin typeface="Calibri"/>
                <a:ea typeface="Calibri"/>
                <a:cs typeface="Calibri"/>
                <a:sym typeface="Calibri"/>
              </a:rPr>
              <a:t>Outages and a missed exploit. Nobody can tell whether the skill, the model or the code caused it.</a:t>
            </a:r>
            <a:endParaRPr b="0" i="0" sz="1400" u="none" cap="none" strike="noStrike">
              <a:solidFill>
                <a:srgbClr val="000000"/>
              </a:solidFill>
              <a:latin typeface="Arial"/>
              <a:ea typeface="Arial"/>
              <a:cs typeface="Arial"/>
              <a:sym typeface="Arial"/>
            </a:endParaRPr>
          </a:p>
        </p:txBody>
      </p:sp>
      <p:sp>
        <p:nvSpPr>
          <p:cNvPr id="1239" name="Google Shape;1239;p64"/>
          <p:cNvSpPr/>
          <p:nvPr/>
        </p:nvSpPr>
        <p:spPr>
          <a:xfrm>
            <a:off x="548641" y="4754880"/>
            <a:ext cx="11094300" cy="1417200"/>
          </a:xfrm>
          <a:prstGeom prst="roundRect">
            <a:avLst>
              <a:gd fmla="val 8000" name="adj"/>
            </a:avLst>
          </a:prstGeom>
          <a:solidFill>
            <a:srgbClr val="D1FAE5"/>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40" name="Google Shape;1240;p64"/>
          <p:cNvSpPr txBox="1"/>
          <p:nvPr/>
        </p:nvSpPr>
        <p:spPr>
          <a:xfrm>
            <a:off x="822962" y="4846320"/>
            <a:ext cx="10607100" cy="36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047857"/>
                </a:solidFill>
                <a:latin typeface="Calibri"/>
                <a:ea typeface="Calibri"/>
                <a:cs typeface="Calibri"/>
                <a:sym typeface="Calibri"/>
              </a:rPr>
              <a:t>What actually happened with evidence</a:t>
            </a:r>
            <a:endParaRPr b="0" i="0" sz="1400" u="none" cap="none" strike="noStrike">
              <a:solidFill>
                <a:srgbClr val="000000"/>
              </a:solidFill>
              <a:latin typeface="Arial"/>
              <a:ea typeface="Arial"/>
              <a:cs typeface="Arial"/>
              <a:sym typeface="Arial"/>
            </a:endParaRPr>
          </a:p>
        </p:txBody>
      </p:sp>
      <p:sp>
        <p:nvSpPr>
          <p:cNvPr id="1241" name="Google Shape;1241;p64"/>
          <p:cNvSpPr txBox="1"/>
          <p:nvPr/>
        </p:nvSpPr>
        <p:spPr>
          <a:xfrm>
            <a:off x="822962" y="5230368"/>
            <a:ext cx="106071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334155"/>
                </a:solidFill>
                <a:latin typeface="Calibri"/>
                <a:ea typeface="Calibri"/>
                <a:cs typeface="Calibri"/>
                <a:sym typeface="Calibri"/>
              </a:rPr>
              <a:t>Blocked in </a:t>
            </a:r>
            <a:r>
              <a:rPr b="1" i="0" lang="en-US" sz="1400" u="none" cap="none" strike="noStrike">
                <a:solidFill>
                  <a:srgbClr val="334155"/>
                </a:solidFill>
                <a:latin typeface="Calibri"/>
                <a:ea typeface="Calibri"/>
                <a:cs typeface="Calibri"/>
                <a:sym typeface="Calibri"/>
              </a:rPr>
              <a:t>Phase 1</a:t>
            </a:r>
            <a:r>
              <a:rPr b="0" i="0" lang="en-US" sz="1400" u="none" cap="none" strike="noStrike">
                <a:solidFill>
                  <a:srgbClr val="334155"/>
                </a:solidFill>
                <a:latin typeface="Calibri"/>
                <a:ea typeface="Calibri"/>
                <a:cs typeface="Calibri"/>
                <a:sym typeface="Calibri"/>
              </a:rPr>
              <a:t>, before any rollout: </a:t>
            </a:r>
            <a:r>
              <a:rPr b="0" i="0" lang="en-US" sz="1400" u="none" cap="none" strike="noStrike">
                <a:solidFill>
                  <a:srgbClr val="047857"/>
                </a:solidFill>
                <a:latin typeface="Courier New"/>
                <a:ea typeface="Courier New"/>
                <a:cs typeface="Courier New"/>
                <a:sym typeface="Courier New"/>
              </a:rPr>
              <a:t>regression task keep-suite regressed (PASS→FAIL)</a:t>
            </a:r>
            <a:r>
              <a:rPr b="0" i="0" lang="en-US" sz="1400" u="none" cap="none" strike="noStrike">
                <a:solidFill>
                  <a:srgbClr val="334155"/>
                </a:solidFill>
                <a:latin typeface="Calibri"/>
                <a:ea typeface="Calibri"/>
                <a:cs typeface="Calibri"/>
                <a:sym typeface="Calibri"/>
              </a:rPr>
              <a:t>. Cost of finding out: </a:t>
            </a:r>
            <a:r>
              <a:rPr b="1" i="0" lang="en-US" sz="1400" u="none" cap="none" strike="noStrike">
                <a:solidFill>
                  <a:srgbClr val="334155"/>
                </a:solidFill>
                <a:latin typeface="Calibri"/>
                <a:ea typeface="Calibri"/>
                <a:cs typeface="Calibri"/>
                <a:sym typeface="Calibri"/>
              </a:rPr>
              <a:t>$0.00</a:t>
            </a:r>
            <a:r>
              <a:rPr b="0" i="0" lang="en-US" sz="1400" u="none" cap="none" strike="noStrike">
                <a:solidFill>
                  <a:srgbClr val="334155"/>
                </a:solidFill>
                <a:latin typeface="Calibri"/>
                <a:ea typeface="Calibri"/>
                <a:cs typeface="Calibri"/>
                <a:sym typeface="Calibri"/>
              </a:rPr>
              <a:t> (dry run), and the cause is attributable to </a:t>
            </a:r>
            <a:r>
              <a:rPr b="1" i="0" lang="en-US" sz="1400" u="none" cap="none" strike="noStrike">
                <a:solidFill>
                  <a:srgbClr val="334155"/>
                </a:solidFill>
                <a:latin typeface="Calibri"/>
                <a:ea typeface="Calibri"/>
                <a:cs typeface="Calibri"/>
                <a:sym typeface="Calibri"/>
              </a:rPr>
              <a:t>one changed file</a:t>
            </a:r>
            <a:r>
              <a:rPr b="0" i="0" lang="en-US" sz="1400" u="none" cap="none" strike="noStrike">
                <a:solidFill>
                  <a:srgbClr val="33415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1246" name="Shape 1246"/>
        <p:cNvGrpSpPr/>
        <p:nvPr/>
      </p:nvGrpSpPr>
      <p:grpSpPr>
        <a:xfrm>
          <a:off x="0" y="0"/>
          <a:ext cx="0" cy="0"/>
          <a:chOff x="0" y="0"/>
          <a:chExt cx="0" cy="0"/>
        </a:xfrm>
      </p:grpSpPr>
      <p:sp>
        <p:nvSpPr>
          <p:cNvPr id="1247" name="Google Shape;1247;p65"/>
          <p:cNvSpPr/>
          <p:nvPr/>
        </p:nvSpPr>
        <p:spPr>
          <a:xfrm>
            <a:off x="731522" y="2331720"/>
            <a:ext cx="1005900" cy="10059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sp>
        <p:nvSpPr>
          <p:cNvPr id="1248" name="Google Shape;1248;p65"/>
          <p:cNvSpPr txBox="1"/>
          <p:nvPr/>
        </p:nvSpPr>
        <p:spPr>
          <a:xfrm>
            <a:off x="2011684" y="2240280"/>
            <a:ext cx="9144000" cy="7314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4000"/>
              <a:buFont typeface="Arial"/>
              <a:buNone/>
            </a:pPr>
            <a:r>
              <a:rPr b="1" i="0" lang="en-US" sz="4000" u="none" cap="none" strike="noStrike">
                <a:solidFill>
                  <a:srgbClr val="FFFFFF"/>
                </a:solidFill>
                <a:latin typeface="Calibri"/>
                <a:ea typeface="Calibri"/>
                <a:cs typeface="Calibri"/>
                <a:sym typeface="Calibri"/>
              </a:rPr>
              <a:t>What I cut, and why</a:t>
            </a:r>
            <a:endParaRPr b="0" i="0" sz="1400" u="none" cap="none" strike="noStrike">
              <a:solidFill>
                <a:srgbClr val="000000"/>
              </a:solidFill>
              <a:latin typeface="Arial"/>
              <a:ea typeface="Arial"/>
              <a:cs typeface="Arial"/>
              <a:sym typeface="Arial"/>
            </a:endParaRPr>
          </a:p>
        </p:txBody>
      </p:sp>
      <p:sp>
        <p:nvSpPr>
          <p:cNvPr id="1249" name="Google Shape;1249;p65"/>
          <p:cNvSpPr txBox="1"/>
          <p:nvPr/>
        </p:nvSpPr>
        <p:spPr>
          <a:xfrm>
            <a:off x="2011684" y="3017520"/>
            <a:ext cx="9144000" cy="109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800"/>
              <a:buFont typeface="Arial"/>
              <a:buNone/>
            </a:pPr>
            <a:r>
              <a:rPr b="0" i="0" lang="en-US" sz="1800" u="none" cap="none" strike="noStrike">
                <a:solidFill>
                  <a:srgbClr val="B6C3DA"/>
                </a:solidFill>
                <a:latin typeface="Calibri"/>
                <a:ea typeface="Calibri"/>
                <a:cs typeface="Calibri"/>
                <a:sym typeface="Calibri"/>
              </a:rPr>
              <a:t>The core is built. The workflow around designing, validating and iterating on evals is not, and the cut was deliberate.</a:t>
            </a:r>
            <a:endParaRPr b="0" i="0" sz="1400" u="none" cap="none" strike="noStrike">
              <a:solidFill>
                <a:srgbClr val="000000"/>
              </a:solidFill>
              <a:latin typeface="Arial"/>
              <a:ea typeface="Arial"/>
              <a:cs typeface="Arial"/>
              <a:sym typeface="Arial"/>
            </a:endParaRPr>
          </a:p>
        </p:txBody>
      </p:sp>
      <p:sp>
        <p:nvSpPr>
          <p:cNvPr id="1250" name="Google Shape;1250;p65"/>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What we cut, and why</a:t>
            </a:r>
            <a:endParaRPr b="0" i="0" sz="1400" u="none" cap="none" strike="noStrike">
              <a:solidFill>
                <a:srgbClr val="000000"/>
              </a:solidFill>
              <a:latin typeface="Arial"/>
              <a:ea typeface="Arial"/>
              <a:cs typeface="Arial"/>
              <a:sym typeface="Arial"/>
            </a:endParaRPr>
          </a:p>
        </p:txBody>
      </p:sp>
      <p:sp>
        <p:nvSpPr>
          <p:cNvPr id="1251" name="Google Shape;1251;p65"/>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4</a:t>
            </a:r>
            <a:r>
              <a:rPr lang="en-US" sz="1000">
                <a:solidFill>
                  <a:srgbClr val="8091B0"/>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6" name="Shape 1256"/>
        <p:cNvGrpSpPr/>
        <p:nvPr/>
      </p:nvGrpSpPr>
      <p:grpSpPr>
        <a:xfrm>
          <a:off x="0" y="0"/>
          <a:ext cx="0" cy="0"/>
          <a:chOff x="0" y="0"/>
          <a:chExt cx="0" cy="0"/>
        </a:xfrm>
      </p:grpSpPr>
      <p:sp>
        <p:nvSpPr>
          <p:cNvPr id="1257" name="Google Shape;1257;p66"/>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The core is built; the workflow around it is cut</a:t>
            </a:r>
            <a:endParaRPr b="0" i="0" sz="1400" u="none" cap="none" strike="noStrike">
              <a:solidFill>
                <a:srgbClr val="000000"/>
              </a:solidFill>
              <a:latin typeface="Arial"/>
              <a:ea typeface="Arial"/>
              <a:cs typeface="Arial"/>
              <a:sym typeface="Arial"/>
            </a:endParaRPr>
          </a:p>
        </p:txBody>
      </p:sp>
      <p:sp>
        <p:nvSpPr>
          <p:cNvPr id="1258" name="Google Shape;1258;p66"/>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We built </a:t>
            </a:r>
            <a:r>
              <a:rPr b="1" i="0" lang="en-US" sz="1600" u="none" cap="none" strike="noStrike">
                <a:solidFill>
                  <a:srgbClr val="334155"/>
                </a:solidFill>
                <a:latin typeface="Calibri"/>
                <a:ea typeface="Calibri"/>
                <a:cs typeface="Calibri"/>
                <a:sym typeface="Calibri"/>
              </a:rPr>
              <a:t>run + grade + compare + gate</a:t>
            </a:r>
            <a:r>
              <a:rPr b="0" i="0" lang="en-US" sz="1600" u="none" cap="none" strike="noStrike">
                <a:solidFill>
                  <a:srgbClr val="334155"/>
                </a:solidFill>
                <a:latin typeface="Calibri"/>
                <a:ea typeface="Calibri"/>
                <a:cs typeface="Calibri"/>
                <a:sym typeface="Calibri"/>
              </a:rPr>
              <a:t>. The gaps are about </a:t>
            </a:r>
            <a:r>
              <a:rPr b="1" i="0" lang="en-US" sz="1600" u="none" cap="none" strike="noStrike">
                <a:solidFill>
                  <a:srgbClr val="334155"/>
                </a:solidFill>
                <a:latin typeface="Calibri"/>
                <a:ea typeface="Calibri"/>
                <a:cs typeface="Calibri"/>
                <a:sym typeface="Calibri"/>
              </a:rPr>
              <a:t>designing, validating and iterating</a:t>
            </a:r>
            <a:r>
              <a:rPr b="0" i="0" lang="en-US" sz="1600" u="none" cap="none" strike="noStrike">
                <a:solidFill>
                  <a:srgbClr val="334155"/>
                </a:solidFill>
                <a:latin typeface="Calibri"/>
                <a:ea typeface="Calibri"/>
                <a:cs typeface="Calibri"/>
                <a:sym typeface="Calibri"/>
              </a:rPr>
              <a:t> on evals.</a:t>
            </a:r>
            <a:endParaRPr b="0" i="0" sz="1400" u="none" cap="none" strike="noStrike">
              <a:solidFill>
                <a:srgbClr val="000000"/>
              </a:solidFill>
              <a:latin typeface="Arial"/>
              <a:ea typeface="Arial"/>
              <a:cs typeface="Arial"/>
              <a:sym typeface="Arial"/>
            </a:endParaRPr>
          </a:p>
        </p:txBody>
      </p:sp>
      <p:sp>
        <p:nvSpPr>
          <p:cNvPr id="1259" name="Google Shape;1259;p66"/>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What we cut, and why</a:t>
            </a:r>
            <a:endParaRPr b="0" i="0" sz="1400" u="none" cap="none" strike="noStrike">
              <a:solidFill>
                <a:srgbClr val="000000"/>
              </a:solidFill>
              <a:latin typeface="Arial"/>
              <a:ea typeface="Arial"/>
              <a:cs typeface="Arial"/>
              <a:sym typeface="Arial"/>
            </a:endParaRPr>
          </a:p>
        </p:txBody>
      </p:sp>
      <p:sp>
        <p:nvSpPr>
          <p:cNvPr id="1260" name="Google Shape;1260;p66"/>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4</a:t>
            </a:r>
            <a:r>
              <a:rPr lang="en-US" sz="1000">
                <a:solidFill>
                  <a:srgbClr val="64748B"/>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1261" name="Google Shape;1261;p66"/>
          <p:cNvSpPr/>
          <p:nvPr/>
        </p:nvSpPr>
        <p:spPr>
          <a:xfrm>
            <a:off x="2103124" y="3246120"/>
            <a:ext cx="2651700" cy="1188600"/>
          </a:xfrm>
          <a:prstGeom prst="roundRect">
            <a:avLst>
              <a:gd fmla="val 8000" name="adj"/>
            </a:avLst>
          </a:prstGeom>
          <a:solidFill>
            <a:srgbClr val="0B1220"/>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BUILT · the core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Run + Grade + Compare + Gate</a:t>
            </a:r>
            <a:endParaRPr b="0" i="0" sz="1400" u="none" cap="none" strike="noStrike">
              <a:solidFill>
                <a:srgbClr val="000000"/>
              </a:solidFill>
              <a:latin typeface="Arial"/>
              <a:ea typeface="Arial"/>
              <a:cs typeface="Arial"/>
              <a:sym typeface="Arial"/>
            </a:endParaRPr>
          </a:p>
        </p:txBody>
      </p:sp>
      <p:sp>
        <p:nvSpPr>
          <p:cNvPr id="1262" name="Google Shape;1262;p66"/>
          <p:cNvSpPr/>
          <p:nvPr/>
        </p:nvSpPr>
        <p:spPr>
          <a:xfrm>
            <a:off x="2103124" y="1691640"/>
            <a:ext cx="2651700" cy="1188600"/>
          </a:xfrm>
          <a:prstGeom prst="roundRect">
            <a:avLst>
              <a:gd fmla="val 8000" name="adj"/>
            </a:avLst>
          </a:prstGeom>
          <a:solidFill>
            <a:srgbClr val="DBEAFE"/>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D4ED8"/>
                </a:solidFill>
                <a:latin typeface="Calibri"/>
                <a:ea typeface="Calibri"/>
                <a:cs typeface="Calibri"/>
                <a:sym typeface="Calibri"/>
              </a:rPr>
              <a:t>Design</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400"/>
              <a:buFont typeface="Arial"/>
              <a:buNone/>
            </a:pPr>
            <a:r>
              <a:rPr b="0" i="0" lang="en-US" sz="1400" u="none" cap="none" strike="noStrike">
                <a:solidFill>
                  <a:srgbClr val="1D4ED8"/>
                </a:solidFill>
                <a:latin typeface="Calibri"/>
                <a:ea typeface="Calibri"/>
                <a:cs typeface="Calibri"/>
                <a:sym typeface="Calibri"/>
              </a:rPr>
              <a:t>Gap 1</a:t>
            </a:r>
            <a:endParaRPr b="0" i="0" sz="1400" u="none" cap="none" strike="noStrike">
              <a:solidFill>
                <a:srgbClr val="000000"/>
              </a:solidFill>
              <a:latin typeface="Arial"/>
              <a:ea typeface="Arial"/>
              <a:cs typeface="Arial"/>
              <a:sym typeface="Arial"/>
            </a:endParaRPr>
          </a:p>
        </p:txBody>
      </p:sp>
      <p:sp>
        <p:nvSpPr>
          <p:cNvPr id="1263" name="Google Shape;1263;p66"/>
          <p:cNvSpPr/>
          <p:nvPr/>
        </p:nvSpPr>
        <p:spPr>
          <a:xfrm>
            <a:off x="548641" y="3246120"/>
            <a:ext cx="1371600" cy="1188600"/>
          </a:xfrm>
          <a:prstGeom prst="roundRect">
            <a:avLst>
              <a:gd fmla="val 8000" name="adj"/>
            </a:avLst>
          </a:prstGeom>
          <a:solidFill>
            <a:srgbClr val="FEF3C7"/>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B45309"/>
                </a:solidFill>
                <a:latin typeface="Calibri"/>
                <a:ea typeface="Calibri"/>
                <a:cs typeface="Calibri"/>
                <a:sym typeface="Calibri"/>
              </a:rPr>
              <a:t>Validate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400"/>
              <a:buFont typeface="Arial"/>
              <a:buNone/>
            </a:pPr>
            <a:r>
              <a:rPr b="0" i="0" lang="en-US" sz="1400" u="none" cap="none" strike="noStrike">
                <a:solidFill>
                  <a:srgbClr val="B45309"/>
                </a:solidFill>
                <a:latin typeface="Calibri"/>
                <a:ea typeface="Calibri"/>
                <a:cs typeface="Calibri"/>
                <a:sym typeface="Calibri"/>
              </a:rPr>
              <a:t>Gaps 2 · 3</a:t>
            </a:r>
            <a:endParaRPr b="0" i="0" sz="1400" u="none" cap="none" strike="noStrike">
              <a:solidFill>
                <a:srgbClr val="000000"/>
              </a:solidFill>
              <a:latin typeface="Arial"/>
              <a:ea typeface="Arial"/>
              <a:cs typeface="Arial"/>
              <a:sym typeface="Arial"/>
            </a:endParaRPr>
          </a:p>
        </p:txBody>
      </p:sp>
      <p:sp>
        <p:nvSpPr>
          <p:cNvPr id="1264" name="Google Shape;1264;p66"/>
          <p:cNvSpPr/>
          <p:nvPr/>
        </p:nvSpPr>
        <p:spPr>
          <a:xfrm>
            <a:off x="4937770" y="3246120"/>
            <a:ext cx="1463100" cy="1188600"/>
          </a:xfrm>
          <a:prstGeom prst="roundRect">
            <a:avLst>
              <a:gd fmla="val 8000" name="adj"/>
            </a:avLst>
          </a:prstGeom>
          <a:solidFill>
            <a:srgbClr val="EDE9FE"/>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6D28D9"/>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400"/>
              <a:buFont typeface="Arial"/>
              <a:buNone/>
            </a:pPr>
            <a:r>
              <a:rPr b="0" i="0" lang="en-US" sz="1400" u="none" cap="none" strike="noStrike">
                <a:solidFill>
                  <a:srgbClr val="6D28D9"/>
                </a:solidFill>
                <a:latin typeface="Calibri"/>
                <a:ea typeface="Calibri"/>
                <a:cs typeface="Calibri"/>
                <a:sym typeface="Calibri"/>
              </a:rPr>
              <a:t>Gaps 5 · 6 · 7</a:t>
            </a:r>
            <a:endParaRPr b="0" i="0" sz="1400" u="none" cap="none" strike="noStrike">
              <a:solidFill>
                <a:srgbClr val="000000"/>
              </a:solidFill>
              <a:latin typeface="Arial"/>
              <a:ea typeface="Arial"/>
              <a:cs typeface="Arial"/>
              <a:sym typeface="Arial"/>
            </a:endParaRPr>
          </a:p>
        </p:txBody>
      </p:sp>
      <p:sp>
        <p:nvSpPr>
          <p:cNvPr id="1265" name="Google Shape;1265;p66"/>
          <p:cNvSpPr/>
          <p:nvPr/>
        </p:nvSpPr>
        <p:spPr>
          <a:xfrm>
            <a:off x="2103124" y="4800600"/>
            <a:ext cx="2651700" cy="1188600"/>
          </a:xfrm>
          <a:prstGeom prst="roundRect">
            <a:avLst>
              <a:gd fmla="val 8000" name="adj"/>
            </a:avLst>
          </a:prstGeom>
          <a:solidFill>
            <a:srgbClr val="CCFBF1"/>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F766E"/>
                </a:solidFill>
                <a:latin typeface="Calibri"/>
                <a:ea typeface="Calibri"/>
                <a:cs typeface="Calibri"/>
                <a:sym typeface="Calibri"/>
              </a:rPr>
              <a:t>Demo / UX</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400"/>
              <a:buFont typeface="Arial"/>
              <a:buNone/>
            </a:pPr>
            <a:r>
              <a:rPr b="0" i="0" lang="en-US" sz="1400" u="none" cap="none" strike="noStrike">
                <a:solidFill>
                  <a:srgbClr val="0F766E"/>
                </a:solidFill>
                <a:latin typeface="Calibri"/>
                <a:ea typeface="Calibri"/>
                <a:cs typeface="Calibri"/>
                <a:sym typeface="Calibri"/>
              </a:rPr>
              <a:t>Gap 4</a:t>
            </a:r>
            <a:endParaRPr b="0" i="0" sz="1400" u="none" cap="none" strike="noStrike">
              <a:solidFill>
                <a:srgbClr val="000000"/>
              </a:solidFill>
              <a:latin typeface="Arial"/>
              <a:ea typeface="Arial"/>
              <a:cs typeface="Arial"/>
              <a:sym typeface="Arial"/>
            </a:endParaRPr>
          </a:p>
        </p:txBody>
      </p:sp>
      <p:graphicFrame>
        <p:nvGraphicFramePr>
          <p:cNvPr id="1266" name="Google Shape;1266;p66"/>
          <p:cNvGraphicFramePr/>
          <p:nvPr/>
        </p:nvGraphicFramePr>
        <p:xfrm>
          <a:off x="6720854" y="1691640"/>
          <a:ext cx="3000000" cy="3000000"/>
        </p:xfrm>
        <a:graphic>
          <a:graphicData uri="http://schemas.openxmlformats.org/drawingml/2006/table">
            <a:tbl>
              <a:tblPr bandRow="1" firstRow="1">
                <a:noFill/>
                <a:tableStyleId>{6D768582-A166-4AF2-A2B6-FE9F80A8B072}</a:tableStyleId>
              </a:tblPr>
              <a:tblGrid>
                <a:gridCol w="365725"/>
                <a:gridCol w="2377450"/>
                <a:gridCol w="1051550"/>
                <a:gridCol w="1142975"/>
              </a:tblGrid>
              <a:tr h="548650">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Gap</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Area</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FFFFFF"/>
                          </a:solidFill>
                          <a:latin typeface="Calibri"/>
                          <a:ea typeface="Calibri"/>
                          <a:cs typeface="Calibri"/>
                          <a:sym typeface="Calibri"/>
                        </a:rPr>
                        <a:t>Doc priority</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0F172A"/>
                    </a:solidFill>
                  </a:tcPr>
                </a:tc>
              </a:tr>
              <a:tr h="548650">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1</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Eval design workflow</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Design</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demo scope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548650">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2</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Grader validation ritual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Validate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P1</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r h="548650">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3</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Baseline / headroom / noise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Validate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P2</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548650">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4</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Local HTML results browser</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Demo / UX</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1" lang="en-US" sz="1250" u="none" cap="none" strike="noStrike">
                          <a:solidFill>
                            <a:srgbClr val="0F172A"/>
                          </a:solidFill>
                          <a:latin typeface="Calibri"/>
                          <a:ea typeface="Calibri"/>
                          <a:cs typeface="Calibri"/>
                          <a:sym typeface="Calibri"/>
                        </a:rPr>
                        <a:t>P1</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r h="548650">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5</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Hill-climb iteration loop</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Iterate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P2 holdout · P3</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548650">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6</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Cost / latency objective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Iterate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future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1F5F9"/>
                    </a:solidFill>
                  </a:tcPr>
                </a:tc>
              </a:tr>
              <a:tr h="548650">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7</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Failure bucketing</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Iterate</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50"/>
                        <a:buFont typeface="Arial"/>
                        <a:buNone/>
                      </a:pPr>
                      <a:r>
                        <a:rPr b="0" lang="en-US" sz="1250" u="none" cap="none" strike="noStrike">
                          <a:solidFill>
                            <a:srgbClr val="0F172A"/>
                          </a:solidFill>
                          <a:latin typeface="Calibri"/>
                          <a:ea typeface="Calibri"/>
                          <a:cs typeface="Calibri"/>
                          <a:sym typeface="Calibri"/>
                        </a:rPr>
                        <a:t>optional</a:t>
                      </a:r>
                      <a:endParaRPr sz="1400" u="none" cap="none" strike="noStrike"/>
                    </a:p>
                  </a:txBody>
                  <a:tcPr marT="27425" marB="27425" marR="54875" marL="54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1" name="Shape 1271"/>
        <p:cNvGrpSpPr/>
        <p:nvPr/>
      </p:nvGrpSpPr>
      <p:grpSpPr>
        <a:xfrm>
          <a:off x="0" y="0"/>
          <a:ext cx="0" cy="0"/>
          <a:chOff x="0" y="0"/>
          <a:chExt cx="0" cy="0"/>
        </a:xfrm>
      </p:grpSpPr>
      <p:sp>
        <p:nvSpPr>
          <p:cNvPr id="1272" name="Google Shape;1272;p67"/>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Gap 1 · No guided "design the eval" workflow</a:t>
            </a:r>
            <a:endParaRPr b="0" i="0" sz="1400" u="none" cap="none" strike="noStrike">
              <a:solidFill>
                <a:srgbClr val="000000"/>
              </a:solidFill>
              <a:latin typeface="Arial"/>
              <a:ea typeface="Arial"/>
              <a:cs typeface="Arial"/>
              <a:sym typeface="Arial"/>
            </a:endParaRPr>
          </a:p>
        </p:txBody>
      </p:sp>
      <p:sp>
        <p:nvSpPr>
          <p:cNvPr id="1273" name="Google Shape;1273;p67"/>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334155"/>
                </a:solidFill>
                <a:latin typeface="Calibri"/>
                <a:ea typeface="Calibri"/>
                <a:cs typeface="Calibri"/>
                <a:sym typeface="Calibri"/>
              </a:rPr>
              <a:t>Design</a:t>
            </a:r>
            <a:r>
              <a:rPr b="0" i="0" lang="en-US" sz="1600" u="none" cap="none" strike="noStrike">
                <a:solidFill>
                  <a:srgbClr val="334155"/>
                </a:solidFill>
                <a:latin typeface="Calibri"/>
                <a:ea typeface="Calibri"/>
                <a:cs typeface="Calibri"/>
                <a:sym typeface="Calibri"/>
              </a:rPr>
              <a:t> · Adding an eval means hand-editing YAML, Python, tasks, expected answers and graders. Everyone does it differently.</a:t>
            </a:r>
            <a:endParaRPr b="0" i="0" sz="1400" u="none" cap="none" strike="noStrike">
              <a:solidFill>
                <a:srgbClr val="000000"/>
              </a:solidFill>
              <a:latin typeface="Arial"/>
              <a:ea typeface="Arial"/>
              <a:cs typeface="Arial"/>
              <a:sym typeface="Arial"/>
            </a:endParaRPr>
          </a:p>
        </p:txBody>
      </p:sp>
      <p:sp>
        <p:nvSpPr>
          <p:cNvPr id="1274" name="Google Shape;1274;p67"/>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What we cut, and why</a:t>
            </a:r>
            <a:endParaRPr b="0" i="0" sz="1400" u="none" cap="none" strike="noStrike">
              <a:solidFill>
                <a:srgbClr val="000000"/>
              </a:solidFill>
              <a:latin typeface="Arial"/>
              <a:ea typeface="Arial"/>
              <a:cs typeface="Arial"/>
              <a:sym typeface="Arial"/>
            </a:endParaRPr>
          </a:p>
        </p:txBody>
      </p:sp>
      <p:sp>
        <p:nvSpPr>
          <p:cNvPr id="1275" name="Google Shape;1275;p67"/>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4</a:t>
            </a:r>
            <a:r>
              <a:rPr lang="en-US" sz="1000">
                <a:solidFill>
                  <a:srgbClr val="64748B"/>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1276" name="Google Shape;1276;p67"/>
          <p:cNvSpPr txBox="1"/>
          <p:nvPr/>
        </p:nvSpPr>
        <p:spPr>
          <a:xfrm>
            <a:off x="548641" y="1828800"/>
            <a:ext cx="1828800" cy="292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B91C1C"/>
                </a:solidFill>
                <a:latin typeface="Calibri"/>
                <a:ea typeface="Calibri"/>
                <a:cs typeface="Calibri"/>
                <a:sym typeface="Calibri"/>
              </a:rPr>
              <a:t>TODAY</a:t>
            </a:r>
            <a:endParaRPr b="0" i="0" sz="1400" u="none" cap="none" strike="noStrike">
              <a:solidFill>
                <a:srgbClr val="000000"/>
              </a:solidFill>
              <a:latin typeface="Arial"/>
              <a:ea typeface="Arial"/>
              <a:cs typeface="Arial"/>
              <a:sym typeface="Arial"/>
            </a:endParaRPr>
          </a:p>
        </p:txBody>
      </p:sp>
      <p:sp>
        <p:nvSpPr>
          <p:cNvPr id="1277" name="Google Shape;1277;p67"/>
          <p:cNvSpPr/>
          <p:nvPr/>
        </p:nvSpPr>
        <p:spPr>
          <a:xfrm>
            <a:off x="548641" y="2121408"/>
            <a:ext cx="19410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Engineer</a:t>
            </a:r>
            <a:endParaRPr b="0" i="0" sz="1400" u="none" cap="none" strike="noStrike">
              <a:solidFill>
                <a:srgbClr val="000000"/>
              </a:solidFill>
              <a:latin typeface="Arial"/>
              <a:ea typeface="Arial"/>
              <a:cs typeface="Arial"/>
              <a:sym typeface="Arial"/>
            </a:endParaRPr>
          </a:p>
        </p:txBody>
      </p:sp>
      <p:sp>
        <p:nvSpPr>
          <p:cNvPr id="1278" name="Google Shape;1278;p67"/>
          <p:cNvSpPr/>
          <p:nvPr/>
        </p:nvSpPr>
        <p:spPr>
          <a:xfrm>
            <a:off x="2562702"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79" name="Google Shape;1279;p67"/>
          <p:cNvSpPr/>
          <p:nvPr/>
        </p:nvSpPr>
        <p:spPr>
          <a:xfrm>
            <a:off x="2837023" y="2121408"/>
            <a:ext cx="19410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Create task by hand</a:t>
            </a:r>
            <a:endParaRPr b="0" i="0" sz="1400" u="none" cap="none" strike="noStrike">
              <a:solidFill>
                <a:srgbClr val="000000"/>
              </a:solidFill>
              <a:latin typeface="Arial"/>
              <a:ea typeface="Arial"/>
              <a:cs typeface="Arial"/>
              <a:sym typeface="Arial"/>
            </a:endParaRPr>
          </a:p>
        </p:txBody>
      </p:sp>
      <p:sp>
        <p:nvSpPr>
          <p:cNvPr id="1280" name="Google Shape;1280;p67"/>
          <p:cNvSpPr/>
          <p:nvPr/>
        </p:nvSpPr>
        <p:spPr>
          <a:xfrm>
            <a:off x="4851084"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1" name="Google Shape;1281;p67"/>
          <p:cNvSpPr/>
          <p:nvPr/>
        </p:nvSpPr>
        <p:spPr>
          <a:xfrm>
            <a:off x="5125405" y="2121408"/>
            <a:ext cx="19410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Write expected answer</a:t>
            </a:r>
            <a:endParaRPr b="0" i="0" sz="1400" u="none" cap="none" strike="noStrike">
              <a:solidFill>
                <a:srgbClr val="000000"/>
              </a:solidFill>
              <a:latin typeface="Arial"/>
              <a:ea typeface="Arial"/>
              <a:cs typeface="Arial"/>
              <a:sym typeface="Arial"/>
            </a:endParaRPr>
          </a:p>
        </p:txBody>
      </p:sp>
      <p:sp>
        <p:nvSpPr>
          <p:cNvPr id="1282" name="Google Shape;1282;p67"/>
          <p:cNvSpPr/>
          <p:nvPr/>
        </p:nvSpPr>
        <p:spPr>
          <a:xfrm>
            <a:off x="7139467"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3" name="Google Shape;1283;p67"/>
          <p:cNvSpPr/>
          <p:nvPr/>
        </p:nvSpPr>
        <p:spPr>
          <a:xfrm>
            <a:off x="7413787" y="2121408"/>
            <a:ext cx="19410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Write grader</a:t>
            </a:r>
            <a:endParaRPr b="0" i="0" sz="1400" u="none" cap="none" strike="noStrike">
              <a:solidFill>
                <a:srgbClr val="000000"/>
              </a:solidFill>
              <a:latin typeface="Arial"/>
              <a:ea typeface="Arial"/>
              <a:cs typeface="Arial"/>
              <a:sym typeface="Arial"/>
            </a:endParaRPr>
          </a:p>
        </p:txBody>
      </p:sp>
      <p:sp>
        <p:nvSpPr>
          <p:cNvPr id="1284" name="Google Shape;1284;p67"/>
          <p:cNvSpPr/>
          <p:nvPr/>
        </p:nvSpPr>
        <p:spPr>
          <a:xfrm>
            <a:off x="9427848"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5" name="Google Shape;1285;p67"/>
          <p:cNvSpPr/>
          <p:nvPr/>
        </p:nvSpPr>
        <p:spPr>
          <a:xfrm>
            <a:off x="9702169" y="2121408"/>
            <a:ext cx="19410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Run</a:t>
            </a:r>
            <a:endParaRPr b="0" i="0" sz="1400" u="none" cap="none" strike="noStrike">
              <a:solidFill>
                <a:srgbClr val="000000"/>
              </a:solidFill>
              <a:latin typeface="Arial"/>
              <a:ea typeface="Arial"/>
              <a:cs typeface="Arial"/>
              <a:sym typeface="Arial"/>
            </a:endParaRPr>
          </a:p>
        </p:txBody>
      </p:sp>
      <p:sp>
        <p:nvSpPr>
          <p:cNvPr id="1286" name="Google Shape;1286;p67"/>
          <p:cNvSpPr txBox="1"/>
          <p:nvPr/>
        </p:nvSpPr>
        <p:spPr>
          <a:xfrm>
            <a:off x="548641" y="2852928"/>
            <a:ext cx="1828800" cy="292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047857"/>
                </a:solidFill>
                <a:latin typeface="Calibri"/>
                <a:ea typeface="Calibri"/>
                <a:cs typeface="Calibri"/>
                <a:sym typeface="Calibri"/>
              </a:rPr>
              <a:t>DESIRED</a:t>
            </a:r>
            <a:endParaRPr b="0" i="0" sz="1400" u="none" cap="none" strike="noStrike">
              <a:solidFill>
                <a:srgbClr val="000000"/>
              </a:solidFill>
              <a:latin typeface="Arial"/>
              <a:ea typeface="Arial"/>
              <a:cs typeface="Arial"/>
              <a:sym typeface="Arial"/>
            </a:endParaRPr>
          </a:p>
        </p:txBody>
      </p:sp>
      <p:sp>
        <p:nvSpPr>
          <p:cNvPr id="1287" name="Google Shape;1287;p67"/>
          <p:cNvSpPr/>
          <p:nvPr/>
        </p:nvSpPr>
        <p:spPr>
          <a:xfrm>
            <a:off x="548641" y="3145536"/>
            <a:ext cx="19410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"Eval for this failure"</a:t>
            </a:r>
            <a:endParaRPr b="0" i="0" sz="1400" u="none" cap="none" strike="noStrike">
              <a:solidFill>
                <a:srgbClr val="000000"/>
              </a:solidFill>
              <a:latin typeface="Arial"/>
              <a:ea typeface="Arial"/>
              <a:cs typeface="Arial"/>
              <a:sym typeface="Arial"/>
            </a:endParaRPr>
          </a:p>
        </p:txBody>
      </p:sp>
      <p:sp>
        <p:nvSpPr>
          <p:cNvPr id="1288" name="Google Shape;1288;p67"/>
          <p:cNvSpPr/>
          <p:nvPr/>
        </p:nvSpPr>
        <p:spPr>
          <a:xfrm>
            <a:off x="2562702"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9" name="Google Shape;1289;p67"/>
          <p:cNvSpPr/>
          <p:nvPr/>
        </p:nvSpPr>
        <p:spPr>
          <a:xfrm>
            <a:off x="2837023" y="3145536"/>
            <a:ext cx="19410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Define task</a:t>
            </a:r>
            <a:endParaRPr b="0" i="0" sz="1400" u="none" cap="none" strike="noStrike">
              <a:solidFill>
                <a:srgbClr val="000000"/>
              </a:solidFill>
              <a:latin typeface="Arial"/>
              <a:ea typeface="Arial"/>
              <a:cs typeface="Arial"/>
              <a:sym typeface="Arial"/>
            </a:endParaRPr>
          </a:p>
        </p:txBody>
      </p:sp>
      <p:sp>
        <p:nvSpPr>
          <p:cNvPr id="1290" name="Google Shape;1290;p67"/>
          <p:cNvSpPr/>
          <p:nvPr/>
        </p:nvSpPr>
        <p:spPr>
          <a:xfrm>
            <a:off x="4851084"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91" name="Google Shape;1291;p67"/>
          <p:cNvSpPr/>
          <p:nvPr/>
        </p:nvSpPr>
        <p:spPr>
          <a:xfrm>
            <a:off x="5125405" y="3145536"/>
            <a:ext cx="19410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Acceptance criteria</a:t>
            </a:r>
            <a:endParaRPr b="0" i="0" sz="1400" u="none" cap="none" strike="noStrike">
              <a:solidFill>
                <a:srgbClr val="000000"/>
              </a:solidFill>
              <a:latin typeface="Arial"/>
              <a:ea typeface="Arial"/>
              <a:cs typeface="Arial"/>
              <a:sym typeface="Arial"/>
            </a:endParaRPr>
          </a:p>
        </p:txBody>
      </p:sp>
      <p:sp>
        <p:nvSpPr>
          <p:cNvPr id="1292" name="Google Shape;1292;p67"/>
          <p:cNvSpPr/>
          <p:nvPr/>
        </p:nvSpPr>
        <p:spPr>
          <a:xfrm>
            <a:off x="7139467"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93" name="Google Shape;1293;p67"/>
          <p:cNvSpPr/>
          <p:nvPr/>
        </p:nvSpPr>
        <p:spPr>
          <a:xfrm>
            <a:off x="7413787" y="3145536"/>
            <a:ext cx="19410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Choose grader</a:t>
            </a:r>
            <a:endParaRPr b="0" i="0" sz="1400" u="none" cap="none" strike="noStrike">
              <a:solidFill>
                <a:srgbClr val="000000"/>
              </a:solidFill>
              <a:latin typeface="Arial"/>
              <a:ea typeface="Arial"/>
              <a:cs typeface="Arial"/>
              <a:sym typeface="Arial"/>
            </a:endParaRPr>
          </a:p>
        </p:txBody>
      </p:sp>
      <p:sp>
        <p:nvSpPr>
          <p:cNvPr id="1294" name="Google Shape;1294;p67"/>
          <p:cNvSpPr/>
          <p:nvPr/>
        </p:nvSpPr>
        <p:spPr>
          <a:xfrm>
            <a:off x="9427848"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95" name="Google Shape;1295;p67"/>
          <p:cNvSpPr/>
          <p:nvPr/>
        </p:nvSpPr>
        <p:spPr>
          <a:xfrm>
            <a:off x="9702169" y="3145536"/>
            <a:ext cx="19410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Review → approve → run</a:t>
            </a:r>
            <a:endParaRPr b="0" i="0" sz="1400" u="none" cap="none" strike="noStrike">
              <a:solidFill>
                <a:srgbClr val="000000"/>
              </a:solidFill>
              <a:latin typeface="Arial"/>
              <a:ea typeface="Arial"/>
              <a:cs typeface="Arial"/>
              <a:sym typeface="Arial"/>
            </a:endParaRPr>
          </a:p>
        </p:txBody>
      </p:sp>
      <p:sp>
        <p:nvSpPr>
          <p:cNvPr id="1296" name="Google Shape;1296;p67"/>
          <p:cNvSpPr/>
          <p:nvPr/>
        </p:nvSpPr>
        <p:spPr>
          <a:xfrm>
            <a:off x="548641" y="3977639"/>
            <a:ext cx="6766500" cy="22404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97" name="Google Shape;1297;p67"/>
          <p:cNvSpPr txBox="1"/>
          <p:nvPr/>
        </p:nvSpPr>
        <p:spPr>
          <a:xfrm>
            <a:off x="731521" y="4133087"/>
            <a:ext cx="64008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Why we cut it</a:t>
            </a:r>
            <a:endParaRPr b="0" i="0" sz="1400" u="none" cap="none" strike="noStrike">
              <a:solidFill>
                <a:srgbClr val="000000"/>
              </a:solidFill>
              <a:latin typeface="Arial"/>
              <a:ea typeface="Arial"/>
              <a:cs typeface="Arial"/>
              <a:sym typeface="Arial"/>
            </a:endParaRPr>
          </a:p>
        </p:txBody>
      </p:sp>
      <p:sp>
        <p:nvSpPr>
          <p:cNvPr id="1298" name="Google Shape;1298;p67"/>
          <p:cNvSpPr txBox="1"/>
          <p:nvPr/>
        </p:nvSpPr>
        <p:spPr>
          <a:xfrm>
            <a:off x="731521" y="4599431"/>
            <a:ext cx="6400800" cy="15087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B45309"/>
              </a:buClr>
              <a:buSzPts val="1350"/>
              <a:buFont typeface="Calibri"/>
              <a:buChar char="•"/>
            </a:pPr>
            <a:r>
              <a:rPr b="0" i="0" lang="en-US" sz="1350" u="none" cap="none" strike="noStrike">
                <a:solidFill>
                  <a:srgbClr val="334155"/>
                </a:solidFill>
                <a:latin typeface="Calibri"/>
                <a:ea typeface="Calibri"/>
                <a:cs typeface="Calibri"/>
                <a:sym typeface="Calibri"/>
              </a:rPr>
              <a:t>Only </a:t>
            </a:r>
            <a:r>
              <a:rPr b="1" i="0" lang="en-US" sz="1350" u="none" cap="none" strike="noStrike">
                <a:solidFill>
                  <a:srgbClr val="334155"/>
                </a:solidFill>
                <a:latin typeface="Calibri"/>
                <a:ea typeface="Calibri"/>
                <a:cs typeface="Calibri"/>
                <a:sym typeface="Calibri"/>
              </a:rPr>
              <a:t>3 hand-built tasks</a:t>
            </a:r>
            <a:r>
              <a:rPr b="0" i="0" lang="en-US" sz="1350" u="none" cap="none" strike="noStrike">
                <a:solidFill>
                  <a:srgbClr val="334155"/>
                </a:solidFill>
                <a:latin typeface="Calibri"/>
                <a:ea typeface="Calibri"/>
                <a:cs typeface="Calibri"/>
                <a:sym typeface="Calibri"/>
              </a:rPr>
              <a:t> exist; a guided flow pays off with many contributors</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50"/>
              <a:buFont typeface="Calibri"/>
              <a:buChar char="•"/>
            </a:pPr>
            <a:r>
              <a:rPr b="0" i="0" lang="en-US" sz="1350" u="none" cap="none" strike="noStrike">
                <a:solidFill>
                  <a:srgbClr val="334155"/>
                </a:solidFill>
                <a:latin typeface="Calibri"/>
                <a:ea typeface="Calibri"/>
                <a:cs typeface="Calibri"/>
                <a:sym typeface="Calibri"/>
              </a:rPr>
              <a:t>The task format is already minimal: </a:t>
            </a:r>
            <a:r>
              <a:rPr b="0" i="0" lang="en-US" sz="1350" u="none" cap="none" strike="noStrike">
                <a:solidFill>
                  <a:srgbClr val="334155"/>
                </a:solidFill>
                <a:latin typeface="Courier New"/>
                <a:ea typeface="Courier New"/>
                <a:cs typeface="Courier New"/>
                <a:sym typeface="Courier New"/>
              </a:rPr>
              <a:t>prompt.txt</a:t>
            </a:r>
            <a:r>
              <a:rPr b="0" i="0" lang="en-US" sz="1350" u="none" cap="none" strike="noStrike">
                <a:solidFill>
                  <a:srgbClr val="334155"/>
                </a:solidFill>
                <a:latin typeface="Calibri"/>
                <a:ea typeface="Calibri"/>
                <a:cs typeface="Calibri"/>
                <a:sym typeface="Calibri"/>
              </a:rPr>
              <a:t> + </a:t>
            </a:r>
            <a:r>
              <a:rPr b="0" i="0" lang="en-US" sz="1350" u="none" cap="none" strike="noStrike">
                <a:solidFill>
                  <a:srgbClr val="334155"/>
                </a:solidFill>
                <a:latin typeface="Courier New"/>
                <a:ea typeface="Courier New"/>
                <a:cs typeface="Courier New"/>
                <a:sym typeface="Courier New"/>
              </a:rPr>
              <a:t>repo/</a:t>
            </a:r>
            <a:r>
              <a:rPr b="0" i="0" lang="en-US" sz="1350" u="none" cap="none" strike="noStrike">
                <a:solidFill>
                  <a:srgbClr val="334155"/>
                </a:solidFill>
                <a:latin typeface="Calibri"/>
                <a:ea typeface="Calibri"/>
                <a:cs typeface="Calibri"/>
                <a:sym typeface="Calibri"/>
              </a:rPr>
              <a:t> + </a:t>
            </a:r>
            <a:r>
              <a:rPr b="0" i="0" lang="en-US" sz="1350" u="none" cap="none" strike="noStrike">
                <a:solidFill>
                  <a:srgbClr val="334155"/>
                </a:solidFill>
                <a:latin typeface="Courier New"/>
                <a:ea typeface="Courier New"/>
                <a:cs typeface="Courier New"/>
                <a:sym typeface="Courier New"/>
              </a:rPr>
              <a:t>heldout/</a:t>
            </a:r>
            <a:r>
              <a:rPr b="0" i="0" lang="en-US" sz="1350" u="none" cap="none" strike="noStrike">
                <a:solidFill>
                  <a:srgbClr val="334155"/>
                </a:solidFill>
                <a:latin typeface="Calibri"/>
                <a:ea typeface="Calibri"/>
                <a:cs typeface="Calibri"/>
                <a:sym typeface="Calibri"/>
              </a:rPr>
              <a:t>, about 3 files</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50"/>
              <a:buFont typeface="Calibri"/>
              <a:buChar char="•"/>
            </a:pPr>
            <a:r>
              <a:rPr b="0" i="0" lang="en-US" sz="1350" u="none" cap="none" strike="noStrike">
                <a:solidFill>
                  <a:srgbClr val="334155"/>
                </a:solidFill>
                <a:latin typeface="Calibri"/>
                <a:ea typeface="Calibri"/>
                <a:cs typeface="Calibri"/>
                <a:sym typeface="Calibri"/>
              </a:rPr>
              <a:t>Time went into </a:t>
            </a:r>
            <a:r>
              <a:rPr b="1" i="0" lang="en-US" sz="1350" u="none" cap="none" strike="noStrike">
                <a:solidFill>
                  <a:srgbClr val="334155"/>
                </a:solidFill>
                <a:latin typeface="Calibri"/>
                <a:ea typeface="Calibri"/>
                <a:cs typeface="Calibri"/>
                <a:sym typeface="Calibri"/>
              </a:rPr>
              <a:t>grader and gate correctness</a:t>
            </a:r>
            <a:r>
              <a:rPr b="0" i="0" lang="en-US" sz="1350" u="none" cap="none" strike="noStrike">
                <a:solidFill>
                  <a:srgbClr val="334155"/>
                </a:solidFill>
                <a:latin typeface="Calibri"/>
                <a:ea typeface="Calibri"/>
                <a:cs typeface="Calibri"/>
                <a:sym typeface="Calibri"/>
              </a:rPr>
              <a:t> first</a:t>
            </a:r>
            <a:endParaRPr b="0" i="0" sz="1400" u="none" cap="none" strike="noStrike">
              <a:solidFill>
                <a:srgbClr val="000000"/>
              </a:solidFill>
              <a:latin typeface="Arial"/>
              <a:ea typeface="Arial"/>
              <a:cs typeface="Arial"/>
              <a:sym typeface="Arial"/>
            </a:endParaRPr>
          </a:p>
        </p:txBody>
      </p:sp>
      <p:sp>
        <p:nvSpPr>
          <p:cNvPr id="1299" name="Google Shape;1299;p67"/>
          <p:cNvSpPr/>
          <p:nvPr/>
        </p:nvSpPr>
        <p:spPr>
          <a:xfrm>
            <a:off x="7498094" y="3977639"/>
            <a:ext cx="4160400" cy="22404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00" name="Google Shape;1300;p67"/>
          <p:cNvSpPr txBox="1"/>
          <p:nvPr/>
        </p:nvSpPr>
        <p:spPr>
          <a:xfrm>
            <a:off x="7680975" y="4133087"/>
            <a:ext cx="37947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Next step (planned)</a:t>
            </a:r>
            <a:endParaRPr b="0" i="0" sz="1400" u="none" cap="none" strike="noStrike">
              <a:solidFill>
                <a:srgbClr val="000000"/>
              </a:solidFill>
              <a:latin typeface="Arial"/>
              <a:ea typeface="Arial"/>
              <a:cs typeface="Arial"/>
              <a:sym typeface="Arial"/>
            </a:endParaRPr>
          </a:p>
        </p:txBody>
      </p:sp>
      <p:sp>
        <p:nvSpPr>
          <p:cNvPr id="1301" name="Google Shape;1301;p67"/>
          <p:cNvSpPr txBox="1"/>
          <p:nvPr/>
        </p:nvSpPr>
        <p:spPr>
          <a:xfrm>
            <a:off x="7680975" y="4599431"/>
            <a:ext cx="3794700" cy="1508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0" i="0" lang="en-US" sz="1350" u="none" cap="none" strike="noStrike">
                <a:solidFill>
                  <a:srgbClr val="334155"/>
                </a:solidFill>
                <a:latin typeface="Courier New"/>
                <a:ea typeface="Courier New"/>
                <a:cs typeface="Courier New"/>
                <a:sym typeface="Courier New"/>
              </a:rPr>
              <a:t>docs/eval-design-checklist.md</a:t>
            </a:r>
            <a:r>
              <a:rPr b="0" i="0" lang="en-US" sz="1350" u="none" cap="none" strike="noStrike">
                <a:solidFill>
                  <a:srgbClr val="334155"/>
                </a:solidFill>
                <a:latin typeface="Calibri"/>
                <a:ea typeface="Calibri"/>
                <a:cs typeface="Calibri"/>
                <a:sym typeface="Calibri"/>
              </a:rPr>
              <a:t> or </a:t>
            </a:r>
            <a:r>
              <a:rPr b="0" i="0" lang="en-US" sz="1350" u="none" cap="none" strike="noStrike">
                <a:solidFill>
                  <a:srgbClr val="334155"/>
                </a:solidFill>
                <a:latin typeface="Courier New"/>
                <a:ea typeface="Courier New"/>
                <a:cs typeface="Courier New"/>
                <a:sym typeface="Courier New"/>
              </a:rPr>
              <a:t>python -m eval.design</a:t>
            </a:r>
            <a:r>
              <a:rPr b="0" i="0" lang="en-US" sz="1350" u="none" cap="none" strike="noStrike">
                <a:solidFill>
                  <a:srgbClr val="334155"/>
                </a:solidFill>
                <a:latin typeface="Calibri"/>
                <a:ea typeface="Calibri"/>
                <a:cs typeface="Calibri"/>
                <a:sym typeface="Calibri"/>
              </a:rPr>
              <a:t> + a registry schema validator</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6" name="Shape 1306"/>
        <p:cNvGrpSpPr/>
        <p:nvPr/>
      </p:nvGrpSpPr>
      <p:grpSpPr>
        <a:xfrm>
          <a:off x="0" y="0"/>
          <a:ext cx="0" cy="0"/>
          <a:chOff x="0" y="0"/>
          <a:chExt cx="0" cy="0"/>
        </a:xfrm>
      </p:grpSpPr>
      <p:sp>
        <p:nvSpPr>
          <p:cNvPr id="1307" name="Google Shape;1307;p68"/>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Gap 2 · No grader validation ritual</a:t>
            </a:r>
            <a:endParaRPr b="0" i="0" sz="1400" u="none" cap="none" strike="noStrike">
              <a:solidFill>
                <a:srgbClr val="000000"/>
              </a:solidFill>
              <a:latin typeface="Arial"/>
              <a:ea typeface="Arial"/>
              <a:cs typeface="Arial"/>
              <a:sym typeface="Arial"/>
            </a:endParaRPr>
          </a:p>
        </p:txBody>
      </p:sp>
      <p:sp>
        <p:nvSpPr>
          <p:cNvPr id="1308" name="Google Shape;1308;p68"/>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334155"/>
                </a:solidFill>
                <a:latin typeface="Calibri"/>
                <a:ea typeface="Calibri"/>
                <a:cs typeface="Calibri"/>
                <a:sym typeface="Calibri"/>
              </a:rPr>
              <a:t>Validate</a:t>
            </a:r>
            <a:r>
              <a:rPr b="0" i="0" lang="en-US" sz="1600" u="none" cap="none" strike="noStrike">
                <a:solidFill>
                  <a:srgbClr val="334155"/>
                </a:solidFill>
                <a:latin typeface="Calibri"/>
                <a:ea typeface="Calibri"/>
                <a:cs typeface="Calibri"/>
                <a:sym typeface="Calibri"/>
              </a:rPr>
              <a:t> · Nobody checks that the grader agrees with a human, or gives the same answer twice on identical output. A bad grader makes a bad harness look good.</a:t>
            </a:r>
            <a:endParaRPr b="0" i="0" sz="1400" u="none" cap="none" strike="noStrike">
              <a:solidFill>
                <a:srgbClr val="000000"/>
              </a:solidFill>
              <a:latin typeface="Arial"/>
              <a:ea typeface="Arial"/>
              <a:cs typeface="Arial"/>
              <a:sym typeface="Arial"/>
            </a:endParaRPr>
          </a:p>
        </p:txBody>
      </p:sp>
      <p:sp>
        <p:nvSpPr>
          <p:cNvPr id="1309" name="Google Shape;1309;p68"/>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What we cut, and why</a:t>
            </a:r>
            <a:endParaRPr b="0" i="0" sz="1400" u="none" cap="none" strike="noStrike">
              <a:solidFill>
                <a:srgbClr val="000000"/>
              </a:solidFill>
              <a:latin typeface="Arial"/>
              <a:ea typeface="Arial"/>
              <a:cs typeface="Arial"/>
              <a:sym typeface="Arial"/>
            </a:endParaRPr>
          </a:p>
        </p:txBody>
      </p:sp>
      <p:sp>
        <p:nvSpPr>
          <p:cNvPr id="1310" name="Google Shape;1310;p68"/>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4</a:t>
            </a:r>
            <a:r>
              <a:rPr lang="en-US" sz="1000">
                <a:solidFill>
                  <a:srgbClr val="64748B"/>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311" name="Google Shape;1311;p68"/>
          <p:cNvSpPr txBox="1"/>
          <p:nvPr/>
        </p:nvSpPr>
        <p:spPr>
          <a:xfrm>
            <a:off x="548641" y="1828800"/>
            <a:ext cx="1828800" cy="292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B91C1C"/>
                </a:solidFill>
                <a:latin typeface="Calibri"/>
                <a:ea typeface="Calibri"/>
                <a:cs typeface="Calibri"/>
                <a:sym typeface="Calibri"/>
              </a:rPr>
              <a:t>TODAY</a:t>
            </a:r>
            <a:endParaRPr b="0" i="0" sz="1400" u="none" cap="none" strike="noStrike">
              <a:solidFill>
                <a:srgbClr val="000000"/>
              </a:solidFill>
              <a:latin typeface="Arial"/>
              <a:ea typeface="Arial"/>
              <a:cs typeface="Arial"/>
              <a:sym typeface="Arial"/>
            </a:endParaRPr>
          </a:p>
        </p:txBody>
      </p:sp>
      <p:sp>
        <p:nvSpPr>
          <p:cNvPr id="1312" name="Google Shape;1312;p68"/>
          <p:cNvSpPr/>
          <p:nvPr/>
        </p:nvSpPr>
        <p:spPr>
          <a:xfrm>
            <a:off x="548641" y="2121408"/>
            <a:ext cx="25131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Agent</a:t>
            </a:r>
            <a:endParaRPr b="0" i="0" sz="1400" u="none" cap="none" strike="noStrike">
              <a:solidFill>
                <a:srgbClr val="000000"/>
              </a:solidFill>
              <a:latin typeface="Arial"/>
              <a:ea typeface="Arial"/>
              <a:cs typeface="Arial"/>
              <a:sym typeface="Arial"/>
            </a:endParaRPr>
          </a:p>
        </p:txBody>
      </p:sp>
      <p:sp>
        <p:nvSpPr>
          <p:cNvPr id="1313" name="Google Shape;1313;p68"/>
          <p:cNvSpPr/>
          <p:nvPr/>
        </p:nvSpPr>
        <p:spPr>
          <a:xfrm>
            <a:off x="3134797"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14" name="Google Shape;1314;p68"/>
          <p:cNvSpPr/>
          <p:nvPr/>
        </p:nvSpPr>
        <p:spPr>
          <a:xfrm>
            <a:off x="3409118" y="2121408"/>
            <a:ext cx="25131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Output</a:t>
            </a:r>
            <a:endParaRPr b="0" i="0" sz="1400" u="none" cap="none" strike="noStrike">
              <a:solidFill>
                <a:srgbClr val="000000"/>
              </a:solidFill>
              <a:latin typeface="Arial"/>
              <a:ea typeface="Arial"/>
              <a:cs typeface="Arial"/>
              <a:sym typeface="Arial"/>
            </a:endParaRPr>
          </a:p>
        </p:txBody>
      </p:sp>
      <p:sp>
        <p:nvSpPr>
          <p:cNvPr id="1315" name="Google Shape;1315;p68"/>
          <p:cNvSpPr/>
          <p:nvPr/>
        </p:nvSpPr>
        <p:spPr>
          <a:xfrm>
            <a:off x="5995275"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16" name="Google Shape;1316;p68"/>
          <p:cNvSpPr/>
          <p:nvPr/>
        </p:nvSpPr>
        <p:spPr>
          <a:xfrm>
            <a:off x="6269596" y="2121408"/>
            <a:ext cx="25131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Grader</a:t>
            </a:r>
            <a:endParaRPr b="0" i="0" sz="1400" u="none" cap="none" strike="noStrike">
              <a:solidFill>
                <a:srgbClr val="000000"/>
              </a:solidFill>
              <a:latin typeface="Arial"/>
              <a:ea typeface="Arial"/>
              <a:cs typeface="Arial"/>
              <a:sym typeface="Arial"/>
            </a:endParaRPr>
          </a:p>
        </p:txBody>
      </p:sp>
      <p:sp>
        <p:nvSpPr>
          <p:cNvPr id="1317" name="Google Shape;1317;p68"/>
          <p:cNvSpPr/>
          <p:nvPr/>
        </p:nvSpPr>
        <p:spPr>
          <a:xfrm>
            <a:off x="8855753"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18" name="Google Shape;1318;p68"/>
          <p:cNvSpPr/>
          <p:nvPr/>
        </p:nvSpPr>
        <p:spPr>
          <a:xfrm>
            <a:off x="9130074" y="2121408"/>
            <a:ext cx="25131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Score (trusted?)</a:t>
            </a:r>
            <a:endParaRPr b="0" i="0" sz="1400" u="none" cap="none" strike="noStrike">
              <a:solidFill>
                <a:srgbClr val="000000"/>
              </a:solidFill>
              <a:latin typeface="Arial"/>
              <a:ea typeface="Arial"/>
              <a:cs typeface="Arial"/>
              <a:sym typeface="Arial"/>
            </a:endParaRPr>
          </a:p>
        </p:txBody>
      </p:sp>
      <p:sp>
        <p:nvSpPr>
          <p:cNvPr id="1319" name="Google Shape;1319;p68"/>
          <p:cNvSpPr txBox="1"/>
          <p:nvPr/>
        </p:nvSpPr>
        <p:spPr>
          <a:xfrm>
            <a:off x="548641" y="2852928"/>
            <a:ext cx="1828800" cy="292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047857"/>
                </a:solidFill>
                <a:latin typeface="Calibri"/>
                <a:ea typeface="Calibri"/>
                <a:cs typeface="Calibri"/>
                <a:sym typeface="Calibri"/>
              </a:rPr>
              <a:t>DESIRED</a:t>
            </a:r>
            <a:endParaRPr b="0" i="0" sz="1400" u="none" cap="none" strike="noStrike">
              <a:solidFill>
                <a:srgbClr val="000000"/>
              </a:solidFill>
              <a:latin typeface="Arial"/>
              <a:ea typeface="Arial"/>
              <a:cs typeface="Arial"/>
              <a:sym typeface="Arial"/>
            </a:endParaRPr>
          </a:p>
        </p:txBody>
      </p:sp>
      <p:sp>
        <p:nvSpPr>
          <p:cNvPr id="1320" name="Google Shape;1320;p68"/>
          <p:cNvSpPr/>
          <p:nvPr/>
        </p:nvSpPr>
        <p:spPr>
          <a:xfrm>
            <a:off x="548641" y="3145536"/>
            <a:ext cx="19410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Sample outputs</a:t>
            </a:r>
            <a:endParaRPr b="0" i="0" sz="1400" u="none" cap="none" strike="noStrike">
              <a:solidFill>
                <a:srgbClr val="000000"/>
              </a:solidFill>
              <a:latin typeface="Arial"/>
              <a:ea typeface="Arial"/>
              <a:cs typeface="Arial"/>
              <a:sym typeface="Arial"/>
            </a:endParaRPr>
          </a:p>
        </p:txBody>
      </p:sp>
      <p:sp>
        <p:nvSpPr>
          <p:cNvPr id="1321" name="Google Shape;1321;p68"/>
          <p:cNvSpPr/>
          <p:nvPr/>
        </p:nvSpPr>
        <p:spPr>
          <a:xfrm>
            <a:off x="2562702"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2" name="Google Shape;1322;p68"/>
          <p:cNvSpPr/>
          <p:nvPr/>
        </p:nvSpPr>
        <p:spPr>
          <a:xfrm>
            <a:off x="2837023" y="3145536"/>
            <a:ext cx="19410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Human grades them</a:t>
            </a:r>
            <a:endParaRPr b="0" i="0" sz="1400" u="none" cap="none" strike="noStrike">
              <a:solidFill>
                <a:srgbClr val="000000"/>
              </a:solidFill>
              <a:latin typeface="Arial"/>
              <a:ea typeface="Arial"/>
              <a:cs typeface="Arial"/>
              <a:sym typeface="Arial"/>
            </a:endParaRPr>
          </a:p>
        </p:txBody>
      </p:sp>
      <p:sp>
        <p:nvSpPr>
          <p:cNvPr id="1323" name="Google Shape;1323;p68"/>
          <p:cNvSpPr/>
          <p:nvPr/>
        </p:nvSpPr>
        <p:spPr>
          <a:xfrm>
            <a:off x="4851084"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4" name="Google Shape;1324;p68"/>
          <p:cNvSpPr/>
          <p:nvPr/>
        </p:nvSpPr>
        <p:spPr>
          <a:xfrm>
            <a:off x="5125405" y="3145536"/>
            <a:ext cx="19410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Run grader twice</a:t>
            </a:r>
            <a:endParaRPr b="0" i="0" sz="1400" u="none" cap="none" strike="noStrike">
              <a:solidFill>
                <a:srgbClr val="000000"/>
              </a:solidFill>
              <a:latin typeface="Arial"/>
              <a:ea typeface="Arial"/>
              <a:cs typeface="Arial"/>
              <a:sym typeface="Arial"/>
            </a:endParaRPr>
          </a:p>
        </p:txBody>
      </p:sp>
      <p:sp>
        <p:nvSpPr>
          <p:cNvPr id="1325" name="Google Shape;1325;p68"/>
          <p:cNvSpPr/>
          <p:nvPr/>
        </p:nvSpPr>
        <p:spPr>
          <a:xfrm>
            <a:off x="7139467"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6" name="Google Shape;1326;p68"/>
          <p:cNvSpPr/>
          <p:nvPr/>
        </p:nvSpPr>
        <p:spPr>
          <a:xfrm>
            <a:off x="7413787" y="3145536"/>
            <a:ext cx="19410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Flag flips</a:t>
            </a:r>
            <a:endParaRPr b="0" i="0" sz="1400" u="none" cap="none" strike="noStrike">
              <a:solidFill>
                <a:srgbClr val="000000"/>
              </a:solidFill>
              <a:latin typeface="Arial"/>
              <a:ea typeface="Arial"/>
              <a:cs typeface="Arial"/>
              <a:sym typeface="Arial"/>
            </a:endParaRPr>
          </a:p>
        </p:txBody>
      </p:sp>
      <p:sp>
        <p:nvSpPr>
          <p:cNvPr id="1327" name="Google Shape;1327;p68"/>
          <p:cNvSpPr/>
          <p:nvPr/>
        </p:nvSpPr>
        <p:spPr>
          <a:xfrm>
            <a:off x="9427848"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8" name="Google Shape;1328;p68"/>
          <p:cNvSpPr/>
          <p:nvPr/>
        </p:nvSpPr>
        <p:spPr>
          <a:xfrm>
            <a:off x="9702169" y="3145536"/>
            <a:ext cx="19410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Then trust verdict</a:t>
            </a:r>
            <a:endParaRPr b="0" i="0" sz="1400" u="none" cap="none" strike="noStrike">
              <a:solidFill>
                <a:srgbClr val="000000"/>
              </a:solidFill>
              <a:latin typeface="Arial"/>
              <a:ea typeface="Arial"/>
              <a:cs typeface="Arial"/>
              <a:sym typeface="Arial"/>
            </a:endParaRPr>
          </a:p>
        </p:txBody>
      </p:sp>
      <p:sp>
        <p:nvSpPr>
          <p:cNvPr id="1329" name="Google Shape;1329;p68"/>
          <p:cNvSpPr/>
          <p:nvPr/>
        </p:nvSpPr>
        <p:spPr>
          <a:xfrm>
            <a:off x="548641" y="3977639"/>
            <a:ext cx="6766500" cy="22404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30" name="Google Shape;1330;p68"/>
          <p:cNvSpPr txBox="1"/>
          <p:nvPr/>
        </p:nvSpPr>
        <p:spPr>
          <a:xfrm>
            <a:off x="731521" y="4133087"/>
            <a:ext cx="64008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Why we cut it</a:t>
            </a:r>
            <a:endParaRPr b="0" i="0" sz="1400" u="none" cap="none" strike="noStrike">
              <a:solidFill>
                <a:srgbClr val="000000"/>
              </a:solidFill>
              <a:latin typeface="Arial"/>
              <a:ea typeface="Arial"/>
              <a:cs typeface="Arial"/>
              <a:sym typeface="Arial"/>
            </a:endParaRPr>
          </a:p>
        </p:txBody>
      </p:sp>
      <p:sp>
        <p:nvSpPr>
          <p:cNvPr id="1331" name="Google Shape;1331;p68"/>
          <p:cNvSpPr txBox="1"/>
          <p:nvPr/>
        </p:nvSpPr>
        <p:spPr>
          <a:xfrm>
            <a:off x="731521" y="4599431"/>
            <a:ext cx="6400800" cy="15087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B45309"/>
              </a:buClr>
              <a:buSzPts val="1350"/>
              <a:buFont typeface="Calibri"/>
              <a:buChar char="•"/>
            </a:pPr>
            <a:r>
              <a:rPr b="0" i="0" lang="en-US" sz="1350" u="none" cap="none" strike="noStrike">
                <a:solidFill>
                  <a:srgbClr val="334155"/>
                </a:solidFill>
                <a:latin typeface="Calibri"/>
                <a:ea typeface="Calibri"/>
                <a:cs typeface="Calibri"/>
                <a:sym typeface="Calibri"/>
              </a:rPr>
              <a:t>Gating graders are </a:t>
            </a:r>
            <a:r>
              <a:rPr b="1" i="0" lang="en-US" sz="1350" u="none" cap="none" strike="noStrike">
                <a:solidFill>
                  <a:srgbClr val="334155"/>
                </a:solidFill>
                <a:latin typeface="Calibri"/>
                <a:ea typeface="Calibri"/>
                <a:cs typeface="Calibri"/>
                <a:sym typeface="Calibri"/>
              </a:rPr>
              <a:t>deterministic code</a:t>
            </a:r>
            <a:r>
              <a:rPr b="0" i="0" lang="en-US" sz="1350" u="none" cap="none" strike="noStrike">
                <a:solidFill>
                  <a:srgbClr val="334155"/>
                </a:solidFill>
                <a:latin typeface="Calibri"/>
                <a:ea typeface="Calibri"/>
                <a:cs typeface="Calibri"/>
                <a:sym typeface="Calibri"/>
              </a:rPr>
              <a:t>, so flakiness risk is low</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50"/>
              <a:buFont typeface="Calibri"/>
              <a:buChar char="•"/>
            </a:pPr>
            <a:r>
              <a:rPr b="0" i="0" lang="en-US" sz="1350" u="none" cap="none" strike="noStrike">
                <a:solidFill>
                  <a:srgbClr val="334155"/>
                </a:solidFill>
                <a:latin typeface="Calibri"/>
                <a:ea typeface="Calibri"/>
                <a:cs typeface="Calibri"/>
                <a:sym typeface="Calibri"/>
              </a:rPr>
              <a:t>Graders have </a:t>
            </a:r>
            <a:r>
              <a:rPr b="1" i="0" lang="en-US" sz="1350" u="none" cap="none" strike="noStrike">
                <a:solidFill>
                  <a:srgbClr val="334155"/>
                </a:solidFill>
                <a:latin typeface="Calibri"/>
                <a:ea typeface="Calibri"/>
                <a:cs typeface="Calibri"/>
                <a:sym typeface="Calibri"/>
              </a:rPr>
              <a:t>unit tests</a:t>
            </a:r>
            <a:r>
              <a:rPr b="0" i="0" lang="en-US" sz="1350" u="none" cap="none" strike="noStrike">
                <a:solidFill>
                  <a:srgbClr val="334155"/>
                </a:solidFill>
                <a:latin typeface="Calibri"/>
                <a:ea typeface="Calibri"/>
                <a:cs typeface="Calibri"/>
                <a:sym typeface="Calibri"/>
              </a:rPr>
              <a:t> (</a:t>
            </a:r>
            <a:r>
              <a:rPr b="0" i="0" lang="en-US" sz="1350" u="none" cap="none" strike="noStrike">
                <a:solidFill>
                  <a:srgbClr val="334155"/>
                </a:solidFill>
                <a:latin typeface="Courier New"/>
                <a:ea typeface="Courier New"/>
                <a:cs typeface="Courier New"/>
                <a:sym typeface="Courier New"/>
              </a:rPr>
              <a:t>tests/test_graders.py</a:t>
            </a:r>
            <a:r>
              <a:rPr b="0" i="0" lang="en-US" sz="1350" u="none" cap="none" strike="noStrike">
                <a:solidFill>
                  <a:srgbClr val="33415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50"/>
              <a:buFont typeface="Calibri"/>
              <a:buChar char="•"/>
            </a:pPr>
            <a:r>
              <a:rPr b="0" i="0" lang="en-US" sz="1350" u="none" cap="none" strike="noStrike">
                <a:solidFill>
                  <a:srgbClr val="334155"/>
                </a:solidFill>
                <a:latin typeface="Calibri"/>
                <a:ea typeface="Calibri"/>
                <a:cs typeface="Calibri"/>
                <a:sym typeface="Calibri"/>
              </a:rPr>
              <a:t>The only non-deterministic grader (LLM) </a:t>
            </a:r>
            <a:r>
              <a:rPr b="1" i="0" lang="en-US" sz="1350" u="none" cap="none" strike="noStrike">
                <a:solidFill>
                  <a:srgbClr val="334155"/>
                </a:solidFill>
                <a:latin typeface="Calibri"/>
                <a:ea typeface="Calibri"/>
                <a:cs typeface="Calibri"/>
                <a:sym typeface="Calibri"/>
              </a:rPr>
              <a:t>cannot change a verdict</a:t>
            </a:r>
            <a:endParaRPr b="0" i="0" sz="1400" u="none" cap="none" strike="noStrike">
              <a:solidFill>
                <a:srgbClr val="000000"/>
              </a:solidFill>
              <a:latin typeface="Arial"/>
              <a:ea typeface="Arial"/>
              <a:cs typeface="Arial"/>
              <a:sym typeface="Arial"/>
            </a:endParaRPr>
          </a:p>
        </p:txBody>
      </p:sp>
      <p:sp>
        <p:nvSpPr>
          <p:cNvPr id="1332" name="Google Shape;1332;p68"/>
          <p:cNvSpPr/>
          <p:nvPr/>
        </p:nvSpPr>
        <p:spPr>
          <a:xfrm>
            <a:off x="7498094" y="3977639"/>
            <a:ext cx="4160400" cy="22404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33" name="Google Shape;1333;p68"/>
          <p:cNvSpPr txBox="1"/>
          <p:nvPr/>
        </p:nvSpPr>
        <p:spPr>
          <a:xfrm>
            <a:off x="7680975" y="4133087"/>
            <a:ext cx="37947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Next step (planned)</a:t>
            </a:r>
            <a:endParaRPr b="0" i="0" sz="1400" u="none" cap="none" strike="noStrike">
              <a:solidFill>
                <a:srgbClr val="000000"/>
              </a:solidFill>
              <a:latin typeface="Arial"/>
              <a:ea typeface="Arial"/>
              <a:cs typeface="Arial"/>
              <a:sym typeface="Arial"/>
            </a:endParaRPr>
          </a:p>
        </p:txBody>
      </p:sp>
      <p:sp>
        <p:nvSpPr>
          <p:cNvPr id="1334" name="Google Shape;1334;p68"/>
          <p:cNvSpPr txBox="1"/>
          <p:nvPr/>
        </p:nvSpPr>
        <p:spPr>
          <a:xfrm>
            <a:off x="7680975" y="4599431"/>
            <a:ext cx="3794700" cy="1508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0" i="0" lang="en-US" sz="1350" u="none" cap="none" strike="noStrike">
                <a:solidFill>
                  <a:srgbClr val="334155"/>
                </a:solidFill>
                <a:latin typeface="Courier New"/>
                <a:ea typeface="Courier New"/>
                <a:cs typeface="Courier New"/>
                <a:sym typeface="Courier New"/>
              </a:rPr>
              <a:t>python -m eval.validate-grader --task auth-vs-log</a:t>
            </a:r>
            <a:r>
              <a:rPr b="0" i="0" lang="en-US" sz="1350" u="none" cap="none" strike="noStrike">
                <a:solidFill>
                  <a:srgbClr val="334155"/>
                </a:solidFill>
                <a:latin typeface="Calibri"/>
                <a:ea typeface="Calibri"/>
                <a:cs typeface="Calibri"/>
                <a:sym typeface="Calibri"/>
              </a:rPr>
              <a:t> + a run-twice check in </a:t>
            </a:r>
            <a:r>
              <a:rPr b="0" i="0" lang="en-US" sz="1350" u="none" cap="none" strike="noStrike">
                <a:solidFill>
                  <a:srgbClr val="334155"/>
                </a:solidFill>
                <a:latin typeface="Courier New"/>
                <a:ea typeface="Courier New"/>
                <a:cs typeface="Courier New"/>
                <a:sym typeface="Courier New"/>
              </a:rPr>
              <a:t>e2e_validate.sh</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9" name="Shape 1339"/>
        <p:cNvGrpSpPr/>
        <p:nvPr/>
      </p:nvGrpSpPr>
      <p:grpSpPr>
        <a:xfrm>
          <a:off x="0" y="0"/>
          <a:ext cx="0" cy="0"/>
          <a:chOff x="0" y="0"/>
          <a:chExt cx="0" cy="0"/>
        </a:xfrm>
      </p:grpSpPr>
      <p:sp>
        <p:nvSpPr>
          <p:cNvPr id="1340" name="Google Shape;1340;p69"/>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Gap 3 · No baseline score, headroom or noise diagnostics</a:t>
            </a:r>
            <a:endParaRPr b="0" i="0" sz="1400" u="none" cap="none" strike="noStrike">
              <a:solidFill>
                <a:srgbClr val="000000"/>
              </a:solidFill>
              <a:latin typeface="Arial"/>
              <a:ea typeface="Arial"/>
              <a:cs typeface="Arial"/>
              <a:sym typeface="Arial"/>
            </a:endParaRPr>
          </a:p>
        </p:txBody>
      </p:sp>
      <p:sp>
        <p:nvSpPr>
          <p:cNvPr id="1341" name="Google Shape;1341;p69"/>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334155"/>
                </a:solidFill>
                <a:latin typeface="Calibri"/>
                <a:ea typeface="Calibri"/>
                <a:cs typeface="Calibri"/>
                <a:sym typeface="Calibri"/>
              </a:rPr>
              <a:t>Validate</a:t>
            </a:r>
            <a:r>
              <a:rPr b="0" i="0" lang="en-US" sz="1600" u="none" cap="none" strike="noStrike">
                <a:solidFill>
                  <a:srgbClr val="334155"/>
                </a:solidFill>
                <a:latin typeface="Calibri"/>
                <a:ea typeface="Calibri"/>
                <a:cs typeface="Calibri"/>
                <a:sym typeface="Calibri"/>
              </a:rPr>
              <a:t> · 2/2 vs 2/2 could be genuine or two easy runs. 100% vs 100% leaves no room to show improvement. 80% vs 85% may be noise.</a:t>
            </a:r>
            <a:endParaRPr b="0" i="0" sz="1400" u="none" cap="none" strike="noStrike">
              <a:solidFill>
                <a:srgbClr val="000000"/>
              </a:solidFill>
              <a:latin typeface="Arial"/>
              <a:ea typeface="Arial"/>
              <a:cs typeface="Arial"/>
              <a:sym typeface="Arial"/>
            </a:endParaRPr>
          </a:p>
        </p:txBody>
      </p:sp>
      <p:sp>
        <p:nvSpPr>
          <p:cNvPr id="1342" name="Google Shape;1342;p69"/>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What we cut, and why</a:t>
            </a:r>
            <a:endParaRPr b="0" i="0" sz="1400" u="none" cap="none" strike="noStrike">
              <a:solidFill>
                <a:srgbClr val="000000"/>
              </a:solidFill>
              <a:latin typeface="Arial"/>
              <a:ea typeface="Arial"/>
              <a:cs typeface="Arial"/>
              <a:sym typeface="Arial"/>
            </a:endParaRPr>
          </a:p>
        </p:txBody>
      </p:sp>
      <p:sp>
        <p:nvSpPr>
          <p:cNvPr id="1343" name="Google Shape;1343;p69"/>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4</a:t>
            </a:r>
            <a:r>
              <a:rPr lang="en-US" sz="1000">
                <a:solidFill>
                  <a:srgbClr val="64748B"/>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1344" name="Google Shape;1344;p69"/>
          <p:cNvSpPr txBox="1"/>
          <p:nvPr/>
        </p:nvSpPr>
        <p:spPr>
          <a:xfrm>
            <a:off x="548641" y="1828800"/>
            <a:ext cx="1828800" cy="292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B91C1C"/>
                </a:solidFill>
                <a:latin typeface="Calibri"/>
                <a:ea typeface="Calibri"/>
                <a:cs typeface="Calibri"/>
                <a:sym typeface="Calibri"/>
              </a:rPr>
              <a:t>TODAY</a:t>
            </a:r>
            <a:endParaRPr b="0" i="0" sz="1400" u="none" cap="none" strike="noStrike">
              <a:solidFill>
                <a:srgbClr val="000000"/>
              </a:solidFill>
              <a:latin typeface="Arial"/>
              <a:ea typeface="Arial"/>
              <a:cs typeface="Arial"/>
              <a:sym typeface="Arial"/>
            </a:endParaRPr>
          </a:p>
        </p:txBody>
      </p:sp>
      <p:sp>
        <p:nvSpPr>
          <p:cNvPr id="1345" name="Google Shape;1345;p69"/>
          <p:cNvSpPr/>
          <p:nvPr/>
        </p:nvSpPr>
        <p:spPr>
          <a:xfrm>
            <a:off x="548641" y="2121408"/>
            <a:ext cx="25131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Baseline 2/2</a:t>
            </a:r>
            <a:endParaRPr b="0" i="0" sz="1400" u="none" cap="none" strike="noStrike">
              <a:solidFill>
                <a:srgbClr val="000000"/>
              </a:solidFill>
              <a:latin typeface="Arial"/>
              <a:ea typeface="Arial"/>
              <a:cs typeface="Arial"/>
              <a:sym typeface="Arial"/>
            </a:endParaRPr>
          </a:p>
        </p:txBody>
      </p:sp>
      <p:sp>
        <p:nvSpPr>
          <p:cNvPr id="1346" name="Google Shape;1346;p69"/>
          <p:cNvSpPr/>
          <p:nvPr/>
        </p:nvSpPr>
        <p:spPr>
          <a:xfrm>
            <a:off x="3134797"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47" name="Google Shape;1347;p69"/>
          <p:cNvSpPr/>
          <p:nvPr/>
        </p:nvSpPr>
        <p:spPr>
          <a:xfrm>
            <a:off x="3409118" y="2121408"/>
            <a:ext cx="25131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Candidate 2/2</a:t>
            </a:r>
            <a:endParaRPr b="0" i="0" sz="1400" u="none" cap="none" strike="noStrike">
              <a:solidFill>
                <a:srgbClr val="000000"/>
              </a:solidFill>
              <a:latin typeface="Arial"/>
              <a:ea typeface="Arial"/>
              <a:cs typeface="Arial"/>
              <a:sym typeface="Arial"/>
            </a:endParaRPr>
          </a:p>
        </p:txBody>
      </p:sp>
      <p:sp>
        <p:nvSpPr>
          <p:cNvPr id="1348" name="Google Shape;1348;p69"/>
          <p:cNvSpPr/>
          <p:nvPr/>
        </p:nvSpPr>
        <p:spPr>
          <a:xfrm>
            <a:off x="5995275"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49" name="Google Shape;1349;p69"/>
          <p:cNvSpPr/>
          <p:nvPr/>
        </p:nvSpPr>
        <p:spPr>
          <a:xfrm>
            <a:off x="6269596" y="2121408"/>
            <a:ext cx="25131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"Better?"</a:t>
            </a:r>
            <a:endParaRPr b="0" i="0" sz="1400" u="none" cap="none" strike="noStrike">
              <a:solidFill>
                <a:srgbClr val="000000"/>
              </a:solidFill>
              <a:latin typeface="Arial"/>
              <a:ea typeface="Arial"/>
              <a:cs typeface="Arial"/>
              <a:sym typeface="Arial"/>
            </a:endParaRPr>
          </a:p>
        </p:txBody>
      </p:sp>
      <p:sp>
        <p:nvSpPr>
          <p:cNvPr id="1350" name="Google Shape;1350;p69"/>
          <p:cNvSpPr/>
          <p:nvPr/>
        </p:nvSpPr>
        <p:spPr>
          <a:xfrm>
            <a:off x="8855753"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51" name="Google Shape;1351;p69"/>
          <p:cNvSpPr/>
          <p:nvPr/>
        </p:nvSpPr>
        <p:spPr>
          <a:xfrm>
            <a:off x="9130074" y="2121408"/>
            <a:ext cx="25131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Unknown</a:t>
            </a:r>
            <a:endParaRPr b="0" i="0" sz="1400" u="none" cap="none" strike="noStrike">
              <a:solidFill>
                <a:srgbClr val="000000"/>
              </a:solidFill>
              <a:latin typeface="Arial"/>
              <a:ea typeface="Arial"/>
              <a:cs typeface="Arial"/>
              <a:sym typeface="Arial"/>
            </a:endParaRPr>
          </a:p>
        </p:txBody>
      </p:sp>
      <p:sp>
        <p:nvSpPr>
          <p:cNvPr id="1352" name="Google Shape;1352;p69"/>
          <p:cNvSpPr txBox="1"/>
          <p:nvPr/>
        </p:nvSpPr>
        <p:spPr>
          <a:xfrm>
            <a:off x="548641" y="2852928"/>
            <a:ext cx="1828800" cy="292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047857"/>
                </a:solidFill>
                <a:latin typeface="Calibri"/>
                <a:ea typeface="Calibri"/>
                <a:cs typeface="Calibri"/>
                <a:sym typeface="Calibri"/>
              </a:rPr>
              <a:t>DESIRED</a:t>
            </a:r>
            <a:endParaRPr b="0" i="0" sz="1400" u="none" cap="none" strike="noStrike">
              <a:solidFill>
                <a:srgbClr val="000000"/>
              </a:solidFill>
              <a:latin typeface="Arial"/>
              <a:ea typeface="Arial"/>
              <a:cs typeface="Arial"/>
              <a:sym typeface="Arial"/>
            </a:endParaRPr>
          </a:p>
        </p:txBody>
      </p:sp>
      <p:sp>
        <p:nvSpPr>
          <p:cNvPr id="1353" name="Google Shape;1353;p69"/>
          <p:cNvSpPr/>
          <p:nvPr/>
        </p:nvSpPr>
        <p:spPr>
          <a:xfrm>
            <a:off x="548641" y="3145536"/>
            <a:ext cx="25131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Pass rate per arm</a:t>
            </a:r>
            <a:endParaRPr b="0" i="0" sz="1400" u="none" cap="none" strike="noStrike">
              <a:solidFill>
                <a:srgbClr val="000000"/>
              </a:solidFill>
              <a:latin typeface="Arial"/>
              <a:ea typeface="Arial"/>
              <a:cs typeface="Arial"/>
              <a:sym typeface="Arial"/>
            </a:endParaRPr>
          </a:p>
        </p:txBody>
      </p:sp>
      <p:sp>
        <p:nvSpPr>
          <p:cNvPr id="1354" name="Google Shape;1354;p69"/>
          <p:cNvSpPr/>
          <p:nvPr/>
        </p:nvSpPr>
        <p:spPr>
          <a:xfrm>
            <a:off x="3134797"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55" name="Google Shape;1355;p69"/>
          <p:cNvSpPr/>
          <p:nvPr/>
        </p:nvSpPr>
        <p:spPr>
          <a:xfrm>
            <a:off x="3409118" y="3145536"/>
            <a:ext cx="25131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Count UNSTABLE</a:t>
            </a:r>
            <a:endParaRPr b="0" i="0" sz="1400" u="none" cap="none" strike="noStrike">
              <a:solidFill>
                <a:srgbClr val="000000"/>
              </a:solidFill>
              <a:latin typeface="Arial"/>
              <a:ea typeface="Arial"/>
              <a:cs typeface="Arial"/>
              <a:sym typeface="Arial"/>
            </a:endParaRPr>
          </a:p>
        </p:txBody>
      </p:sp>
      <p:sp>
        <p:nvSpPr>
          <p:cNvPr id="1356" name="Google Shape;1356;p69"/>
          <p:cNvSpPr/>
          <p:nvPr/>
        </p:nvSpPr>
        <p:spPr>
          <a:xfrm>
            <a:off x="5995275"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57" name="Google Shape;1357;p69"/>
          <p:cNvSpPr/>
          <p:nvPr/>
        </p:nvSpPr>
        <p:spPr>
          <a:xfrm>
            <a:off x="6269596" y="3145536"/>
            <a:ext cx="25131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Headroom warning</a:t>
            </a:r>
            <a:endParaRPr b="0" i="0" sz="1400" u="none" cap="none" strike="noStrike">
              <a:solidFill>
                <a:srgbClr val="000000"/>
              </a:solidFill>
              <a:latin typeface="Arial"/>
              <a:ea typeface="Arial"/>
              <a:cs typeface="Arial"/>
              <a:sym typeface="Arial"/>
            </a:endParaRPr>
          </a:p>
        </p:txBody>
      </p:sp>
      <p:sp>
        <p:nvSpPr>
          <p:cNvPr id="1358" name="Google Shape;1358;p69"/>
          <p:cNvSpPr/>
          <p:nvPr/>
        </p:nvSpPr>
        <p:spPr>
          <a:xfrm>
            <a:off x="8855753"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59" name="Google Shape;1359;p69"/>
          <p:cNvSpPr/>
          <p:nvPr/>
        </p:nvSpPr>
        <p:spPr>
          <a:xfrm>
            <a:off x="9130074" y="3145536"/>
            <a:ext cx="25131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"Low n" banner</a:t>
            </a:r>
            <a:endParaRPr b="0" i="0" sz="1400" u="none" cap="none" strike="noStrike">
              <a:solidFill>
                <a:srgbClr val="000000"/>
              </a:solidFill>
              <a:latin typeface="Arial"/>
              <a:ea typeface="Arial"/>
              <a:cs typeface="Arial"/>
              <a:sym typeface="Arial"/>
            </a:endParaRPr>
          </a:p>
        </p:txBody>
      </p:sp>
      <p:sp>
        <p:nvSpPr>
          <p:cNvPr id="1360" name="Google Shape;1360;p69"/>
          <p:cNvSpPr/>
          <p:nvPr/>
        </p:nvSpPr>
        <p:spPr>
          <a:xfrm>
            <a:off x="548641" y="3977639"/>
            <a:ext cx="6766500" cy="22404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61" name="Google Shape;1361;p69"/>
          <p:cNvSpPr txBox="1"/>
          <p:nvPr/>
        </p:nvSpPr>
        <p:spPr>
          <a:xfrm>
            <a:off x="731521" y="4133087"/>
            <a:ext cx="64008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Why we cut it</a:t>
            </a:r>
            <a:endParaRPr b="0" i="0" sz="1400" u="none" cap="none" strike="noStrike">
              <a:solidFill>
                <a:srgbClr val="000000"/>
              </a:solidFill>
              <a:latin typeface="Arial"/>
              <a:ea typeface="Arial"/>
              <a:cs typeface="Arial"/>
              <a:sym typeface="Arial"/>
            </a:endParaRPr>
          </a:p>
        </p:txBody>
      </p:sp>
      <p:sp>
        <p:nvSpPr>
          <p:cNvPr id="1362" name="Google Shape;1362;p69"/>
          <p:cNvSpPr txBox="1"/>
          <p:nvPr/>
        </p:nvSpPr>
        <p:spPr>
          <a:xfrm>
            <a:off x="731521" y="4599431"/>
            <a:ext cx="6400800" cy="15087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B45309"/>
              </a:buClr>
              <a:buSzPts val="1350"/>
              <a:buFont typeface="Calibri"/>
              <a:buChar char="•"/>
            </a:pPr>
            <a:r>
              <a:rPr b="1" i="0" lang="en-US" sz="1350" u="none" cap="none" strike="noStrike">
                <a:solidFill>
                  <a:srgbClr val="334155"/>
                </a:solidFill>
                <a:latin typeface="Calibri"/>
                <a:ea typeface="Calibri"/>
                <a:cs typeface="Calibri"/>
                <a:sym typeface="Calibri"/>
              </a:rPr>
              <a:t>n = 2 cannot support confidence intervals</a:t>
            </a:r>
            <a:r>
              <a:rPr b="0" i="0" lang="en-US" sz="1350" u="none" cap="none" strike="noStrike">
                <a:solidFill>
                  <a:srgbClr val="334155"/>
                </a:solidFill>
                <a:latin typeface="Calibri"/>
                <a:ea typeface="Calibri"/>
                <a:cs typeface="Calibri"/>
                <a:sym typeface="Calibri"/>
              </a:rPr>
              <a:t>; fake statistics would be dishonest</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50"/>
              <a:buFont typeface="Calibri"/>
              <a:buChar char="•"/>
            </a:pPr>
            <a:r>
              <a:rPr b="0" i="0" lang="en-US" sz="1350" u="none" cap="none" strike="noStrike">
                <a:solidFill>
                  <a:srgbClr val="334155"/>
                </a:solidFill>
                <a:latin typeface="Calibri"/>
                <a:ea typeface="Calibri"/>
                <a:cs typeface="Calibri"/>
                <a:sym typeface="Calibri"/>
              </a:rPr>
              <a:t>We already report </a:t>
            </a:r>
            <a:r>
              <a:rPr b="1" i="0" lang="en-US" sz="1350" u="none" cap="none" strike="noStrike">
                <a:solidFill>
                  <a:srgbClr val="334155"/>
                </a:solidFill>
                <a:latin typeface="Calibri"/>
                <a:ea typeface="Calibri"/>
                <a:cs typeface="Calibri"/>
                <a:sym typeface="Calibri"/>
              </a:rPr>
              <a:t>UNSTABLE</a:t>
            </a:r>
            <a:r>
              <a:rPr b="0" i="0" lang="en-US" sz="1350" u="none" cap="none" strike="noStrike">
                <a:solidFill>
                  <a:srgbClr val="334155"/>
                </a:solidFill>
                <a:latin typeface="Calibri"/>
                <a:ea typeface="Calibri"/>
                <a:cs typeface="Calibri"/>
                <a:sym typeface="Calibri"/>
              </a:rPr>
              <a:t> and never round it into a win</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50"/>
              <a:buFont typeface="Calibri"/>
              <a:buChar char="•"/>
            </a:pPr>
            <a:r>
              <a:rPr b="0" i="0" lang="en-US" sz="1350" u="none" cap="none" strike="noStrike">
                <a:solidFill>
                  <a:srgbClr val="334155"/>
                </a:solidFill>
                <a:latin typeface="Calibri"/>
                <a:ea typeface="Calibri"/>
                <a:cs typeface="Calibri"/>
                <a:sym typeface="Calibri"/>
              </a:rPr>
              <a:t>Limits are stated explicitly in README and DESIGN</a:t>
            </a:r>
            <a:endParaRPr b="0" i="0" sz="1400" u="none" cap="none" strike="noStrike">
              <a:solidFill>
                <a:srgbClr val="000000"/>
              </a:solidFill>
              <a:latin typeface="Arial"/>
              <a:ea typeface="Arial"/>
              <a:cs typeface="Arial"/>
              <a:sym typeface="Arial"/>
            </a:endParaRPr>
          </a:p>
        </p:txBody>
      </p:sp>
      <p:sp>
        <p:nvSpPr>
          <p:cNvPr id="1363" name="Google Shape;1363;p69"/>
          <p:cNvSpPr/>
          <p:nvPr/>
        </p:nvSpPr>
        <p:spPr>
          <a:xfrm>
            <a:off x="7498094" y="3977639"/>
            <a:ext cx="4160400" cy="22404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64" name="Google Shape;1364;p69"/>
          <p:cNvSpPr txBox="1"/>
          <p:nvPr/>
        </p:nvSpPr>
        <p:spPr>
          <a:xfrm>
            <a:off x="7680975" y="4133087"/>
            <a:ext cx="37947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Next step (planned)</a:t>
            </a:r>
            <a:endParaRPr b="0" i="0" sz="1400" u="none" cap="none" strike="noStrike">
              <a:solidFill>
                <a:srgbClr val="000000"/>
              </a:solidFill>
              <a:latin typeface="Arial"/>
              <a:ea typeface="Arial"/>
              <a:cs typeface="Arial"/>
              <a:sym typeface="Arial"/>
            </a:endParaRPr>
          </a:p>
        </p:txBody>
      </p:sp>
      <p:sp>
        <p:nvSpPr>
          <p:cNvPr id="1365" name="Google Shape;1365;p69"/>
          <p:cNvSpPr txBox="1"/>
          <p:nvPr/>
        </p:nvSpPr>
        <p:spPr>
          <a:xfrm>
            <a:off x="7680975" y="4599431"/>
            <a:ext cx="3794700" cy="1508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0" i="0" lang="en-US" sz="1350" u="none" cap="none" strike="noStrike">
                <a:solidFill>
                  <a:srgbClr val="334155"/>
                </a:solidFill>
                <a:latin typeface="Courier New"/>
                <a:ea typeface="Courier New"/>
                <a:cs typeface="Courier New"/>
                <a:sym typeface="Courier New"/>
              </a:rPr>
              <a:t>diagnostics</a:t>
            </a:r>
            <a:r>
              <a:rPr b="0" i="0" lang="en-US" sz="1350" u="none" cap="none" strike="noStrike">
                <a:solidFill>
                  <a:srgbClr val="334155"/>
                </a:solidFill>
                <a:latin typeface="Calibri"/>
                <a:ea typeface="Calibri"/>
                <a:cs typeface="Calibri"/>
                <a:sym typeface="Calibri"/>
              </a:rPr>
              <a:t> block in phase summary + </a:t>
            </a:r>
            <a:r>
              <a:rPr b="0" i="0" lang="en-US" sz="1350" u="none" cap="none" strike="noStrike">
                <a:solidFill>
                  <a:srgbClr val="334155"/>
                </a:solidFill>
                <a:latin typeface="Courier New"/>
                <a:ea typeface="Courier New"/>
                <a:cs typeface="Courier New"/>
                <a:sym typeface="Courier New"/>
              </a:rPr>
              <a:t>headroom_warning</a:t>
            </a:r>
            <a:r>
              <a:rPr b="0" i="0" lang="en-US" sz="1350" u="none" cap="none" strike="noStrike">
                <a:solidFill>
                  <a:srgbClr val="334155"/>
                </a:solidFill>
                <a:latin typeface="Calibri"/>
                <a:ea typeface="Calibri"/>
                <a:cs typeface="Calibri"/>
                <a:sym typeface="Calibri"/>
              </a:rPr>
              <a:t> when baseline is already 100%</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0" name="Shape 1370"/>
        <p:cNvGrpSpPr/>
        <p:nvPr/>
      </p:nvGrpSpPr>
      <p:grpSpPr>
        <a:xfrm>
          <a:off x="0" y="0"/>
          <a:ext cx="0" cy="0"/>
          <a:chOff x="0" y="0"/>
          <a:chExt cx="0" cy="0"/>
        </a:xfrm>
      </p:grpSpPr>
      <p:sp>
        <p:nvSpPr>
          <p:cNvPr id="1371" name="Google Shape;1371;p70"/>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Gap 4 · No local results browser</a:t>
            </a:r>
            <a:endParaRPr b="0" i="0" sz="1400" u="none" cap="none" strike="noStrike">
              <a:solidFill>
                <a:srgbClr val="000000"/>
              </a:solidFill>
              <a:latin typeface="Arial"/>
              <a:ea typeface="Arial"/>
              <a:cs typeface="Arial"/>
              <a:sym typeface="Arial"/>
            </a:endParaRPr>
          </a:p>
        </p:txBody>
      </p:sp>
      <p:sp>
        <p:nvSpPr>
          <p:cNvPr id="1372" name="Google Shape;1372;p70"/>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334155"/>
                </a:solidFill>
                <a:latin typeface="Calibri"/>
                <a:ea typeface="Calibri"/>
                <a:cs typeface="Calibri"/>
                <a:sym typeface="Calibri"/>
              </a:rPr>
              <a:t>Demo / UX</a:t>
            </a:r>
            <a:r>
              <a:rPr b="0" i="0" lang="en-US" sz="1600" u="none" cap="none" strike="noStrike">
                <a:solidFill>
                  <a:srgbClr val="334155"/>
                </a:solidFill>
                <a:latin typeface="Calibri"/>
                <a:ea typeface="Calibri"/>
                <a:cs typeface="Calibri"/>
                <a:sym typeface="Calibri"/>
              </a:rPr>
              <a:t> · Evidence lives in READMEs, JSON files and transcripts, so a live demo becomes "let me open this folder… now this JSON…".</a:t>
            </a:r>
            <a:endParaRPr b="0" i="0" sz="1400" u="none" cap="none" strike="noStrike">
              <a:solidFill>
                <a:srgbClr val="000000"/>
              </a:solidFill>
              <a:latin typeface="Arial"/>
              <a:ea typeface="Arial"/>
              <a:cs typeface="Arial"/>
              <a:sym typeface="Arial"/>
            </a:endParaRPr>
          </a:p>
        </p:txBody>
      </p:sp>
      <p:sp>
        <p:nvSpPr>
          <p:cNvPr id="1373" name="Google Shape;1373;p70"/>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What we cut, and why</a:t>
            </a:r>
            <a:endParaRPr b="0" i="0" sz="1400" u="none" cap="none" strike="noStrike">
              <a:solidFill>
                <a:srgbClr val="000000"/>
              </a:solidFill>
              <a:latin typeface="Arial"/>
              <a:ea typeface="Arial"/>
              <a:cs typeface="Arial"/>
              <a:sym typeface="Arial"/>
            </a:endParaRPr>
          </a:p>
        </p:txBody>
      </p:sp>
      <p:sp>
        <p:nvSpPr>
          <p:cNvPr id="1374" name="Google Shape;1374;p70"/>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4</a:t>
            </a:r>
            <a:r>
              <a:rPr lang="en-US" sz="1000">
                <a:solidFill>
                  <a:srgbClr val="64748B"/>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sp>
        <p:nvSpPr>
          <p:cNvPr id="1375" name="Google Shape;1375;p70"/>
          <p:cNvSpPr txBox="1"/>
          <p:nvPr/>
        </p:nvSpPr>
        <p:spPr>
          <a:xfrm>
            <a:off x="548641" y="1828800"/>
            <a:ext cx="1828800" cy="292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B91C1C"/>
                </a:solidFill>
                <a:latin typeface="Calibri"/>
                <a:ea typeface="Calibri"/>
                <a:cs typeface="Calibri"/>
                <a:sym typeface="Calibri"/>
              </a:rPr>
              <a:t>TODAY</a:t>
            </a:r>
            <a:endParaRPr b="0" i="0" sz="1400" u="none" cap="none" strike="noStrike">
              <a:solidFill>
                <a:srgbClr val="000000"/>
              </a:solidFill>
              <a:latin typeface="Arial"/>
              <a:ea typeface="Arial"/>
              <a:cs typeface="Arial"/>
              <a:sym typeface="Arial"/>
            </a:endParaRPr>
          </a:p>
        </p:txBody>
      </p:sp>
      <p:sp>
        <p:nvSpPr>
          <p:cNvPr id="1376" name="Google Shape;1376;p70"/>
          <p:cNvSpPr/>
          <p:nvPr/>
        </p:nvSpPr>
        <p:spPr>
          <a:xfrm>
            <a:off x="548641" y="2121408"/>
            <a:ext cx="25131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Open README</a:t>
            </a:r>
            <a:endParaRPr b="0" i="0" sz="1400" u="none" cap="none" strike="noStrike">
              <a:solidFill>
                <a:srgbClr val="000000"/>
              </a:solidFill>
              <a:latin typeface="Arial"/>
              <a:ea typeface="Arial"/>
              <a:cs typeface="Arial"/>
              <a:sym typeface="Arial"/>
            </a:endParaRPr>
          </a:p>
        </p:txBody>
      </p:sp>
      <p:sp>
        <p:nvSpPr>
          <p:cNvPr id="1377" name="Google Shape;1377;p70"/>
          <p:cNvSpPr/>
          <p:nvPr/>
        </p:nvSpPr>
        <p:spPr>
          <a:xfrm>
            <a:off x="3134797"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78" name="Google Shape;1378;p70"/>
          <p:cNvSpPr/>
          <p:nvPr/>
        </p:nvSpPr>
        <p:spPr>
          <a:xfrm>
            <a:off x="3409118" y="2121408"/>
            <a:ext cx="25131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Find folder</a:t>
            </a:r>
            <a:endParaRPr b="0" i="0" sz="1400" u="none" cap="none" strike="noStrike">
              <a:solidFill>
                <a:srgbClr val="000000"/>
              </a:solidFill>
              <a:latin typeface="Arial"/>
              <a:ea typeface="Arial"/>
              <a:cs typeface="Arial"/>
              <a:sym typeface="Arial"/>
            </a:endParaRPr>
          </a:p>
        </p:txBody>
      </p:sp>
      <p:sp>
        <p:nvSpPr>
          <p:cNvPr id="1379" name="Google Shape;1379;p70"/>
          <p:cNvSpPr/>
          <p:nvPr/>
        </p:nvSpPr>
        <p:spPr>
          <a:xfrm>
            <a:off x="5995275"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0" name="Google Shape;1380;p70"/>
          <p:cNvSpPr/>
          <p:nvPr/>
        </p:nvSpPr>
        <p:spPr>
          <a:xfrm>
            <a:off x="6269596" y="2121408"/>
            <a:ext cx="25131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Open JSON</a:t>
            </a:r>
            <a:endParaRPr b="0" i="0" sz="1400" u="none" cap="none" strike="noStrike">
              <a:solidFill>
                <a:srgbClr val="000000"/>
              </a:solidFill>
              <a:latin typeface="Arial"/>
              <a:ea typeface="Arial"/>
              <a:cs typeface="Arial"/>
              <a:sym typeface="Arial"/>
            </a:endParaRPr>
          </a:p>
        </p:txBody>
      </p:sp>
      <p:sp>
        <p:nvSpPr>
          <p:cNvPr id="1381" name="Google Shape;1381;p70"/>
          <p:cNvSpPr/>
          <p:nvPr/>
        </p:nvSpPr>
        <p:spPr>
          <a:xfrm>
            <a:off x="8855753"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2" name="Google Shape;1382;p70"/>
          <p:cNvSpPr/>
          <p:nvPr/>
        </p:nvSpPr>
        <p:spPr>
          <a:xfrm>
            <a:off x="9130074" y="2121408"/>
            <a:ext cx="25131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Find transcript</a:t>
            </a:r>
            <a:endParaRPr b="0" i="0" sz="1400" u="none" cap="none" strike="noStrike">
              <a:solidFill>
                <a:srgbClr val="000000"/>
              </a:solidFill>
              <a:latin typeface="Arial"/>
              <a:ea typeface="Arial"/>
              <a:cs typeface="Arial"/>
              <a:sym typeface="Arial"/>
            </a:endParaRPr>
          </a:p>
        </p:txBody>
      </p:sp>
      <p:sp>
        <p:nvSpPr>
          <p:cNvPr id="1383" name="Google Shape;1383;p70"/>
          <p:cNvSpPr txBox="1"/>
          <p:nvPr/>
        </p:nvSpPr>
        <p:spPr>
          <a:xfrm>
            <a:off x="548641" y="2852928"/>
            <a:ext cx="1828800" cy="292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047857"/>
                </a:solidFill>
                <a:latin typeface="Calibri"/>
                <a:ea typeface="Calibri"/>
                <a:cs typeface="Calibri"/>
                <a:sym typeface="Calibri"/>
              </a:rPr>
              <a:t>DESIRED</a:t>
            </a:r>
            <a:endParaRPr b="0" i="0" sz="1400" u="none" cap="none" strike="noStrike">
              <a:solidFill>
                <a:srgbClr val="000000"/>
              </a:solidFill>
              <a:latin typeface="Arial"/>
              <a:ea typeface="Arial"/>
              <a:cs typeface="Arial"/>
              <a:sym typeface="Arial"/>
            </a:endParaRPr>
          </a:p>
        </p:txBody>
      </p:sp>
      <p:sp>
        <p:nvSpPr>
          <p:cNvPr id="1384" name="Google Shape;1384;p70"/>
          <p:cNvSpPr/>
          <p:nvPr/>
        </p:nvSpPr>
        <p:spPr>
          <a:xfrm>
            <a:off x="548641" y="3145536"/>
            <a:ext cx="25131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index.html</a:t>
            </a:r>
            <a:endParaRPr b="0" i="0" sz="1400" u="none" cap="none" strike="noStrike">
              <a:solidFill>
                <a:srgbClr val="000000"/>
              </a:solidFill>
              <a:latin typeface="Arial"/>
              <a:ea typeface="Arial"/>
              <a:cs typeface="Arial"/>
              <a:sym typeface="Arial"/>
            </a:endParaRPr>
          </a:p>
        </p:txBody>
      </p:sp>
      <p:sp>
        <p:nvSpPr>
          <p:cNvPr id="1385" name="Google Shape;1385;p70"/>
          <p:cNvSpPr/>
          <p:nvPr/>
        </p:nvSpPr>
        <p:spPr>
          <a:xfrm>
            <a:off x="3134797"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6" name="Google Shape;1386;p70"/>
          <p:cNvSpPr/>
          <p:nvPr/>
        </p:nvSpPr>
        <p:spPr>
          <a:xfrm>
            <a:off x="3409118" y="3145536"/>
            <a:ext cx="25131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Task → score</a:t>
            </a:r>
            <a:endParaRPr b="0" i="0" sz="1400" u="none" cap="none" strike="noStrike">
              <a:solidFill>
                <a:srgbClr val="000000"/>
              </a:solidFill>
              <a:latin typeface="Arial"/>
              <a:ea typeface="Arial"/>
              <a:cs typeface="Arial"/>
              <a:sym typeface="Arial"/>
            </a:endParaRPr>
          </a:p>
        </p:txBody>
      </p:sp>
      <p:sp>
        <p:nvSpPr>
          <p:cNvPr id="1387" name="Google Shape;1387;p70"/>
          <p:cNvSpPr/>
          <p:nvPr/>
        </p:nvSpPr>
        <p:spPr>
          <a:xfrm>
            <a:off x="5995275"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8" name="Google Shape;1388;p70"/>
          <p:cNvSpPr/>
          <p:nvPr/>
        </p:nvSpPr>
        <p:spPr>
          <a:xfrm>
            <a:off x="6269596" y="3145536"/>
            <a:ext cx="25131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Click → findings</a:t>
            </a:r>
            <a:endParaRPr b="0" i="0" sz="1400" u="none" cap="none" strike="noStrike">
              <a:solidFill>
                <a:srgbClr val="000000"/>
              </a:solidFill>
              <a:latin typeface="Arial"/>
              <a:ea typeface="Arial"/>
              <a:cs typeface="Arial"/>
              <a:sym typeface="Arial"/>
            </a:endParaRPr>
          </a:p>
        </p:txBody>
      </p:sp>
      <p:sp>
        <p:nvSpPr>
          <p:cNvPr id="1389" name="Google Shape;1389;p70"/>
          <p:cNvSpPr/>
          <p:nvPr/>
        </p:nvSpPr>
        <p:spPr>
          <a:xfrm>
            <a:off x="8855753"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90" name="Google Shape;1390;p70"/>
          <p:cNvSpPr/>
          <p:nvPr/>
        </p:nvSpPr>
        <p:spPr>
          <a:xfrm>
            <a:off x="9130074" y="3145536"/>
            <a:ext cx="25131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Click → grade + transcript</a:t>
            </a:r>
            <a:endParaRPr b="0" i="0" sz="1400" u="none" cap="none" strike="noStrike">
              <a:solidFill>
                <a:srgbClr val="000000"/>
              </a:solidFill>
              <a:latin typeface="Arial"/>
              <a:ea typeface="Arial"/>
              <a:cs typeface="Arial"/>
              <a:sym typeface="Arial"/>
            </a:endParaRPr>
          </a:p>
        </p:txBody>
      </p:sp>
      <p:sp>
        <p:nvSpPr>
          <p:cNvPr id="1391" name="Google Shape;1391;p70"/>
          <p:cNvSpPr/>
          <p:nvPr/>
        </p:nvSpPr>
        <p:spPr>
          <a:xfrm>
            <a:off x="548641" y="3977639"/>
            <a:ext cx="6766500" cy="22404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92" name="Google Shape;1392;p70"/>
          <p:cNvSpPr txBox="1"/>
          <p:nvPr/>
        </p:nvSpPr>
        <p:spPr>
          <a:xfrm>
            <a:off x="731521" y="4133087"/>
            <a:ext cx="64008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Why we cut it</a:t>
            </a:r>
            <a:endParaRPr b="0" i="0" sz="1400" u="none" cap="none" strike="noStrike">
              <a:solidFill>
                <a:srgbClr val="000000"/>
              </a:solidFill>
              <a:latin typeface="Arial"/>
              <a:ea typeface="Arial"/>
              <a:cs typeface="Arial"/>
              <a:sym typeface="Arial"/>
            </a:endParaRPr>
          </a:p>
        </p:txBody>
      </p:sp>
      <p:sp>
        <p:nvSpPr>
          <p:cNvPr id="1393" name="Google Shape;1393;p70"/>
          <p:cNvSpPr txBox="1"/>
          <p:nvPr/>
        </p:nvSpPr>
        <p:spPr>
          <a:xfrm>
            <a:off x="731521" y="4599431"/>
            <a:ext cx="6400800" cy="15087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B45309"/>
              </a:buClr>
              <a:buSzPts val="1350"/>
              <a:buFont typeface="Calibri"/>
              <a:buChar char="•"/>
            </a:pPr>
            <a:r>
              <a:rPr b="0" i="0" lang="en-US" sz="1350" u="none" cap="none" strike="noStrike">
                <a:solidFill>
                  <a:srgbClr val="334155"/>
                </a:solidFill>
                <a:latin typeface="Calibri"/>
                <a:ea typeface="Calibri"/>
                <a:cs typeface="Calibri"/>
                <a:sym typeface="Calibri"/>
              </a:rPr>
              <a:t>A </a:t>
            </a:r>
            <a:r>
              <a:rPr b="1" i="0" lang="en-US" sz="1350" u="none" cap="none" strike="noStrike">
                <a:solidFill>
                  <a:srgbClr val="334155"/>
                </a:solidFill>
                <a:latin typeface="Calibri"/>
                <a:ea typeface="Calibri"/>
                <a:cs typeface="Calibri"/>
                <a:sym typeface="Calibri"/>
              </a:rPr>
              <a:t>usability</a:t>
            </a:r>
            <a:r>
              <a:rPr b="0" i="0" lang="en-US" sz="1350" u="none" cap="none" strike="noStrike">
                <a:solidFill>
                  <a:srgbClr val="334155"/>
                </a:solidFill>
                <a:latin typeface="Calibri"/>
                <a:ea typeface="Calibri"/>
                <a:cs typeface="Calibri"/>
                <a:sym typeface="Calibri"/>
              </a:rPr>
              <a:t> gap, not an evaluation capability</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50"/>
              <a:buFont typeface="Calibri"/>
              <a:buChar char="•"/>
            </a:pPr>
            <a:r>
              <a:rPr b="0" i="0" lang="en-US" sz="1350" u="none" cap="none" strike="noStrike">
                <a:solidFill>
                  <a:srgbClr val="334155"/>
                </a:solidFill>
                <a:latin typeface="Calibri"/>
                <a:ea typeface="Calibri"/>
                <a:cs typeface="Calibri"/>
                <a:sym typeface="Calibri"/>
              </a:rPr>
              <a:t>Markdown READMEs + </a:t>
            </a:r>
            <a:r>
              <a:rPr b="0" i="0" lang="en-US" sz="1350" u="none" cap="none" strike="noStrike">
                <a:solidFill>
                  <a:srgbClr val="334155"/>
                </a:solidFill>
                <a:latin typeface="Courier New"/>
                <a:ea typeface="Courier New"/>
                <a:cs typeface="Courier New"/>
                <a:sym typeface="Courier New"/>
              </a:rPr>
              <a:t>comparison/result.json</a:t>
            </a:r>
            <a:r>
              <a:rPr b="0" i="0" lang="en-US" sz="1350" u="none" cap="none" strike="noStrike">
                <a:solidFill>
                  <a:srgbClr val="334155"/>
                </a:solidFill>
                <a:latin typeface="Calibri"/>
                <a:ea typeface="Calibri"/>
                <a:cs typeface="Calibri"/>
                <a:sym typeface="Calibri"/>
              </a:rPr>
              <a:t> + this deck cover the demo</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50"/>
              <a:buFont typeface="Courier New"/>
              <a:buChar char="•"/>
            </a:pPr>
            <a:r>
              <a:rPr b="0" i="0" lang="en-US" sz="1350" u="none" cap="none" strike="noStrike">
                <a:solidFill>
                  <a:srgbClr val="334155"/>
                </a:solidFill>
                <a:latin typeface="Courier New"/>
                <a:ea typeface="Courier New"/>
                <a:cs typeface="Courier New"/>
                <a:sym typeface="Courier New"/>
              </a:rPr>
              <a:t>archify/index.html</a:t>
            </a:r>
            <a:r>
              <a:rPr b="0" i="0" lang="en-US" sz="1350" u="none" cap="none" strike="noStrike">
                <a:solidFill>
                  <a:srgbClr val="334155"/>
                </a:solidFill>
                <a:latin typeface="Calibri"/>
                <a:ea typeface="Calibri"/>
                <a:cs typeface="Calibri"/>
                <a:sym typeface="Calibri"/>
              </a:rPr>
              <a:t> now gives a visual walkthrough</a:t>
            </a:r>
            <a:endParaRPr b="0" i="0" sz="1400" u="none" cap="none" strike="noStrike">
              <a:solidFill>
                <a:srgbClr val="000000"/>
              </a:solidFill>
              <a:latin typeface="Arial"/>
              <a:ea typeface="Arial"/>
              <a:cs typeface="Arial"/>
              <a:sym typeface="Arial"/>
            </a:endParaRPr>
          </a:p>
        </p:txBody>
      </p:sp>
      <p:sp>
        <p:nvSpPr>
          <p:cNvPr id="1394" name="Google Shape;1394;p70"/>
          <p:cNvSpPr/>
          <p:nvPr/>
        </p:nvSpPr>
        <p:spPr>
          <a:xfrm>
            <a:off x="7498094" y="3977639"/>
            <a:ext cx="4160400" cy="22404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95" name="Google Shape;1395;p70"/>
          <p:cNvSpPr txBox="1"/>
          <p:nvPr/>
        </p:nvSpPr>
        <p:spPr>
          <a:xfrm>
            <a:off x="7680975" y="4133087"/>
            <a:ext cx="37947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Next step (planned)</a:t>
            </a:r>
            <a:endParaRPr b="0" i="0" sz="1400" u="none" cap="none" strike="noStrike">
              <a:solidFill>
                <a:srgbClr val="000000"/>
              </a:solidFill>
              <a:latin typeface="Arial"/>
              <a:ea typeface="Arial"/>
              <a:cs typeface="Arial"/>
              <a:sym typeface="Arial"/>
            </a:endParaRPr>
          </a:p>
        </p:txBody>
      </p:sp>
      <p:sp>
        <p:nvSpPr>
          <p:cNvPr id="1396" name="Google Shape;1396;p70"/>
          <p:cNvSpPr txBox="1"/>
          <p:nvPr/>
        </p:nvSpPr>
        <p:spPr>
          <a:xfrm>
            <a:off x="7680975" y="4599431"/>
            <a:ext cx="3794700" cy="1508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0" i="0" lang="en-US" sz="1350" u="none" cap="none" strike="noStrike">
                <a:solidFill>
                  <a:srgbClr val="334155"/>
                </a:solidFill>
                <a:latin typeface="Courier New"/>
                <a:ea typeface="Courier New"/>
                <a:cs typeface="Courier New"/>
                <a:sym typeface="Courier New"/>
              </a:rPr>
              <a:t>python -m eval.report_html</a:t>
            </a:r>
            <a:r>
              <a:rPr b="0" i="0" lang="en-US" sz="1350" u="none" cap="none" strike="noStrike">
                <a:solidFill>
                  <a:srgbClr val="334155"/>
                </a:solidFill>
                <a:latin typeface="Calibri"/>
                <a:ea typeface="Calibri"/>
                <a:cs typeface="Calibri"/>
                <a:sym typeface="Calibri"/>
              </a:rPr>
              <a:t> → </a:t>
            </a:r>
            <a:r>
              <a:rPr b="0" i="0" lang="en-US" sz="1350" u="none" cap="none" strike="noStrike">
                <a:solidFill>
                  <a:srgbClr val="334155"/>
                </a:solidFill>
                <a:latin typeface="Courier New"/>
                <a:ea typeface="Courier New"/>
                <a:cs typeface="Courier New"/>
                <a:sym typeface="Courier New"/>
              </a:rPr>
              <a:t>output/&lt;example&gt;/index.html</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1" name="Shape 1401"/>
        <p:cNvGrpSpPr/>
        <p:nvPr/>
      </p:nvGrpSpPr>
      <p:grpSpPr>
        <a:xfrm>
          <a:off x="0" y="0"/>
          <a:ext cx="0" cy="0"/>
          <a:chOff x="0" y="0"/>
          <a:chExt cx="0" cy="0"/>
        </a:xfrm>
      </p:grpSpPr>
      <p:sp>
        <p:nvSpPr>
          <p:cNvPr id="1402" name="Google Shape;1402;p71"/>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Gap 5 · No automated harness iteration loop (hill-climb)</a:t>
            </a:r>
            <a:endParaRPr b="0" i="0" sz="1400" u="none" cap="none" strike="noStrike">
              <a:solidFill>
                <a:srgbClr val="000000"/>
              </a:solidFill>
              <a:latin typeface="Arial"/>
              <a:ea typeface="Arial"/>
              <a:cs typeface="Arial"/>
              <a:sym typeface="Arial"/>
            </a:endParaRPr>
          </a:p>
        </p:txBody>
      </p:sp>
      <p:sp>
        <p:nvSpPr>
          <p:cNvPr id="1403" name="Google Shape;1403;p71"/>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334155"/>
                </a:solidFill>
                <a:latin typeface="Calibri"/>
                <a:ea typeface="Calibri"/>
                <a:cs typeface="Calibri"/>
                <a:sym typeface="Calibri"/>
              </a:rPr>
              <a:t>Iterate</a:t>
            </a:r>
            <a:r>
              <a:rPr b="0" i="0" lang="en-US" sz="1600" u="none" cap="none" strike="noStrike">
                <a:solidFill>
                  <a:srgbClr val="334155"/>
                </a:solidFill>
                <a:latin typeface="Calibri"/>
                <a:ea typeface="Calibri"/>
                <a:cs typeface="Calibri"/>
                <a:sym typeface="Calibri"/>
              </a:rPr>
              <a:t> · The tool compares baseline vs one candidate, but a human decides every next change. There is no train/holdout split to catch overfitting.</a:t>
            </a:r>
            <a:endParaRPr b="0" i="0" sz="1400" u="none" cap="none" strike="noStrike">
              <a:solidFill>
                <a:srgbClr val="000000"/>
              </a:solidFill>
              <a:latin typeface="Arial"/>
              <a:ea typeface="Arial"/>
              <a:cs typeface="Arial"/>
              <a:sym typeface="Arial"/>
            </a:endParaRPr>
          </a:p>
        </p:txBody>
      </p:sp>
      <p:sp>
        <p:nvSpPr>
          <p:cNvPr id="1404" name="Google Shape;1404;p71"/>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What we cut, and why</a:t>
            </a:r>
            <a:endParaRPr b="0" i="0" sz="1400" u="none" cap="none" strike="noStrike">
              <a:solidFill>
                <a:srgbClr val="000000"/>
              </a:solidFill>
              <a:latin typeface="Arial"/>
              <a:ea typeface="Arial"/>
              <a:cs typeface="Arial"/>
              <a:sym typeface="Arial"/>
            </a:endParaRPr>
          </a:p>
        </p:txBody>
      </p:sp>
      <p:sp>
        <p:nvSpPr>
          <p:cNvPr id="1405" name="Google Shape;1405;p71"/>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4</a:t>
            </a:r>
            <a:r>
              <a:rPr lang="en-US" sz="1000">
                <a:solidFill>
                  <a:srgbClr val="64748B"/>
                </a:solidFill>
                <a:latin typeface="Calibri"/>
                <a:ea typeface="Calibri"/>
                <a:cs typeface="Calibri"/>
                <a:sym typeface="Calibri"/>
              </a:rPr>
              <a:t>7</a:t>
            </a:r>
            <a:endParaRPr b="0" i="0" sz="1400" u="none" cap="none" strike="noStrike">
              <a:solidFill>
                <a:srgbClr val="000000"/>
              </a:solidFill>
              <a:latin typeface="Arial"/>
              <a:ea typeface="Arial"/>
              <a:cs typeface="Arial"/>
              <a:sym typeface="Arial"/>
            </a:endParaRPr>
          </a:p>
        </p:txBody>
      </p:sp>
      <p:sp>
        <p:nvSpPr>
          <p:cNvPr id="1406" name="Google Shape;1406;p71"/>
          <p:cNvSpPr txBox="1"/>
          <p:nvPr/>
        </p:nvSpPr>
        <p:spPr>
          <a:xfrm>
            <a:off x="548641" y="1828800"/>
            <a:ext cx="1828800" cy="292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B91C1C"/>
                </a:solidFill>
                <a:latin typeface="Calibri"/>
                <a:ea typeface="Calibri"/>
                <a:cs typeface="Calibri"/>
                <a:sym typeface="Calibri"/>
              </a:rPr>
              <a:t>TODAY</a:t>
            </a:r>
            <a:endParaRPr b="0" i="0" sz="1400" u="none" cap="none" strike="noStrike">
              <a:solidFill>
                <a:srgbClr val="000000"/>
              </a:solidFill>
              <a:latin typeface="Arial"/>
              <a:ea typeface="Arial"/>
              <a:cs typeface="Arial"/>
              <a:sym typeface="Arial"/>
            </a:endParaRPr>
          </a:p>
        </p:txBody>
      </p:sp>
      <p:sp>
        <p:nvSpPr>
          <p:cNvPr id="1407" name="Google Shape;1407;p71"/>
          <p:cNvSpPr/>
          <p:nvPr/>
        </p:nvSpPr>
        <p:spPr>
          <a:xfrm>
            <a:off x="548641" y="2121408"/>
            <a:ext cx="25131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Human idea</a:t>
            </a:r>
            <a:endParaRPr b="0" i="0" sz="1400" u="none" cap="none" strike="noStrike">
              <a:solidFill>
                <a:srgbClr val="000000"/>
              </a:solidFill>
              <a:latin typeface="Arial"/>
              <a:ea typeface="Arial"/>
              <a:cs typeface="Arial"/>
              <a:sym typeface="Arial"/>
            </a:endParaRPr>
          </a:p>
        </p:txBody>
      </p:sp>
      <p:sp>
        <p:nvSpPr>
          <p:cNvPr id="1408" name="Google Shape;1408;p71"/>
          <p:cNvSpPr/>
          <p:nvPr/>
        </p:nvSpPr>
        <p:spPr>
          <a:xfrm>
            <a:off x="3134797"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09" name="Google Shape;1409;p71"/>
          <p:cNvSpPr/>
          <p:nvPr/>
        </p:nvSpPr>
        <p:spPr>
          <a:xfrm>
            <a:off x="3409118" y="2121408"/>
            <a:ext cx="25131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Edit AGENTS.md</a:t>
            </a:r>
            <a:endParaRPr b="0" i="0" sz="1400" u="none" cap="none" strike="noStrike">
              <a:solidFill>
                <a:srgbClr val="000000"/>
              </a:solidFill>
              <a:latin typeface="Arial"/>
              <a:ea typeface="Arial"/>
              <a:cs typeface="Arial"/>
              <a:sym typeface="Arial"/>
            </a:endParaRPr>
          </a:p>
        </p:txBody>
      </p:sp>
      <p:sp>
        <p:nvSpPr>
          <p:cNvPr id="1410" name="Google Shape;1410;p71"/>
          <p:cNvSpPr/>
          <p:nvPr/>
        </p:nvSpPr>
        <p:spPr>
          <a:xfrm>
            <a:off x="5995275"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11" name="Google Shape;1411;p71"/>
          <p:cNvSpPr/>
          <p:nvPr/>
        </p:nvSpPr>
        <p:spPr>
          <a:xfrm>
            <a:off x="6269596" y="2121408"/>
            <a:ext cx="25131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Run eval</a:t>
            </a:r>
            <a:endParaRPr b="0" i="0" sz="1400" u="none" cap="none" strike="noStrike">
              <a:solidFill>
                <a:srgbClr val="000000"/>
              </a:solidFill>
              <a:latin typeface="Arial"/>
              <a:ea typeface="Arial"/>
              <a:cs typeface="Arial"/>
              <a:sym typeface="Arial"/>
            </a:endParaRPr>
          </a:p>
        </p:txBody>
      </p:sp>
      <p:sp>
        <p:nvSpPr>
          <p:cNvPr id="1412" name="Google Shape;1412;p71"/>
          <p:cNvSpPr/>
          <p:nvPr/>
        </p:nvSpPr>
        <p:spPr>
          <a:xfrm>
            <a:off x="8855753"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13" name="Google Shape;1413;p71"/>
          <p:cNvSpPr/>
          <p:nvPr/>
        </p:nvSpPr>
        <p:spPr>
          <a:xfrm>
            <a:off x="9130074" y="2121408"/>
            <a:ext cx="25131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Human decides next</a:t>
            </a:r>
            <a:endParaRPr b="0" i="0" sz="1400" u="none" cap="none" strike="noStrike">
              <a:solidFill>
                <a:srgbClr val="000000"/>
              </a:solidFill>
              <a:latin typeface="Arial"/>
              <a:ea typeface="Arial"/>
              <a:cs typeface="Arial"/>
              <a:sym typeface="Arial"/>
            </a:endParaRPr>
          </a:p>
        </p:txBody>
      </p:sp>
      <p:sp>
        <p:nvSpPr>
          <p:cNvPr id="1414" name="Google Shape;1414;p71"/>
          <p:cNvSpPr txBox="1"/>
          <p:nvPr/>
        </p:nvSpPr>
        <p:spPr>
          <a:xfrm>
            <a:off x="548641" y="2852928"/>
            <a:ext cx="1828800" cy="292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047857"/>
                </a:solidFill>
                <a:latin typeface="Calibri"/>
                <a:ea typeface="Calibri"/>
                <a:cs typeface="Calibri"/>
                <a:sym typeface="Calibri"/>
              </a:rPr>
              <a:t>DESIRED</a:t>
            </a:r>
            <a:endParaRPr b="0" i="0" sz="1400" u="none" cap="none" strike="noStrike">
              <a:solidFill>
                <a:srgbClr val="000000"/>
              </a:solidFill>
              <a:latin typeface="Arial"/>
              <a:ea typeface="Arial"/>
              <a:cs typeface="Arial"/>
              <a:sym typeface="Arial"/>
            </a:endParaRPr>
          </a:p>
        </p:txBody>
      </p:sp>
      <p:sp>
        <p:nvSpPr>
          <p:cNvPr id="1415" name="Google Shape;1415;p71"/>
          <p:cNvSpPr/>
          <p:nvPr/>
        </p:nvSpPr>
        <p:spPr>
          <a:xfrm>
            <a:off x="548641" y="3145536"/>
            <a:ext cx="19410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Change</a:t>
            </a:r>
            <a:endParaRPr b="0" i="0" sz="1400" u="none" cap="none" strike="noStrike">
              <a:solidFill>
                <a:srgbClr val="000000"/>
              </a:solidFill>
              <a:latin typeface="Arial"/>
              <a:ea typeface="Arial"/>
              <a:cs typeface="Arial"/>
              <a:sym typeface="Arial"/>
            </a:endParaRPr>
          </a:p>
        </p:txBody>
      </p:sp>
      <p:sp>
        <p:nvSpPr>
          <p:cNvPr id="1416" name="Google Shape;1416;p71"/>
          <p:cNvSpPr/>
          <p:nvPr/>
        </p:nvSpPr>
        <p:spPr>
          <a:xfrm>
            <a:off x="2562702"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17" name="Google Shape;1417;p71"/>
          <p:cNvSpPr/>
          <p:nvPr/>
        </p:nvSpPr>
        <p:spPr>
          <a:xfrm>
            <a:off x="2837023" y="3145536"/>
            <a:ext cx="19410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Train eval ↑?</a:t>
            </a:r>
            <a:endParaRPr b="0" i="0" sz="1400" u="none" cap="none" strike="noStrike">
              <a:solidFill>
                <a:srgbClr val="000000"/>
              </a:solidFill>
              <a:latin typeface="Arial"/>
              <a:ea typeface="Arial"/>
              <a:cs typeface="Arial"/>
              <a:sym typeface="Arial"/>
            </a:endParaRPr>
          </a:p>
        </p:txBody>
      </p:sp>
      <p:sp>
        <p:nvSpPr>
          <p:cNvPr id="1418" name="Google Shape;1418;p71"/>
          <p:cNvSpPr/>
          <p:nvPr/>
        </p:nvSpPr>
        <p:spPr>
          <a:xfrm>
            <a:off x="4851084"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19" name="Google Shape;1419;p71"/>
          <p:cNvSpPr/>
          <p:nvPr/>
        </p:nvSpPr>
        <p:spPr>
          <a:xfrm>
            <a:off x="5125405" y="3145536"/>
            <a:ext cx="19410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Holdout eval ↑?</a:t>
            </a:r>
            <a:endParaRPr b="0" i="0" sz="1400" u="none" cap="none" strike="noStrike">
              <a:solidFill>
                <a:srgbClr val="000000"/>
              </a:solidFill>
              <a:latin typeface="Arial"/>
              <a:ea typeface="Arial"/>
              <a:cs typeface="Arial"/>
              <a:sym typeface="Arial"/>
            </a:endParaRPr>
          </a:p>
        </p:txBody>
      </p:sp>
      <p:sp>
        <p:nvSpPr>
          <p:cNvPr id="1420" name="Google Shape;1420;p71"/>
          <p:cNvSpPr/>
          <p:nvPr/>
        </p:nvSpPr>
        <p:spPr>
          <a:xfrm>
            <a:off x="7139467"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21" name="Google Shape;1421;p71"/>
          <p:cNvSpPr/>
          <p:nvPr/>
        </p:nvSpPr>
        <p:spPr>
          <a:xfrm>
            <a:off x="7413787" y="3145536"/>
            <a:ext cx="19410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Keep or revert</a:t>
            </a:r>
            <a:endParaRPr b="0" i="0" sz="1400" u="none" cap="none" strike="noStrike">
              <a:solidFill>
                <a:srgbClr val="000000"/>
              </a:solidFill>
              <a:latin typeface="Arial"/>
              <a:ea typeface="Arial"/>
              <a:cs typeface="Arial"/>
              <a:sym typeface="Arial"/>
            </a:endParaRPr>
          </a:p>
        </p:txBody>
      </p:sp>
      <p:sp>
        <p:nvSpPr>
          <p:cNvPr id="1422" name="Google Shape;1422;p71"/>
          <p:cNvSpPr/>
          <p:nvPr/>
        </p:nvSpPr>
        <p:spPr>
          <a:xfrm>
            <a:off x="9427848"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23" name="Google Shape;1423;p71"/>
          <p:cNvSpPr/>
          <p:nvPr/>
        </p:nvSpPr>
        <p:spPr>
          <a:xfrm>
            <a:off x="9702169" y="3145536"/>
            <a:ext cx="19410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Next change</a:t>
            </a:r>
            <a:endParaRPr b="0" i="0" sz="1400" u="none" cap="none" strike="noStrike">
              <a:solidFill>
                <a:srgbClr val="000000"/>
              </a:solidFill>
              <a:latin typeface="Arial"/>
              <a:ea typeface="Arial"/>
              <a:cs typeface="Arial"/>
              <a:sym typeface="Arial"/>
            </a:endParaRPr>
          </a:p>
        </p:txBody>
      </p:sp>
      <p:sp>
        <p:nvSpPr>
          <p:cNvPr id="1424" name="Google Shape;1424;p71"/>
          <p:cNvSpPr/>
          <p:nvPr/>
        </p:nvSpPr>
        <p:spPr>
          <a:xfrm>
            <a:off x="548641" y="3977639"/>
            <a:ext cx="6766500" cy="22404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25" name="Google Shape;1425;p71"/>
          <p:cNvSpPr txBox="1"/>
          <p:nvPr/>
        </p:nvSpPr>
        <p:spPr>
          <a:xfrm>
            <a:off x="731521" y="4133087"/>
            <a:ext cx="64008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Why we cut it</a:t>
            </a:r>
            <a:endParaRPr b="0" i="0" sz="1400" u="none" cap="none" strike="noStrike">
              <a:solidFill>
                <a:srgbClr val="000000"/>
              </a:solidFill>
              <a:latin typeface="Arial"/>
              <a:ea typeface="Arial"/>
              <a:cs typeface="Arial"/>
              <a:sym typeface="Arial"/>
            </a:endParaRPr>
          </a:p>
        </p:txBody>
      </p:sp>
      <p:sp>
        <p:nvSpPr>
          <p:cNvPr id="1426" name="Google Shape;1426;p71"/>
          <p:cNvSpPr txBox="1"/>
          <p:nvPr/>
        </p:nvSpPr>
        <p:spPr>
          <a:xfrm>
            <a:off x="731521" y="4599431"/>
            <a:ext cx="6400800" cy="15087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B45309"/>
              </a:buClr>
              <a:buSzPts val="1350"/>
              <a:buFont typeface="Calibri"/>
              <a:buChar char="•"/>
            </a:pPr>
            <a:r>
              <a:rPr b="0" i="0" lang="en-US" sz="1350" u="none" cap="none" strike="noStrike">
                <a:solidFill>
                  <a:srgbClr val="334155"/>
                </a:solidFill>
                <a:latin typeface="Calibri"/>
                <a:ea typeface="Calibri"/>
                <a:cs typeface="Calibri"/>
                <a:sym typeface="Calibri"/>
              </a:rPr>
              <a:t>Auto-editing a harness </a:t>
            </a:r>
            <a:r>
              <a:rPr b="1" i="0" lang="en-US" sz="1350" u="none" cap="none" strike="noStrike">
                <a:solidFill>
                  <a:srgbClr val="334155"/>
                </a:solidFill>
                <a:latin typeface="Calibri"/>
                <a:ea typeface="Calibri"/>
                <a:cs typeface="Calibri"/>
                <a:sym typeface="Calibri"/>
              </a:rPr>
              <a:t>risks overfitting</a:t>
            </a:r>
            <a:r>
              <a:rPr b="0" i="0" lang="en-US" sz="1350" u="none" cap="none" strike="noStrike">
                <a:solidFill>
                  <a:srgbClr val="334155"/>
                </a:solidFill>
                <a:latin typeface="Calibri"/>
                <a:ea typeface="Calibri"/>
                <a:cs typeface="Calibri"/>
                <a:sym typeface="Calibri"/>
              </a:rPr>
              <a:t> and is hard to audit in a take-home</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50"/>
              <a:buFont typeface="Calibri"/>
              <a:buChar char="•"/>
            </a:pPr>
            <a:r>
              <a:rPr b="0" i="0" lang="en-US" sz="1350" u="none" cap="none" strike="noStrike">
                <a:solidFill>
                  <a:srgbClr val="334155"/>
                </a:solidFill>
                <a:latin typeface="Calibri"/>
                <a:ea typeface="Calibri"/>
                <a:cs typeface="Calibri"/>
                <a:sym typeface="Calibri"/>
              </a:rPr>
              <a:t>The </a:t>
            </a:r>
            <a:r>
              <a:rPr b="1" i="0" lang="en-US" sz="1350" u="none" cap="none" strike="noStrike">
                <a:solidFill>
                  <a:srgbClr val="334155"/>
                </a:solidFill>
                <a:latin typeface="Calibri"/>
                <a:ea typeface="Calibri"/>
                <a:cs typeface="Calibri"/>
                <a:sym typeface="Calibri"/>
              </a:rPr>
              <a:t>compare step is the prerequisite</a:t>
            </a:r>
            <a:r>
              <a:rPr b="0" i="0" lang="en-US" sz="1350" u="none" cap="none" strike="noStrike">
                <a:solidFill>
                  <a:srgbClr val="334155"/>
                </a:solidFill>
                <a:latin typeface="Calibri"/>
                <a:ea typeface="Calibri"/>
                <a:cs typeface="Calibri"/>
                <a:sym typeface="Calibri"/>
              </a:rPr>
              <a:t>, and that is what we built</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50"/>
              <a:buFont typeface="Calibri"/>
              <a:buChar char="•"/>
            </a:pPr>
            <a:r>
              <a:rPr b="0" i="0" lang="en-US" sz="1350" u="none" cap="none" strike="noStrike">
                <a:solidFill>
                  <a:srgbClr val="334155"/>
                </a:solidFill>
                <a:latin typeface="Calibri"/>
                <a:ea typeface="Calibri"/>
                <a:cs typeface="Calibri"/>
                <a:sym typeface="Calibri"/>
              </a:rPr>
              <a:t>A human loop already works: edit → </a:t>
            </a:r>
            <a:r>
              <a:rPr b="0" i="0" lang="en-US" sz="1350" u="none" cap="none" strike="noStrike">
                <a:solidFill>
                  <a:srgbClr val="334155"/>
                </a:solidFill>
                <a:latin typeface="Courier New"/>
                <a:ea typeface="Courier New"/>
                <a:cs typeface="Courier New"/>
                <a:sym typeface="Courier New"/>
              </a:rPr>
              <a:t>python -m eval</a:t>
            </a:r>
            <a:r>
              <a:rPr b="0" i="0" lang="en-US" sz="1350" u="none" cap="none" strike="noStrike">
                <a:solidFill>
                  <a:srgbClr val="334155"/>
                </a:solidFill>
                <a:latin typeface="Calibri"/>
                <a:ea typeface="Calibri"/>
                <a:cs typeface="Calibri"/>
                <a:sym typeface="Calibri"/>
              </a:rPr>
              <a:t> → read comparison</a:t>
            </a:r>
            <a:endParaRPr b="0" i="0" sz="1400" u="none" cap="none" strike="noStrike">
              <a:solidFill>
                <a:srgbClr val="000000"/>
              </a:solidFill>
              <a:latin typeface="Arial"/>
              <a:ea typeface="Arial"/>
              <a:cs typeface="Arial"/>
              <a:sym typeface="Arial"/>
            </a:endParaRPr>
          </a:p>
        </p:txBody>
      </p:sp>
      <p:sp>
        <p:nvSpPr>
          <p:cNvPr id="1427" name="Google Shape;1427;p71"/>
          <p:cNvSpPr/>
          <p:nvPr/>
        </p:nvSpPr>
        <p:spPr>
          <a:xfrm>
            <a:off x="7498094" y="3977639"/>
            <a:ext cx="4160400" cy="22404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28" name="Google Shape;1428;p71"/>
          <p:cNvSpPr txBox="1"/>
          <p:nvPr/>
        </p:nvSpPr>
        <p:spPr>
          <a:xfrm>
            <a:off x="7680975" y="4133087"/>
            <a:ext cx="37947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Next step (planned)</a:t>
            </a:r>
            <a:endParaRPr b="0" i="0" sz="1400" u="none" cap="none" strike="noStrike">
              <a:solidFill>
                <a:srgbClr val="000000"/>
              </a:solidFill>
              <a:latin typeface="Arial"/>
              <a:ea typeface="Arial"/>
              <a:cs typeface="Arial"/>
              <a:sym typeface="Arial"/>
            </a:endParaRPr>
          </a:p>
        </p:txBody>
      </p:sp>
      <p:sp>
        <p:nvSpPr>
          <p:cNvPr id="1429" name="Google Shape;1429;p71"/>
          <p:cNvSpPr txBox="1"/>
          <p:nvPr/>
        </p:nvSpPr>
        <p:spPr>
          <a:xfrm>
            <a:off x="7680975" y="4599431"/>
            <a:ext cx="3794700" cy="1508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0" i="0" lang="en-US" sz="1350" u="none" cap="none" strike="noStrike">
                <a:solidFill>
                  <a:srgbClr val="334155"/>
                </a:solidFill>
                <a:latin typeface="Calibri"/>
                <a:ea typeface="Calibri"/>
                <a:cs typeface="Calibri"/>
                <a:sym typeface="Calibri"/>
              </a:rPr>
              <a:t>Registry split </a:t>
            </a:r>
            <a:r>
              <a:rPr b="0" i="0" lang="en-US" sz="1350" u="none" cap="none" strike="noStrike">
                <a:solidFill>
                  <a:srgbClr val="334155"/>
                </a:solidFill>
                <a:latin typeface="Courier New"/>
                <a:ea typeface="Courier New"/>
                <a:cs typeface="Courier New"/>
                <a:sym typeface="Courier New"/>
              </a:rPr>
              <a:t>capability-train</a:t>
            </a:r>
            <a:r>
              <a:rPr b="0" i="0" lang="en-US" sz="1350" u="none" cap="none" strike="noStrike">
                <a:solidFill>
                  <a:srgbClr val="334155"/>
                </a:solidFill>
                <a:latin typeface="Calibri"/>
                <a:ea typeface="Calibri"/>
                <a:cs typeface="Calibri"/>
                <a:sym typeface="Calibri"/>
              </a:rPr>
              <a:t> / </a:t>
            </a:r>
            <a:r>
              <a:rPr b="0" i="0" lang="en-US" sz="1350" u="none" cap="none" strike="noStrike">
                <a:solidFill>
                  <a:srgbClr val="334155"/>
                </a:solidFill>
                <a:latin typeface="Courier New"/>
                <a:ea typeface="Courier New"/>
                <a:cs typeface="Courier New"/>
                <a:sym typeface="Courier New"/>
              </a:rPr>
              <a:t>capability-holdout</a:t>
            </a:r>
            <a:r>
              <a:rPr b="0" i="0" lang="en-US" sz="1350" u="none" cap="none" strike="noStrike">
                <a:solidFill>
                  <a:srgbClr val="334155"/>
                </a:solidFill>
                <a:latin typeface="Calibri"/>
                <a:ea typeface="Calibri"/>
                <a:cs typeface="Calibri"/>
                <a:sym typeface="Calibri"/>
              </a:rPr>
              <a:t>; later an approved-patch CLI</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72"/>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Gap 6 · No cost / latency optimisation objective</a:t>
            </a:r>
            <a:endParaRPr b="0" i="0" sz="1400" u="none" cap="none" strike="noStrike">
              <a:solidFill>
                <a:srgbClr val="000000"/>
              </a:solidFill>
              <a:latin typeface="Arial"/>
              <a:ea typeface="Arial"/>
              <a:cs typeface="Arial"/>
              <a:sym typeface="Arial"/>
            </a:endParaRPr>
          </a:p>
        </p:txBody>
      </p:sp>
      <p:sp>
        <p:nvSpPr>
          <p:cNvPr id="1436" name="Google Shape;1436;p72"/>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334155"/>
                </a:solidFill>
                <a:latin typeface="Calibri"/>
                <a:ea typeface="Calibri"/>
                <a:cs typeface="Calibri"/>
                <a:sym typeface="Calibri"/>
              </a:rPr>
              <a:t>Iterate</a:t>
            </a:r>
            <a:r>
              <a:rPr b="0" i="0" lang="en-US" sz="1600" u="none" cap="none" strike="noStrike">
                <a:solidFill>
                  <a:srgbClr val="334155"/>
                </a:solidFill>
                <a:latin typeface="Calibri"/>
                <a:ea typeface="Calibri"/>
                <a:cs typeface="Calibri"/>
                <a:sym typeface="Calibri"/>
              </a:rPr>
              <a:t> · Cost is recorded per trial but never optimised. Same pass rate at 40% lower cost is a real win the tool cannot surface.</a:t>
            </a:r>
            <a:endParaRPr b="0" i="0" sz="1400" u="none" cap="none" strike="noStrike">
              <a:solidFill>
                <a:srgbClr val="000000"/>
              </a:solidFill>
              <a:latin typeface="Arial"/>
              <a:ea typeface="Arial"/>
              <a:cs typeface="Arial"/>
              <a:sym typeface="Arial"/>
            </a:endParaRPr>
          </a:p>
        </p:txBody>
      </p:sp>
      <p:sp>
        <p:nvSpPr>
          <p:cNvPr id="1437" name="Google Shape;1437;p72"/>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What we cut, and why</a:t>
            </a:r>
            <a:endParaRPr b="0" i="0" sz="1400" u="none" cap="none" strike="noStrike">
              <a:solidFill>
                <a:srgbClr val="000000"/>
              </a:solidFill>
              <a:latin typeface="Arial"/>
              <a:ea typeface="Arial"/>
              <a:cs typeface="Arial"/>
              <a:sym typeface="Arial"/>
            </a:endParaRPr>
          </a:p>
        </p:txBody>
      </p:sp>
      <p:sp>
        <p:nvSpPr>
          <p:cNvPr id="1438" name="Google Shape;1438;p72"/>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4</a:t>
            </a:r>
            <a:r>
              <a:rPr lang="en-US" sz="1000">
                <a:solidFill>
                  <a:srgbClr val="64748B"/>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sp>
        <p:nvSpPr>
          <p:cNvPr id="1439" name="Google Shape;1439;p72"/>
          <p:cNvSpPr txBox="1"/>
          <p:nvPr/>
        </p:nvSpPr>
        <p:spPr>
          <a:xfrm>
            <a:off x="548641" y="1828800"/>
            <a:ext cx="1828800" cy="292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B91C1C"/>
                </a:solidFill>
                <a:latin typeface="Calibri"/>
                <a:ea typeface="Calibri"/>
                <a:cs typeface="Calibri"/>
                <a:sym typeface="Calibri"/>
              </a:rPr>
              <a:t>TODAY</a:t>
            </a:r>
            <a:endParaRPr b="0" i="0" sz="1400" u="none" cap="none" strike="noStrike">
              <a:solidFill>
                <a:srgbClr val="000000"/>
              </a:solidFill>
              <a:latin typeface="Arial"/>
              <a:ea typeface="Arial"/>
              <a:cs typeface="Arial"/>
              <a:sym typeface="Arial"/>
            </a:endParaRPr>
          </a:p>
        </p:txBody>
      </p:sp>
      <p:sp>
        <p:nvSpPr>
          <p:cNvPr id="1440" name="Google Shape;1440;p72"/>
          <p:cNvSpPr/>
          <p:nvPr/>
        </p:nvSpPr>
        <p:spPr>
          <a:xfrm>
            <a:off x="548641" y="2121408"/>
            <a:ext cx="34665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Accuracy only</a:t>
            </a:r>
            <a:endParaRPr b="0" i="0" sz="1400" u="none" cap="none" strike="noStrike">
              <a:solidFill>
                <a:srgbClr val="000000"/>
              </a:solidFill>
              <a:latin typeface="Arial"/>
              <a:ea typeface="Arial"/>
              <a:cs typeface="Arial"/>
              <a:sym typeface="Arial"/>
            </a:endParaRPr>
          </a:p>
        </p:txBody>
      </p:sp>
      <p:sp>
        <p:nvSpPr>
          <p:cNvPr id="1441" name="Google Shape;1441;p72"/>
          <p:cNvSpPr/>
          <p:nvPr/>
        </p:nvSpPr>
        <p:spPr>
          <a:xfrm>
            <a:off x="4088290"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42" name="Google Shape;1442;p72"/>
          <p:cNvSpPr/>
          <p:nvPr/>
        </p:nvSpPr>
        <p:spPr>
          <a:xfrm>
            <a:off x="4362611" y="2121408"/>
            <a:ext cx="34665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Cost logged</a:t>
            </a:r>
            <a:endParaRPr b="0" i="0" sz="1400" u="none" cap="none" strike="noStrike">
              <a:solidFill>
                <a:srgbClr val="000000"/>
              </a:solidFill>
              <a:latin typeface="Arial"/>
              <a:ea typeface="Arial"/>
              <a:cs typeface="Arial"/>
              <a:sym typeface="Arial"/>
            </a:endParaRPr>
          </a:p>
        </p:txBody>
      </p:sp>
      <p:sp>
        <p:nvSpPr>
          <p:cNvPr id="1443" name="Google Shape;1443;p72"/>
          <p:cNvSpPr/>
          <p:nvPr/>
        </p:nvSpPr>
        <p:spPr>
          <a:xfrm>
            <a:off x="7902260"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44" name="Google Shape;1444;p72"/>
          <p:cNvSpPr/>
          <p:nvPr/>
        </p:nvSpPr>
        <p:spPr>
          <a:xfrm>
            <a:off x="8176581" y="2121408"/>
            <a:ext cx="34665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Not compared</a:t>
            </a:r>
            <a:endParaRPr b="0" i="0" sz="1400" u="none" cap="none" strike="noStrike">
              <a:solidFill>
                <a:srgbClr val="000000"/>
              </a:solidFill>
              <a:latin typeface="Arial"/>
              <a:ea typeface="Arial"/>
              <a:cs typeface="Arial"/>
              <a:sym typeface="Arial"/>
            </a:endParaRPr>
          </a:p>
        </p:txBody>
      </p:sp>
      <p:sp>
        <p:nvSpPr>
          <p:cNvPr id="1445" name="Google Shape;1445;p72"/>
          <p:cNvSpPr txBox="1"/>
          <p:nvPr/>
        </p:nvSpPr>
        <p:spPr>
          <a:xfrm>
            <a:off x="548641" y="2852928"/>
            <a:ext cx="1828800" cy="292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047857"/>
                </a:solidFill>
                <a:latin typeface="Calibri"/>
                <a:ea typeface="Calibri"/>
                <a:cs typeface="Calibri"/>
                <a:sym typeface="Calibri"/>
              </a:rPr>
              <a:t>DESIRED</a:t>
            </a:r>
            <a:endParaRPr b="0" i="0" sz="1400" u="none" cap="none" strike="noStrike">
              <a:solidFill>
                <a:srgbClr val="000000"/>
              </a:solidFill>
              <a:latin typeface="Arial"/>
              <a:ea typeface="Arial"/>
              <a:cs typeface="Arial"/>
              <a:sym typeface="Arial"/>
            </a:endParaRPr>
          </a:p>
        </p:txBody>
      </p:sp>
      <p:sp>
        <p:nvSpPr>
          <p:cNvPr id="1446" name="Google Shape;1446;p72"/>
          <p:cNvSpPr/>
          <p:nvPr/>
        </p:nvSpPr>
        <p:spPr>
          <a:xfrm>
            <a:off x="548641" y="3145536"/>
            <a:ext cx="25131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Accuracy ≥ baseline</a:t>
            </a:r>
            <a:endParaRPr b="0" i="0" sz="1400" u="none" cap="none" strike="noStrike">
              <a:solidFill>
                <a:srgbClr val="000000"/>
              </a:solidFill>
              <a:latin typeface="Arial"/>
              <a:ea typeface="Arial"/>
              <a:cs typeface="Arial"/>
              <a:sym typeface="Arial"/>
            </a:endParaRPr>
          </a:p>
        </p:txBody>
      </p:sp>
      <p:sp>
        <p:nvSpPr>
          <p:cNvPr id="1447" name="Google Shape;1447;p72"/>
          <p:cNvSpPr/>
          <p:nvPr/>
        </p:nvSpPr>
        <p:spPr>
          <a:xfrm>
            <a:off x="3134797"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48" name="Google Shape;1448;p72"/>
          <p:cNvSpPr/>
          <p:nvPr/>
        </p:nvSpPr>
        <p:spPr>
          <a:xfrm>
            <a:off x="3409118" y="3145536"/>
            <a:ext cx="25131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Cost ↓</a:t>
            </a:r>
            <a:endParaRPr b="0" i="0" sz="1400" u="none" cap="none" strike="noStrike">
              <a:solidFill>
                <a:srgbClr val="000000"/>
              </a:solidFill>
              <a:latin typeface="Arial"/>
              <a:ea typeface="Arial"/>
              <a:cs typeface="Arial"/>
              <a:sym typeface="Arial"/>
            </a:endParaRPr>
          </a:p>
        </p:txBody>
      </p:sp>
      <p:sp>
        <p:nvSpPr>
          <p:cNvPr id="1449" name="Google Shape;1449;p72"/>
          <p:cNvSpPr/>
          <p:nvPr/>
        </p:nvSpPr>
        <p:spPr>
          <a:xfrm>
            <a:off x="5995275"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50" name="Google Shape;1450;p72"/>
          <p:cNvSpPr/>
          <p:nvPr/>
        </p:nvSpPr>
        <p:spPr>
          <a:xfrm>
            <a:off x="6269596" y="3145536"/>
            <a:ext cx="25131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Latency ↓</a:t>
            </a:r>
            <a:endParaRPr b="0" i="0" sz="1400" u="none" cap="none" strike="noStrike">
              <a:solidFill>
                <a:srgbClr val="000000"/>
              </a:solidFill>
              <a:latin typeface="Arial"/>
              <a:ea typeface="Arial"/>
              <a:cs typeface="Arial"/>
              <a:sym typeface="Arial"/>
            </a:endParaRPr>
          </a:p>
        </p:txBody>
      </p:sp>
      <p:sp>
        <p:nvSpPr>
          <p:cNvPr id="1451" name="Google Shape;1451;p72"/>
          <p:cNvSpPr/>
          <p:nvPr/>
        </p:nvSpPr>
        <p:spPr>
          <a:xfrm>
            <a:off x="8855753"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52" name="Google Shape;1452;p72"/>
          <p:cNvSpPr/>
          <p:nvPr/>
        </p:nvSpPr>
        <p:spPr>
          <a:xfrm>
            <a:off x="9130074" y="3145536"/>
            <a:ext cx="25131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Report the delta</a:t>
            </a:r>
            <a:endParaRPr b="0" i="0" sz="1400" u="none" cap="none" strike="noStrike">
              <a:solidFill>
                <a:srgbClr val="000000"/>
              </a:solidFill>
              <a:latin typeface="Arial"/>
              <a:ea typeface="Arial"/>
              <a:cs typeface="Arial"/>
              <a:sym typeface="Arial"/>
            </a:endParaRPr>
          </a:p>
        </p:txBody>
      </p:sp>
      <p:sp>
        <p:nvSpPr>
          <p:cNvPr id="1453" name="Google Shape;1453;p72"/>
          <p:cNvSpPr/>
          <p:nvPr/>
        </p:nvSpPr>
        <p:spPr>
          <a:xfrm>
            <a:off x="548641" y="3977639"/>
            <a:ext cx="6766500" cy="22404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54" name="Google Shape;1454;p72"/>
          <p:cNvSpPr txBox="1"/>
          <p:nvPr/>
        </p:nvSpPr>
        <p:spPr>
          <a:xfrm>
            <a:off x="731521" y="4133087"/>
            <a:ext cx="64008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Why we cut it</a:t>
            </a:r>
            <a:endParaRPr b="0" i="0" sz="1400" u="none" cap="none" strike="noStrike">
              <a:solidFill>
                <a:srgbClr val="000000"/>
              </a:solidFill>
              <a:latin typeface="Arial"/>
              <a:ea typeface="Arial"/>
              <a:cs typeface="Arial"/>
              <a:sym typeface="Arial"/>
            </a:endParaRPr>
          </a:p>
        </p:txBody>
      </p:sp>
      <p:sp>
        <p:nvSpPr>
          <p:cNvPr id="1455" name="Google Shape;1455;p72"/>
          <p:cNvSpPr txBox="1"/>
          <p:nvPr/>
        </p:nvSpPr>
        <p:spPr>
          <a:xfrm>
            <a:off x="731521" y="4599431"/>
            <a:ext cx="6400800" cy="15087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B45309"/>
              </a:buClr>
              <a:buSzPts val="1350"/>
              <a:buFont typeface="Calibri"/>
              <a:buChar char="•"/>
            </a:pPr>
            <a:r>
              <a:rPr b="1" i="0" lang="en-US" sz="1350" u="none" cap="none" strike="noStrike">
                <a:solidFill>
                  <a:srgbClr val="334155"/>
                </a:solidFill>
                <a:latin typeface="Calibri"/>
                <a:ea typeface="Calibri"/>
                <a:cs typeface="Calibri"/>
                <a:sym typeface="Calibri"/>
              </a:rPr>
              <a:t>One variable by design</a:t>
            </a:r>
            <a:r>
              <a:rPr b="0" i="0" lang="en-US" sz="1350" u="none" cap="none" strike="noStrike">
                <a:solidFill>
                  <a:srgbClr val="334155"/>
                </a:solidFill>
                <a:latin typeface="Calibri"/>
                <a:ea typeface="Calibri"/>
                <a:cs typeface="Calibri"/>
                <a:sym typeface="Calibri"/>
              </a:rPr>
              <a:t>: the model is fixed, so cost differences are small</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50"/>
              <a:buFont typeface="Calibri"/>
              <a:buChar char="•"/>
            </a:pPr>
            <a:r>
              <a:rPr b="0" i="0" lang="en-US" sz="1350" u="none" cap="none" strike="noStrike">
                <a:solidFill>
                  <a:srgbClr val="334155"/>
                </a:solidFill>
                <a:latin typeface="Calibri"/>
                <a:ea typeface="Calibri"/>
                <a:cs typeface="Calibri"/>
                <a:sym typeface="Calibri"/>
              </a:rPr>
              <a:t>Dry runs cost </a:t>
            </a:r>
            <a:r>
              <a:rPr b="1" i="0" lang="en-US" sz="1350" u="none" cap="none" strike="noStrike">
                <a:solidFill>
                  <a:srgbClr val="334155"/>
                </a:solidFill>
                <a:latin typeface="Calibri"/>
                <a:ea typeface="Calibri"/>
                <a:cs typeface="Calibri"/>
                <a:sym typeface="Calibri"/>
              </a:rPr>
              <a:t>$0</a:t>
            </a:r>
            <a:r>
              <a:rPr b="0" i="0" lang="en-US" sz="1350" u="none" cap="none" strike="noStrike">
                <a:solidFill>
                  <a:srgbClr val="334155"/>
                </a:solidFill>
                <a:latin typeface="Calibri"/>
                <a:ea typeface="Calibri"/>
                <a:cs typeface="Calibri"/>
                <a:sym typeface="Calibri"/>
              </a:rPr>
              <a:t>, so there is no signal to optimise in committed runs</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50"/>
              <a:buFont typeface="Courier New"/>
              <a:buChar char="•"/>
            </a:pPr>
            <a:r>
              <a:rPr b="0" i="0" lang="en-US" sz="1350" u="none" cap="none" strike="noStrike">
                <a:solidFill>
                  <a:srgbClr val="334155"/>
                </a:solidFill>
                <a:latin typeface="Courier New"/>
                <a:ea typeface="Courier New"/>
                <a:cs typeface="Courier New"/>
                <a:sym typeface="Courier New"/>
              </a:rPr>
              <a:t>cost_usd</a:t>
            </a:r>
            <a:r>
              <a:rPr b="0" i="0" lang="en-US" sz="1350" u="none" cap="none" strike="noStrike">
                <a:solidFill>
                  <a:srgbClr val="334155"/>
                </a:solidFill>
                <a:latin typeface="Calibri"/>
                <a:ea typeface="Calibri"/>
                <a:cs typeface="Calibri"/>
                <a:sym typeface="Calibri"/>
              </a:rPr>
              <a:t> and </a:t>
            </a:r>
            <a:r>
              <a:rPr b="0" i="0" lang="en-US" sz="1350" u="none" cap="none" strike="noStrike">
                <a:solidFill>
                  <a:srgbClr val="334155"/>
                </a:solidFill>
                <a:latin typeface="Courier New"/>
                <a:ea typeface="Courier New"/>
                <a:cs typeface="Courier New"/>
                <a:sym typeface="Courier New"/>
              </a:rPr>
              <a:t>total_cost_usd</a:t>
            </a:r>
            <a:r>
              <a:rPr b="0" i="0" lang="en-US" sz="1350" u="none" cap="none" strike="noStrike">
                <a:solidFill>
                  <a:srgbClr val="334155"/>
                </a:solidFill>
                <a:latin typeface="Calibri"/>
                <a:ea typeface="Calibri"/>
                <a:cs typeface="Calibri"/>
                <a:sym typeface="Calibri"/>
              </a:rPr>
              <a:t> are already captured</a:t>
            </a:r>
            <a:endParaRPr b="0" i="0" sz="1400" u="none" cap="none" strike="noStrike">
              <a:solidFill>
                <a:srgbClr val="000000"/>
              </a:solidFill>
              <a:latin typeface="Arial"/>
              <a:ea typeface="Arial"/>
              <a:cs typeface="Arial"/>
              <a:sym typeface="Arial"/>
            </a:endParaRPr>
          </a:p>
        </p:txBody>
      </p:sp>
      <p:sp>
        <p:nvSpPr>
          <p:cNvPr id="1456" name="Google Shape;1456;p72"/>
          <p:cNvSpPr/>
          <p:nvPr/>
        </p:nvSpPr>
        <p:spPr>
          <a:xfrm>
            <a:off x="7498094" y="3977639"/>
            <a:ext cx="4160400" cy="22404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57" name="Google Shape;1457;p72"/>
          <p:cNvSpPr txBox="1"/>
          <p:nvPr/>
        </p:nvSpPr>
        <p:spPr>
          <a:xfrm>
            <a:off x="7680975" y="4133087"/>
            <a:ext cx="37947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Next step (planned)</a:t>
            </a:r>
            <a:endParaRPr b="0" i="0" sz="1400" u="none" cap="none" strike="noStrike">
              <a:solidFill>
                <a:srgbClr val="000000"/>
              </a:solidFill>
              <a:latin typeface="Arial"/>
              <a:ea typeface="Arial"/>
              <a:cs typeface="Arial"/>
              <a:sym typeface="Arial"/>
            </a:endParaRPr>
          </a:p>
        </p:txBody>
      </p:sp>
      <p:sp>
        <p:nvSpPr>
          <p:cNvPr id="1458" name="Google Shape;1458;p72"/>
          <p:cNvSpPr txBox="1"/>
          <p:nvPr/>
        </p:nvSpPr>
        <p:spPr>
          <a:xfrm>
            <a:off x="7680975" y="4599431"/>
            <a:ext cx="3794700" cy="1508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0" i="0" lang="en-US" sz="1350" u="none" cap="none" strike="noStrike">
                <a:solidFill>
                  <a:srgbClr val="334155"/>
                </a:solidFill>
                <a:latin typeface="Calibri"/>
                <a:ea typeface="Calibri"/>
                <a:cs typeface="Calibri"/>
                <a:sym typeface="Calibri"/>
              </a:rPr>
              <a:t>Per-phase cost delta between arms in </a:t>
            </a:r>
            <a:r>
              <a:rPr b="0" i="0" lang="en-US" sz="1350" u="none" cap="none" strike="noStrike">
                <a:solidFill>
                  <a:srgbClr val="334155"/>
                </a:solidFill>
                <a:latin typeface="Courier New"/>
                <a:ea typeface="Courier New"/>
                <a:cs typeface="Courier New"/>
                <a:sym typeface="Courier New"/>
              </a:rPr>
              <a:t>summary.json</a:t>
            </a:r>
            <a:r>
              <a:rPr b="0" i="0" lang="en-US" sz="1350" u="none" cap="none" strike="noStrike">
                <a:solidFill>
                  <a:srgbClr val="334155"/>
                </a:solidFill>
                <a:latin typeface="Calibri"/>
                <a:ea typeface="Calibri"/>
                <a:cs typeface="Calibri"/>
                <a:sym typeface="Calibri"/>
              </a:rPr>
              <a:t>; later a model / effort sweep</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3" name="Shape 1463"/>
        <p:cNvGrpSpPr/>
        <p:nvPr/>
      </p:nvGrpSpPr>
      <p:grpSpPr>
        <a:xfrm>
          <a:off x="0" y="0"/>
          <a:ext cx="0" cy="0"/>
          <a:chOff x="0" y="0"/>
          <a:chExt cx="0" cy="0"/>
        </a:xfrm>
      </p:grpSpPr>
      <p:sp>
        <p:nvSpPr>
          <p:cNvPr id="1464" name="Google Shape;1464;p73"/>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Gap 7 · No failure bucketing when the score stalls</a:t>
            </a:r>
            <a:endParaRPr b="0" i="0" sz="1400" u="none" cap="none" strike="noStrike">
              <a:solidFill>
                <a:srgbClr val="000000"/>
              </a:solidFill>
              <a:latin typeface="Arial"/>
              <a:ea typeface="Arial"/>
              <a:cs typeface="Arial"/>
              <a:sym typeface="Arial"/>
            </a:endParaRPr>
          </a:p>
        </p:txBody>
      </p:sp>
      <p:sp>
        <p:nvSpPr>
          <p:cNvPr id="1465" name="Google Shape;1465;p73"/>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334155"/>
                </a:solidFill>
                <a:latin typeface="Calibri"/>
                <a:ea typeface="Calibri"/>
                <a:cs typeface="Calibri"/>
                <a:sym typeface="Calibri"/>
              </a:rPr>
              <a:t>Iterate</a:t>
            </a:r>
            <a:r>
              <a:rPr b="0" i="0" lang="en-US" sz="1600" u="none" cap="none" strike="noStrike">
                <a:solidFill>
                  <a:srgbClr val="334155"/>
                </a:solidFill>
                <a:latin typeface="Calibri"/>
                <a:ea typeface="Calibri"/>
                <a:cs typeface="Calibri"/>
                <a:sym typeface="Calibri"/>
              </a:rPr>
              <a:t> · When improvement stalls, someone reads every failed trial by hand. Not every failure means the harness is bad: some are bad tasks or grader bugs.</a:t>
            </a:r>
            <a:endParaRPr b="0" i="0" sz="1400" u="none" cap="none" strike="noStrike">
              <a:solidFill>
                <a:srgbClr val="000000"/>
              </a:solidFill>
              <a:latin typeface="Arial"/>
              <a:ea typeface="Arial"/>
              <a:cs typeface="Arial"/>
              <a:sym typeface="Arial"/>
            </a:endParaRPr>
          </a:p>
        </p:txBody>
      </p:sp>
      <p:sp>
        <p:nvSpPr>
          <p:cNvPr id="1466" name="Google Shape;1466;p73"/>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What we cut, and why</a:t>
            </a:r>
            <a:endParaRPr b="0" i="0" sz="1400" u="none" cap="none" strike="noStrike">
              <a:solidFill>
                <a:srgbClr val="000000"/>
              </a:solidFill>
              <a:latin typeface="Arial"/>
              <a:ea typeface="Arial"/>
              <a:cs typeface="Arial"/>
              <a:sym typeface="Arial"/>
            </a:endParaRPr>
          </a:p>
        </p:txBody>
      </p:sp>
      <p:sp>
        <p:nvSpPr>
          <p:cNvPr id="1467" name="Google Shape;1467;p73"/>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4</a:t>
            </a:r>
            <a:r>
              <a:rPr lang="en-US" sz="1000">
                <a:solidFill>
                  <a:srgbClr val="64748B"/>
                </a:solidFill>
                <a:latin typeface="Calibri"/>
                <a:ea typeface="Calibri"/>
                <a:cs typeface="Calibri"/>
                <a:sym typeface="Calibri"/>
              </a:rPr>
              <a:t>9</a:t>
            </a:r>
            <a:endParaRPr b="0" i="0" sz="1400" u="none" cap="none" strike="noStrike">
              <a:solidFill>
                <a:srgbClr val="000000"/>
              </a:solidFill>
              <a:latin typeface="Arial"/>
              <a:ea typeface="Arial"/>
              <a:cs typeface="Arial"/>
              <a:sym typeface="Arial"/>
            </a:endParaRPr>
          </a:p>
        </p:txBody>
      </p:sp>
      <p:sp>
        <p:nvSpPr>
          <p:cNvPr id="1468" name="Google Shape;1468;p73"/>
          <p:cNvSpPr txBox="1"/>
          <p:nvPr/>
        </p:nvSpPr>
        <p:spPr>
          <a:xfrm>
            <a:off x="548641" y="1828800"/>
            <a:ext cx="1828800" cy="292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B91C1C"/>
                </a:solidFill>
                <a:latin typeface="Calibri"/>
                <a:ea typeface="Calibri"/>
                <a:cs typeface="Calibri"/>
                <a:sym typeface="Calibri"/>
              </a:rPr>
              <a:t>TODAY</a:t>
            </a:r>
            <a:endParaRPr b="0" i="0" sz="1400" u="none" cap="none" strike="noStrike">
              <a:solidFill>
                <a:srgbClr val="000000"/>
              </a:solidFill>
              <a:latin typeface="Arial"/>
              <a:ea typeface="Arial"/>
              <a:cs typeface="Arial"/>
              <a:sym typeface="Arial"/>
            </a:endParaRPr>
          </a:p>
        </p:txBody>
      </p:sp>
      <p:sp>
        <p:nvSpPr>
          <p:cNvPr id="1469" name="Google Shape;1469;p73"/>
          <p:cNvSpPr/>
          <p:nvPr/>
        </p:nvSpPr>
        <p:spPr>
          <a:xfrm>
            <a:off x="548641" y="2121408"/>
            <a:ext cx="34665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Score stalls</a:t>
            </a:r>
            <a:endParaRPr b="0" i="0" sz="1400" u="none" cap="none" strike="noStrike">
              <a:solidFill>
                <a:srgbClr val="000000"/>
              </a:solidFill>
              <a:latin typeface="Arial"/>
              <a:ea typeface="Arial"/>
              <a:cs typeface="Arial"/>
              <a:sym typeface="Arial"/>
            </a:endParaRPr>
          </a:p>
        </p:txBody>
      </p:sp>
      <p:sp>
        <p:nvSpPr>
          <p:cNvPr id="1470" name="Google Shape;1470;p73"/>
          <p:cNvSpPr/>
          <p:nvPr/>
        </p:nvSpPr>
        <p:spPr>
          <a:xfrm>
            <a:off x="4088290"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1" name="Google Shape;1471;p73"/>
          <p:cNvSpPr/>
          <p:nvPr/>
        </p:nvSpPr>
        <p:spPr>
          <a:xfrm>
            <a:off x="4362611" y="2121408"/>
            <a:ext cx="34665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Read every trial</a:t>
            </a:r>
            <a:endParaRPr b="0" i="0" sz="1400" u="none" cap="none" strike="noStrike">
              <a:solidFill>
                <a:srgbClr val="000000"/>
              </a:solidFill>
              <a:latin typeface="Arial"/>
              <a:ea typeface="Arial"/>
              <a:cs typeface="Arial"/>
              <a:sym typeface="Arial"/>
            </a:endParaRPr>
          </a:p>
        </p:txBody>
      </p:sp>
      <p:sp>
        <p:nvSpPr>
          <p:cNvPr id="1472" name="Google Shape;1472;p73"/>
          <p:cNvSpPr/>
          <p:nvPr/>
        </p:nvSpPr>
        <p:spPr>
          <a:xfrm>
            <a:off x="7902260" y="2327148"/>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3" name="Google Shape;1473;p73"/>
          <p:cNvSpPr/>
          <p:nvPr/>
        </p:nvSpPr>
        <p:spPr>
          <a:xfrm>
            <a:off x="8176581" y="2121408"/>
            <a:ext cx="3466500" cy="594300"/>
          </a:xfrm>
          <a:prstGeom prst="roundRect">
            <a:avLst>
              <a:gd fmla="val 18000" name="adj"/>
            </a:avLst>
          </a:prstGeom>
          <a:solidFill>
            <a:srgbClr val="FEE2E2"/>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B91C1C"/>
                </a:solidFill>
                <a:latin typeface="Calibri"/>
                <a:ea typeface="Calibri"/>
                <a:cs typeface="Calibri"/>
                <a:sym typeface="Calibri"/>
              </a:rPr>
              <a:t>Guess the cause</a:t>
            </a:r>
            <a:endParaRPr b="0" i="0" sz="1400" u="none" cap="none" strike="noStrike">
              <a:solidFill>
                <a:srgbClr val="000000"/>
              </a:solidFill>
              <a:latin typeface="Arial"/>
              <a:ea typeface="Arial"/>
              <a:cs typeface="Arial"/>
              <a:sym typeface="Arial"/>
            </a:endParaRPr>
          </a:p>
        </p:txBody>
      </p:sp>
      <p:sp>
        <p:nvSpPr>
          <p:cNvPr id="1474" name="Google Shape;1474;p73"/>
          <p:cNvSpPr txBox="1"/>
          <p:nvPr/>
        </p:nvSpPr>
        <p:spPr>
          <a:xfrm>
            <a:off x="548641" y="2852928"/>
            <a:ext cx="1828800" cy="292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200"/>
              <a:buFont typeface="Arial"/>
              <a:buNone/>
            </a:pPr>
            <a:r>
              <a:rPr b="1" i="0" lang="en-US" sz="1200" u="none" cap="none" strike="noStrike">
                <a:solidFill>
                  <a:srgbClr val="047857"/>
                </a:solidFill>
                <a:latin typeface="Calibri"/>
                <a:ea typeface="Calibri"/>
                <a:cs typeface="Calibri"/>
                <a:sym typeface="Calibri"/>
              </a:rPr>
              <a:t>DESIRED</a:t>
            </a:r>
            <a:endParaRPr b="0" i="0" sz="1400" u="none" cap="none" strike="noStrike">
              <a:solidFill>
                <a:srgbClr val="000000"/>
              </a:solidFill>
              <a:latin typeface="Arial"/>
              <a:ea typeface="Arial"/>
              <a:cs typeface="Arial"/>
              <a:sym typeface="Arial"/>
            </a:endParaRPr>
          </a:p>
        </p:txBody>
      </p:sp>
      <p:sp>
        <p:nvSpPr>
          <p:cNvPr id="1475" name="Google Shape;1475;p73"/>
          <p:cNvSpPr/>
          <p:nvPr/>
        </p:nvSpPr>
        <p:spPr>
          <a:xfrm>
            <a:off x="548641" y="3145536"/>
            <a:ext cx="25131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triage-failures</a:t>
            </a:r>
            <a:endParaRPr b="0" i="0" sz="1400" u="none" cap="none" strike="noStrike">
              <a:solidFill>
                <a:srgbClr val="000000"/>
              </a:solidFill>
              <a:latin typeface="Arial"/>
              <a:ea typeface="Arial"/>
              <a:cs typeface="Arial"/>
              <a:sym typeface="Arial"/>
            </a:endParaRPr>
          </a:p>
        </p:txBody>
      </p:sp>
      <p:sp>
        <p:nvSpPr>
          <p:cNvPr id="1476" name="Google Shape;1476;p73"/>
          <p:cNvSpPr/>
          <p:nvPr/>
        </p:nvSpPr>
        <p:spPr>
          <a:xfrm>
            <a:off x="3134797"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7" name="Google Shape;1477;p73"/>
          <p:cNvSpPr/>
          <p:nvPr/>
        </p:nvSpPr>
        <p:spPr>
          <a:xfrm>
            <a:off x="3409118" y="3145536"/>
            <a:ext cx="25131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Group by cause</a:t>
            </a:r>
            <a:endParaRPr b="0" i="0" sz="1400" u="none" cap="none" strike="noStrike">
              <a:solidFill>
                <a:srgbClr val="000000"/>
              </a:solidFill>
              <a:latin typeface="Arial"/>
              <a:ea typeface="Arial"/>
              <a:cs typeface="Arial"/>
              <a:sym typeface="Arial"/>
            </a:endParaRPr>
          </a:p>
        </p:txBody>
      </p:sp>
      <p:sp>
        <p:nvSpPr>
          <p:cNvPr id="1478" name="Google Shape;1478;p73"/>
          <p:cNvSpPr/>
          <p:nvPr/>
        </p:nvSpPr>
        <p:spPr>
          <a:xfrm>
            <a:off x="5995275"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9" name="Google Shape;1479;p73"/>
          <p:cNvSpPr/>
          <p:nvPr/>
        </p:nvSpPr>
        <p:spPr>
          <a:xfrm>
            <a:off x="6269596" y="3145536"/>
            <a:ext cx="25131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Task · grader · harness · agent</a:t>
            </a:r>
            <a:endParaRPr b="0" i="0" sz="1400" u="none" cap="none" strike="noStrike">
              <a:solidFill>
                <a:srgbClr val="000000"/>
              </a:solidFill>
              <a:latin typeface="Arial"/>
              <a:ea typeface="Arial"/>
              <a:cs typeface="Arial"/>
              <a:sym typeface="Arial"/>
            </a:endParaRPr>
          </a:p>
        </p:txBody>
      </p:sp>
      <p:sp>
        <p:nvSpPr>
          <p:cNvPr id="1480" name="Google Shape;1480;p73"/>
          <p:cNvSpPr/>
          <p:nvPr/>
        </p:nvSpPr>
        <p:spPr>
          <a:xfrm>
            <a:off x="8855753" y="3351276"/>
            <a:ext cx="201300" cy="183000"/>
          </a:xfrm>
          <a:prstGeom prst="rightArrow">
            <a:avLst>
              <a:gd fmla="val 50000" name="adj1"/>
              <a:gd fmla="val 50000" name="adj2"/>
            </a:avLst>
          </a:prstGeom>
          <a:solidFill>
            <a:srgbClr val="64748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81" name="Google Shape;1481;p73"/>
          <p:cNvSpPr/>
          <p:nvPr/>
        </p:nvSpPr>
        <p:spPr>
          <a:xfrm>
            <a:off x="9130074" y="3145536"/>
            <a:ext cx="2513100" cy="594300"/>
          </a:xfrm>
          <a:prstGeom prst="roundRect">
            <a:avLst>
              <a:gd fmla="val 18000" name="adj"/>
            </a:avLst>
          </a:prstGeom>
          <a:solidFill>
            <a:srgbClr val="D1FAE5"/>
          </a:solidFill>
          <a:ln>
            <a:noFill/>
          </a:ln>
        </p:spPr>
        <p:txBody>
          <a:bodyPr anchorCtr="0" anchor="ctr" bIns="36575" lIns="73150" spcFirstLastPara="1" rIns="73150" wrap="square" tIns="36575">
            <a:no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047857"/>
                </a:solidFill>
                <a:latin typeface="Calibri"/>
                <a:ea typeface="Calibri"/>
                <a:cs typeface="Calibri"/>
                <a:sym typeface="Calibri"/>
              </a:rPr>
              <a:t>Fix the right thing</a:t>
            </a:r>
            <a:endParaRPr b="0" i="0" sz="1400" u="none" cap="none" strike="noStrike">
              <a:solidFill>
                <a:srgbClr val="000000"/>
              </a:solidFill>
              <a:latin typeface="Arial"/>
              <a:ea typeface="Arial"/>
              <a:cs typeface="Arial"/>
              <a:sym typeface="Arial"/>
            </a:endParaRPr>
          </a:p>
        </p:txBody>
      </p:sp>
      <p:sp>
        <p:nvSpPr>
          <p:cNvPr id="1482" name="Google Shape;1482;p73"/>
          <p:cNvSpPr/>
          <p:nvPr/>
        </p:nvSpPr>
        <p:spPr>
          <a:xfrm>
            <a:off x="548641" y="3977639"/>
            <a:ext cx="6766500" cy="22404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83" name="Google Shape;1483;p73"/>
          <p:cNvSpPr txBox="1"/>
          <p:nvPr/>
        </p:nvSpPr>
        <p:spPr>
          <a:xfrm>
            <a:off x="731521" y="4133087"/>
            <a:ext cx="64008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Why we cut it</a:t>
            </a:r>
            <a:endParaRPr b="0" i="0" sz="1400" u="none" cap="none" strike="noStrike">
              <a:solidFill>
                <a:srgbClr val="000000"/>
              </a:solidFill>
              <a:latin typeface="Arial"/>
              <a:ea typeface="Arial"/>
              <a:cs typeface="Arial"/>
              <a:sym typeface="Arial"/>
            </a:endParaRPr>
          </a:p>
        </p:txBody>
      </p:sp>
      <p:sp>
        <p:nvSpPr>
          <p:cNvPr id="1484" name="Google Shape;1484;p73"/>
          <p:cNvSpPr txBox="1"/>
          <p:nvPr/>
        </p:nvSpPr>
        <p:spPr>
          <a:xfrm>
            <a:off x="731521" y="4599431"/>
            <a:ext cx="6400800" cy="15087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B45309"/>
              </a:buClr>
              <a:buSzPts val="1350"/>
              <a:buFont typeface="Calibri"/>
              <a:buChar char="•"/>
            </a:pPr>
            <a:r>
              <a:rPr b="0" i="0" lang="en-US" sz="1350" u="none" cap="none" strike="noStrike">
                <a:solidFill>
                  <a:srgbClr val="334155"/>
                </a:solidFill>
                <a:latin typeface="Calibri"/>
                <a:ea typeface="Calibri"/>
                <a:cs typeface="Calibri"/>
                <a:sym typeface="Calibri"/>
              </a:rPr>
              <a:t>Today there are only </a:t>
            </a:r>
            <a:r>
              <a:rPr b="1" i="0" lang="en-US" sz="1350" u="none" cap="none" strike="noStrike">
                <a:solidFill>
                  <a:srgbClr val="334155"/>
                </a:solidFill>
                <a:latin typeface="Calibri"/>
                <a:ea typeface="Calibri"/>
                <a:cs typeface="Calibri"/>
                <a:sym typeface="Calibri"/>
              </a:rPr>
              <a:t>a handful of failure reasons</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50"/>
              <a:buFont typeface="Courier New"/>
              <a:buChar char="•"/>
            </a:pPr>
            <a:r>
              <a:rPr b="0" i="0" lang="en-US" sz="1350" u="none" cap="none" strike="noStrike">
                <a:solidFill>
                  <a:srgbClr val="334155"/>
                </a:solidFill>
                <a:latin typeface="Courier New"/>
                <a:ea typeface="Courier New"/>
                <a:cs typeface="Courier New"/>
                <a:sym typeface="Courier New"/>
              </a:rPr>
              <a:t>grade.json</a:t>
            </a:r>
            <a:r>
              <a:rPr b="0" i="0" lang="en-US" sz="1350" u="none" cap="none" strike="noStrike">
                <a:solidFill>
                  <a:srgbClr val="334155"/>
                </a:solidFill>
                <a:latin typeface="Calibri"/>
                <a:ea typeface="Calibri"/>
                <a:cs typeface="Calibri"/>
                <a:sym typeface="Calibri"/>
              </a:rPr>
              <a:t> </a:t>
            </a:r>
            <a:r>
              <a:rPr b="0" i="0" lang="en-US" sz="1350" u="none" cap="none" strike="noStrike">
                <a:solidFill>
                  <a:srgbClr val="334155"/>
                </a:solidFill>
                <a:latin typeface="Courier New"/>
                <a:ea typeface="Courier New"/>
                <a:cs typeface="Courier New"/>
                <a:sym typeface="Courier New"/>
              </a:rPr>
              <a:t>code_reason</a:t>
            </a:r>
            <a:r>
              <a:rPr b="0" i="0" lang="en-US" sz="1350" u="none" cap="none" strike="noStrike">
                <a:solidFill>
                  <a:srgbClr val="334155"/>
                </a:solidFill>
                <a:latin typeface="Calibri"/>
                <a:ea typeface="Calibri"/>
                <a:cs typeface="Calibri"/>
                <a:sym typeface="Calibri"/>
              </a:rPr>
              <a:t> already explains every failure precisely</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B45309"/>
              </a:buClr>
              <a:buSzPts val="1350"/>
              <a:buFont typeface="Calibri"/>
              <a:buChar char="•"/>
            </a:pPr>
            <a:r>
              <a:rPr b="0" i="0" lang="en-US" sz="1350" u="none" cap="none" strike="noStrike">
                <a:solidFill>
                  <a:srgbClr val="334155"/>
                </a:solidFill>
                <a:latin typeface="Calibri"/>
                <a:ea typeface="Calibri"/>
                <a:cs typeface="Calibri"/>
                <a:sym typeface="Calibri"/>
              </a:rPr>
              <a:t>Bucketing pays off at </a:t>
            </a:r>
            <a:r>
              <a:rPr b="1" i="0" lang="en-US" sz="1350" u="none" cap="none" strike="noStrike">
                <a:solidFill>
                  <a:srgbClr val="334155"/>
                </a:solidFill>
                <a:latin typeface="Calibri"/>
                <a:ea typeface="Calibri"/>
                <a:cs typeface="Calibri"/>
                <a:sym typeface="Calibri"/>
              </a:rPr>
              <a:t>scale</a:t>
            </a:r>
            <a:r>
              <a:rPr b="0" i="0" lang="en-US" sz="1350" u="none" cap="none" strike="noStrike">
                <a:solidFill>
                  <a:srgbClr val="334155"/>
                </a:solidFill>
                <a:latin typeface="Calibri"/>
                <a:ea typeface="Calibri"/>
                <a:cs typeface="Calibri"/>
                <a:sym typeface="Calibri"/>
              </a:rPr>
              <a:t>, with many tasks</a:t>
            </a:r>
            <a:endParaRPr b="0" i="0" sz="1400" u="none" cap="none" strike="noStrike">
              <a:solidFill>
                <a:srgbClr val="000000"/>
              </a:solidFill>
              <a:latin typeface="Arial"/>
              <a:ea typeface="Arial"/>
              <a:cs typeface="Arial"/>
              <a:sym typeface="Arial"/>
            </a:endParaRPr>
          </a:p>
        </p:txBody>
      </p:sp>
      <p:sp>
        <p:nvSpPr>
          <p:cNvPr id="1485" name="Google Shape;1485;p73"/>
          <p:cNvSpPr/>
          <p:nvPr/>
        </p:nvSpPr>
        <p:spPr>
          <a:xfrm>
            <a:off x="7498094" y="3977639"/>
            <a:ext cx="4160400" cy="22404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86" name="Google Shape;1486;p73"/>
          <p:cNvSpPr txBox="1"/>
          <p:nvPr/>
        </p:nvSpPr>
        <p:spPr>
          <a:xfrm>
            <a:off x="7680975" y="4133087"/>
            <a:ext cx="37947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Next step (planned)</a:t>
            </a:r>
            <a:endParaRPr b="0" i="0" sz="1400" u="none" cap="none" strike="noStrike">
              <a:solidFill>
                <a:srgbClr val="000000"/>
              </a:solidFill>
              <a:latin typeface="Arial"/>
              <a:ea typeface="Arial"/>
              <a:cs typeface="Arial"/>
              <a:sym typeface="Arial"/>
            </a:endParaRPr>
          </a:p>
        </p:txBody>
      </p:sp>
      <p:sp>
        <p:nvSpPr>
          <p:cNvPr id="1487" name="Google Shape;1487;p73"/>
          <p:cNvSpPr txBox="1"/>
          <p:nvPr/>
        </p:nvSpPr>
        <p:spPr>
          <a:xfrm>
            <a:off x="7680975" y="4599431"/>
            <a:ext cx="3794700" cy="1508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0" i="0" lang="en-US" sz="1350" u="none" cap="none" strike="noStrike">
                <a:solidFill>
                  <a:srgbClr val="334155"/>
                </a:solidFill>
                <a:latin typeface="Courier New"/>
                <a:ea typeface="Courier New"/>
                <a:cs typeface="Courier New"/>
                <a:sym typeface="Courier New"/>
              </a:rPr>
              <a:t>python -m eval.triage-failures --example good-harness-example</a:t>
            </a:r>
            <a:r>
              <a:rPr b="0" i="0" lang="en-US" sz="1350" u="none" cap="none" strike="noStrike">
                <a:solidFill>
                  <a:srgbClr val="334155"/>
                </a:solidFill>
                <a:latin typeface="Calibri"/>
                <a:ea typeface="Calibri"/>
                <a:cs typeface="Calibri"/>
                <a:sym typeface="Calibri"/>
              </a:rPr>
              <a:t> grouping by </a:t>
            </a:r>
            <a:r>
              <a:rPr b="0" i="0" lang="en-US" sz="1350" u="none" cap="none" strike="noStrike">
                <a:solidFill>
                  <a:srgbClr val="334155"/>
                </a:solidFill>
                <a:latin typeface="Courier New"/>
                <a:ea typeface="Courier New"/>
                <a:cs typeface="Courier New"/>
                <a:sym typeface="Courier New"/>
              </a:rPr>
              <a:t>code_reason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2" name="Shape 1492"/>
        <p:cNvGrpSpPr/>
        <p:nvPr/>
      </p:nvGrpSpPr>
      <p:grpSpPr>
        <a:xfrm>
          <a:off x="0" y="0"/>
          <a:ext cx="0" cy="0"/>
          <a:chOff x="0" y="0"/>
          <a:chExt cx="0" cy="0"/>
        </a:xfrm>
      </p:grpSpPr>
      <p:sp>
        <p:nvSpPr>
          <p:cNvPr id="1493" name="Google Shape;1493;p74"/>
          <p:cNvSpPr txBox="1"/>
          <p:nvPr/>
        </p:nvSpPr>
        <p:spPr>
          <a:xfrm>
            <a:off x="548641" y="347472"/>
            <a:ext cx="11094300" cy="640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3200"/>
              <a:buFont typeface="Arial"/>
              <a:buNone/>
            </a:pPr>
            <a:r>
              <a:rPr b="1" i="0" lang="en-US" sz="3200" u="none" cap="none" strike="noStrike">
                <a:solidFill>
                  <a:srgbClr val="0F172A"/>
                </a:solidFill>
                <a:latin typeface="Calibri"/>
                <a:ea typeface="Calibri"/>
                <a:cs typeface="Calibri"/>
                <a:sym typeface="Calibri"/>
              </a:rPr>
              <a:t>Run it on your machine</a:t>
            </a:r>
            <a:endParaRPr b="0" i="0" sz="1400" u="none" cap="none" strike="noStrike">
              <a:solidFill>
                <a:srgbClr val="000000"/>
              </a:solidFill>
              <a:latin typeface="Arial"/>
              <a:ea typeface="Arial"/>
              <a:cs typeface="Arial"/>
              <a:sym typeface="Arial"/>
            </a:endParaRPr>
          </a:p>
        </p:txBody>
      </p:sp>
      <p:sp>
        <p:nvSpPr>
          <p:cNvPr id="1494" name="Google Shape;1494;p74"/>
          <p:cNvSpPr txBox="1"/>
          <p:nvPr/>
        </p:nvSpPr>
        <p:spPr>
          <a:xfrm>
            <a:off x="548641" y="987552"/>
            <a:ext cx="11094300" cy="777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600"/>
              <a:buFont typeface="Arial"/>
              <a:buNone/>
            </a:pPr>
            <a:r>
              <a:rPr b="0" i="0" lang="en-US" sz="1600" u="none" cap="none" strike="noStrike">
                <a:solidFill>
                  <a:srgbClr val="334155"/>
                </a:solidFill>
                <a:latin typeface="Calibri"/>
                <a:ea typeface="Calibri"/>
                <a:cs typeface="Calibri"/>
                <a:sym typeface="Calibri"/>
              </a:rPr>
              <a:t>No API key needed for the dry run. A live run needs an </a:t>
            </a:r>
            <a:r>
              <a:rPr b="1" i="0" lang="en-US" sz="1600" u="none" cap="none" strike="noStrike">
                <a:solidFill>
                  <a:srgbClr val="334155"/>
                </a:solidFill>
                <a:latin typeface="Calibri"/>
                <a:ea typeface="Calibri"/>
                <a:cs typeface="Calibri"/>
                <a:sym typeface="Calibri"/>
              </a:rPr>
              <a:t>OpenRouter key</a:t>
            </a:r>
            <a:r>
              <a:rPr b="0" i="0" lang="en-US" sz="1600" u="none" cap="none" strike="noStrike">
                <a:solidFill>
                  <a:srgbClr val="334155"/>
                </a:solidFill>
                <a:latin typeface="Calibri"/>
                <a:ea typeface="Calibri"/>
                <a:cs typeface="Calibri"/>
                <a:sym typeface="Calibri"/>
              </a:rPr>
              <a:t> and costs at most </a:t>
            </a:r>
            <a:r>
              <a:rPr b="1" i="0" lang="en-US" sz="1600" u="none" cap="none" strike="noStrike">
                <a:solidFill>
                  <a:srgbClr val="334155"/>
                </a:solidFill>
                <a:latin typeface="Calibri"/>
                <a:ea typeface="Calibri"/>
                <a:cs typeface="Calibri"/>
                <a:sym typeface="Calibri"/>
              </a:rPr>
              <a:t>$0.05 per trial</a:t>
            </a:r>
            <a:r>
              <a:rPr b="0" i="0" lang="en-US" sz="1600" u="none" cap="none" strike="noStrike">
                <a:solidFill>
                  <a:srgbClr val="33415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495" name="Google Shape;1495;p74"/>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64748B"/>
                </a:solidFill>
                <a:latin typeface="Calibri"/>
                <a:ea typeface="Calibri"/>
                <a:cs typeface="Calibri"/>
                <a:sym typeface="Calibri"/>
              </a:rPr>
              <a:t>Run it yourself</a:t>
            </a:r>
            <a:endParaRPr b="0" i="0" sz="1400" u="none" cap="none" strike="noStrike">
              <a:solidFill>
                <a:srgbClr val="000000"/>
              </a:solidFill>
              <a:latin typeface="Arial"/>
              <a:ea typeface="Arial"/>
              <a:cs typeface="Arial"/>
              <a:sym typeface="Arial"/>
            </a:endParaRPr>
          </a:p>
        </p:txBody>
      </p:sp>
      <p:sp>
        <p:nvSpPr>
          <p:cNvPr id="1496" name="Google Shape;1496;p74"/>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lang="en-US" sz="1000">
                <a:solidFill>
                  <a:srgbClr val="64748B"/>
                </a:solidFill>
                <a:latin typeface="Calibri"/>
                <a:ea typeface="Calibri"/>
                <a:cs typeface="Calibri"/>
                <a:sym typeface="Calibri"/>
              </a:rPr>
              <a:t>50</a:t>
            </a:r>
            <a:endParaRPr b="0" i="0" sz="1400" u="none" cap="none" strike="noStrike">
              <a:solidFill>
                <a:srgbClr val="000000"/>
              </a:solidFill>
              <a:latin typeface="Arial"/>
              <a:ea typeface="Arial"/>
              <a:cs typeface="Arial"/>
              <a:sym typeface="Arial"/>
            </a:endParaRPr>
          </a:p>
        </p:txBody>
      </p:sp>
      <p:sp>
        <p:nvSpPr>
          <p:cNvPr id="1497" name="Google Shape;1497;p74"/>
          <p:cNvSpPr/>
          <p:nvPr/>
        </p:nvSpPr>
        <p:spPr>
          <a:xfrm>
            <a:off x="548641" y="1645920"/>
            <a:ext cx="5440800" cy="15363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8" name="Google Shape;1498;p74"/>
          <p:cNvSpPr txBox="1"/>
          <p:nvPr/>
        </p:nvSpPr>
        <p:spPr>
          <a:xfrm>
            <a:off x="731522" y="1737360"/>
            <a:ext cx="50748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1 · Install (Python ≥ 3.10)</a:t>
            </a:r>
            <a:endParaRPr b="0" i="0" sz="1400" u="none" cap="none" strike="noStrike">
              <a:solidFill>
                <a:srgbClr val="000000"/>
              </a:solidFill>
              <a:latin typeface="Arial"/>
              <a:ea typeface="Arial"/>
              <a:cs typeface="Arial"/>
              <a:sym typeface="Arial"/>
            </a:endParaRPr>
          </a:p>
        </p:txBody>
      </p:sp>
      <p:sp>
        <p:nvSpPr>
          <p:cNvPr id="1499" name="Google Shape;1499;p74"/>
          <p:cNvSpPr txBox="1"/>
          <p:nvPr/>
        </p:nvSpPr>
        <p:spPr>
          <a:xfrm>
            <a:off x="731521" y="2029968"/>
            <a:ext cx="5166300" cy="6903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100"/>
              <a:buFont typeface="Arial"/>
              <a:buNone/>
            </a:pPr>
            <a:r>
              <a:rPr b="0" i="0" lang="en-US" sz="1100" u="none" cap="none" strike="noStrike">
                <a:solidFill>
                  <a:srgbClr val="E2E8F0"/>
                </a:solidFill>
                <a:latin typeface="Courier New"/>
                <a:ea typeface="Courier New"/>
                <a:cs typeface="Courier New"/>
                <a:sym typeface="Courier New"/>
              </a:rPr>
              <a:t>python3 -m venv .venv</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00"/>
              <a:buFont typeface="Arial"/>
              <a:buNone/>
            </a:pPr>
            <a:r>
              <a:rPr b="0" i="0" lang="en-US" sz="1100" u="none" cap="none" strike="noStrike">
                <a:solidFill>
                  <a:srgbClr val="E2E8F0"/>
                </a:solidFill>
                <a:latin typeface="Courier New"/>
                <a:ea typeface="Courier New"/>
                <a:cs typeface="Courier New"/>
                <a:sym typeface="Courier New"/>
              </a:rPr>
              <a:t>source .venv/bin/activate</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00"/>
              <a:buFont typeface="Arial"/>
              <a:buNone/>
            </a:pPr>
            <a:r>
              <a:rPr b="0" i="0" lang="en-US" sz="1100" u="none" cap="none" strike="noStrike">
                <a:solidFill>
                  <a:srgbClr val="E2E8F0"/>
                </a:solidFill>
                <a:latin typeface="Courier New"/>
                <a:ea typeface="Courier New"/>
                <a:cs typeface="Courier New"/>
                <a:sym typeface="Courier New"/>
              </a:rPr>
              <a:t>pip install -e ".[dev]"</a:t>
            </a:r>
            <a:endParaRPr b="0" i="0" sz="1400" u="none" cap="none" strike="noStrike">
              <a:solidFill>
                <a:srgbClr val="000000"/>
              </a:solidFill>
              <a:latin typeface="Arial"/>
              <a:ea typeface="Arial"/>
              <a:cs typeface="Arial"/>
              <a:sym typeface="Arial"/>
            </a:endParaRPr>
          </a:p>
        </p:txBody>
      </p:sp>
      <p:sp>
        <p:nvSpPr>
          <p:cNvPr id="1500" name="Google Shape;1500;p74"/>
          <p:cNvSpPr/>
          <p:nvPr/>
        </p:nvSpPr>
        <p:spPr>
          <a:xfrm>
            <a:off x="6172213" y="1645920"/>
            <a:ext cx="5440800" cy="15363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1" name="Google Shape;1501;p74"/>
          <p:cNvSpPr txBox="1"/>
          <p:nvPr/>
        </p:nvSpPr>
        <p:spPr>
          <a:xfrm>
            <a:off x="6355093" y="1737360"/>
            <a:ext cx="50748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2 · OpenRouter API key (live runs only)</a:t>
            </a:r>
            <a:endParaRPr b="0" i="0" sz="1400" u="none" cap="none" strike="noStrike">
              <a:solidFill>
                <a:srgbClr val="000000"/>
              </a:solidFill>
              <a:latin typeface="Arial"/>
              <a:ea typeface="Arial"/>
              <a:cs typeface="Arial"/>
              <a:sym typeface="Arial"/>
            </a:endParaRPr>
          </a:p>
        </p:txBody>
      </p:sp>
      <p:sp>
        <p:nvSpPr>
          <p:cNvPr id="1502" name="Google Shape;1502;p74"/>
          <p:cNvSpPr txBox="1"/>
          <p:nvPr/>
        </p:nvSpPr>
        <p:spPr>
          <a:xfrm>
            <a:off x="6355093" y="2029968"/>
            <a:ext cx="5166300" cy="6903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100"/>
              <a:buFont typeface="Arial"/>
              <a:buNone/>
            </a:pPr>
            <a:r>
              <a:rPr b="0" i="0" lang="en-US" sz="1100" u="none" cap="none" strike="noStrike">
                <a:solidFill>
                  <a:srgbClr val="94A3B8"/>
                </a:solidFill>
                <a:latin typeface="Courier New"/>
                <a:ea typeface="Courier New"/>
                <a:cs typeface="Courier New"/>
                <a:sym typeface="Courier New"/>
              </a:rPr>
              <a:t># create a key at https://openrouter.ai/keys</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00"/>
              <a:buFont typeface="Arial"/>
              <a:buNone/>
            </a:pPr>
            <a:r>
              <a:rPr b="0" i="0" lang="en-US" sz="1100" u="none" cap="none" strike="noStrike">
                <a:solidFill>
                  <a:srgbClr val="E2E8F0"/>
                </a:solidFill>
                <a:latin typeface="Courier New"/>
                <a:ea typeface="Courier New"/>
                <a:cs typeface="Courier New"/>
                <a:sym typeface="Courier New"/>
              </a:rPr>
              <a:t>export OPENROUTER_API_KEY=sk-or-...</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00"/>
              <a:buFont typeface="Arial"/>
              <a:buNone/>
            </a:pPr>
            <a:r>
              <a:rPr b="0" i="0" lang="en-US" sz="1100" u="none" cap="none" strike="noStrike">
                <a:solidFill>
                  <a:srgbClr val="E2E8F0"/>
                </a:solidFill>
                <a:latin typeface="Courier New"/>
                <a:ea typeface="Courier New"/>
                <a:cs typeface="Courier New"/>
                <a:sym typeface="Courier New"/>
              </a:rPr>
              <a:t>export OPENROUTER_MODEL=&lt;model-id&gt;   # optional</a:t>
            </a:r>
            <a:endParaRPr b="0" i="0" sz="1400" u="none" cap="none" strike="noStrike">
              <a:solidFill>
                <a:srgbClr val="000000"/>
              </a:solidFill>
              <a:latin typeface="Arial"/>
              <a:ea typeface="Arial"/>
              <a:cs typeface="Arial"/>
              <a:sym typeface="Arial"/>
            </a:endParaRPr>
          </a:p>
        </p:txBody>
      </p:sp>
      <p:sp>
        <p:nvSpPr>
          <p:cNvPr id="1503" name="Google Shape;1503;p74"/>
          <p:cNvSpPr/>
          <p:nvPr/>
        </p:nvSpPr>
        <p:spPr>
          <a:xfrm>
            <a:off x="548641" y="3310128"/>
            <a:ext cx="5440800" cy="15363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4" name="Google Shape;1504;p74"/>
          <p:cNvSpPr txBox="1"/>
          <p:nvPr/>
        </p:nvSpPr>
        <p:spPr>
          <a:xfrm>
            <a:off x="731522" y="3401568"/>
            <a:ext cx="50748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3 · Run</a:t>
            </a:r>
            <a:endParaRPr b="0" i="0" sz="1400" u="none" cap="none" strike="noStrike">
              <a:solidFill>
                <a:srgbClr val="000000"/>
              </a:solidFill>
              <a:latin typeface="Arial"/>
              <a:ea typeface="Arial"/>
              <a:cs typeface="Arial"/>
              <a:sym typeface="Arial"/>
            </a:endParaRPr>
          </a:p>
        </p:txBody>
      </p:sp>
      <p:sp>
        <p:nvSpPr>
          <p:cNvPr id="1505" name="Google Shape;1505;p74"/>
          <p:cNvSpPr txBox="1"/>
          <p:nvPr/>
        </p:nvSpPr>
        <p:spPr>
          <a:xfrm>
            <a:off x="731521" y="3694176"/>
            <a:ext cx="5166300" cy="9138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100"/>
              <a:buFont typeface="Arial"/>
              <a:buNone/>
            </a:pPr>
            <a:r>
              <a:rPr b="0" i="0" lang="en-US" sz="1100" u="none" cap="none" strike="noStrike">
                <a:solidFill>
                  <a:srgbClr val="E2E8F0"/>
                </a:solidFill>
                <a:latin typeface="Courier New"/>
                <a:ea typeface="Courier New"/>
                <a:cs typeface="Courier New"/>
                <a:sym typeface="Courier New"/>
              </a:rPr>
              <a:t>python3 -m eval --dry-run              # both stories, $0</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00"/>
              <a:buFont typeface="Arial"/>
              <a:buNone/>
            </a:pPr>
            <a:r>
              <a:rPr b="0" i="0" lang="en-US" sz="1100" u="none" cap="none" strike="noStrike">
                <a:solidFill>
                  <a:srgbClr val="E2E8F0"/>
                </a:solidFill>
                <a:latin typeface="Courier New"/>
                <a:ea typeface="Courier New"/>
                <a:cs typeface="Courier New"/>
                <a:sym typeface="Courier New"/>
              </a:rPr>
              <a:t>python3 -m eval --dry-run --scenario bad</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00"/>
              <a:buFont typeface="Arial"/>
              <a:buNone/>
            </a:pPr>
            <a:r>
              <a:rPr b="0" i="0" lang="en-US" sz="1100" u="none" cap="none" strike="noStrike">
                <a:solidFill>
                  <a:srgbClr val="E2E8F0"/>
                </a:solidFill>
                <a:latin typeface="Courier New"/>
                <a:ea typeface="Courier New"/>
                <a:cs typeface="Courier New"/>
                <a:sym typeface="Courier New"/>
              </a:rPr>
              <a:t>cp tasks/registry.bootstrap.yaml tasks/registry.yaml</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00"/>
              <a:buFont typeface="Arial"/>
              <a:buNone/>
            </a:pPr>
            <a:r>
              <a:rPr b="0" i="0" lang="en-US" sz="1100" u="none" cap="none" strike="noStrike">
                <a:solidFill>
                  <a:srgbClr val="E2E8F0"/>
                </a:solidFill>
                <a:latin typeface="Courier New"/>
                <a:ea typeface="Courier New"/>
                <a:cs typeface="Courier New"/>
                <a:sym typeface="Courier New"/>
              </a:rPr>
              <a:t>python3 -m eval --scenario good          # live</a:t>
            </a:r>
            <a:endParaRPr b="0" i="0" sz="1400" u="none" cap="none" strike="noStrike">
              <a:solidFill>
                <a:srgbClr val="000000"/>
              </a:solidFill>
              <a:latin typeface="Arial"/>
              <a:ea typeface="Arial"/>
              <a:cs typeface="Arial"/>
              <a:sym typeface="Arial"/>
            </a:endParaRPr>
          </a:p>
        </p:txBody>
      </p:sp>
      <p:sp>
        <p:nvSpPr>
          <p:cNvPr id="1506" name="Google Shape;1506;p74"/>
          <p:cNvSpPr/>
          <p:nvPr/>
        </p:nvSpPr>
        <p:spPr>
          <a:xfrm>
            <a:off x="6172213" y="3310128"/>
            <a:ext cx="5440800" cy="1536300"/>
          </a:xfrm>
          <a:prstGeom prst="roundRect">
            <a:avLst>
              <a:gd fmla="val 4000" name="adj"/>
            </a:avLst>
          </a:prstGeom>
          <a:solidFill>
            <a:srgbClr val="0F172A"/>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7" name="Google Shape;1507;p74"/>
          <p:cNvSpPr txBox="1"/>
          <p:nvPr/>
        </p:nvSpPr>
        <p:spPr>
          <a:xfrm>
            <a:off x="6355093" y="3401568"/>
            <a:ext cx="50748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50"/>
              <a:buFont typeface="Arial"/>
              <a:buNone/>
            </a:pPr>
            <a:r>
              <a:rPr b="0" i="0" lang="en-US" sz="1050" u="none" cap="none" strike="noStrike">
                <a:solidFill>
                  <a:srgbClr val="94A3B8"/>
                </a:solidFill>
                <a:latin typeface="Courier New"/>
                <a:ea typeface="Courier New"/>
                <a:cs typeface="Courier New"/>
                <a:sym typeface="Courier New"/>
              </a:rPr>
              <a:t>4 · Verify + rebuild</a:t>
            </a:r>
            <a:endParaRPr b="0" i="0" sz="1400" u="none" cap="none" strike="noStrike">
              <a:solidFill>
                <a:srgbClr val="000000"/>
              </a:solidFill>
              <a:latin typeface="Arial"/>
              <a:ea typeface="Arial"/>
              <a:cs typeface="Arial"/>
              <a:sym typeface="Arial"/>
            </a:endParaRPr>
          </a:p>
        </p:txBody>
      </p:sp>
      <p:sp>
        <p:nvSpPr>
          <p:cNvPr id="1508" name="Google Shape;1508;p74"/>
          <p:cNvSpPr txBox="1"/>
          <p:nvPr/>
        </p:nvSpPr>
        <p:spPr>
          <a:xfrm>
            <a:off x="6355093" y="3694176"/>
            <a:ext cx="5166300" cy="690300"/>
          </a:xfrm>
          <a:prstGeom prst="rect">
            <a:avLst/>
          </a:prstGeom>
          <a:noFill/>
          <a:ln>
            <a:noFill/>
          </a:ln>
        </p:spPr>
        <p:txBody>
          <a:bodyPr anchorCtr="0" anchor="t" bIns="36575" lIns="36575" spcFirstLastPara="1" rIns="36575" wrap="square" tIns="36575">
            <a:spAutoFit/>
          </a:bodyPr>
          <a:lstStyle/>
          <a:p>
            <a:pPr indent="0" lvl="0" marL="0" marR="0" rtl="0" algn="l">
              <a:lnSpc>
                <a:spcPct val="132000"/>
              </a:lnSpc>
              <a:spcBef>
                <a:spcPts val="0"/>
              </a:spcBef>
              <a:spcAft>
                <a:spcPts val="0"/>
              </a:spcAft>
              <a:buClr>
                <a:srgbClr val="000000"/>
              </a:buClr>
              <a:buSzPts val="1100"/>
              <a:buFont typeface="Arial"/>
              <a:buNone/>
            </a:pPr>
            <a:r>
              <a:rPr b="0" i="0" lang="en-US" sz="1100" u="none" cap="none" strike="noStrike">
                <a:solidFill>
                  <a:srgbClr val="E2E8F0"/>
                </a:solidFill>
                <a:latin typeface="Courier New"/>
                <a:ea typeface="Courier New"/>
                <a:cs typeface="Courier New"/>
                <a:sym typeface="Courier New"/>
              </a:rPr>
              <a:t>pytest -q</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00"/>
              <a:buFont typeface="Arial"/>
              <a:buNone/>
            </a:pPr>
            <a:r>
              <a:rPr b="0" i="0" lang="en-US" sz="1100" u="none" cap="none" strike="noStrike">
                <a:solidFill>
                  <a:srgbClr val="E2E8F0"/>
                </a:solidFill>
                <a:latin typeface="Courier New"/>
                <a:ea typeface="Courier New"/>
                <a:cs typeface="Courier New"/>
                <a:sym typeface="Courier New"/>
              </a:rPr>
              <a:t>bash scripts/e2e_validate.sh</a:t>
            </a:r>
            <a:endParaRPr b="0" i="0" sz="1400" u="none" cap="none" strike="noStrike">
              <a:solidFill>
                <a:srgbClr val="000000"/>
              </a:solidFill>
              <a:latin typeface="Arial"/>
              <a:ea typeface="Arial"/>
              <a:cs typeface="Arial"/>
              <a:sym typeface="Arial"/>
            </a:endParaRPr>
          </a:p>
          <a:p>
            <a:pPr indent="0" lvl="0" marL="0" marR="0" rtl="0" algn="l">
              <a:lnSpc>
                <a:spcPct val="132000"/>
              </a:lnSpc>
              <a:spcBef>
                <a:spcPts val="0"/>
              </a:spcBef>
              <a:spcAft>
                <a:spcPts val="0"/>
              </a:spcAft>
              <a:buClr>
                <a:srgbClr val="000000"/>
              </a:buClr>
              <a:buSzPts val="1100"/>
              <a:buFont typeface="Arial"/>
              <a:buNone/>
            </a:pPr>
            <a:r>
              <a:rPr b="0" i="0" lang="en-US" sz="1100" u="none" cap="none" strike="noStrike">
                <a:solidFill>
                  <a:srgbClr val="E2E8F0"/>
                </a:solidFill>
                <a:latin typeface="Courier New"/>
                <a:ea typeface="Courier New"/>
                <a:cs typeface="Courier New"/>
                <a:sym typeface="Courier New"/>
              </a:rPr>
              <a:t>python3 presentation/src/build_deck.py</a:t>
            </a:r>
            <a:endParaRPr b="0" i="0" sz="1400" u="none" cap="none" strike="noStrike">
              <a:solidFill>
                <a:srgbClr val="000000"/>
              </a:solidFill>
              <a:latin typeface="Arial"/>
              <a:ea typeface="Arial"/>
              <a:cs typeface="Arial"/>
              <a:sym typeface="Arial"/>
            </a:endParaRPr>
          </a:p>
        </p:txBody>
      </p:sp>
      <p:sp>
        <p:nvSpPr>
          <p:cNvPr id="1509" name="Google Shape;1509;p74"/>
          <p:cNvSpPr/>
          <p:nvPr/>
        </p:nvSpPr>
        <p:spPr>
          <a:xfrm>
            <a:off x="548641" y="4956048"/>
            <a:ext cx="5486400" cy="12984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0" name="Google Shape;1510;p74"/>
          <p:cNvSpPr txBox="1"/>
          <p:nvPr/>
        </p:nvSpPr>
        <p:spPr>
          <a:xfrm>
            <a:off x="731521" y="5111496"/>
            <a:ext cx="51207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View the results</a:t>
            </a:r>
            <a:endParaRPr b="0" i="0" sz="1400" u="none" cap="none" strike="noStrike">
              <a:solidFill>
                <a:srgbClr val="000000"/>
              </a:solidFill>
              <a:latin typeface="Arial"/>
              <a:ea typeface="Arial"/>
              <a:cs typeface="Arial"/>
              <a:sym typeface="Arial"/>
            </a:endParaRPr>
          </a:p>
        </p:txBody>
      </p:sp>
      <p:sp>
        <p:nvSpPr>
          <p:cNvPr id="1511" name="Google Shape;1511;p74"/>
          <p:cNvSpPr txBox="1"/>
          <p:nvPr/>
        </p:nvSpPr>
        <p:spPr>
          <a:xfrm>
            <a:off x="731521" y="5577840"/>
            <a:ext cx="5120700" cy="5670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0F766E"/>
              </a:buClr>
              <a:buSzPts val="1250"/>
              <a:buFont typeface="Courier New"/>
              <a:buChar char="•"/>
            </a:pPr>
            <a:r>
              <a:rPr b="0" i="0" lang="en-US" sz="1250" u="none" cap="none" strike="noStrike">
                <a:solidFill>
                  <a:srgbClr val="334155"/>
                </a:solidFill>
                <a:latin typeface="Courier New"/>
                <a:ea typeface="Courier New"/>
                <a:cs typeface="Courier New"/>
                <a:sym typeface="Courier New"/>
              </a:rPr>
              <a:t>output/summary.json</a:t>
            </a:r>
            <a:r>
              <a:rPr b="0" i="0" lang="en-US" sz="1250" u="none" cap="none" strike="noStrike">
                <a:solidFill>
                  <a:srgbClr val="334155"/>
                </a:solidFill>
                <a:latin typeface="Calibri"/>
                <a:ea typeface="Calibri"/>
                <a:cs typeface="Calibri"/>
                <a:sym typeface="Calibri"/>
              </a:rPr>
              <a:t> → </a:t>
            </a:r>
            <a:r>
              <a:rPr b="0" i="0" lang="en-US" sz="1250" u="none" cap="none" strike="noStrike">
                <a:solidFill>
                  <a:srgbClr val="334155"/>
                </a:solidFill>
                <a:latin typeface="Courier New"/>
                <a:ea typeface="Courier New"/>
                <a:cs typeface="Courier New"/>
                <a:sym typeface="Courier New"/>
              </a:rPr>
              <a:t>…/phase-1/comparison/README.md</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0F766E"/>
              </a:buClr>
              <a:buSzPts val="1250"/>
              <a:buFont typeface="Courier New"/>
              <a:buChar char="•"/>
            </a:pPr>
            <a:r>
              <a:rPr b="0" i="0" lang="en-US" sz="1250" u="none" cap="none" strike="noStrike">
                <a:solidFill>
                  <a:srgbClr val="334155"/>
                </a:solidFill>
                <a:latin typeface="Courier New"/>
                <a:ea typeface="Courier New"/>
                <a:cs typeface="Courier New"/>
                <a:sym typeface="Courier New"/>
              </a:rPr>
              <a:t>…/trials/&lt;task&gt;/&lt;rep&gt;/</a:t>
            </a:r>
            <a:r>
              <a:rPr b="0" i="0" lang="en-US" sz="1250" u="none" cap="none" strike="noStrike">
                <a:solidFill>
                  <a:srgbClr val="334155"/>
                </a:solidFill>
                <a:latin typeface="Calibri"/>
                <a:ea typeface="Calibri"/>
                <a:cs typeface="Calibri"/>
                <a:sym typeface="Calibri"/>
              </a:rPr>
              <a:t>: findings, grade, transcript, cost</a:t>
            </a:r>
            <a:endParaRPr b="0" i="0" sz="1400" u="none" cap="none" strike="noStrike">
              <a:solidFill>
                <a:srgbClr val="000000"/>
              </a:solidFill>
              <a:latin typeface="Arial"/>
              <a:ea typeface="Arial"/>
              <a:cs typeface="Arial"/>
              <a:sym typeface="Arial"/>
            </a:endParaRPr>
          </a:p>
        </p:txBody>
      </p:sp>
      <p:sp>
        <p:nvSpPr>
          <p:cNvPr id="1512" name="Google Shape;1512;p74"/>
          <p:cNvSpPr/>
          <p:nvPr/>
        </p:nvSpPr>
        <p:spPr>
          <a:xfrm>
            <a:off x="6172213" y="4956048"/>
            <a:ext cx="5486400" cy="1298400"/>
          </a:xfrm>
          <a:prstGeom prst="roundRect">
            <a:avLst>
              <a:gd fmla="val 8000" name="adj"/>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3" name="Google Shape;1513;p74"/>
          <p:cNvSpPr txBox="1"/>
          <p:nvPr/>
        </p:nvSpPr>
        <p:spPr>
          <a:xfrm>
            <a:off x="6355093" y="5111496"/>
            <a:ext cx="5120700" cy="38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0F172A"/>
                </a:solidFill>
                <a:latin typeface="Calibri"/>
                <a:ea typeface="Calibri"/>
                <a:cs typeface="Calibri"/>
                <a:sym typeface="Calibri"/>
              </a:rPr>
              <a:t>Visual explanations</a:t>
            </a:r>
            <a:endParaRPr b="0" i="0" sz="1400" u="none" cap="none" strike="noStrike">
              <a:solidFill>
                <a:srgbClr val="000000"/>
              </a:solidFill>
              <a:latin typeface="Arial"/>
              <a:ea typeface="Arial"/>
              <a:cs typeface="Arial"/>
              <a:sym typeface="Arial"/>
            </a:endParaRPr>
          </a:p>
        </p:txBody>
      </p:sp>
      <p:sp>
        <p:nvSpPr>
          <p:cNvPr id="1514" name="Google Shape;1514;p74"/>
          <p:cNvSpPr txBox="1"/>
          <p:nvPr/>
        </p:nvSpPr>
        <p:spPr>
          <a:xfrm>
            <a:off x="6355093" y="5577840"/>
            <a:ext cx="5120700" cy="567000"/>
          </a:xfrm>
          <a:prstGeom prst="rect">
            <a:avLst/>
          </a:prstGeom>
          <a:noFill/>
          <a:ln>
            <a:noFill/>
          </a:ln>
        </p:spPr>
        <p:txBody>
          <a:bodyPr anchorCtr="0" anchor="t" bIns="0" lIns="0" spcFirstLastPara="1" rIns="0" wrap="square" tIns="0">
            <a:noAutofit/>
          </a:bodyPr>
          <a:lstStyle/>
          <a:p>
            <a:pPr indent="-182880" lvl="0" marL="201168" marR="0" rtl="0" algn="l">
              <a:lnSpc>
                <a:spcPct val="105000"/>
              </a:lnSpc>
              <a:spcBef>
                <a:spcPts val="0"/>
              </a:spcBef>
              <a:spcAft>
                <a:spcPts val="0"/>
              </a:spcAft>
              <a:buClr>
                <a:srgbClr val="6D28D9"/>
              </a:buClr>
              <a:buSzPts val="1250"/>
              <a:buFont typeface="Courier New"/>
              <a:buChar char="•"/>
            </a:pPr>
            <a:r>
              <a:rPr b="0" i="0" lang="en-US" sz="1250" u="none" cap="none" strike="noStrike">
                <a:solidFill>
                  <a:srgbClr val="334155"/>
                </a:solidFill>
                <a:latin typeface="Courier New"/>
                <a:ea typeface="Courier New"/>
                <a:cs typeface="Courier New"/>
                <a:sym typeface="Courier New"/>
              </a:rPr>
              <a:t>archify/index.html</a:t>
            </a:r>
            <a:r>
              <a:rPr b="0" i="0" lang="en-US" sz="1250" u="none" cap="none" strike="noStrike">
                <a:solidFill>
                  <a:srgbClr val="334155"/>
                </a:solidFill>
                <a:latin typeface="Calibri"/>
                <a:ea typeface="Calibri"/>
                <a:cs typeface="Calibri"/>
                <a:sym typeface="Calibri"/>
              </a:rPr>
              <a:t>: 22-step narrative + 15 diagrams</a:t>
            </a:r>
            <a:endParaRPr b="0" i="0" sz="1400" u="none" cap="none" strike="noStrike">
              <a:solidFill>
                <a:srgbClr val="000000"/>
              </a:solidFill>
              <a:latin typeface="Arial"/>
              <a:ea typeface="Arial"/>
              <a:cs typeface="Arial"/>
              <a:sym typeface="Arial"/>
            </a:endParaRPr>
          </a:p>
          <a:p>
            <a:pPr indent="-182880" lvl="0" marL="201168" marR="0" rtl="0" algn="l">
              <a:lnSpc>
                <a:spcPct val="105000"/>
              </a:lnSpc>
              <a:spcBef>
                <a:spcPts val="500"/>
              </a:spcBef>
              <a:spcAft>
                <a:spcPts val="0"/>
              </a:spcAft>
              <a:buClr>
                <a:srgbClr val="6D28D9"/>
              </a:buClr>
              <a:buSzPts val="1250"/>
              <a:buFont typeface="Calibri"/>
              <a:buChar char="•"/>
            </a:pPr>
            <a:r>
              <a:rPr b="0" i="0" lang="en-US" sz="1250" u="none" cap="none" strike="noStrike">
                <a:solidFill>
                  <a:srgbClr val="334155"/>
                </a:solidFill>
                <a:latin typeface="Calibri"/>
                <a:ea typeface="Calibri"/>
                <a:cs typeface="Calibri"/>
                <a:sym typeface="Calibri"/>
              </a:rPr>
              <a:t>Every diagram node links to </a:t>
            </a:r>
            <a:r>
              <a:rPr b="0" i="0" lang="en-US" sz="1250" u="none" cap="none" strike="noStrike">
                <a:solidFill>
                  <a:srgbClr val="334155"/>
                </a:solidFill>
                <a:latin typeface="Courier New"/>
                <a:ea typeface="Courier New"/>
                <a:cs typeface="Courier New"/>
                <a:sym typeface="Courier New"/>
              </a:rPr>
              <a:t>file:line</a:t>
            </a:r>
            <a:r>
              <a:rPr b="0" i="0" lang="en-US" sz="1250" u="none" cap="none" strike="noStrike">
                <a:solidFill>
                  <a:srgbClr val="334155"/>
                </a:solidFill>
                <a:latin typeface="Calibri"/>
                <a:ea typeface="Calibri"/>
                <a:cs typeface="Calibri"/>
                <a:sym typeface="Calibri"/>
              </a:rPr>
              <a:t> in the source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1519" name="Shape 1519"/>
        <p:cNvGrpSpPr/>
        <p:nvPr/>
      </p:nvGrpSpPr>
      <p:grpSpPr>
        <a:xfrm>
          <a:off x="0" y="0"/>
          <a:ext cx="0" cy="0"/>
          <a:chOff x="0" y="0"/>
          <a:chExt cx="0" cy="0"/>
        </a:xfrm>
      </p:grpSpPr>
      <p:sp>
        <p:nvSpPr>
          <p:cNvPr id="1520" name="Google Shape;1520;p75"/>
          <p:cNvSpPr txBox="1"/>
          <p:nvPr/>
        </p:nvSpPr>
        <p:spPr>
          <a:xfrm>
            <a:off x="548641" y="6428232"/>
            <a:ext cx="7315200" cy="274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Run it yourself</a:t>
            </a:r>
            <a:endParaRPr b="0" i="0" sz="1400" u="none" cap="none" strike="noStrike">
              <a:solidFill>
                <a:srgbClr val="000000"/>
              </a:solidFill>
              <a:latin typeface="Arial"/>
              <a:ea typeface="Arial"/>
              <a:cs typeface="Arial"/>
              <a:sym typeface="Arial"/>
            </a:endParaRPr>
          </a:p>
        </p:txBody>
      </p:sp>
      <p:sp>
        <p:nvSpPr>
          <p:cNvPr id="1521" name="Google Shape;1521;p75"/>
          <p:cNvSpPr txBox="1"/>
          <p:nvPr/>
        </p:nvSpPr>
        <p:spPr>
          <a:xfrm>
            <a:off x="10728677" y="6428232"/>
            <a:ext cx="914400" cy="2742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1000"/>
              <a:buFont typeface="Arial"/>
              <a:buNone/>
            </a:pPr>
            <a:r>
              <a:rPr b="0" i="0" lang="en-US" sz="1000" u="none" cap="none" strike="noStrike">
                <a:solidFill>
                  <a:srgbClr val="8091B0"/>
                </a:solidFill>
                <a:latin typeface="Calibri"/>
                <a:ea typeface="Calibri"/>
                <a:cs typeface="Calibri"/>
                <a:sym typeface="Calibri"/>
              </a:rPr>
              <a:t>5</a:t>
            </a:r>
            <a:r>
              <a:rPr lang="en-US" sz="1000">
                <a:solidFill>
                  <a:srgbClr val="8091B0"/>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1522" name="Google Shape;1522;p75"/>
          <p:cNvSpPr txBox="1"/>
          <p:nvPr/>
        </p:nvSpPr>
        <p:spPr>
          <a:xfrm>
            <a:off x="731521" y="822960"/>
            <a:ext cx="1051560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5EEAD4"/>
                </a:solidFill>
                <a:latin typeface="Calibri"/>
                <a:ea typeface="Calibri"/>
                <a:cs typeface="Calibri"/>
                <a:sym typeface="Calibri"/>
              </a:rPr>
              <a:t>KEY TAKEAWAYS</a:t>
            </a:r>
            <a:endParaRPr b="0" i="0" sz="1400" u="none" cap="none" strike="noStrike">
              <a:solidFill>
                <a:srgbClr val="000000"/>
              </a:solidFill>
              <a:latin typeface="Arial"/>
              <a:ea typeface="Arial"/>
              <a:cs typeface="Arial"/>
              <a:sym typeface="Arial"/>
            </a:endParaRPr>
          </a:p>
        </p:txBody>
      </p:sp>
      <p:sp>
        <p:nvSpPr>
          <p:cNvPr id="1523" name="Google Shape;1523;p75"/>
          <p:cNvSpPr txBox="1"/>
          <p:nvPr/>
        </p:nvSpPr>
        <p:spPr>
          <a:xfrm>
            <a:off x="731521" y="1234440"/>
            <a:ext cx="10515600" cy="914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4000"/>
              <a:buFont typeface="Arial"/>
              <a:buNone/>
            </a:pPr>
            <a:r>
              <a:rPr b="1" i="0" lang="en-US" sz="4000" u="none" cap="none" strike="noStrike">
                <a:solidFill>
                  <a:srgbClr val="FFFFFF"/>
                </a:solidFill>
                <a:latin typeface="Calibri"/>
                <a:ea typeface="Calibri"/>
                <a:cs typeface="Calibri"/>
                <a:sym typeface="Calibri"/>
              </a:rPr>
              <a:t>Evaluate the harness change, not the vibe</a:t>
            </a:r>
            <a:endParaRPr b="0" i="0" sz="1400" u="none" cap="none" strike="noStrike">
              <a:solidFill>
                <a:srgbClr val="000000"/>
              </a:solidFill>
              <a:latin typeface="Arial"/>
              <a:ea typeface="Arial"/>
              <a:cs typeface="Arial"/>
              <a:sym typeface="Arial"/>
            </a:endParaRPr>
          </a:p>
        </p:txBody>
      </p:sp>
      <p:sp>
        <p:nvSpPr>
          <p:cNvPr id="1524" name="Google Shape;1524;p75"/>
          <p:cNvSpPr/>
          <p:nvPr/>
        </p:nvSpPr>
        <p:spPr>
          <a:xfrm>
            <a:off x="731522" y="2606040"/>
            <a:ext cx="3429000" cy="2743200"/>
          </a:xfrm>
          <a:prstGeom prst="roundRect">
            <a:avLst>
              <a:gd fmla="val 8000" name="adj"/>
            </a:avLst>
          </a:prstGeom>
          <a:solidFill>
            <a:srgbClr val="16213A"/>
          </a:solidFill>
          <a:ln cap="flat" cmpd="sng" w="12700">
            <a:solidFill>
              <a:srgbClr val="23314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25" name="Google Shape;1525;p75"/>
          <p:cNvSpPr/>
          <p:nvPr/>
        </p:nvSpPr>
        <p:spPr>
          <a:xfrm>
            <a:off x="960122" y="2788920"/>
            <a:ext cx="548700" cy="5487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FFFF"/>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1526" name="Google Shape;1526;p75"/>
          <p:cNvSpPr txBox="1"/>
          <p:nvPr/>
        </p:nvSpPr>
        <p:spPr>
          <a:xfrm>
            <a:off x="960122" y="3474720"/>
            <a:ext cx="301740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2000"/>
              <a:buFont typeface="Arial"/>
              <a:buNone/>
            </a:pPr>
            <a:r>
              <a:rPr b="1" i="0" lang="en-US" sz="2000" u="none" cap="none" strike="noStrike">
                <a:solidFill>
                  <a:srgbClr val="FFFFFF"/>
                </a:solidFill>
                <a:latin typeface="Calibri"/>
                <a:ea typeface="Calibri"/>
                <a:cs typeface="Calibri"/>
                <a:sym typeface="Calibri"/>
              </a:rPr>
              <a:t>One variable</a:t>
            </a:r>
            <a:endParaRPr b="0" i="0" sz="1400" u="none" cap="none" strike="noStrike">
              <a:solidFill>
                <a:srgbClr val="000000"/>
              </a:solidFill>
              <a:latin typeface="Arial"/>
              <a:ea typeface="Arial"/>
              <a:cs typeface="Arial"/>
              <a:sym typeface="Arial"/>
            </a:endParaRPr>
          </a:p>
        </p:txBody>
      </p:sp>
      <p:sp>
        <p:nvSpPr>
          <p:cNvPr id="1527" name="Google Shape;1527;p75"/>
          <p:cNvSpPr txBox="1"/>
          <p:nvPr/>
        </p:nvSpPr>
        <p:spPr>
          <a:xfrm>
            <a:off x="960122" y="3977639"/>
            <a:ext cx="3017400" cy="128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D5DEEE"/>
                </a:solidFill>
                <a:latin typeface="Calibri"/>
                <a:ea typeface="Calibri"/>
                <a:cs typeface="Calibri"/>
                <a:sym typeface="Calibri"/>
              </a:rPr>
              <a:t>Same model, tools, prompt and graders. </a:t>
            </a:r>
            <a:r>
              <a:rPr b="1" i="0" lang="en-US" sz="1400" u="none" cap="none" strike="noStrike">
                <a:solidFill>
                  <a:srgbClr val="D5DEEE"/>
                </a:solidFill>
                <a:latin typeface="Calibri"/>
                <a:ea typeface="Calibri"/>
                <a:cs typeface="Calibri"/>
                <a:sym typeface="Calibri"/>
              </a:rPr>
              <a:t>Only the guidance file differs</a:t>
            </a:r>
            <a:r>
              <a:rPr b="0" i="0" lang="en-US" sz="1400" u="none" cap="none" strike="noStrike">
                <a:solidFill>
                  <a:srgbClr val="D5DEEE"/>
                </a:solidFill>
                <a:latin typeface="Calibri"/>
                <a:ea typeface="Calibri"/>
                <a:cs typeface="Calibri"/>
                <a:sym typeface="Calibri"/>
              </a:rPr>
              <a:t>, so any delta is attributable.</a:t>
            </a:r>
            <a:endParaRPr b="0" i="0" sz="1400" u="none" cap="none" strike="noStrike">
              <a:solidFill>
                <a:srgbClr val="000000"/>
              </a:solidFill>
              <a:latin typeface="Arial"/>
              <a:ea typeface="Arial"/>
              <a:cs typeface="Arial"/>
              <a:sym typeface="Arial"/>
            </a:endParaRPr>
          </a:p>
        </p:txBody>
      </p:sp>
      <p:sp>
        <p:nvSpPr>
          <p:cNvPr id="1528" name="Google Shape;1528;p75"/>
          <p:cNvSpPr/>
          <p:nvPr/>
        </p:nvSpPr>
        <p:spPr>
          <a:xfrm>
            <a:off x="4389129" y="2606040"/>
            <a:ext cx="3429000" cy="2743200"/>
          </a:xfrm>
          <a:prstGeom prst="roundRect">
            <a:avLst>
              <a:gd fmla="val 8000" name="adj"/>
            </a:avLst>
          </a:prstGeom>
          <a:solidFill>
            <a:srgbClr val="16213A"/>
          </a:solidFill>
          <a:ln cap="flat" cmpd="sng" w="12700">
            <a:solidFill>
              <a:srgbClr val="23314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29" name="Google Shape;1529;p75"/>
          <p:cNvSpPr/>
          <p:nvPr/>
        </p:nvSpPr>
        <p:spPr>
          <a:xfrm>
            <a:off x="4617729" y="2788920"/>
            <a:ext cx="548700" cy="5487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FFFF"/>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1530" name="Google Shape;1530;p75"/>
          <p:cNvSpPr txBox="1"/>
          <p:nvPr/>
        </p:nvSpPr>
        <p:spPr>
          <a:xfrm>
            <a:off x="4617729" y="3474720"/>
            <a:ext cx="301740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2000"/>
              <a:buFont typeface="Arial"/>
              <a:buNone/>
            </a:pPr>
            <a:r>
              <a:rPr b="1" i="0" lang="en-US" sz="2000" u="none" cap="none" strike="noStrike">
                <a:solidFill>
                  <a:srgbClr val="FFFFFF"/>
                </a:solidFill>
                <a:latin typeface="Calibri"/>
                <a:ea typeface="Calibri"/>
                <a:cs typeface="Calibri"/>
                <a:sym typeface="Calibri"/>
              </a:rPr>
              <a:t>Code decides</a:t>
            </a:r>
            <a:endParaRPr b="0" i="0" sz="1400" u="none" cap="none" strike="noStrike">
              <a:solidFill>
                <a:srgbClr val="000000"/>
              </a:solidFill>
              <a:latin typeface="Arial"/>
              <a:ea typeface="Arial"/>
              <a:cs typeface="Arial"/>
              <a:sym typeface="Arial"/>
            </a:endParaRPr>
          </a:p>
        </p:txBody>
      </p:sp>
      <p:sp>
        <p:nvSpPr>
          <p:cNvPr id="1531" name="Google Shape;1531;p75"/>
          <p:cNvSpPr txBox="1"/>
          <p:nvPr/>
        </p:nvSpPr>
        <p:spPr>
          <a:xfrm>
            <a:off x="4617729" y="3977639"/>
            <a:ext cx="3017400" cy="128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D5DEEE"/>
                </a:solidFill>
                <a:latin typeface="Calibri"/>
                <a:ea typeface="Calibri"/>
                <a:cs typeface="Calibri"/>
                <a:sym typeface="Calibri"/>
              </a:rPr>
              <a:t>Held-out JSON and pytest gate everything. </a:t>
            </a:r>
            <a:r>
              <a:rPr b="1" i="0" lang="en-US" sz="1400" u="none" cap="none" strike="noStrike">
                <a:solidFill>
                  <a:srgbClr val="D5DEEE"/>
                </a:solidFill>
                <a:latin typeface="Calibri"/>
                <a:ea typeface="Calibri"/>
                <a:cs typeface="Calibri"/>
                <a:sym typeface="Calibri"/>
              </a:rPr>
              <a:t>The LLM judge is evidence</a:t>
            </a:r>
            <a:r>
              <a:rPr b="0" i="0" lang="en-US" sz="1400" u="none" cap="none" strike="noStrike">
                <a:solidFill>
                  <a:srgbClr val="D5DEEE"/>
                </a:solidFill>
                <a:latin typeface="Calibri"/>
                <a:ea typeface="Calibri"/>
                <a:cs typeface="Calibri"/>
                <a:sym typeface="Calibri"/>
              </a:rPr>
              <a:t>; it was fooled once and logged.</a:t>
            </a:r>
            <a:endParaRPr b="0" i="0" sz="1400" u="none" cap="none" strike="noStrike">
              <a:solidFill>
                <a:srgbClr val="000000"/>
              </a:solidFill>
              <a:latin typeface="Arial"/>
              <a:ea typeface="Arial"/>
              <a:cs typeface="Arial"/>
              <a:sym typeface="Arial"/>
            </a:endParaRPr>
          </a:p>
        </p:txBody>
      </p:sp>
      <p:sp>
        <p:nvSpPr>
          <p:cNvPr id="1532" name="Google Shape;1532;p75"/>
          <p:cNvSpPr/>
          <p:nvPr/>
        </p:nvSpPr>
        <p:spPr>
          <a:xfrm>
            <a:off x="8046737" y="2606040"/>
            <a:ext cx="3429000" cy="2743200"/>
          </a:xfrm>
          <a:prstGeom prst="roundRect">
            <a:avLst>
              <a:gd fmla="val 8000" name="adj"/>
            </a:avLst>
          </a:prstGeom>
          <a:solidFill>
            <a:srgbClr val="16213A"/>
          </a:solidFill>
          <a:ln cap="flat" cmpd="sng" w="12700">
            <a:solidFill>
              <a:srgbClr val="23314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33" name="Google Shape;1533;p75"/>
          <p:cNvSpPr/>
          <p:nvPr/>
        </p:nvSpPr>
        <p:spPr>
          <a:xfrm>
            <a:off x="8275337" y="2788920"/>
            <a:ext cx="548700" cy="548700"/>
          </a:xfrm>
          <a:prstGeom prst="ellipse">
            <a:avLst/>
          </a:prstGeom>
          <a:solidFill>
            <a:srgbClr val="0F766E"/>
          </a:solidFill>
          <a:ln>
            <a:noFill/>
          </a:ln>
        </p:spPr>
        <p:txBody>
          <a:bodyPr anchorCtr="0" anchor="ctr" bIns="36575" lIns="0" spcFirstLastPara="1" rIns="0" wrap="square" tIns="36575">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FFFF"/>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1534" name="Google Shape;1534;p75"/>
          <p:cNvSpPr txBox="1"/>
          <p:nvPr/>
        </p:nvSpPr>
        <p:spPr>
          <a:xfrm>
            <a:off x="8275337" y="3474720"/>
            <a:ext cx="301740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2000"/>
              <a:buFont typeface="Arial"/>
              <a:buNone/>
            </a:pPr>
            <a:r>
              <a:rPr b="1" i="0" lang="en-US" sz="2000" u="none" cap="none" strike="noStrike">
                <a:solidFill>
                  <a:srgbClr val="FFFFFF"/>
                </a:solidFill>
                <a:latin typeface="Calibri"/>
                <a:ea typeface="Calibri"/>
                <a:cs typeface="Calibri"/>
                <a:sym typeface="Calibri"/>
              </a:rPr>
              <a:t>Phase 2 is earned</a:t>
            </a:r>
            <a:endParaRPr b="0" i="0" sz="1400" u="none" cap="none" strike="noStrike">
              <a:solidFill>
                <a:srgbClr val="000000"/>
              </a:solidFill>
              <a:latin typeface="Arial"/>
              <a:ea typeface="Arial"/>
              <a:cs typeface="Arial"/>
              <a:sym typeface="Arial"/>
            </a:endParaRPr>
          </a:p>
        </p:txBody>
      </p:sp>
      <p:sp>
        <p:nvSpPr>
          <p:cNvPr id="1535" name="Google Shape;1535;p75"/>
          <p:cNvSpPr txBox="1"/>
          <p:nvPr/>
        </p:nvSpPr>
        <p:spPr>
          <a:xfrm>
            <a:off x="8275337" y="3977639"/>
            <a:ext cx="3017400" cy="128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D5DEEE"/>
                </a:solidFill>
                <a:latin typeface="Calibri"/>
                <a:ea typeface="Calibri"/>
                <a:cs typeface="Calibri"/>
                <a:sym typeface="Calibri"/>
              </a:rPr>
              <a:t>Capability wins must hold on </a:t>
            </a:r>
            <a:r>
              <a:rPr b="1" i="0" lang="en-US" sz="1400" u="none" cap="none" strike="noStrike">
                <a:solidFill>
                  <a:srgbClr val="D5DEEE"/>
                </a:solidFill>
                <a:latin typeface="Calibri"/>
                <a:ea typeface="Calibri"/>
                <a:cs typeface="Calibri"/>
                <a:sym typeface="Calibri"/>
              </a:rPr>
              <a:t>every rep</a:t>
            </a:r>
            <a:r>
              <a:rPr b="0" i="0" lang="en-US" sz="1400" u="none" cap="none" strike="noStrike">
                <a:solidFill>
                  <a:srgbClr val="D5DEEE"/>
                </a:solidFill>
                <a:latin typeface="Calibri"/>
                <a:ea typeface="Calibri"/>
                <a:cs typeface="Calibri"/>
                <a:sym typeface="Calibri"/>
              </a:rPr>
              <a:t>, and </a:t>
            </a:r>
            <a:r>
              <a:rPr b="1" i="0" lang="en-US" sz="1400" u="none" cap="none" strike="noStrike">
                <a:solidFill>
                  <a:srgbClr val="D5DEEE"/>
                </a:solidFill>
                <a:latin typeface="Calibri"/>
                <a:ea typeface="Calibri"/>
                <a:cs typeface="Calibri"/>
                <a:sym typeface="Calibri"/>
              </a:rPr>
              <a:t>any regression blocks</a:t>
            </a:r>
            <a:r>
              <a:rPr b="0" i="0" lang="en-US" sz="1400" u="none" cap="none" strike="noStrike">
                <a:solidFill>
                  <a:srgbClr val="D5DEEE"/>
                </a:solidFill>
                <a:latin typeface="Calibri"/>
                <a:ea typeface="Calibri"/>
                <a:cs typeface="Calibri"/>
                <a:sym typeface="Calibri"/>
              </a:rPr>
              <a:t> the next phase.</a:t>
            </a:r>
            <a:endParaRPr b="0" i="0" sz="1400" u="none" cap="none" strike="noStrike">
              <a:solidFill>
                <a:srgbClr val="000000"/>
              </a:solidFill>
              <a:latin typeface="Arial"/>
              <a:ea typeface="Arial"/>
              <a:cs typeface="Arial"/>
              <a:sym typeface="Arial"/>
            </a:endParaRPr>
          </a:p>
        </p:txBody>
      </p:sp>
      <p:sp>
        <p:nvSpPr>
          <p:cNvPr id="1536" name="Google Shape;1536;p75"/>
          <p:cNvSpPr txBox="1"/>
          <p:nvPr/>
        </p:nvSpPr>
        <p:spPr>
          <a:xfrm>
            <a:off x="731521" y="5623560"/>
            <a:ext cx="1051560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B6C3DA"/>
                </a:solidFill>
                <a:latin typeface="Calibri"/>
                <a:ea typeface="Calibri"/>
                <a:cs typeface="Calibri"/>
                <a:sym typeface="Calibri"/>
              </a:rPr>
              <a:t> ·  Good candidate → </a:t>
            </a:r>
            <a:r>
              <a:rPr b="1" i="0" lang="en-US" sz="1400" u="none" cap="none" strike="noStrike">
                <a:solidFill>
                  <a:srgbClr val="B6C3DA"/>
                </a:solidFill>
                <a:latin typeface="Calibri"/>
                <a:ea typeface="Calibri"/>
                <a:cs typeface="Calibri"/>
                <a:sym typeface="Calibri"/>
              </a:rPr>
              <a:t>graduated</a:t>
            </a:r>
            <a:r>
              <a:rPr b="0" i="0" lang="en-US" sz="1400" u="none" cap="none" strike="noStrike">
                <a:solidFill>
                  <a:srgbClr val="B6C3DA"/>
                </a:solidFill>
                <a:latin typeface="Calibri"/>
                <a:ea typeface="Calibri"/>
                <a:cs typeface="Calibri"/>
                <a:sym typeface="Calibri"/>
              </a:rPr>
              <a:t>, Phase 2 POSITIVE </a:t>
            </a:r>
            <a:endParaRPr b="0" i="0" sz="1400" u="none" cap="none" strike="noStrike">
              <a:solidFill>
                <a:srgbClr val="B6C3DA"/>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B6C3DA"/>
                </a:solidFill>
                <a:latin typeface="Calibri"/>
                <a:ea typeface="Calibri"/>
                <a:cs typeface="Calibri"/>
                <a:sym typeface="Calibri"/>
              </a:rPr>
              <a:t> ·  Bad candidate → </a:t>
            </a:r>
            <a:r>
              <a:rPr b="1" i="0" lang="en-US" sz="1400" u="none" cap="none" strike="noStrike">
                <a:solidFill>
                  <a:srgbClr val="B6C3DA"/>
                </a:solidFill>
                <a:latin typeface="Calibri"/>
                <a:ea typeface="Calibri"/>
                <a:cs typeface="Calibri"/>
                <a:sym typeface="Calibri"/>
              </a:rPr>
              <a:t>blocked</a:t>
            </a:r>
            <a:r>
              <a:rPr b="0" i="0" lang="en-US" sz="1400" u="none" cap="none" strike="noStrike">
                <a:solidFill>
                  <a:srgbClr val="B6C3DA"/>
                </a:solidFill>
                <a:latin typeface="Calibri"/>
                <a:ea typeface="Calibri"/>
                <a:cs typeface="Calibri"/>
                <a:sym typeface="Calibri"/>
              </a:rPr>
              <a:t>: regression task keep-suite regressed (PASS→FAIL)</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